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7"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318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to the Excel Mastery Series session on Data Validation and Conditional Formatting. Set expectations: this session covers how to control data input and automatically visualise data trends — two of Excel's most powerful but underused features. Mention that the deck is suitable for corporate training, academic presentation, or interview prep.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the business case: poor data quality costs organisations significant time and money. Cite the statistic that a large majority of spreadsheets contain errors. Introduce the two pillars covered in this deck: controlling input (Data Validation) and visualising output (Conditional Formatting), and that together they create a robust, self-checking spreadsheet.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Data Validation clearly: it controls what can be typed into a cell. Walk through the four key benefits — error reduction, consistency, guided entry, and time savings. Then connect to real business scenarios: HR onboarding forms, inventory sheets, project trackers, and approval workflows all rely on validated dropdowns and ranges.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of the seven validation types using the cards. Emphasise that Whole Number and Decimal control numeric ranges, List creates dropdowns (the most commonly used in business), Date and Time restrict chronological entries, Text Length caps string size, and Custom Formula unlocks unlimited flexible rules using any Excel formula.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four-step process live if possible: select the target cells, open the Data Validation dialog from the Data tab, choose the validation type and set criteria plus optional input/error messages, then click OK and test by entering both valid and invalid values. Mention the Alt+A,V,V keyboard shortcut for power users.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Input Messages appear as tooltips when a cell is selected, guiding correct entry before the user types anything. Then cover the three Error Alert styles: Stop (hard block), Warning (soft confirmation), and Information (notice only). Reinforce the earlier tip about combining with ISNUMBER and similar formulas for smarter validation.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Conditional Formatting as a way to automatically apply visual styling based on cell values. Highlight that no formulas are required for the basic rule types, though formulas unlock advanced control. Use the sales table to show how a 3-color scale instantly communicates which months performed well versus poorly — turning a table into a quick-read dashboard.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core rule categories. Highlight Cell Rules cover simple comparisons; Top/Bottom Rules surface extremes and averages; Data Bars and Color Scales provide gradient visualisations; Icon Sets add symbols like traffic lights; and Custom/Formula rules — like the MOD(ROW(),2)=0 example for banded rows — provide unlimited flexibility.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five-step CF workflow: select the range, open Conditional Formatting from the Home tab, choose a preset rule type or build a custom formula, define the format (fill, font, border), and use Manage Rules to control rule order and scope. Walk through the worked example highlighting above-average sales values in green.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crystallise the core distinction: Data Validation governs what data CAN be entered (input control, found on the Data tab), while Conditional Formatting governs how existing data LOOKS (visual cues, found on the Home tab). Emphasise that they are complementary, not competing, tools.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six power-user techniques: named ranges for self-updating dropdown lists; INDIRECT() for dependent/cascading dropdowns (e.g. selecting a country narrows the city list); WEEKDAY-based formulas for automatic weekend highlighting; combining DV and CF for fully controlled and visualised sheets; managing CF rule priority with 'Stop If True'; and always clearing rules via Manage Rules rather than Clear All.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four common business applications, pairing a Data Validation tip and a Conditional Formatting tip for each: sales tracking (restricted codes plus color-scaled revenue), attendance management (status dropdowns plus highlighted absence patterns), inventory control (whole-number stock limits plus low-stock icon alerts), and data entry forms (dropdowns/date pickers plus duplicate or incomplete-record highlighting).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good housekeeping practices: regularly check rule order in Manage Rules, never use Clear All when removing a single rule, rely on named ranges for maintainable lists, test formula-based rules on sample data first, avoid rule sprawl, and document validation/formatting logic so other users understand the sheet's design.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leave-behind reference: the left column lists Data Validation paths and formulas, the right column lists Conditional Formatting paths and formulas. Reiterate the closing mantra — Data Validation controls input, Conditional Formatting visualises output — as the single takeaway to remember.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recapping the four key takeaways: validate input first, use conditional formatting to surface insight, leverage formula-based rules for advanced control, and combine both for robust spreadsheets. Open the floor for questions and invite attendees to share their own spreadsheet challenges for discussion.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98606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9815345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tx1">
                    <a:lumMod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7783728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8001499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789968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7955209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9118955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5842164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6447765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3265172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3355582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3089011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6891312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4199044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5748477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9274215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9707480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1906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4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smtClean="0"/>
              <a:pPr/>
              <a:t>6/14/2026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31908032"/>
      </p:ext>
    </p:extLst>
  </p:cSld>
  <p:clrMap bg1="dk1" tx1="lt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Lst>
  <p:hf sldNum="0" hdr="0" ftr="0" dt="0"/>
  <p:txStyles>
    <p:titleStyle>
      <a:lvl1pPr algn="ctr" defTabSz="914400" rtl="0" eaLnBrk="1" latinLnBrk="0" hangingPunct="1">
        <a:lnSpc>
          <a:spcPct val="90000"/>
        </a:lnSpc>
        <a:spcBef>
          <a:spcPct val="0"/>
        </a:spcBef>
        <a:buNone/>
        <a:defRPr sz="3600" kern="1200" cap="all" baseline="0">
          <a:solidFill>
            <a:schemeClr val="tx1"/>
          </a:solidFill>
          <a:effectLst>
            <a:outerShdw blurRad="38100" dist="38100" dir="2700000" algn="tl">
              <a:srgbClr val="000000">
                <a:alpha val="43137"/>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outerShdw blurRad="47625" dist="12700" dir="2700000" algn="tl" rotWithShape="0">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outerShdw blurRad="47625" dist="12700" dir="2700000" algn="tl" rotWithShape="0">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outerShdw blurRad="47625" dist="12700" dir="2700000" algn="tl" rotWithShape="0">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8.xml"/><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14.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2.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21.png"/><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7.png"/><Relationship Id="rId5" Type="http://schemas.openxmlformats.org/officeDocument/2006/relationships/image" Target="../media/image28.pn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2.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18.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openxmlformats.org/officeDocument/2006/relationships/image" Target="../media/image36.png"/><Relationship Id="rId5" Type="http://schemas.openxmlformats.org/officeDocument/2006/relationships/image" Target="../media/image5.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7.png"/><Relationship Id="rId7"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8.xml"/><Relationship Id="rId6" Type="http://schemas.openxmlformats.org/officeDocument/2006/relationships/image" Target="../media/image15.png"/><Relationship Id="rId5" Type="http://schemas.openxmlformats.org/officeDocument/2006/relationships/image" Target="../media/image41.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5.png"/><Relationship Id="rId7"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18.xml"/><Relationship Id="rId6" Type="http://schemas.openxmlformats.org/officeDocument/2006/relationships/image" Target="../media/image21.png"/><Relationship Id="rId5" Type="http://schemas.openxmlformats.org/officeDocument/2006/relationships/image" Target="../media/image37.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8.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7B4D"/>
        </a:solidFill>
        <a:effectLst/>
      </p:bgPr>
    </p:bg>
    <p:spTree>
      <p:nvGrpSpPr>
        <p:cNvPr id="1" name=""/>
        <p:cNvGrpSpPr/>
        <p:nvPr/>
      </p:nvGrpSpPr>
      <p:grpSpPr>
        <a:xfrm>
          <a:off x="0" y="0"/>
          <a:ext cx="0" cy="0"/>
          <a:chOff x="0" y="0"/>
          <a:chExt cx="0" cy="0"/>
        </a:xfrm>
      </p:grpSpPr>
      <p:sp>
        <p:nvSpPr>
          <p:cNvPr id="2" name="Shape 0"/>
          <p:cNvSpPr/>
          <p:nvPr/>
        </p:nvSpPr>
        <p:spPr>
          <a:xfrm>
            <a:off x="8869680" y="-2011680"/>
            <a:ext cx="5486400" cy="5486400"/>
          </a:xfrm>
          <a:prstGeom prst="ellipse">
            <a:avLst/>
          </a:prstGeom>
          <a:solidFill>
            <a:srgbClr val="5FAE85">
              <a:alpha val="30000"/>
            </a:srgbClr>
          </a:solidFill>
          <a:ln/>
        </p:spPr>
      </p:sp>
      <p:sp>
        <p:nvSpPr>
          <p:cNvPr id="3" name="Shape 1"/>
          <p:cNvSpPr/>
          <p:nvPr/>
        </p:nvSpPr>
        <p:spPr>
          <a:xfrm>
            <a:off x="-1828800" y="4114800"/>
            <a:ext cx="5029200" cy="5029200"/>
          </a:xfrm>
          <a:prstGeom prst="ellipse">
            <a:avLst/>
          </a:prstGeom>
          <a:solidFill>
            <a:srgbClr val="FFFFFF">
              <a:alpha val="10000"/>
            </a:srgbClr>
          </a:solidFill>
          <a:ln/>
        </p:spPr>
      </p:sp>
      <p:sp>
        <p:nvSpPr>
          <p:cNvPr id="4" name="Text 2"/>
          <p:cNvSpPr/>
          <p:nvPr/>
        </p:nvSpPr>
        <p:spPr>
          <a:xfrm>
            <a:off x="822960" y="1554480"/>
            <a:ext cx="7315200" cy="457200"/>
          </a:xfrm>
          <a:prstGeom prst="rect">
            <a:avLst/>
          </a:prstGeom>
          <a:noFill/>
          <a:ln/>
        </p:spPr>
        <p:txBody>
          <a:bodyPr wrap="square" lIns="0" tIns="0" rIns="0" bIns="0" rtlCol="0" anchor="ctr"/>
          <a:lstStyle/>
          <a:p>
            <a:pPr marL="0" indent="0">
              <a:buNone/>
            </a:pPr>
            <a:r>
              <a:rPr lang="en-US" sz="1600" b="1" kern="0" spc="400" dirty="0">
                <a:solidFill>
                  <a:srgbClr val="E7F4EC"/>
                </a:solidFill>
                <a:latin typeface="Calibri" pitchFamily="34" charset="0"/>
                <a:ea typeface="Calibri" pitchFamily="34" charset="-122"/>
                <a:cs typeface="Calibri" pitchFamily="34" charset="-120"/>
              </a:rPr>
              <a:t>EXCEL MASTERY SERIES</a:t>
            </a:r>
            <a:endParaRPr lang="en-US" sz="1600" dirty="0"/>
          </a:p>
        </p:txBody>
      </p:sp>
      <p:sp>
        <p:nvSpPr>
          <p:cNvPr id="5" name="Text 3"/>
          <p:cNvSpPr/>
          <p:nvPr/>
        </p:nvSpPr>
        <p:spPr>
          <a:xfrm>
            <a:off x="822960" y="2103120"/>
            <a:ext cx="9144000" cy="2011680"/>
          </a:xfrm>
          <a:prstGeom prst="rect">
            <a:avLst/>
          </a:prstGeom>
          <a:noFill/>
          <a:ln/>
        </p:spPr>
        <p:txBody>
          <a:bodyPr wrap="square" lIns="0" tIns="0" rIns="0" bIns="0" rtlCol="0" anchor="ctr"/>
          <a:lstStyle/>
          <a:p>
            <a:pPr marL="0" indent="0">
              <a:lnSpc>
                <a:spcPct val="105000"/>
              </a:lnSpc>
              <a:buNone/>
            </a:pPr>
            <a:r>
              <a:rPr lang="en-US" sz="5400" b="1" dirty="0">
                <a:solidFill>
                  <a:srgbClr val="FFFFFF"/>
                </a:solidFill>
                <a:latin typeface="Cambria" pitchFamily="34" charset="0"/>
                <a:ea typeface="Cambria" pitchFamily="34" charset="-122"/>
                <a:cs typeface="Cambria" pitchFamily="34" charset="-120"/>
              </a:rPr>
              <a:t>Data Validation &amp;</a:t>
            </a:r>
            <a:endParaRPr lang="en-US" sz="5400" dirty="0"/>
          </a:p>
          <a:p>
            <a:pPr marL="0" indent="0">
              <a:lnSpc>
                <a:spcPct val="105000"/>
              </a:lnSpc>
              <a:buNone/>
            </a:pPr>
            <a:r>
              <a:rPr lang="en-US" sz="5400" b="1" dirty="0">
                <a:solidFill>
                  <a:srgbClr val="FFFFFF"/>
                </a:solidFill>
                <a:latin typeface="Cambria" pitchFamily="34" charset="0"/>
                <a:ea typeface="Cambria" pitchFamily="34" charset="-122"/>
                <a:cs typeface="Cambria" pitchFamily="34" charset="-120"/>
              </a:rPr>
              <a:t>Conditional Formatting</a:t>
            </a:r>
            <a:endParaRPr lang="en-US" sz="5400" dirty="0"/>
          </a:p>
        </p:txBody>
      </p:sp>
      <p:sp>
        <p:nvSpPr>
          <p:cNvPr id="6" name="Text 4"/>
          <p:cNvSpPr/>
          <p:nvPr/>
        </p:nvSpPr>
        <p:spPr>
          <a:xfrm>
            <a:off x="822960" y="4160520"/>
            <a:ext cx="7772400" cy="822960"/>
          </a:xfrm>
          <a:prstGeom prst="rect">
            <a:avLst/>
          </a:prstGeom>
          <a:noFill/>
          <a:ln/>
        </p:spPr>
        <p:txBody>
          <a:bodyPr wrap="square" lIns="0" tIns="0" rIns="0" bIns="0" rtlCol="0" anchor="ctr"/>
          <a:lstStyle/>
          <a:p>
            <a:pPr marL="0" indent="0">
              <a:buNone/>
            </a:pPr>
            <a:r>
              <a:rPr lang="en-US" sz="1600" dirty="0">
                <a:solidFill>
                  <a:srgbClr val="E7F4EC"/>
                </a:solidFill>
                <a:latin typeface="Calibri" pitchFamily="34" charset="0"/>
                <a:ea typeface="Calibri" pitchFamily="34" charset="-122"/>
                <a:cs typeface="Calibri" pitchFamily="34" charset="-120"/>
              </a:rPr>
              <a:t>Smarter data entry, automated visual insight, and error-proof spreadsheets for business and academic use.</a:t>
            </a:r>
            <a:endParaRPr lang="en-US" sz="1600" dirty="0"/>
          </a:p>
        </p:txBody>
      </p:sp>
      <p:sp>
        <p:nvSpPr>
          <p:cNvPr id="7" name="Shape 5"/>
          <p:cNvSpPr/>
          <p:nvPr/>
        </p:nvSpPr>
        <p:spPr>
          <a:xfrm>
            <a:off x="822960" y="5349240"/>
            <a:ext cx="502920" cy="502920"/>
          </a:xfrm>
          <a:prstGeom prst="ellipse">
            <a:avLst/>
          </a:prstGeom>
          <a:solidFill>
            <a:srgbClr val="5FAE85"/>
          </a:solidFill>
          <a:ln/>
        </p:spPr>
      </p:sp>
      <p:pic>
        <p:nvPicPr>
          <p:cNvPr id="8" name="Image 0" descr="preencoded.png"/>
          <p:cNvPicPr>
            <a:picLocks noChangeAspect="1"/>
          </p:cNvPicPr>
          <p:nvPr/>
        </p:nvPicPr>
        <p:blipFill>
          <a:blip r:embed="rId3"/>
          <a:stretch>
            <a:fillRect/>
          </a:stretch>
        </p:blipFill>
        <p:spPr>
          <a:xfrm>
            <a:off x="936117" y="5462397"/>
            <a:ext cx="276606" cy="276606"/>
          </a:xfrm>
          <a:prstGeom prst="rect">
            <a:avLst/>
          </a:prstGeom>
        </p:spPr>
      </p:pic>
      <p:sp>
        <p:nvSpPr>
          <p:cNvPr id="9" name="Text 6"/>
          <p:cNvSpPr/>
          <p:nvPr/>
        </p:nvSpPr>
        <p:spPr>
          <a:xfrm>
            <a:off x="1417320" y="5349240"/>
            <a:ext cx="2103120" cy="5029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Data Validation</a:t>
            </a:r>
            <a:endParaRPr lang="en-US" sz="1300" dirty="0"/>
          </a:p>
        </p:txBody>
      </p:sp>
      <p:sp>
        <p:nvSpPr>
          <p:cNvPr id="10" name="Shape 7"/>
          <p:cNvSpPr/>
          <p:nvPr/>
        </p:nvSpPr>
        <p:spPr>
          <a:xfrm>
            <a:off x="3566160" y="5349240"/>
            <a:ext cx="502920" cy="502920"/>
          </a:xfrm>
          <a:prstGeom prst="ellipse">
            <a:avLst/>
          </a:prstGeom>
          <a:solidFill>
            <a:srgbClr val="5FAE85"/>
          </a:solidFill>
          <a:ln/>
        </p:spPr>
      </p:sp>
      <p:pic>
        <p:nvPicPr>
          <p:cNvPr id="11" name="Image 1" descr="preencoded.png"/>
          <p:cNvPicPr>
            <a:picLocks noChangeAspect="1"/>
          </p:cNvPicPr>
          <p:nvPr/>
        </p:nvPicPr>
        <p:blipFill>
          <a:blip r:embed="rId4"/>
          <a:stretch>
            <a:fillRect/>
          </a:stretch>
        </p:blipFill>
        <p:spPr>
          <a:xfrm>
            <a:off x="3679317" y="5462397"/>
            <a:ext cx="276606" cy="276606"/>
          </a:xfrm>
          <a:prstGeom prst="rect">
            <a:avLst/>
          </a:prstGeom>
        </p:spPr>
      </p:pic>
      <p:sp>
        <p:nvSpPr>
          <p:cNvPr id="12" name="Text 8"/>
          <p:cNvSpPr/>
          <p:nvPr/>
        </p:nvSpPr>
        <p:spPr>
          <a:xfrm>
            <a:off x="4160520" y="5349240"/>
            <a:ext cx="2103120" cy="5029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Conditional Formatting</a:t>
            </a:r>
            <a:endParaRPr lang="en-US" sz="1300" dirty="0"/>
          </a:p>
        </p:txBody>
      </p:sp>
      <p:sp>
        <p:nvSpPr>
          <p:cNvPr id="13" name="Shape 9"/>
          <p:cNvSpPr/>
          <p:nvPr/>
        </p:nvSpPr>
        <p:spPr>
          <a:xfrm>
            <a:off x="6309360" y="5349240"/>
            <a:ext cx="502920" cy="502920"/>
          </a:xfrm>
          <a:prstGeom prst="ellipse">
            <a:avLst/>
          </a:prstGeom>
          <a:solidFill>
            <a:srgbClr val="5FAE85"/>
          </a:solidFill>
          <a:ln/>
        </p:spPr>
      </p:sp>
      <p:pic>
        <p:nvPicPr>
          <p:cNvPr id="14" name="Image 2" descr="preencoded.png"/>
          <p:cNvPicPr>
            <a:picLocks noChangeAspect="1"/>
          </p:cNvPicPr>
          <p:nvPr/>
        </p:nvPicPr>
        <p:blipFill>
          <a:blip r:embed="rId5"/>
          <a:stretch>
            <a:fillRect/>
          </a:stretch>
        </p:blipFill>
        <p:spPr>
          <a:xfrm>
            <a:off x="6422517" y="5462397"/>
            <a:ext cx="276606" cy="276606"/>
          </a:xfrm>
          <a:prstGeom prst="rect">
            <a:avLst/>
          </a:prstGeom>
        </p:spPr>
      </p:pic>
      <p:sp>
        <p:nvSpPr>
          <p:cNvPr id="15" name="Text 10"/>
          <p:cNvSpPr/>
          <p:nvPr/>
        </p:nvSpPr>
        <p:spPr>
          <a:xfrm>
            <a:off x="6903720" y="5349240"/>
            <a:ext cx="2103120" cy="5029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Rules &amp; Criteria</a:t>
            </a:r>
            <a:endParaRPr lang="en-US" sz="1300" dirty="0"/>
          </a:p>
        </p:txBody>
      </p:sp>
      <p:sp>
        <p:nvSpPr>
          <p:cNvPr id="16" name="Shape 11"/>
          <p:cNvSpPr/>
          <p:nvPr/>
        </p:nvSpPr>
        <p:spPr>
          <a:xfrm>
            <a:off x="9052560" y="5349240"/>
            <a:ext cx="502920" cy="502920"/>
          </a:xfrm>
          <a:prstGeom prst="ellipse">
            <a:avLst/>
          </a:prstGeom>
          <a:solidFill>
            <a:srgbClr val="5FAE85"/>
          </a:solidFill>
          <a:ln/>
        </p:spPr>
      </p:sp>
      <p:pic>
        <p:nvPicPr>
          <p:cNvPr id="17" name="Image 3" descr="preencoded.png"/>
          <p:cNvPicPr>
            <a:picLocks noChangeAspect="1"/>
          </p:cNvPicPr>
          <p:nvPr/>
        </p:nvPicPr>
        <p:blipFill>
          <a:blip r:embed="rId6"/>
          <a:stretch>
            <a:fillRect/>
          </a:stretch>
        </p:blipFill>
        <p:spPr>
          <a:xfrm>
            <a:off x="9165717" y="5462397"/>
            <a:ext cx="276606" cy="276606"/>
          </a:xfrm>
          <a:prstGeom prst="rect">
            <a:avLst/>
          </a:prstGeom>
        </p:spPr>
      </p:pic>
      <p:sp>
        <p:nvSpPr>
          <p:cNvPr id="18" name="Text 12"/>
          <p:cNvSpPr/>
          <p:nvPr/>
        </p:nvSpPr>
        <p:spPr>
          <a:xfrm>
            <a:off x="9646920" y="5349240"/>
            <a:ext cx="2103120" cy="5029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Error Handling</a:t>
            </a:r>
            <a:endParaRPr lang="en-US" sz="1300" dirty="0"/>
          </a:p>
        </p:txBody>
      </p:sp>
      <p:sp>
        <p:nvSpPr>
          <p:cNvPr id="19" name="Text 13"/>
          <p:cNvSpPr/>
          <p:nvPr/>
        </p:nvSpPr>
        <p:spPr>
          <a:xfrm>
            <a:off x="822960" y="6263640"/>
            <a:ext cx="5486400" cy="365760"/>
          </a:xfrm>
          <a:prstGeom prst="rect">
            <a:avLst/>
          </a:prstGeom>
          <a:noFill/>
          <a:ln/>
        </p:spPr>
        <p:txBody>
          <a:bodyPr wrap="square" lIns="0" tIns="0" rIns="0" bIns="0" rtlCol="0" anchor="ctr"/>
          <a:lstStyle/>
          <a:p>
            <a:pPr marL="0" indent="0">
              <a:buNone/>
            </a:pPr>
            <a:r>
              <a:rPr lang="en-US" sz="1200" i="1" dirty="0">
                <a:solidFill>
                  <a:srgbClr val="E7F4EC"/>
                </a:solidFill>
                <a:latin typeface="Calibri" pitchFamily="34" charset="0"/>
                <a:ea typeface="Calibri" pitchFamily="34" charset="-122"/>
                <a:cs typeface="Calibri" pitchFamily="34" charset="-120"/>
              </a:rPr>
              <a:t>Automate · Validate · Visualise</a:t>
            </a:r>
            <a:endParaRPr lang="en-US" sz="1200" dirty="0"/>
          </a:p>
        </p:txBody>
      </p:sp>
      <p:sp>
        <p:nvSpPr>
          <p:cNvPr id="20" name="Text 14"/>
          <p:cNvSpPr/>
          <p:nvPr/>
        </p:nvSpPr>
        <p:spPr>
          <a:xfrm>
            <a:off x="10972800" y="6263640"/>
            <a:ext cx="731520" cy="365760"/>
          </a:xfrm>
          <a:prstGeom prst="rect">
            <a:avLst/>
          </a:prstGeom>
          <a:noFill/>
          <a:ln/>
        </p:spPr>
        <p:txBody>
          <a:bodyPr wrap="square" lIns="0" tIns="0" rIns="0" bIns="0" rtlCol="0" anchor="ctr"/>
          <a:lstStyle/>
          <a:p>
            <a:pPr marL="0" indent="0" algn="r">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1E7B4D"/>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marL="0" indent="0">
              <a:buNone/>
            </a:pPr>
            <a:r>
              <a:rPr lang="en-US" sz="3200" b="1" dirty="0">
                <a:solidFill>
                  <a:srgbClr val="1F2A24"/>
                </a:solidFill>
                <a:latin typeface="Cambria" pitchFamily="34" charset="0"/>
                <a:ea typeface="Cambria" pitchFamily="34" charset="-122"/>
                <a:cs typeface="Cambria" pitchFamily="34" charset="-120"/>
              </a:rPr>
              <a:t>Why Data Accuracy &amp; Visualisation Matter</a:t>
            </a:r>
            <a:endParaRPr lang="en-US" sz="3200" dirty="0"/>
          </a:p>
        </p:txBody>
      </p:sp>
      <p:sp>
        <p:nvSpPr>
          <p:cNvPr id="4" name="Text 2"/>
          <p:cNvSpPr/>
          <p:nvPr/>
        </p:nvSpPr>
        <p:spPr>
          <a:xfrm>
            <a:off x="548640" y="1920240"/>
            <a:ext cx="6675120" cy="1371600"/>
          </a:xfrm>
          <a:prstGeom prst="rect">
            <a:avLst/>
          </a:prstGeom>
          <a:noFill/>
          <a:ln/>
        </p:spPr>
        <p:txBody>
          <a:bodyPr wrap="square" lIns="0" tIns="0" rIns="0" bIns="0" rtlCol="0" anchor="ctr"/>
          <a:lstStyle/>
          <a:p>
            <a:pPr marL="0" indent="0">
              <a:lnSpc>
                <a:spcPct val="120000"/>
              </a:lnSpc>
              <a:buNone/>
            </a:pPr>
            <a:r>
              <a:rPr lang="en-US" sz="1600" dirty="0">
                <a:solidFill>
                  <a:srgbClr val="1F2A24"/>
                </a:solidFill>
                <a:latin typeface="Calibri" pitchFamily="34" charset="0"/>
                <a:ea typeface="Calibri" pitchFamily="34" charset="-122"/>
                <a:cs typeface="Calibri" pitchFamily="34" charset="-120"/>
              </a:rPr>
              <a:t>Every business decision depends on the quality of the data behind it. Excel remains the world's most used analysis tool — yet small input errors and unreadable spreadsheets cause costly mistakes every day. Two built-in features solve both problems at once.</a:t>
            </a:r>
            <a:endParaRPr lang="en-US" sz="1600" dirty="0"/>
          </a:p>
        </p:txBody>
      </p:sp>
      <p:sp>
        <p:nvSpPr>
          <p:cNvPr id="5" name="Shape 3"/>
          <p:cNvSpPr/>
          <p:nvPr/>
        </p:nvSpPr>
        <p:spPr>
          <a:xfrm>
            <a:off x="548640" y="3520440"/>
            <a:ext cx="6675120" cy="868680"/>
          </a:xfrm>
          <a:prstGeom prst="roundRect">
            <a:avLst>
              <a:gd name="adj" fmla="val 8421"/>
            </a:avLst>
          </a:prstGeom>
          <a:solidFill>
            <a:srgbClr val="E7F4EC"/>
          </a:solidFill>
          <a:ln/>
        </p:spPr>
      </p:sp>
      <p:sp>
        <p:nvSpPr>
          <p:cNvPr id="6" name="Shape 4"/>
          <p:cNvSpPr/>
          <p:nvPr/>
        </p:nvSpPr>
        <p:spPr>
          <a:xfrm>
            <a:off x="777240" y="3685032"/>
            <a:ext cx="548640" cy="548640"/>
          </a:xfrm>
          <a:prstGeom prst="ellipse">
            <a:avLst/>
          </a:prstGeom>
          <a:solidFill>
            <a:srgbClr val="FFFFFF"/>
          </a:solidFill>
          <a:ln/>
        </p:spPr>
      </p:sp>
      <p:pic>
        <p:nvPicPr>
          <p:cNvPr id="7" name="Image 0" descr="preencoded.png"/>
          <p:cNvPicPr>
            <a:picLocks noChangeAspect="1"/>
          </p:cNvPicPr>
          <p:nvPr/>
        </p:nvPicPr>
        <p:blipFill>
          <a:blip r:embed="rId3"/>
          <a:stretch>
            <a:fillRect/>
          </a:stretch>
        </p:blipFill>
        <p:spPr>
          <a:xfrm>
            <a:off x="886968" y="3794760"/>
            <a:ext cx="329184" cy="329184"/>
          </a:xfrm>
          <a:prstGeom prst="rect">
            <a:avLst/>
          </a:prstGeom>
        </p:spPr>
      </p:pic>
      <p:sp>
        <p:nvSpPr>
          <p:cNvPr id="8" name="Text 5"/>
          <p:cNvSpPr/>
          <p:nvPr/>
        </p:nvSpPr>
        <p:spPr>
          <a:xfrm>
            <a:off x="1508760" y="3593592"/>
            <a:ext cx="5486400" cy="365760"/>
          </a:xfrm>
          <a:prstGeom prst="rect">
            <a:avLst/>
          </a:prstGeom>
          <a:noFill/>
          <a:ln/>
        </p:spPr>
        <p:txBody>
          <a:bodyPr wrap="square" lIns="0" tIns="0" rIns="0" bIns="0" rtlCol="0" anchor="ctr"/>
          <a:lstStyle/>
          <a:p>
            <a:pPr marL="0" indent="0">
              <a:buNone/>
            </a:pPr>
            <a:r>
              <a:rPr lang="en-US" sz="1500" b="1" dirty="0">
                <a:solidFill>
                  <a:srgbClr val="1F2A24"/>
                </a:solidFill>
                <a:latin typeface="Calibri" pitchFamily="34" charset="0"/>
                <a:ea typeface="Calibri" pitchFamily="34" charset="-122"/>
                <a:cs typeface="Calibri" pitchFamily="34" charset="-120"/>
              </a:rPr>
              <a:t>Prevent Errors at Source</a:t>
            </a:r>
            <a:endParaRPr lang="en-US" sz="1500" dirty="0"/>
          </a:p>
        </p:txBody>
      </p:sp>
      <p:sp>
        <p:nvSpPr>
          <p:cNvPr id="9" name="Text 6"/>
          <p:cNvSpPr/>
          <p:nvPr/>
        </p:nvSpPr>
        <p:spPr>
          <a:xfrm>
            <a:off x="1508760" y="3931920"/>
            <a:ext cx="5577840" cy="411480"/>
          </a:xfrm>
          <a:prstGeom prst="rect">
            <a:avLst/>
          </a:prstGeom>
          <a:noFill/>
          <a:ln/>
        </p:spPr>
        <p:txBody>
          <a:bodyPr wrap="square" lIns="0" tIns="0" rIns="0" bIns="0" rtlCol="0" anchor="ctr"/>
          <a:lstStyle/>
          <a:p>
            <a:pPr marL="0" indent="0">
              <a:buNone/>
            </a:pPr>
            <a:r>
              <a:rPr lang="en-US" sz="1250" dirty="0">
                <a:solidFill>
                  <a:srgbClr val="6B7A72"/>
                </a:solidFill>
                <a:latin typeface="Calibri" pitchFamily="34" charset="0"/>
                <a:ea typeface="Calibri" pitchFamily="34" charset="-122"/>
                <a:cs typeface="Calibri" pitchFamily="34" charset="-120"/>
              </a:rPr>
              <a:t>Data Validation stops incorrect entries before they enter your sheet.</a:t>
            </a:r>
            <a:endParaRPr lang="en-US" sz="1250" dirty="0"/>
          </a:p>
        </p:txBody>
      </p:sp>
      <p:sp>
        <p:nvSpPr>
          <p:cNvPr id="10" name="Shape 7"/>
          <p:cNvSpPr/>
          <p:nvPr/>
        </p:nvSpPr>
        <p:spPr>
          <a:xfrm>
            <a:off x="548640" y="4544568"/>
            <a:ext cx="6675120" cy="868680"/>
          </a:xfrm>
          <a:prstGeom prst="roundRect">
            <a:avLst>
              <a:gd name="adj" fmla="val 8421"/>
            </a:avLst>
          </a:prstGeom>
          <a:solidFill>
            <a:srgbClr val="E7F4EC"/>
          </a:solidFill>
          <a:ln/>
        </p:spPr>
      </p:sp>
      <p:sp>
        <p:nvSpPr>
          <p:cNvPr id="11" name="Shape 8"/>
          <p:cNvSpPr/>
          <p:nvPr/>
        </p:nvSpPr>
        <p:spPr>
          <a:xfrm>
            <a:off x="777240" y="4709160"/>
            <a:ext cx="548640" cy="548640"/>
          </a:xfrm>
          <a:prstGeom prst="ellipse">
            <a:avLst/>
          </a:prstGeom>
          <a:solidFill>
            <a:srgbClr val="FFFFFF"/>
          </a:solidFill>
          <a:ln/>
        </p:spPr>
      </p:sp>
      <p:pic>
        <p:nvPicPr>
          <p:cNvPr id="12" name="Image 1" descr="preencoded.png"/>
          <p:cNvPicPr>
            <a:picLocks noChangeAspect="1"/>
          </p:cNvPicPr>
          <p:nvPr/>
        </p:nvPicPr>
        <p:blipFill>
          <a:blip r:embed="rId4"/>
          <a:stretch>
            <a:fillRect/>
          </a:stretch>
        </p:blipFill>
        <p:spPr>
          <a:xfrm>
            <a:off x="886968" y="4818888"/>
            <a:ext cx="329184" cy="329184"/>
          </a:xfrm>
          <a:prstGeom prst="rect">
            <a:avLst/>
          </a:prstGeom>
        </p:spPr>
      </p:pic>
      <p:sp>
        <p:nvSpPr>
          <p:cNvPr id="13" name="Text 9"/>
          <p:cNvSpPr/>
          <p:nvPr/>
        </p:nvSpPr>
        <p:spPr>
          <a:xfrm>
            <a:off x="1508760" y="4617720"/>
            <a:ext cx="5486400" cy="365760"/>
          </a:xfrm>
          <a:prstGeom prst="rect">
            <a:avLst/>
          </a:prstGeom>
          <a:noFill/>
          <a:ln/>
        </p:spPr>
        <p:txBody>
          <a:bodyPr wrap="square" lIns="0" tIns="0" rIns="0" bIns="0" rtlCol="0" anchor="ctr"/>
          <a:lstStyle/>
          <a:p>
            <a:pPr marL="0" indent="0">
              <a:buNone/>
            </a:pPr>
            <a:r>
              <a:rPr lang="en-US" sz="1500" b="1" dirty="0">
                <a:solidFill>
                  <a:srgbClr val="1F2A24"/>
                </a:solidFill>
                <a:latin typeface="Calibri" pitchFamily="34" charset="0"/>
                <a:ea typeface="Calibri" pitchFamily="34" charset="-122"/>
                <a:cs typeface="Calibri" pitchFamily="34" charset="-120"/>
              </a:rPr>
              <a:t>See Patterns Instantly</a:t>
            </a:r>
            <a:endParaRPr lang="en-US" sz="1500" dirty="0"/>
          </a:p>
        </p:txBody>
      </p:sp>
      <p:sp>
        <p:nvSpPr>
          <p:cNvPr id="14" name="Text 10"/>
          <p:cNvSpPr/>
          <p:nvPr/>
        </p:nvSpPr>
        <p:spPr>
          <a:xfrm>
            <a:off x="1508760" y="4956048"/>
            <a:ext cx="5577840" cy="411480"/>
          </a:xfrm>
          <a:prstGeom prst="rect">
            <a:avLst/>
          </a:prstGeom>
          <a:noFill/>
          <a:ln/>
        </p:spPr>
        <p:txBody>
          <a:bodyPr wrap="square" lIns="0" tIns="0" rIns="0" bIns="0" rtlCol="0" anchor="ctr"/>
          <a:lstStyle/>
          <a:p>
            <a:pPr marL="0" indent="0">
              <a:buNone/>
            </a:pPr>
            <a:r>
              <a:rPr lang="en-US" sz="1250" dirty="0">
                <a:solidFill>
                  <a:srgbClr val="6B7A72"/>
                </a:solidFill>
                <a:latin typeface="Calibri" pitchFamily="34" charset="0"/>
                <a:ea typeface="Calibri" pitchFamily="34" charset="-122"/>
                <a:cs typeface="Calibri" pitchFamily="34" charset="-120"/>
              </a:rPr>
              <a:t>Conditional Formatting turns raw numbers into visual insight.</a:t>
            </a:r>
            <a:endParaRPr lang="en-US" sz="1250" dirty="0"/>
          </a:p>
        </p:txBody>
      </p:sp>
      <p:sp>
        <p:nvSpPr>
          <p:cNvPr id="15" name="Shape 11"/>
          <p:cNvSpPr/>
          <p:nvPr/>
        </p:nvSpPr>
        <p:spPr>
          <a:xfrm>
            <a:off x="548640" y="5568696"/>
            <a:ext cx="6675120" cy="868680"/>
          </a:xfrm>
          <a:prstGeom prst="roundRect">
            <a:avLst>
              <a:gd name="adj" fmla="val 8421"/>
            </a:avLst>
          </a:prstGeom>
          <a:solidFill>
            <a:srgbClr val="E7F4EC"/>
          </a:solidFill>
          <a:ln/>
        </p:spPr>
      </p:sp>
      <p:sp>
        <p:nvSpPr>
          <p:cNvPr id="16" name="Shape 12"/>
          <p:cNvSpPr/>
          <p:nvPr/>
        </p:nvSpPr>
        <p:spPr>
          <a:xfrm>
            <a:off x="777240" y="5733288"/>
            <a:ext cx="548640" cy="548640"/>
          </a:xfrm>
          <a:prstGeom prst="ellipse">
            <a:avLst/>
          </a:prstGeom>
          <a:solidFill>
            <a:srgbClr val="FFFFFF"/>
          </a:solidFill>
          <a:ln/>
        </p:spPr>
      </p:sp>
      <p:pic>
        <p:nvPicPr>
          <p:cNvPr id="17" name="Image 2" descr="preencoded.png"/>
          <p:cNvPicPr>
            <a:picLocks noChangeAspect="1"/>
          </p:cNvPicPr>
          <p:nvPr/>
        </p:nvPicPr>
        <p:blipFill>
          <a:blip r:embed="rId5"/>
          <a:stretch>
            <a:fillRect/>
          </a:stretch>
        </p:blipFill>
        <p:spPr>
          <a:xfrm>
            <a:off x="886968" y="5843016"/>
            <a:ext cx="329184" cy="329184"/>
          </a:xfrm>
          <a:prstGeom prst="rect">
            <a:avLst/>
          </a:prstGeom>
        </p:spPr>
      </p:pic>
      <p:sp>
        <p:nvSpPr>
          <p:cNvPr id="18" name="Text 13"/>
          <p:cNvSpPr/>
          <p:nvPr/>
        </p:nvSpPr>
        <p:spPr>
          <a:xfrm>
            <a:off x="1508760" y="5641848"/>
            <a:ext cx="5486400" cy="365760"/>
          </a:xfrm>
          <a:prstGeom prst="rect">
            <a:avLst/>
          </a:prstGeom>
          <a:noFill/>
          <a:ln/>
        </p:spPr>
        <p:txBody>
          <a:bodyPr wrap="square" lIns="0" tIns="0" rIns="0" bIns="0" rtlCol="0" anchor="ctr"/>
          <a:lstStyle/>
          <a:p>
            <a:pPr marL="0" indent="0">
              <a:buNone/>
            </a:pPr>
            <a:r>
              <a:rPr lang="en-US" sz="1500" b="1" dirty="0">
                <a:solidFill>
                  <a:srgbClr val="1F2A24"/>
                </a:solidFill>
                <a:latin typeface="Calibri" pitchFamily="34" charset="0"/>
                <a:ea typeface="Calibri" pitchFamily="34" charset="-122"/>
                <a:cs typeface="Calibri" pitchFamily="34" charset="-120"/>
              </a:rPr>
              <a:t>Improve Decision Speed</a:t>
            </a:r>
            <a:endParaRPr lang="en-US" sz="1500" dirty="0"/>
          </a:p>
        </p:txBody>
      </p:sp>
      <p:sp>
        <p:nvSpPr>
          <p:cNvPr id="19" name="Text 14"/>
          <p:cNvSpPr/>
          <p:nvPr/>
        </p:nvSpPr>
        <p:spPr>
          <a:xfrm>
            <a:off x="1508760" y="5980176"/>
            <a:ext cx="5577840" cy="411480"/>
          </a:xfrm>
          <a:prstGeom prst="rect">
            <a:avLst/>
          </a:prstGeom>
          <a:noFill/>
          <a:ln/>
        </p:spPr>
        <p:txBody>
          <a:bodyPr wrap="square" lIns="0" tIns="0" rIns="0" bIns="0" rtlCol="0" anchor="ctr"/>
          <a:lstStyle/>
          <a:p>
            <a:pPr marL="0" indent="0">
              <a:buNone/>
            </a:pPr>
            <a:r>
              <a:rPr lang="en-US" sz="1250" dirty="0">
                <a:solidFill>
                  <a:srgbClr val="6B7A72"/>
                </a:solidFill>
                <a:latin typeface="Calibri" pitchFamily="34" charset="0"/>
                <a:ea typeface="Calibri" pitchFamily="34" charset="-122"/>
                <a:cs typeface="Calibri" pitchFamily="34" charset="-120"/>
              </a:rPr>
              <a:t>Clean, validated, well-formatted data drives faster, confident decisions.</a:t>
            </a:r>
            <a:endParaRPr lang="en-US" sz="1250" dirty="0"/>
          </a:p>
        </p:txBody>
      </p:sp>
      <p:sp>
        <p:nvSpPr>
          <p:cNvPr id="20" name="Shape 15"/>
          <p:cNvSpPr/>
          <p:nvPr/>
        </p:nvSpPr>
        <p:spPr>
          <a:xfrm>
            <a:off x="7589520" y="1920240"/>
            <a:ext cx="4023360" cy="4297680"/>
          </a:xfrm>
          <a:prstGeom prst="roundRect">
            <a:avLst>
              <a:gd name="adj" fmla="val 1818"/>
            </a:avLst>
          </a:prstGeom>
          <a:solidFill>
            <a:srgbClr val="1E7B4D"/>
          </a:solidFill>
          <a:ln/>
          <a:effectLst>
            <a:outerShdw blurRad="76200" dist="25400" dir="2700000" algn="bl" rotWithShape="0">
              <a:srgbClr val="1F2A24">
                <a:alpha val="12000"/>
              </a:srgbClr>
            </a:outerShdw>
          </a:effectLst>
        </p:spPr>
      </p:sp>
      <p:sp>
        <p:nvSpPr>
          <p:cNvPr id="21" name="Text 16"/>
          <p:cNvSpPr/>
          <p:nvPr/>
        </p:nvSpPr>
        <p:spPr>
          <a:xfrm>
            <a:off x="7955280" y="2194560"/>
            <a:ext cx="3291840" cy="365760"/>
          </a:xfrm>
          <a:prstGeom prst="rect">
            <a:avLst/>
          </a:prstGeom>
          <a:noFill/>
          <a:ln/>
        </p:spPr>
        <p:txBody>
          <a:bodyPr wrap="square" lIns="0" tIns="0" rIns="0" bIns="0" rtlCol="0" anchor="ctr"/>
          <a:lstStyle/>
          <a:p>
            <a:pPr marL="0" indent="0">
              <a:buNone/>
            </a:pPr>
            <a:r>
              <a:rPr lang="en-US" sz="1400" b="1" kern="0" spc="100" dirty="0">
                <a:solidFill>
                  <a:srgbClr val="E7F4EC"/>
                </a:solidFill>
                <a:latin typeface="Calibri" pitchFamily="34" charset="0"/>
                <a:ea typeface="Calibri" pitchFamily="34" charset="-122"/>
                <a:cs typeface="Calibri" pitchFamily="34" charset="-120"/>
              </a:rPr>
              <a:t>Did You Know?</a:t>
            </a:r>
            <a:endParaRPr lang="en-US" sz="1400" dirty="0"/>
          </a:p>
        </p:txBody>
      </p:sp>
      <p:sp>
        <p:nvSpPr>
          <p:cNvPr id="22" name="Text 17"/>
          <p:cNvSpPr/>
          <p:nvPr/>
        </p:nvSpPr>
        <p:spPr>
          <a:xfrm>
            <a:off x="7955280" y="2606040"/>
            <a:ext cx="3291840" cy="914400"/>
          </a:xfrm>
          <a:prstGeom prst="rect">
            <a:avLst/>
          </a:prstGeom>
          <a:noFill/>
          <a:ln/>
        </p:spPr>
        <p:txBody>
          <a:bodyPr wrap="square" lIns="0" tIns="0" rIns="0" bIns="0" rtlCol="0" anchor="ctr"/>
          <a:lstStyle/>
          <a:p>
            <a:pPr marL="0" indent="0">
              <a:buNone/>
            </a:pPr>
            <a:r>
              <a:rPr lang="en-US" sz="5600" b="1" dirty="0">
                <a:solidFill>
                  <a:srgbClr val="FFFFFF"/>
                </a:solidFill>
                <a:latin typeface="Cambria" pitchFamily="34" charset="0"/>
                <a:ea typeface="Cambria" pitchFamily="34" charset="-122"/>
                <a:cs typeface="Cambria" pitchFamily="34" charset="-120"/>
              </a:rPr>
              <a:t>88%</a:t>
            </a:r>
            <a:endParaRPr lang="en-US" sz="5600" dirty="0"/>
          </a:p>
        </p:txBody>
      </p:sp>
      <p:sp>
        <p:nvSpPr>
          <p:cNvPr id="23" name="Text 18"/>
          <p:cNvSpPr/>
          <p:nvPr/>
        </p:nvSpPr>
        <p:spPr>
          <a:xfrm>
            <a:off x="7955280" y="3520440"/>
            <a:ext cx="3291840" cy="1005840"/>
          </a:xfrm>
          <a:prstGeom prst="rect">
            <a:avLst/>
          </a:prstGeom>
          <a:noFill/>
          <a:ln/>
        </p:spPr>
        <p:txBody>
          <a:bodyPr wrap="square" lIns="0" tIns="0" rIns="0" bIns="0" rtlCol="0" anchor="ctr"/>
          <a:lstStyle/>
          <a:p>
            <a:pPr marL="0" indent="0">
              <a:lnSpc>
                <a:spcPct val="120000"/>
              </a:lnSpc>
              <a:buNone/>
            </a:pPr>
            <a:r>
              <a:rPr lang="en-US" sz="1300" dirty="0">
                <a:solidFill>
                  <a:srgbClr val="E7F4EC"/>
                </a:solidFill>
                <a:latin typeface="Calibri" pitchFamily="34" charset="0"/>
                <a:ea typeface="Calibri" pitchFamily="34" charset="-122"/>
                <a:cs typeface="Calibri" pitchFamily="34" charset="-120"/>
              </a:rPr>
              <a:t>of spreadsheets contain at least one error — most caused by manual data entry.</a:t>
            </a:r>
            <a:endParaRPr lang="en-US" sz="1300" dirty="0"/>
          </a:p>
        </p:txBody>
      </p:sp>
      <p:sp>
        <p:nvSpPr>
          <p:cNvPr id="24" name="Shape 19"/>
          <p:cNvSpPr/>
          <p:nvPr/>
        </p:nvSpPr>
        <p:spPr>
          <a:xfrm>
            <a:off x="7955280" y="4663440"/>
            <a:ext cx="3291840" cy="0"/>
          </a:xfrm>
          <a:prstGeom prst="line">
            <a:avLst/>
          </a:prstGeom>
          <a:noFill/>
          <a:ln w="12700">
            <a:solidFill>
              <a:srgbClr val="5FAE85"/>
            </a:solidFill>
            <a:prstDash val="solid"/>
          </a:ln>
        </p:spPr>
      </p:sp>
      <p:sp>
        <p:nvSpPr>
          <p:cNvPr id="25" name="Text 20"/>
          <p:cNvSpPr/>
          <p:nvPr/>
        </p:nvSpPr>
        <p:spPr>
          <a:xfrm>
            <a:off x="7955280" y="4846320"/>
            <a:ext cx="3291840" cy="1188720"/>
          </a:xfrm>
          <a:prstGeom prst="rect">
            <a:avLst/>
          </a:prstGeom>
          <a:noFill/>
          <a:ln/>
        </p:spPr>
        <p:txBody>
          <a:bodyPr wrap="square" lIns="0" tIns="0" rIns="0" bIns="0" rtlCol="0" anchor="ctr"/>
          <a:lstStyle/>
          <a:p>
            <a:pPr marL="0" indent="0">
              <a:lnSpc>
                <a:spcPct val="120000"/>
              </a:lnSpc>
              <a:buNone/>
            </a:pPr>
            <a:r>
              <a:rPr lang="en-US" sz="1300" dirty="0">
                <a:solidFill>
                  <a:srgbClr val="FFFFFF"/>
                </a:solidFill>
                <a:latin typeface="Calibri" pitchFamily="34" charset="0"/>
                <a:ea typeface="Calibri" pitchFamily="34" charset="-122"/>
                <a:cs typeface="Calibri" pitchFamily="34" charset="-120"/>
              </a:rPr>
              <a:t>Data Validation + Conditional Formatting together form a first line of defence — controlling what goes in, and highlighting what matters once it's there.</a:t>
            </a:r>
            <a:endParaRPr lang="en-US" sz="1300" dirty="0"/>
          </a:p>
        </p:txBody>
      </p:sp>
      <p:sp>
        <p:nvSpPr>
          <p:cNvPr id="26" name="Text 21"/>
          <p:cNvSpPr/>
          <p:nvPr/>
        </p:nvSpPr>
        <p:spPr>
          <a:xfrm>
            <a:off x="11521440" y="6446520"/>
            <a:ext cx="457200" cy="274320"/>
          </a:xfrm>
          <a:prstGeom prst="rect">
            <a:avLst/>
          </a:prstGeom>
          <a:noFill/>
          <a:ln/>
        </p:spPr>
        <p:txBody>
          <a:bodyPr wrap="square" lIns="0" tIns="0" rIns="0" bIns="0" rtlCol="0" anchor="ctr"/>
          <a:lstStyle/>
          <a:p>
            <a:pPr marL="0" indent="0" algn="r">
              <a:buNone/>
            </a:pPr>
            <a:r>
              <a:rPr lang="en-US" sz="1000" dirty="0">
                <a:solidFill>
                  <a:srgbClr val="6B7A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1E7B4D"/>
                </a:solidFill>
                <a:latin typeface="Calibri" pitchFamily="34" charset="0"/>
                <a:ea typeface="Calibri" pitchFamily="34" charset="-122"/>
                <a:cs typeface="Calibri" pitchFamily="34" charset="-120"/>
              </a:rPr>
              <a:t>DATA VALIDATION</a:t>
            </a:r>
            <a:endParaRPr lang="en-US" sz="12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marL="0" indent="0">
              <a:buNone/>
            </a:pPr>
            <a:r>
              <a:rPr lang="en-US" sz="3200" b="1" dirty="0">
                <a:solidFill>
                  <a:srgbClr val="1F2A24"/>
                </a:solidFill>
                <a:latin typeface="Cambria" pitchFamily="34" charset="0"/>
                <a:ea typeface="Cambria" pitchFamily="34" charset="-122"/>
                <a:cs typeface="Cambria" pitchFamily="34" charset="-120"/>
              </a:rPr>
              <a:t>What is Data Validation?</a:t>
            </a:r>
            <a:endParaRPr lang="en-US" sz="3200" dirty="0"/>
          </a:p>
        </p:txBody>
      </p:sp>
      <p:sp>
        <p:nvSpPr>
          <p:cNvPr id="4" name="Text 2"/>
          <p:cNvSpPr/>
          <p:nvPr/>
        </p:nvSpPr>
        <p:spPr>
          <a:xfrm>
            <a:off x="548640" y="1920240"/>
            <a:ext cx="5760720" cy="1463040"/>
          </a:xfrm>
          <a:prstGeom prst="rect">
            <a:avLst/>
          </a:prstGeom>
          <a:noFill/>
          <a:ln/>
        </p:spPr>
        <p:txBody>
          <a:bodyPr wrap="square" lIns="0" tIns="0" rIns="0" bIns="0" rtlCol="0" anchor="ctr"/>
          <a:lstStyle/>
          <a:p>
            <a:pPr marL="0" indent="0">
              <a:lnSpc>
                <a:spcPct val="125000"/>
              </a:lnSpc>
              <a:buNone/>
            </a:pPr>
            <a:r>
              <a:rPr lang="en-US" sz="1600" dirty="0">
                <a:solidFill>
                  <a:srgbClr val="1F2A24"/>
                </a:solidFill>
                <a:latin typeface="Calibri" pitchFamily="34" charset="0"/>
                <a:ea typeface="Calibri" pitchFamily="34" charset="-122"/>
                <a:cs typeface="Calibri" pitchFamily="34" charset="-120"/>
              </a:rPr>
              <a:t>Data Validation is an Excel feature that restricts the type or range of values a user can enter into a cell. It prevents errors, enforces consistency, and guides data entry through messages and dropdown lists — turning a blank cell into a controlled input field.</a:t>
            </a:r>
            <a:endParaRPr lang="en-US" sz="1600" dirty="0"/>
          </a:p>
        </p:txBody>
      </p:sp>
      <p:sp>
        <p:nvSpPr>
          <p:cNvPr id="5" name="Text 3"/>
          <p:cNvSpPr/>
          <p:nvPr/>
        </p:nvSpPr>
        <p:spPr>
          <a:xfrm>
            <a:off x="548640" y="3383280"/>
            <a:ext cx="3657600" cy="365760"/>
          </a:xfrm>
          <a:prstGeom prst="rect">
            <a:avLst/>
          </a:prstGeom>
          <a:noFill/>
          <a:ln/>
        </p:spPr>
        <p:txBody>
          <a:bodyPr wrap="square" lIns="0" tIns="0" rIns="0" bIns="0" rtlCol="0" anchor="ctr"/>
          <a:lstStyle/>
          <a:p>
            <a:pPr marL="0" indent="0">
              <a:buNone/>
            </a:pPr>
            <a:r>
              <a:rPr lang="en-US" sz="1600" b="1" dirty="0">
                <a:solidFill>
                  <a:srgbClr val="1E7B4D"/>
                </a:solidFill>
                <a:latin typeface="Calibri" pitchFamily="34" charset="0"/>
                <a:ea typeface="Calibri" pitchFamily="34" charset="-122"/>
                <a:cs typeface="Calibri" pitchFamily="34" charset="-120"/>
              </a:rPr>
              <a:t>Key Benefits</a:t>
            </a:r>
            <a:endParaRPr lang="en-US" sz="1600" dirty="0"/>
          </a:p>
        </p:txBody>
      </p:sp>
      <p:sp>
        <p:nvSpPr>
          <p:cNvPr id="6" name="Shape 4"/>
          <p:cNvSpPr/>
          <p:nvPr/>
        </p:nvSpPr>
        <p:spPr>
          <a:xfrm>
            <a:off x="548640" y="3886200"/>
            <a:ext cx="292608" cy="292608"/>
          </a:xfrm>
          <a:prstGeom prst="ellipse">
            <a:avLst/>
          </a:prstGeom>
          <a:solidFill>
            <a:srgbClr val="E7F4EC"/>
          </a:solidFill>
          <a:ln/>
        </p:spPr>
      </p:sp>
      <p:pic>
        <p:nvPicPr>
          <p:cNvPr id="7" name="Image 0" descr="preencoded.png"/>
          <p:cNvPicPr>
            <a:picLocks noChangeAspect="1"/>
          </p:cNvPicPr>
          <p:nvPr/>
        </p:nvPicPr>
        <p:blipFill>
          <a:blip r:embed="rId3"/>
          <a:stretch>
            <a:fillRect/>
          </a:stretch>
        </p:blipFill>
        <p:spPr>
          <a:xfrm>
            <a:off x="607162" y="3944722"/>
            <a:ext cx="175565" cy="175565"/>
          </a:xfrm>
          <a:prstGeom prst="rect">
            <a:avLst/>
          </a:prstGeom>
        </p:spPr>
      </p:pic>
      <p:sp>
        <p:nvSpPr>
          <p:cNvPr id="8" name="Text 5"/>
          <p:cNvSpPr/>
          <p:nvPr/>
        </p:nvSpPr>
        <p:spPr>
          <a:xfrm>
            <a:off x="1005840" y="3849624"/>
            <a:ext cx="5303520" cy="365760"/>
          </a:xfrm>
          <a:prstGeom prst="rect">
            <a:avLst/>
          </a:prstGeom>
          <a:noFill/>
          <a:ln/>
        </p:spPr>
        <p:txBody>
          <a:bodyPr wrap="square" lIns="0" tIns="0" rIns="0" bIns="0" rtlCol="0" anchor="ctr"/>
          <a:lstStyle/>
          <a:p>
            <a:pPr marL="0" indent="0">
              <a:buNone/>
            </a:pPr>
            <a:r>
              <a:rPr lang="en-US" sz="1400" dirty="0">
                <a:solidFill>
                  <a:srgbClr val="1F2A24"/>
                </a:solidFill>
                <a:latin typeface="Calibri" pitchFamily="34" charset="0"/>
                <a:ea typeface="Calibri" pitchFamily="34" charset="-122"/>
                <a:cs typeface="Calibri" pitchFamily="34" charset="-120"/>
              </a:rPr>
              <a:t>Reduces manual entry errors and typos</a:t>
            </a:r>
            <a:endParaRPr lang="en-US" sz="1400" dirty="0"/>
          </a:p>
        </p:txBody>
      </p:sp>
      <p:sp>
        <p:nvSpPr>
          <p:cNvPr id="9" name="Shape 6"/>
          <p:cNvSpPr/>
          <p:nvPr/>
        </p:nvSpPr>
        <p:spPr>
          <a:xfrm>
            <a:off x="548640" y="4389120"/>
            <a:ext cx="292608" cy="292608"/>
          </a:xfrm>
          <a:prstGeom prst="ellipse">
            <a:avLst/>
          </a:prstGeom>
          <a:solidFill>
            <a:srgbClr val="E7F4EC"/>
          </a:solidFill>
          <a:ln/>
        </p:spPr>
      </p:sp>
      <p:pic>
        <p:nvPicPr>
          <p:cNvPr id="10" name="Image 1" descr="preencoded.png"/>
          <p:cNvPicPr>
            <a:picLocks noChangeAspect="1"/>
          </p:cNvPicPr>
          <p:nvPr/>
        </p:nvPicPr>
        <p:blipFill>
          <a:blip r:embed="rId3"/>
          <a:stretch>
            <a:fillRect/>
          </a:stretch>
        </p:blipFill>
        <p:spPr>
          <a:xfrm>
            <a:off x="607162" y="4447642"/>
            <a:ext cx="175565" cy="175565"/>
          </a:xfrm>
          <a:prstGeom prst="rect">
            <a:avLst/>
          </a:prstGeom>
        </p:spPr>
      </p:pic>
      <p:sp>
        <p:nvSpPr>
          <p:cNvPr id="11" name="Text 7"/>
          <p:cNvSpPr/>
          <p:nvPr/>
        </p:nvSpPr>
        <p:spPr>
          <a:xfrm>
            <a:off x="1005840" y="4352544"/>
            <a:ext cx="5303520" cy="365760"/>
          </a:xfrm>
          <a:prstGeom prst="rect">
            <a:avLst/>
          </a:prstGeom>
          <a:noFill/>
          <a:ln/>
        </p:spPr>
        <p:txBody>
          <a:bodyPr wrap="square" lIns="0" tIns="0" rIns="0" bIns="0" rtlCol="0" anchor="ctr"/>
          <a:lstStyle/>
          <a:p>
            <a:pPr marL="0" indent="0">
              <a:buNone/>
            </a:pPr>
            <a:r>
              <a:rPr lang="en-US" sz="1400" dirty="0">
                <a:solidFill>
                  <a:srgbClr val="1F2A24"/>
                </a:solidFill>
                <a:latin typeface="Calibri" pitchFamily="34" charset="0"/>
                <a:ea typeface="Calibri" pitchFamily="34" charset="-122"/>
                <a:cs typeface="Calibri" pitchFamily="34" charset="-120"/>
              </a:rPr>
              <a:t>Ensures consistency across large teams</a:t>
            </a:r>
            <a:endParaRPr lang="en-US" sz="1400" dirty="0"/>
          </a:p>
        </p:txBody>
      </p:sp>
      <p:sp>
        <p:nvSpPr>
          <p:cNvPr id="12" name="Shape 8"/>
          <p:cNvSpPr/>
          <p:nvPr/>
        </p:nvSpPr>
        <p:spPr>
          <a:xfrm>
            <a:off x="548640" y="4892040"/>
            <a:ext cx="292608" cy="292608"/>
          </a:xfrm>
          <a:prstGeom prst="ellipse">
            <a:avLst/>
          </a:prstGeom>
          <a:solidFill>
            <a:srgbClr val="E7F4EC"/>
          </a:solidFill>
          <a:ln/>
        </p:spPr>
      </p:sp>
      <p:pic>
        <p:nvPicPr>
          <p:cNvPr id="13" name="Image 2" descr="preencoded.png"/>
          <p:cNvPicPr>
            <a:picLocks noChangeAspect="1"/>
          </p:cNvPicPr>
          <p:nvPr/>
        </p:nvPicPr>
        <p:blipFill>
          <a:blip r:embed="rId3"/>
          <a:stretch>
            <a:fillRect/>
          </a:stretch>
        </p:blipFill>
        <p:spPr>
          <a:xfrm>
            <a:off x="607162" y="4950562"/>
            <a:ext cx="175565" cy="175565"/>
          </a:xfrm>
          <a:prstGeom prst="rect">
            <a:avLst/>
          </a:prstGeom>
        </p:spPr>
      </p:pic>
      <p:sp>
        <p:nvSpPr>
          <p:cNvPr id="14" name="Text 9"/>
          <p:cNvSpPr/>
          <p:nvPr/>
        </p:nvSpPr>
        <p:spPr>
          <a:xfrm>
            <a:off x="1005840" y="4855464"/>
            <a:ext cx="5303520" cy="365760"/>
          </a:xfrm>
          <a:prstGeom prst="rect">
            <a:avLst/>
          </a:prstGeom>
          <a:noFill/>
          <a:ln/>
        </p:spPr>
        <p:txBody>
          <a:bodyPr wrap="square" lIns="0" tIns="0" rIns="0" bIns="0" rtlCol="0" anchor="ctr"/>
          <a:lstStyle/>
          <a:p>
            <a:pPr marL="0" indent="0">
              <a:buNone/>
            </a:pPr>
            <a:r>
              <a:rPr lang="en-US" sz="1400" dirty="0">
                <a:solidFill>
                  <a:srgbClr val="1F2A24"/>
                </a:solidFill>
                <a:latin typeface="Calibri" pitchFamily="34" charset="0"/>
                <a:ea typeface="Calibri" pitchFamily="34" charset="-122"/>
                <a:cs typeface="Calibri" pitchFamily="34" charset="-120"/>
              </a:rPr>
              <a:t>Guides users with dropdowns and prompts</a:t>
            </a:r>
            <a:endParaRPr lang="en-US" sz="1400" dirty="0"/>
          </a:p>
        </p:txBody>
      </p:sp>
      <p:sp>
        <p:nvSpPr>
          <p:cNvPr id="15" name="Shape 10"/>
          <p:cNvSpPr/>
          <p:nvPr/>
        </p:nvSpPr>
        <p:spPr>
          <a:xfrm>
            <a:off x="548640" y="5394960"/>
            <a:ext cx="292608" cy="292608"/>
          </a:xfrm>
          <a:prstGeom prst="ellipse">
            <a:avLst/>
          </a:prstGeom>
          <a:solidFill>
            <a:srgbClr val="E7F4EC"/>
          </a:solidFill>
          <a:ln/>
        </p:spPr>
      </p:sp>
      <p:pic>
        <p:nvPicPr>
          <p:cNvPr id="16" name="Image 3" descr="preencoded.png"/>
          <p:cNvPicPr>
            <a:picLocks noChangeAspect="1"/>
          </p:cNvPicPr>
          <p:nvPr/>
        </p:nvPicPr>
        <p:blipFill>
          <a:blip r:embed="rId3"/>
          <a:stretch>
            <a:fillRect/>
          </a:stretch>
        </p:blipFill>
        <p:spPr>
          <a:xfrm>
            <a:off x="607162" y="5453482"/>
            <a:ext cx="175565" cy="175565"/>
          </a:xfrm>
          <a:prstGeom prst="rect">
            <a:avLst/>
          </a:prstGeom>
        </p:spPr>
      </p:pic>
      <p:sp>
        <p:nvSpPr>
          <p:cNvPr id="17" name="Text 11"/>
          <p:cNvSpPr/>
          <p:nvPr/>
        </p:nvSpPr>
        <p:spPr>
          <a:xfrm>
            <a:off x="1005840" y="5358384"/>
            <a:ext cx="5303520" cy="365760"/>
          </a:xfrm>
          <a:prstGeom prst="rect">
            <a:avLst/>
          </a:prstGeom>
          <a:noFill/>
          <a:ln/>
        </p:spPr>
        <p:txBody>
          <a:bodyPr wrap="square" lIns="0" tIns="0" rIns="0" bIns="0" rtlCol="0" anchor="ctr"/>
          <a:lstStyle/>
          <a:p>
            <a:pPr marL="0" indent="0">
              <a:buNone/>
            </a:pPr>
            <a:r>
              <a:rPr lang="en-US" sz="1400" dirty="0">
                <a:solidFill>
                  <a:srgbClr val="1F2A24"/>
                </a:solidFill>
                <a:latin typeface="Calibri" pitchFamily="34" charset="0"/>
                <a:ea typeface="Calibri" pitchFamily="34" charset="-122"/>
                <a:cs typeface="Calibri" pitchFamily="34" charset="-120"/>
              </a:rPr>
              <a:t>Saves time on data cleaning and review</a:t>
            </a:r>
            <a:endParaRPr lang="en-US" sz="1400" dirty="0"/>
          </a:p>
        </p:txBody>
      </p:sp>
      <p:sp>
        <p:nvSpPr>
          <p:cNvPr id="18" name="Shape 12"/>
          <p:cNvSpPr/>
          <p:nvPr/>
        </p:nvSpPr>
        <p:spPr>
          <a:xfrm>
            <a:off x="6766560" y="1920240"/>
            <a:ext cx="4846320" cy="4754880"/>
          </a:xfrm>
          <a:prstGeom prst="roundRect">
            <a:avLst>
              <a:gd name="adj" fmla="val 1538"/>
            </a:avLst>
          </a:prstGeom>
          <a:solidFill>
            <a:srgbClr val="E7F4EC"/>
          </a:solidFill>
          <a:ln/>
          <a:effectLst>
            <a:outerShdw blurRad="76200" dist="25400" dir="2700000" algn="bl" rotWithShape="0">
              <a:srgbClr val="1F2A24">
                <a:alpha val="12000"/>
              </a:srgbClr>
            </a:outerShdw>
          </a:effectLst>
        </p:spPr>
      </p:sp>
      <p:sp>
        <p:nvSpPr>
          <p:cNvPr id="19" name="Text 13"/>
          <p:cNvSpPr/>
          <p:nvPr/>
        </p:nvSpPr>
        <p:spPr>
          <a:xfrm>
            <a:off x="7086600" y="2148840"/>
            <a:ext cx="4206240" cy="365760"/>
          </a:xfrm>
          <a:prstGeom prst="rect">
            <a:avLst/>
          </a:prstGeom>
          <a:noFill/>
          <a:ln/>
        </p:spPr>
        <p:txBody>
          <a:bodyPr wrap="square" lIns="0" tIns="0" rIns="0" bIns="0" rtlCol="0" anchor="ctr"/>
          <a:lstStyle/>
          <a:p>
            <a:pPr marL="0" indent="0">
              <a:buNone/>
            </a:pPr>
            <a:r>
              <a:rPr lang="en-US" sz="1600" b="1" dirty="0">
                <a:solidFill>
                  <a:srgbClr val="1F2A24"/>
                </a:solidFill>
                <a:latin typeface="Calibri" pitchFamily="34" charset="0"/>
                <a:ea typeface="Calibri" pitchFamily="34" charset="-122"/>
                <a:cs typeface="Calibri" pitchFamily="34" charset="-120"/>
              </a:rPr>
              <a:t>Business Use Cases</a:t>
            </a:r>
            <a:endParaRPr lang="en-US" sz="1600" dirty="0"/>
          </a:p>
        </p:txBody>
      </p:sp>
      <p:sp>
        <p:nvSpPr>
          <p:cNvPr id="20" name="Shape 14"/>
          <p:cNvSpPr/>
          <p:nvPr/>
        </p:nvSpPr>
        <p:spPr>
          <a:xfrm>
            <a:off x="7086600" y="2606040"/>
            <a:ext cx="4206240" cy="914400"/>
          </a:xfrm>
          <a:prstGeom prst="roundRect">
            <a:avLst>
              <a:gd name="adj" fmla="val 7000"/>
            </a:avLst>
          </a:prstGeom>
          <a:solidFill>
            <a:srgbClr val="FFFFFF"/>
          </a:solidFill>
          <a:ln/>
        </p:spPr>
      </p:sp>
      <p:sp>
        <p:nvSpPr>
          <p:cNvPr id="21" name="Shape 15"/>
          <p:cNvSpPr/>
          <p:nvPr/>
        </p:nvSpPr>
        <p:spPr>
          <a:xfrm>
            <a:off x="7269480" y="2788920"/>
            <a:ext cx="548640" cy="548640"/>
          </a:xfrm>
          <a:prstGeom prst="ellipse">
            <a:avLst/>
          </a:prstGeom>
          <a:solidFill>
            <a:srgbClr val="E7F4EC"/>
          </a:solidFill>
          <a:ln/>
        </p:spPr>
      </p:sp>
      <p:pic>
        <p:nvPicPr>
          <p:cNvPr id="22" name="Image 4" descr="preencoded.png"/>
          <p:cNvPicPr>
            <a:picLocks noChangeAspect="1"/>
          </p:cNvPicPr>
          <p:nvPr/>
        </p:nvPicPr>
        <p:blipFill>
          <a:blip r:embed="rId4"/>
          <a:stretch>
            <a:fillRect/>
          </a:stretch>
        </p:blipFill>
        <p:spPr>
          <a:xfrm>
            <a:off x="7379208" y="2898648"/>
            <a:ext cx="329184" cy="329184"/>
          </a:xfrm>
          <a:prstGeom prst="rect">
            <a:avLst/>
          </a:prstGeom>
        </p:spPr>
      </p:pic>
      <p:sp>
        <p:nvSpPr>
          <p:cNvPr id="23" name="Text 16"/>
          <p:cNvSpPr/>
          <p:nvPr/>
        </p:nvSpPr>
        <p:spPr>
          <a:xfrm>
            <a:off x="7955280" y="2697480"/>
            <a:ext cx="3200400" cy="320040"/>
          </a:xfrm>
          <a:prstGeom prst="rect">
            <a:avLst/>
          </a:prstGeom>
          <a:noFill/>
          <a:ln/>
        </p:spPr>
        <p:txBody>
          <a:bodyPr wrap="square" lIns="0" tIns="0" rIns="0" bIns="0" rtlCol="0" anchor="ctr"/>
          <a:lstStyle/>
          <a:p>
            <a:pPr marL="0" indent="0">
              <a:buNone/>
            </a:pPr>
            <a:r>
              <a:rPr lang="en-US" sz="1350" b="1" dirty="0">
                <a:solidFill>
                  <a:srgbClr val="1F2A24"/>
                </a:solidFill>
                <a:latin typeface="Calibri" pitchFamily="34" charset="0"/>
                <a:ea typeface="Calibri" pitchFamily="34" charset="-122"/>
                <a:cs typeface="Calibri" pitchFamily="34" charset="-120"/>
              </a:rPr>
              <a:t>HR Forms</a:t>
            </a:r>
            <a:endParaRPr lang="en-US" sz="1350" dirty="0"/>
          </a:p>
        </p:txBody>
      </p:sp>
      <p:sp>
        <p:nvSpPr>
          <p:cNvPr id="24" name="Text 17"/>
          <p:cNvSpPr/>
          <p:nvPr/>
        </p:nvSpPr>
        <p:spPr>
          <a:xfrm>
            <a:off x="7955280" y="3017520"/>
            <a:ext cx="3246120" cy="457200"/>
          </a:xfrm>
          <a:prstGeom prst="rect">
            <a:avLst/>
          </a:prstGeom>
          <a:noFill/>
          <a:ln/>
        </p:spPr>
        <p:txBody>
          <a:bodyPr wrap="square" lIns="0" tIns="0" rIns="0" bIns="0" rtlCol="0" anchor="ctr"/>
          <a:lstStyle/>
          <a:p>
            <a:pPr marL="0" indent="0">
              <a:buNone/>
            </a:pPr>
            <a:r>
              <a:rPr lang="en-US" sz="1100" dirty="0">
                <a:solidFill>
                  <a:srgbClr val="6B7A72"/>
                </a:solidFill>
                <a:latin typeface="Calibri" pitchFamily="34" charset="0"/>
                <a:ea typeface="Calibri" pitchFamily="34" charset="-122"/>
                <a:cs typeface="Calibri" pitchFamily="34" charset="-120"/>
              </a:rPr>
              <a:t>Restrict department codes &amp; employee IDs to valid lists</a:t>
            </a:r>
            <a:endParaRPr lang="en-US" sz="1100" dirty="0"/>
          </a:p>
        </p:txBody>
      </p:sp>
      <p:sp>
        <p:nvSpPr>
          <p:cNvPr id="25" name="Shape 18"/>
          <p:cNvSpPr/>
          <p:nvPr/>
        </p:nvSpPr>
        <p:spPr>
          <a:xfrm>
            <a:off x="7086600" y="3593592"/>
            <a:ext cx="4206240" cy="914400"/>
          </a:xfrm>
          <a:prstGeom prst="roundRect">
            <a:avLst>
              <a:gd name="adj" fmla="val 7000"/>
            </a:avLst>
          </a:prstGeom>
          <a:solidFill>
            <a:srgbClr val="FFFFFF"/>
          </a:solidFill>
          <a:ln/>
        </p:spPr>
      </p:sp>
      <p:sp>
        <p:nvSpPr>
          <p:cNvPr id="26" name="Shape 19"/>
          <p:cNvSpPr/>
          <p:nvPr/>
        </p:nvSpPr>
        <p:spPr>
          <a:xfrm>
            <a:off x="7269480" y="3776472"/>
            <a:ext cx="548640" cy="548640"/>
          </a:xfrm>
          <a:prstGeom prst="ellipse">
            <a:avLst/>
          </a:prstGeom>
          <a:solidFill>
            <a:srgbClr val="E7F4EC"/>
          </a:solidFill>
          <a:ln/>
        </p:spPr>
      </p:sp>
      <p:pic>
        <p:nvPicPr>
          <p:cNvPr id="27" name="Image 5" descr="preencoded.png"/>
          <p:cNvPicPr>
            <a:picLocks noChangeAspect="1"/>
          </p:cNvPicPr>
          <p:nvPr/>
        </p:nvPicPr>
        <p:blipFill>
          <a:blip r:embed="rId5"/>
          <a:stretch>
            <a:fillRect/>
          </a:stretch>
        </p:blipFill>
        <p:spPr>
          <a:xfrm>
            <a:off x="7379208" y="3886200"/>
            <a:ext cx="329184" cy="329184"/>
          </a:xfrm>
          <a:prstGeom prst="rect">
            <a:avLst/>
          </a:prstGeom>
        </p:spPr>
      </p:pic>
      <p:sp>
        <p:nvSpPr>
          <p:cNvPr id="28" name="Text 20"/>
          <p:cNvSpPr/>
          <p:nvPr/>
        </p:nvSpPr>
        <p:spPr>
          <a:xfrm>
            <a:off x="7955280" y="3685032"/>
            <a:ext cx="3200400" cy="320040"/>
          </a:xfrm>
          <a:prstGeom prst="rect">
            <a:avLst/>
          </a:prstGeom>
          <a:noFill/>
          <a:ln/>
        </p:spPr>
        <p:txBody>
          <a:bodyPr wrap="square" lIns="0" tIns="0" rIns="0" bIns="0" rtlCol="0" anchor="ctr"/>
          <a:lstStyle/>
          <a:p>
            <a:pPr marL="0" indent="0">
              <a:buNone/>
            </a:pPr>
            <a:r>
              <a:rPr lang="en-US" sz="1350" b="1" dirty="0">
                <a:solidFill>
                  <a:srgbClr val="1F2A24"/>
                </a:solidFill>
                <a:latin typeface="Calibri" pitchFamily="34" charset="0"/>
                <a:ea typeface="Calibri" pitchFamily="34" charset="-122"/>
                <a:cs typeface="Calibri" pitchFamily="34" charset="-120"/>
              </a:rPr>
              <a:t>Inventory Sheets</a:t>
            </a:r>
            <a:endParaRPr lang="en-US" sz="1350" dirty="0"/>
          </a:p>
        </p:txBody>
      </p:sp>
      <p:sp>
        <p:nvSpPr>
          <p:cNvPr id="29" name="Text 21"/>
          <p:cNvSpPr/>
          <p:nvPr/>
        </p:nvSpPr>
        <p:spPr>
          <a:xfrm>
            <a:off x="7955280" y="4005072"/>
            <a:ext cx="3246120" cy="457200"/>
          </a:xfrm>
          <a:prstGeom prst="rect">
            <a:avLst/>
          </a:prstGeom>
          <a:noFill/>
          <a:ln/>
        </p:spPr>
        <p:txBody>
          <a:bodyPr wrap="square" lIns="0" tIns="0" rIns="0" bIns="0" rtlCol="0" anchor="ctr"/>
          <a:lstStyle/>
          <a:p>
            <a:pPr marL="0" indent="0">
              <a:buNone/>
            </a:pPr>
            <a:r>
              <a:rPr lang="en-US" sz="1100" dirty="0">
                <a:solidFill>
                  <a:srgbClr val="6B7A72"/>
                </a:solidFill>
                <a:latin typeface="Calibri" pitchFamily="34" charset="0"/>
                <a:ea typeface="Calibri" pitchFamily="34" charset="-122"/>
                <a:cs typeface="Calibri" pitchFamily="34" charset="-120"/>
              </a:rPr>
              <a:t>Limit stock entries to whole numbers within set ranges</a:t>
            </a:r>
            <a:endParaRPr lang="en-US" sz="1100" dirty="0"/>
          </a:p>
        </p:txBody>
      </p:sp>
      <p:sp>
        <p:nvSpPr>
          <p:cNvPr id="30" name="Shape 22"/>
          <p:cNvSpPr/>
          <p:nvPr/>
        </p:nvSpPr>
        <p:spPr>
          <a:xfrm>
            <a:off x="7086600" y="4581144"/>
            <a:ext cx="4206240" cy="914400"/>
          </a:xfrm>
          <a:prstGeom prst="roundRect">
            <a:avLst>
              <a:gd name="adj" fmla="val 7000"/>
            </a:avLst>
          </a:prstGeom>
          <a:solidFill>
            <a:srgbClr val="FFFFFF"/>
          </a:solidFill>
          <a:ln/>
        </p:spPr>
      </p:sp>
      <p:sp>
        <p:nvSpPr>
          <p:cNvPr id="31" name="Shape 23"/>
          <p:cNvSpPr/>
          <p:nvPr/>
        </p:nvSpPr>
        <p:spPr>
          <a:xfrm>
            <a:off x="7269480" y="4764024"/>
            <a:ext cx="548640" cy="548640"/>
          </a:xfrm>
          <a:prstGeom prst="ellipse">
            <a:avLst/>
          </a:prstGeom>
          <a:solidFill>
            <a:srgbClr val="E7F4EC"/>
          </a:solidFill>
          <a:ln/>
        </p:spPr>
      </p:sp>
      <p:pic>
        <p:nvPicPr>
          <p:cNvPr id="32" name="Image 6" descr="preencoded.png"/>
          <p:cNvPicPr>
            <a:picLocks noChangeAspect="1"/>
          </p:cNvPicPr>
          <p:nvPr/>
        </p:nvPicPr>
        <p:blipFill>
          <a:blip r:embed="rId6"/>
          <a:stretch>
            <a:fillRect/>
          </a:stretch>
        </p:blipFill>
        <p:spPr>
          <a:xfrm>
            <a:off x="7379208" y="4873752"/>
            <a:ext cx="329184" cy="329184"/>
          </a:xfrm>
          <a:prstGeom prst="rect">
            <a:avLst/>
          </a:prstGeom>
        </p:spPr>
      </p:pic>
      <p:sp>
        <p:nvSpPr>
          <p:cNvPr id="33" name="Text 24"/>
          <p:cNvSpPr/>
          <p:nvPr/>
        </p:nvSpPr>
        <p:spPr>
          <a:xfrm>
            <a:off x="7955280" y="4672584"/>
            <a:ext cx="3200400" cy="320040"/>
          </a:xfrm>
          <a:prstGeom prst="rect">
            <a:avLst/>
          </a:prstGeom>
          <a:noFill/>
          <a:ln/>
        </p:spPr>
        <p:txBody>
          <a:bodyPr wrap="square" lIns="0" tIns="0" rIns="0" bIns="0" rtlCol="0" anchor="ctr"/>
          <a:lstStyle/>
          <a:p>
            <a:pPr marL="0" indent="0">
              <a:buNone/>
            </a:pPr>
            <a:r>
              <a:rPr lang="en-US" sz="1350" b="1" dirty="0">
                <a:solidFill>
                  <a:srgbClr val="1F2A24"/>
                </a:solidFill>
                <a:latin typeface="Calibri" pitchFamily="34" charset="0"/>
                <a:ea typeface="Calibri" pitchFamily="34" charset="-122"/>
                <a:cs typeface="Calibri" pitchFamily="34" charset="-120"/>
              </a:rPr>
              <a:t>Project Trackers</a:t>
            </a:r>
            <a:endParaRPr lang="en-US" sz="1350" dirty="0"/>
          </a:p>
        </p:txBody>
      </p:sp>
      <p:sp>
        <p:nvSpPr>
          <p:cNvPr id="34" name="Text 25"/>
          <p:cNvSpPr/>
          <p:nvPr/>
        </p:nvSpPr>
        <p:spPr>
          <a:xfrm>
            <a:off x="7955280" y="4992624"/>
            <a:ext cx="3246120" cy="457200"/>
          </a:xfrm>
          <a:prstGeom prst="rect">
            <a:avLst/>
          </a:prstGeom>
          <a:noFill/>
          <a:ln/>
        </p:spPr>
        <p:txBody>
          <a:bodyPr wrap="square" lIns="0" tIns="0" rIns="0" bIns="0" rtlCol="0" anchor="ctr"/>
          <a:lstStyle/>
          <a:p>
            <a:pPr marL="0" indent="0">
              <a:buNone/>
            </a:pPr>
            <a:r>
              <a:rPr lang="en-US" sz="1100" dirty="0">
                <a:solidFill>
                  <a:srgbClr val="6B7A72"/>
                </a:solidFill>
                <a:latin typeface="Calibri" pitchFamily="34" charset="0"/>
                <a:ea typeface="Calibri" pitchFamily="34" charset="-122"/>
                <a:cs typeface="Calibri" pitchFamily="34" charset="-120"/>
              </a:rPr>
              <a:t>Force valid date ranges for start and end dates</a:t>
            </a:r>
            <a:endParaRPr lang="en-US" sz="1100" dirty="0"/>
          </a:p>
        </p:txBody>
      </p:sp>
      <p:sp>
        <p:nvSpPr>
          <p:cNvPr id="35" name="Shape 26"/>
          <p:cNvSpPr/>
          <p:nvPr/>
        </p:nvSpPr>
        <p:spPr>
          <a:xfrm>
            <a:off x="7086600" y="5568696"/>
            <a:ext cx="4206240" cy="914400"/>
          </a:xfrm>
          <a:prstGeom prst="roundRect">
            <a:avLst>
              <a:gd name="adj" fmla="val 7000"/>
            </a:avLst>
          </a:prstGeom>
          <a:solidFill>
            <a:srgbClr val="FFFFFF"/>
          </a:solidFill>
          <a:ln/>
        </p:spPr>
      </p:sp>
      <p:sp>
        <p:nvSpPr>
          <p:cNvPr id="36" name="Shape 27"/>
          <p:cNvSpPr/>
          <p:nvPr/>
        </p:nvSpPr>
        <p:spPr>
          <a:xfrm>
            <a:off x="7269480" y="5751576"/>
            <a:ext cx="548640" cy="548640"/>
          </a:xfrm>
          <a:prstGeom prst="ellipse">
            <a:avLst/>
          </a:prstGeom>
          <a:solidFill>
            <a:srgbClr val="E7F4EC"/>
          </a:solidFill>
          <a:ln/>
        </p:spPr>
      </p:sp>
      <p:pic>
        <p:nvPicPr>
          <p:cNvPr id="37" name="Image 7" descr="preencoded.png"/>
          <p:cNvPicPr>
            <a:picLocks noChangeAspect="1"/>
          </p:cNvPicPr>
          <p:nvPr/>
        </p:nvPicPr>
        <p:blipFill>
          <a:blip r:embed="rId7"/>
          <a:stretch>
            <a:fillRect/>
          </a:stretch>
        </p:blipFill>
        <p:spPr>
          <a:xfrm>
            <a:off x="7379208" y="5861304"/>
            <a:ext cx="329184" cy="329184"/>
          </a:xfrm>
          <a:prstGeom prst="rect">
            <a:avLst/>
          </a:prstGeom>
        </p:spPr>
      </p:pic>
      <p:sp>
        <p:nvSpPr>
          <p:cNvPr id="38" name="Text 28"/>
          <p:cNvSpPr/>
          <p:nvPr/>
        </p:nvSpPr>
        <p:spPr>
          <a:xfrm>
            <a:off x="7955280" y="5660136"/>
            <a:ext cx="3200400" cy="320040"/>
          </a:xfrm>
          <a:prstGeom prst="rect">
            <a:avLst/>
          </a:prstGeom>
          <a:noFill/>
          <a:ln/>
        </p:spPr>
        <p:txBody>
          <a:bodyPr wrap="square" lIns="0" tIns="0" rIns="0" bIns="0" rtlCol="0" anchor="ctr"/>
          <a:lstStyle/>
          <a:p>
            <a:pPr marL="0" indent="0">
              <a:buNone/>
            </a:pPr>
            <a:r>
              <a:rPr lang="en-US" sz="1350" b="1" dirty="0">
                <a:solidFill>
                  <a:srgbClr val="1F2A24"/>
                </a:solidFill>
                <a:latin typeface="Calibri" pitchFamily="34" charset="0"/>
                <a:ea typeface="Calibri" pitchFamily="34" charset="-122"/>
                <a:cs typeface="Calibri" pitchFamily="34" charset="-120"/>
              </a:rPr>
              <a:t>Approval Workflows</a:t>
            </a:r>
            <a:endParaRPr lang="en-US" sz="1350" dirty="0"/>
          </a:p>
        </p:txBody>
      </p:sp>
      <p:sp>
        <p:nvSpPr>
          <p:cNvPr id="39" name="Text 29"/>
          <p:cNvSpPr/>
          <p:nvPr/>
        </p:nvSpPr>
        <p:spPr>
          <a:xfrm>
            <a:off x="7955280" y="5980176"/>
            <a:ext cx="3246120" cy="457200"/>
          </a:xfrm>
          <a:prstGeom prst="rect">
            <a:avLst/>
          </a:prstGeom>
          <a:noFill/>
          <a:ln/>
        </p:spPr>
        <p:txBody>
          <a:bodyPr wrap="square" lIns="0" tIns="0" rIns="0" bIns="0" rtlCol="0" anchor="ctr"/>
          <a:lstStyle/>
          <a:p>
            <a:pPr marL="0" indent="0">
              <a:buNone/>
            </a:pPr>
            <a:r>
              <a:rPr lang="en-US" sz="1100" dirty="0">
                <a:solidFill>
                  <a:srgbClr val="6B7A72"/>
                </a:solidFill>
                <a:latin typeface="Calibri" pitchFamily="34" charset="0"/>
                <a:ea typeface="Calibri" pitchFamily="34" charset="-122"/>
                <a:cs typeface="Calibri" pitchFamily="34" charset="-120"/>
              </a:rPr>
              <a:t>Use Yes / No / Pending dropdowns for status fields</a:t>
            </a:r>
            <a:endParaRPr lang="en-US" sz="1100" dirty="0"/>
          </a:p>
        </p:txBody>
      </p:sp>
      <p:sp>
        <p:nvSpPr>
          <p:cNvPr id="40" name="Text 30"/>
          <p:cNvSpPr/>
          <p:nvPr/>
        </p:nvSpPr>
        <p:spPr>
          <a:xfrm>
            <a:off x="11521440" y="6446520"/>
            <a:ext cx="457200" cy="274320"/>
          </a:xfrm>
          <a:prstGeom prst="rect">
            <a:avLst/>
          </a:prstGeom>
          <a:noFill/>
          <a:ln/>
        </p:spPr>
        <p:txBody>
          <a:bodyPr wrap="square" lIns="0" tIns="0" rIns="0" bIns="0" rtlCol="0" anchor="ctr"/>
          <a:lstStyle/>
          <a:p>
            <a:pPr marL="0" indent="0" algn="r">
              <a:buNone/>
            </a:pPr>
            <a:r>
              <a:rPr lang="en-US" sz="1000" dirty="0">
                <a:solidFill>
                  <a:srgbClr val="6B7A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1E7B4D"/>
                </a:solidFill>
                <a:latin typeface="Calibri" pitchFamily="34" charset="0"/>
                <a:ea typeface="Calibri" pitchFamily="34" charset="-122"/>
                <a:cs typeface="Calibri" pitchFamily="34" charset="-120"/>
              </a:rPr>
              <a:t>DATA VALIDATION</a:t>
            </a:r>
            <a:endParaRPr lang="en-US" sz="12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marL="0" indent="0">
              <a:buNone/>
            </a:pPr>
            <a:r>
              <a:rPr lang="en-US" sz="3200" b="1" dirty="0">
                <a:solidFill>
                  <a:srgbClr val="1F2A24"/>
                </a:solidFill>
                <a:latin typeface="Cambria" pitchFamily="34" charset="0"/>
                <a:ea typeface="Cambria" pitchFamily="34" charset="-122"/>
                <a:cs typeface="Cambria" pitchFamily="34" charset="-120"/>
              </a:rPr>
              <a:t>Types of Data Validation</a:t>
            </a:r>
            <a:endParaRPr lang="en-US" sz="3200" dirty="0"/>
          </a:p>
        </p:txBody>
      </p:sp>
      <p:sp>
        <p:nvSpPr>
          <p:cNvPr id="4" name="Shape 2"/>
          <p:cNvSpPr/>
          <p:nvPr/>
        </p:nvSpPr>
        <p:spPr>
          <a:xfrm>
            <a:off x="548640" y="1965960"/>
            <a:ext cx="2697480" cy="1691640"/>
          </a:xfrm>
          <a:prstGeom prst="roundRect">
            <a:avLst>
              <a:gd name="adj" fmla="val 4324"/>
            </a:avLst>
          </a:prstGeom>
          <a:solidFill>
            <a:srgbClr val="E7F4EC"/>
          </a:solidFill>
          <a:ln/>
          <a:effectLst>
            <a:outerShdw blurRad="76200" dist="25400" dir="2700000" algn="bl" rotWithShape="0">
              <a:srgbClr val="1F2A24">
                <a:alpha val="12000"/>
              </a:srgbClr>
            </a:outerShdw>
          </a:effectLst>
        </p:spPr>
      </p:sp>
      <p:sp>
        <p:nvSpPr>
          <p:cNvPr id="5" name="Shape 3"/>
          <p:cNvSpPr/>
          <p:nvPr/>
        </p:nvSpPr>
        <p:spPr>
          <a:xfrm>
            <a:off x="731520" y="2148840"/>
            <a:ext cx="502920" cy="502920"/>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832104" y="2249424"/>
            <a:ext cx="301752" cy="301752"/>
          </a:xfrm>
          <a:prstGeom prst="rect">
            <a:avLst/>
          </a:prstGeom>
        </p:spPr>
      </p:pic>
      <p:sp>
        <p:nvSpPr>
          <p:cNvPr id="7" name="Text 4"/>
          <p:cNvSpPr/>
          <p:nvPr/>
        </p:nvSpPr>
        <p:spPr>
          <a:xfrm>
            <a:off x="731520" y="2743200"/>
            <a:ext cx="2331720" cy="32004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Whole Number</a:t>
            </a:r>
            <a:endParaRPr lang="en-US" sz="1450" dirty="0"/>
          </a:p>
        </p:txBody>
      </p:sp>
      <p:sp>
        <p:nvSpPr>
          <p:cNvPr id="8" name="Text 5"/>
          <p:cNvSpPr/>
          <p:nvPr/>
        </p:nvSpPr>
        <p:spPr>
          <a:xfrm>
            <a:off x="731520" y="3044952"/>
            <a:ext cx="2331720" cy="274320"/>
          </a:xfrm>
          <a:prstGeom prst="rect">
            <a:avLst/>
          </a:prstGeom>
          <a:noFill/>
          <a:ln/>
        </p:spPr>
        <p:txBody>
          <a:bodyPr wrap="square" lIns="0" tIns="0" rIns="0" bIns="0" rtlCol="0" anchor="ctr"/>
          <a:lstStyle/>
          <a:p>
            <a:pPr marL="0" indent="0">
              <a:buNone/>
            </a:pPr>
            <a:r>
              <a:rPr lang="en-US" sz="1100" dirty="0">
                <a:solidFill>
                  <a:srgbClr val="6B7A72"/>
                </a:solidFill>
                <a:latin typeface="Calibri" pitchFamily="34" charset="0"/>
                <a:ea typeface="Calibri" pitchFamily="34" charset="-122"/>
                <a:cs typeface="Calibri" pitchFamily="34" charset="-120"/>
              </a:rPr>
              <a:t>Numeric ranges</a:t>
            </a:r>
            <a:endParaRPr lang="en-US" sz="1100" dirty="0"/>
          </a:p>
        </p:txBody>
      </p:sp>
      <p:sp>
        <p:nvSpPr>
          <p:cNvPr id="9" name="Shape 6"/>
          <p:cNvSpPr/>
          <p:nvPr/>
        </p:nvSpPr>
        <p:spPr>
          <a:xfrm>
            <a:off x="731520" y="3319272"/>
            <a:ext cx="2331720" cy="292608"/>
          </a:xfrm>
          <a:prstGeom prst="roundRect">
            <a:avLst>
              <a:gd name="adj" fmla="val 15625"/>
            </a:avLst>
          </a:prstGeom>
          <a:solidFill>
            <a:srgbClr val="FFFFFF"/>
          </a:solidFill>
          <a:ln/>
        </p:spPr>
      </p:sp>
      <p:sp>
        <p:nvSpPr>
          <p:cNvPr id="10" name="Text 7"/>
          <p:cNvSpPr/>
          <p:nvPr/>
        </p:nvSpPr>
        <p:spPr>
          <a:xfrm>
            <a:off x="731520" y="3319272"/>
            <a:ext cx="2331720" cy="292608"/>
          </a:xfrm>
          <a:prstGeom prst="rect">
            <a:avLst/>
          </a:prstGeom>
          <a:noFill/>
          <a:ln/>
        </p:spPr>
        <p:txBody>
          <a:bodyPr wrap="square" lIns="0" tIns="0" rIns="0" bIns="0" rtlCol="0" anchor="ctr"/>
          <a:lstStyle/>
          <a:p>
            <a:pPr marL="0" indent="0" algn="ctr">
              <a:buNone/>
            </a:pPr>
            <a:r>
              <a:rPr lang="en-US" sz="1050" dirty="0">
                <a:solidFill>
                  <a:srgbClr val="1E7B4D"/>
                </a:solidFill>
                <a:latin typeface="Courier New" pitchFamily="34" charset="0"/>
                <a:ea typeface="Courier New" pitchFamily="34" charset="-122"/>
                <a:cs typeface="Courier New" pitchFamily="34" charset="-120"/>
              </a:rPr>
              <a:t>Between 1 and 100</a:t>
            </a:r>
            <a:endParaRPr lang="en-US" sz="1050" dirty="0"/>
          </a:p>
        </p:txBody>
      </p:sp>
      <p:sp>
        <p:nvSpPr>
          <p:cNvPr id="11" name="Shape 8"/>
          <p:cNvSpPr/>
          <p:nvPr/>
        </p:nvSpPr>
        <p:spPr>
          <a:xfrm>
            <a:off x="3474720" y="1965960"/>
            <a:ext cx="2697480" cy="1691640"/>
          </a:xfrm>
          <a:prstGeom prst="roundRect">
            <a:avLst>
              <a:gd name="adj" fmla="val 4324"/>
            </a:avLst>
          </a:prstGeom>
          <a:solidFill>
            <a:srgbClr val="E7F4EC"/>
          </a:solidFill>
          <a:ln/>
          <a:effectLst>
            <a:outerShdw blurRad="76200" dist="25400" dir="2700000" algn="bl" rotWithShape="0">
              <a:srgbClr val="1F2A24">
                <a:alpha val="12000"/>
              </a:srgbClr>
            </a:outerShdw>
          </a:effectLst>
        </p:spPr>
      </p:sp>
      <p:sp>
        <p:nvSpPr>
          <p:cNvPr id="12" name="Shape 9"/>
          <p:cNvSpPr/>
          <p:nvPr/>
        </p:nvSpPr>
        <p:spPr>
          <a:xfrm>
            <a:off x="3657600" y="2148840"/>
            <a:ext cx="502920" cy="502920"/>
          </a:xfrm>
          <a:prstGeom prst="ellipse">
            <a:avLst/>
          </a:prstGeom>
          <a:solidFill>
            <a:srgbClr val="FFFFFF"/>
          </a:solidFill>
          <a:ln/>
        </p:spPr>
      </p:sp>
      <p:pic>
        <p:nvPicPr>
          <p:cNvPr id="13" name="Image 1" descr="preencoded.png"/>
          <p:cNvPicPr>
            <a:picLocks noChangeAspect="1"/>
          </p:cNvPicPr>
          <p:nvPr/>
        </p:nvPicPr>
        <p:blipFill>
          <a:blip r:embed="rId4"/>
          <a:stretch>
            <a:fillRect/>
          </a:stretch>
        </p:blipFill>
        <p:spPr>
          <a:xfrm>
            <a:off x="3758184" y="2249424"/>
            <a:ext cx="301752" cy="301752"/>
          </a:xfrm>
          <a:prstGeom prst="rect">
            <a:avLst/>
          </a:prstGeom>
        </p:spPr>
      </p:pic>
      <p:sp>
        <p:nvSpPr>
          <p:cNvPr id="14" name="Text 10"/>
          <p:cNvSpPr/>
          <p:nvPr/>
        </p:nvSpPr>
        <p:spPr>
          <a:xfrm>
            <a:off x="3657600" y="2743200"/>
            <a:ext cx="2331720" cy="32004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Decimal</a:t>
            </a:r>
            <a:endParaRPr lang="en-US" sz="1450" dirty="0"/>
          </a:p>
        </p:txBody>
      </p:sp>
      <p:sp>
        <p:nvSpPr>
          <p:cNvPr id="15" name="Text 11"/>
          <p:cNvSpPr/>
          <p:nvPr/>
        </p:nvSpPr>
        <p:spPr>
          <a:xfrm>
            <a:off x="3657600" y="3044952"/>
            <a:ext cx="2331720" cy="274320"/>
          </a:xfrm>
          <a:prstGeom prst="rect">
            <a:avLst/>
          </a:prstGeom>
          <a:noFill/>
          <a:ln/>
        </p:spPr>
        <p:txBody>
          <a:bodyPr wrap="square" lIns="0" tIns="0" rIns="0" bIns="0" rtlCol="0" anchor="ctr"/>
          <a:lstStyle/>
          <a:p>
            <a:pPr marL="0" indent="0">
              <a:buNone/>
            </a:pPr>
            <a:r>
              <a:rPr lang="en-US" sz="1100" dirty="0">
                <a:solidFill>
                  <a:srgbClr val="6B7A72"/>
                </a:solidFill>
                <a:latin typeface="Calibri" pitchFamily="34" charset="0"/>
                <a:ea typeface="Calibri" pitchFamily="34" charset="-122"/>
                <a:cs typeface="Calibri" pitchFamily="34" charset="-120"/>
              </a:rPr>
              <a:t>Floats &amp; ratios</a:t>
            </a:r>
            <a:endParaRPr lang="en-US" sz="1100" dirty="0"/>
          </a:p>
        </p:txBody>
      </p:sp>
      <p:sp>
        <p:nvSpPr>
          <p:cNvPr id="16" name="Shape 12"/>
          <p:cNvSpPr/>
          <p:nvPr/>
        </p:nvSpPr>
        <p:spPr>
          <a:xfrm>
            <a:off x="3657600" y="3319272"/>
            <a:ext cx="2331720" cy="292608"/>
          </a:xfrm>
          <a:prstGeom prst="roundRect">
            <a:avLst>
              <a:gd name="adj" fmla="val 15625"/>
            </a:avLst>
          </a:prstGeom>
          <a:solidFill>
            <a:srgbClr val="FFFFFF"/>
          </a:solidFill>
          <a:ln/>
        </p:spPr>
      </p:sp>
      <p:sp>
        <p:nvSpPr>
          <p:cNvPr id="17" name="Text 13"/>
          <p:cNvSpPr/>
          <p:nvPr/>
        </p:nvSpPr>
        <p:spPr>
          <a:xfrm>
            <a:off x="3657600" y="3319272"/>
            <a:ext cx="2331720" cy="292608"/>
          </a:xfrm>
          <a:prstGeom prst="rect">
            <a:avLst/>
          </a:prstGeom>
          <a:noFill/>
          <a:ln/>
        </p:spPr>
        <p:txBody>
          <a:bodyPr wrap="square" lIns="0" tIns="0" rIns="0" bIns="0" rtlCol="0" anchor="ctr"/>
          <a:lstStyle/>
          <a:p>
            <a:pPr marL="0" indent="0" algn="ctr">
              <a:buNone/>
            </a:pPr>
            <a:r>
              <a:rPr lang="en-US" sz="1050" dirty="0">
                <a:solidFill>
                  <a:srgbClr val="1E7B4D"/>
                </a:solidFill>
                <a:latin typeface="Courier New" pitchFamily="34" charset="0"/>
                <a:ea typeface="Courier New" pitchFamily="34" charset="-122"/>
                <a:cs typeface="Courier New" pitchFamily="34" charset="-120"/>
              </a:rPr>
              <a:t>Greater than 0.0</a:t>
            </a:r>
            <a:endParaRPr lang="en-US" sz="1050" dirty="0"/>
          </a:p>
        </p:txBody>
      </p:sp>
      <p:sp>
        <p:nvSpPr>
          <p:cNvPr id="18" name="Shape 14"/>
          <p:cNvSpPr/>
          <p:nvPr/>
        </p:nvSpPr>
        <p:spPr>
          <a:xfrm>
            <a:off x="6400800" y="1965960"/>
            <a:ext cx="2697480" cy="1691640"/>
          </a:xfrm>
          <a:prstGeom prst="roundRect">
            <a:avLst>
              <a:gd name="adj" fmla="val 4324"/>
            </a:avLst>
          </a:prstGeom>
          <a:solidFill>
            <a:srgbClr val="E7F4EC"/>
          </a:solidFill>
          <a:ln/>
          <a:effectLst>
            <a:outerShdw blurRad="76200" dist="25400" dir="2700000" algn="bl" rotWithShape="0">
              <a:srgbClr val="1F2A24">
                <a:alpha val="12000"/>
              </a:srgbClr>
            </a:outerShdw>
          </a:effectLst>
        </p:spPr>
      </p:sp>
      <p:sp>
        <p:nvSpPr>
          <p:cNvPr id="19" name="Shape 15"/>
          <p:cNvSpPr/>
          <p:nvPr/>
        </p:nvSpPr>
        <p:spPr>
          <a:xfrm>
            <a:off x="6583680" y="2148840"/>
            <a:ext cx="502920" cy="502920"/>
          </a:xfrm>
          <a:prstGeom prst="ellipse">
            <a:avLst/>
          </a:prstGeom>
          <a:solidFill>
            <a:srgbClr val="FFFFFF"/>
          </a:solidFill>
          <a:ln/>
        </p:spPr>
      </p:sp>
      <p:pic>
        <p:nvPicPr>
          <p:cNvPr id="20" name="Image 2" descr="preencoded.png"/>
          <p:cNvPicPr>
            <a:picLocks noChangeAspect="1"/>
          </p:cNvPicPr>
          <p:nvPr/>
        </p:nvPicPr>
        <p:blipFill>
          <a:blip r:embed="rId5"/>
          <a:stretch>
            <a:fillRect/>
          </a:stretch>
        </p:blipFill>
        <p:spPr>
          <a:xfrm>
            <a:off x="6684264" y="2249424"/>
            <a:ext cx="301752" cy="301752"/>
          </a:xfrm>
          <a:prstGeom prst="rect">
            <a:avLst/>
          </a:prstGeom>
        </p:spPr>
      </p:pic>
      <p:sp>
        <p:nvSpPr>
          <p:cNvPr id="21" name="Text 16"/>
          <p:cNvSpPr/>
          <p:nvPr/>
        </p:nvSpPr>
        <p:spPr>
          <a:xfrm>
            <a:off x="6583680" y="2743200"/>
            <a:ext cx="2331720" cy="32004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List</a:t>
            </a:r>
            <a:endParaRPr lang="en-US" sz="1450" dirty="0"/>
          </a:p>
        </p:txBody>
      </p:sp>
      <p:sp>
        <p:nvSpPr>
          <p:cNvPr id="22" name="Text 17"/>
          <p:cNvSpPr/>
          <p:nvPr/>
        </p:nvSpPr>
        <p:spPr>
          <a:xfrm>
            <a:off x="6583680" y="3044952"/>
            <a:ext cx="2331720" cy="274320"/>
          </a:xfrm>
          <a:prstGeom prst="rect">
            <a:avLst/>
          </a:prstGeom>
          <a:noFill/>
          <a:ln/>
        </p:spPr>
        <p:txBody>
          <a:bodyPr wrap="square" lIns="0" tIns="0" rIns="0" bIns="0" rtlCol="0" anchor="ctr"/>
          <a:lstStyle/>
          <a:p>
            <a:pPr marL="0" indent="0">
              <a:buNone/>
            </a:pPr>
            <a:r>
              <a:rPr lang="en-US" sz="1100" dirty="0">
                <a:solidFill>
                  <a:srgbClr val="6B7A72"/>
                </a:solidFill>
                <a:latin typeface="Calibri" pitchFamily="34" charset="0"/>
                <a:ea typeface="Calibri" pitchFamily="34" charset="-122"/>
                <a:cs typeface="Calibri" pitchFamily="34" charset="-120"/>
              </a:rPr>
              <a:t>Dropdown menus</a:t>
            </a:r>
            <a:endParaRPr lang="en-US" sz="1100" dirty="0"/>
          </a:p>
        </p:txBody>
      </p:sp>
      <p:sp>
        <p:nvSpPr>
          <p:cNvPr id="23" name="Shape 18"/>
          <p:cNvSpPr/>
          <p:nvPr/>
        </p:nvSpPr>
        <p:spPr>
          <a:xfrm>
            <a:off x="6583680" y="3319272"/>
            <a:ext cx="2331720" cy="292608"/>
          </a:xfrm>
          <a:prstGeom prst="roundRect">
            <a:avLst>
              <a:gd name="adj" fmla="val 15625"/>
            </a:avLst>
          </a:prstGeom>
          <a:solidFill>
            <a:srgbClr val="FFFFFF"/>
          </a:solidFill>
          <a:ln/>
        </p:spPr>
      </p:sp>
      <p:sp>
        <p:nvSpPr>
          <p:cNvPr id="24" name="Text 19"/>
          <p:cNvSpPr/>
          <p:nvPr/>
        </p:nvSpPr>
        <p:spPr>
          <a:xfrm>
            <a:off x="6583680" y="3319272"/>
            <a:ext cx="2331720" cy="292608"/>
          </a:xfrm>
          <a:prstGeom prst="rect">
            <a:avLst/>
          </a:prstGeom>
          <a:noFill/>
          <a:ln/>
        </p:spPr>
        <p:txBody>
          <a:bodyPr wrap="square" lIns="0" tIns="0" rIns="0" bIns="0" rtlCol="0" anchor="ctr"/>
          <a:lstStyle/>
          <a:p>
            <a:pPr marL="0" indent="0" algn="ctr">
              <a:buNone/>
            </a:pPr>
            <a:r>
              <a:rPr lang="en-US" sz="1050" dirty="0">
                <a:solidFill>
                  <a:srgbClr val="1E7B4D"/>
                </a:solidFill>
                <a:latin typeface="Courier New" pitchFamily="34" charset="0"/>
                <a:ea typeface="Courier New" pitchFamily="34" charset="-122"/>
                <a:cs typeface="Courier New" pitchFamily="34" charset="-120"/>
              </a:rPr>
              <a:t>Yes, No, Maybe</a:t>
            </a:r>
            <a:endParaRPr lang="en-US" sz="1050" dirty="0"/>
          </a:p>
        </p:txBody>
      </p:sp>
      <p:sp>
        <p:nvSpPr>
          <p:cNvPr id="25" name="Shape 20"/>
          <p:cNvSpPr/>
          <p:nvPr/>
        </p:nvSpPr>
        <p:spPr>
          <a:xfrm>
            <a:off x="9326880" y="1965960"/>
            <a:ext cx="2697480" cy="1691640"/>
          </a:xfrm>
          <a:prstGeom prst="roundRect">
            <a:avLst>
              <a:gd name="adj" fmla="val 4324"/>
            </a:avLst>
          </a:prstGeom>
          <a:solidFill>
            <a:srgbClr val="E7F4EC"/>
          </a:solidFill>
          <a:ln/>
          <a:effectLst>
            <a:outerShdw blurRad="76200" dist="25400" dir="2700000" algn="bl" rotWithShape="0">
              <a:srgbClr val="1F2A24">
                <a:alpha val="12000"/>
              </a:srgbClr>
            </a:outerShdw>
          </a:effectLst>
        </p:spPr>
      </p:sp>
      <p:sp>
        <p:nvSpPr>
          <p:cNvPr id="26" name="Shape 21"/>
          <p:cNvSpPr/>
          <p:nvPr/>
        </p:nvSpPr>
        <p:spPr>
          <a:xfrm>
            <a:off x="9509760" y="2148840"/>
            <a:ext cx="502920" cy="502920"/>
          </a:xfrm>
          <a:prstGeom prst="ellipse">
            <a:avLst/>
          </a:prstGeom>
          <a:solidFill>
            <a:srgbClr val="FFFFFF"/>
          </a:solidFill>
          <a:ln/>
        </p:spPr>
      </p:sp>
      <p:pic>
        <p:nvPicPr>
          <p:cNvPr id="27" name="Image 3" descr="preencoded.png"/>
          <p:cNvPicPr>
            <a:picLocks noChangeAspect="1"/>
          </p:cNvPicPr>
          <p:nvPr/>
        </p:nvPicPr>
        <p:blipFill>
          <a:blip r:embed="rId6"/>
          <a:stretch>
            <a:fillRect/>
          </a:stretch>
        </p:blipFill>
        <p:spPr>
          <a:xfrm>
            <a:off x="9610344" y="2249424"/>
            <a:ext cx="301752" cy="301752"/>
          </a:xfrm>
          <a:prstGeom prst="rect">
            <a:avLst/>
          </a:prstGeom>
        </p:spPr>
      </p:pic>
      <p:sp>
        <p:nvSpPr>
          <p:cNvPr id="28" name="Text 22"/>
          <p:cNvSpPr/>
          <p:nvPr/>
        </p:nvSpPr>
        <p:spPr>
          <a:xfrm>
            <a:off x="9509760" y="2743200"/>
            <a:ext cx="2331720" cy="32004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Date</a:t>
            </a:r>
            <a:endParaRPr lang="en-US" sz="1450" dirty="0"/>
          </a:p>
        </p:txBody>
      </p:sp>
      <p:sp>
        <p:nvSpPr>
          <p:cNvPr id="29" name="Text 23"/>
          <p:cNvSpPr/>
          <p:nvPr/>
        </p:nvSpPr>
        <p:spPr>
          <a:xfrm>
            <a:off x="9509760" y="3044952"/>
            <a:ext cx="2331720" cy="274320"/>
          </a:xfrm>
          <a:prstGeom prst="rect">
            <a:avLst/>
          </a:prstGeom>
          <a:noFill/>
          <a:ln/>
        </p:spPr>
        <p:txBody>
          <a:bodyPr wrap="square" lIns="0" tIns="0" rIns="0" bIns="0" rtlCol="0" anchor="ctr"/>
          <a:lstStyle/>
          <a:p>
            <a:pPr marL="0" indent="0">
              <a:buNone/>
            </a:pPr>
            <a:r>
              <a:rPr lang="en-US" sz="1100" dirty="0">
                <a:solidFill>
                  <a:srgbClr val="6B7A72"/>
                </a:solidFill>
                <a:latin typeface="Calibri" pitchFamily="34" charset="0"/>
                <a:ea typeface="Calibri" pitchFamily="34" charset="-122"/>
                <a:cs typeface="Calibri" pitchFamily="34" charset="-120"/>
              </a:rPr>
              <a:t>Date entry control</a:t>
            </a:r>
            <a:endParaRPr lang="en-US" sz="1100" dirty="0"/>
          </a:p>
        </p:txBody>
      </p:sp>
      <p:sp>
        <p:nvSpPr>
          <p:cNvPr id="30" name="Shape 24"/>
          <p:cNvSpPr/>
          <p:nvPr/>
        </p:nvSpPr>
        <p:spPr>
          <a:xfrm>
            <a:off x="9509760" y="3319272"/>
            <a:ext cx="2331720" cy="292608"/>
          </a:xfrm>
          <a:prstGeom prst="roundRect">
            <a:avLst>
              <a:gd name="adj" fmla="val 15625"/>
            </a:avLst>
          </a:prstGeom>
          <a:solidFill>
            <a:srgbClr val="FFFFFF"/>
          </a:solidFill>
          <a:ln/>
        </p:spPr>
      </p:sp>
      <p:sp>
        <p:nvSpPr>
          <p:cNvPr id="31" name="Text 25"/>
          <p:cNvSpPr/>
          <p:nvPr/>
        </p:nvSpPr>
        <p:spPr>
          <a:xfrm>
            <a:off x="9509760" y="3319272"/>
            <a:ext cx="2331720" cy="292608"/>
          </a:xfrm>
          <a:prstGeom prst="rect">
            <a:avLst/>
          </a:prstGeom>
          <a:noFill/>
          <a:ln/>
        </p:spPr>
        <p:txBody>
          <a:bodyPr wrap="square" lIns="0" tIns="0" rIns="0" bIns="0" rtlCol="0" anchor="ctr"/>
          <a:lstStyle/>
          <a:p>
            <a:pPr marL="0" indent="0" algn="ctr">
              <a:buNone/>
            </a:pPr>
            <a:r>
              <a:rPr lang="en-US" sz="1050" dirty="0">
                <a:solidFill>
                  <a:srgbClr val="1E7B4D"/>
                </a:solidFill>
                <a:latin typeface="Courier New" pitchFamily="34" charset="0"/>
                <a:ea typeface="Courier New" pitchFamily="34" charset="-122"/>
                <a:cs typeface="Courier New" pitchFamily="34" charset="-120"/>
              </a:rPr>
              <a:t>After 01-Jan-2024</a:t>
            </a:r>
            <a:endParaRPr lang="en-US" sz="1050" dirty="0"/>
          </a:p>
        </p:txBody>
      </p:sp>
      <p:sp>
        <p:nvSpPr>
          <p:cNvPr id="32" name="Shape 26"/>
          <p:cNvSpPr/>
          <p:nvPr/>
        </p:nvSpPr>
        <p:spPr>
          <a:xfrm>
            <a:off x="2011680" y="3886200"/>
            <a:ext cx="2697480" cy="1691640"/>
          </a:xfrm>
          <a:prstGeom prst="roundRect">
            <a:avLst>
              <a:gd name="adj" fmla="val 4324"/>
            </a:avLst>
          </a:prstGeom>
          <a:solidFill>
            <a:srgbClr val="E7F4EC"/>
          </a:solidFill>
          <a:ln/>
          <a:effectLst>
            <a:outerShdw blurRad="76200" dist="25400" dir="2700000" algn="bl" rotWithShape="0">
              <a:srgbClr val="1F2A24">
                <a:alpha val="12000"/>
              </a:srgbClr>
            </a:outerShdw>
          </a:effectLst>
        </p:spPr>
      </p:sp>
      <p:sp>
        <p:nvSpPr>
          <p:cNvPr id="33" name="Shape 27"/>
          <p:cNvSpPr/>
          <p:nvPr/>
        </p:nvSpPr>
        <p:spPr>
          <a:xfrm>
            <a:off x="2194560" y="4069080"/>
            <a:ext cx="502920" cy="502920"/>
          </a:xfrm>
          <a:prstGeom prst="ellipse">
            <a:avLst/>
          </a:prstGeom>
          <a:solidFill>
            <a:srgbClr val="FFFFFF"/>
          </a:solidFill>
          <a:ln/>
        </p:spPr>
      </p:sp>
      <p:pic>
        <p:nvPicPr>
          <p:cNvPr id="34" name="Image 4" descr="preencoded.png"/>
          <p:cNvPicPr>
            <a:picLocks noChangeAspect="1"/>
          </p:cNvPicPr>
          <p:nvPr/>
        </p:nvPicPr>
        <p:blipFill>
          <a:blip r:embed="rId7"/>
          <a:stretch>
            <a:fillRect/>
          </a:stretch>
        </p:blipFill>
        <p:spPr>
          <a:xfrm>
            <a:off x="2295144" y="4169664"/>
            <a:ext cx="301752" cy="301752"/>
          </a:xfrm>
          <a:prstGeom prst="rect">
            <a:avLst/>
          </a:prstGeom>
        </p:spPr>
      </p:pic>
      <p:sp>
        <p:nvSpPr>
          <p:cNvPr id="35" name="Text 28"/>
          <p:cNvSpPr/>
          <p:nvPr/>
        </p:nvSpPr>
        <p:spPr>
          <a:xfrm>
            <a:off x="2194560" y="4663440"/>
            <a:ext cx="2331720" cy="32004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Time</a:t>
            </a:r>
            <a:endParaRPr lang="en-US" sz="1450" dirty="0"/>
          </a:p>
        </p:txBody>
      </p:sp>
      <p:sp>
        <p:nvSpPr>
          <p:cNvPr id="36" name="Text 29"/>
          <p:cNvSpPr/>
          <p:nvPr/>
        </p:nvSpPr>
        <p:spPr>
          <a:xfrm>
            <a:off x="2194560" y="4965192"/>
            <a:ext cx="2331720" cy="274320"/>
          </a:xfrm>
          <a:prstGeom prst="rect">
            <a:avLst/>
          </a:prstGeom>
          <a:noFill/>
          <a:ln/>
        </p:spPr>
        <p:txBody>
          <a:bodyPr wrap="square" lIns="0" tIns="0" rIns="0" bIns="0" rtlCol="0" anchor="ctr"/>
          <a:lstStyle/>
          <a:p>
            <a:pPr marL="0" indent="0">
              <a:buNone/>
            </a:pPr>
            <a:r>
              <a:rPr lang="en-US" sz="1100" dirty="0">
                <a:solidFill>
                  <a:srgbClr val="6B7A72"/>
                </a:solidFill>
                <a:latin typeface="Calibri" pitchFamily="34" charset="0"/>
                <a:ea typeface="Calibri" pitchFamily="34" charset="-122"/>
                <a:cs typeface="Calibri" pitchFamily="34" charset="-120"/>
              </a:rPr>
              <a:t>Time range control</a:t>
            </a:r>
            <a:endParaRPr lang="en-US" sz="1100" dirty="0"/>
          </a:p>
        </p:txBody>
      </p:sp>
      <p:sp>
        <p:nvSpPr>
          <p:cNvPr id="37" name="Shape 30"/>
          <p:cNvSpPr/>
          <p:nvPr/>
        </p:nvSpPr>
        <p:spPr>
          <a:xfrm>
            <a:off x="2194560" y="5239512"/>
            <a:ext cx="2331720" cy="292608"/>
          </a:xfrm>
          <a:prstGeom prst="roundRect">
            <a:avLst>
              <a:gd name="adj" fmla="val 15625"/>
            </a:avLst>
          </a:prstGeom>
          <a:solidFill>
            <a:srgbClr val="FFFFFF"/>
          </a:solidFill>
          <a:ln/>
        </p:spPr>
      </p:sp>
      <p:sp>
        <p:nvSpPr>
          <p:cNvPr id="38" name="Text 31"/>
          <p:cNvSpPr/>
          <p:nvPr/>
        </p:nvSpPr>
        <p:spPr>
          <a:xfrm>
            <a:off x="2194560" y="5239512"/>
            <a:ext cx="2331720" cy="292608"/>
          </a:xfrm>
          <a:prstGeom prst="rect">
            <a:avLst/>
          </a:prstGeom>
          <a:noFill/>
          <a:ln/>
        </p:spPr>
        <p:txBody>
          <a:bodyPr wrap="square" lIns="0" tIns="0" rIns="0" bIns="0" rtlCol="0" anchor="ctr"/>
          <a:lstStyle/>
          <a:p>
            <a:pPr marL="0" indent="0" algn="ctr">
              <a:buNone/>
            </a:pPr>
            <a:r>
              <a:rPr lang="en-US" sz="1050" dirty="0">
                <a:solidFill>
                  <a:srgbClr val="1E7B4D"/>
                </a:solidFill>
                <a:latin typeface="Courier New" pitchFamily="34" charset="0"/>
                <a:ea typeface="Courier New" pitchFamily="34" charset="-122"/>
                <a:cs typeface="Courier New" pitchFamily="34" charset="-120"/>
              </a:rPr>
              <a:t>Between 09:00–17:00</a:t>
            </a:r>
            <a:endParaRPr lang="en-US" sz="1050" dirty="0"/>
          </a:p>
        </p:txBody>
      </p:sp>
      <p:sp>
        <p:nvSpPr>
          <p:cNvPr id="39" name="Shape 32"/>
          <p:cNvSpPr/>
          <p:nvPr/>
        </p:nvSpPr>
        <p:spPr>
          <a:xfrm>
            <a:off x="4937760" y="3886200"/>
            <a:ext cx="2697480" cy="1691640"/>
          </a:xfrm>
          <a:prstGeom prst="roundRect">
            <a:avLst>
              <a:gd name="adj" fmla="val 4324"/>
            </a:avLst>
          </a:prstGeom>
          <a:solidFill>
            <a:srgbClr val="E7F4EC"/>
          </a:solidFill>
          <a:ln/>
          <a:effectLst>
            <a:outerShdw blurRad="76200" dist="25400" dir="2700000" algn="bl" rotWithShape="0">
              <a:srgbClr val="1F2A24">
                <a:alpha val="12000"/>
              </a:srgbClr>
            </a:outerShdw>
          </a:effectLst>
        </p:spPr>
      </p:sp>
      <p:sp>
        <p:nvSpPr>
          <p:cNvPr id="40" name="Shape 33"/>
          <p:cNvSpPr/>
          <p:nvPr/>
        </p:nvSpPr>
        <p:spPr>
          <a:xfrm>
            <a:off x="5120640" y="4069080"/>
            <a:ext cx="502920" cy="502920"/>
          </a:xfrm>
          <a:prstGeom prst="ellipse">
            <a:avLst/>
          </a:prstGeom>
          <a:solidFill>
            <a:srgbClr val="FFFFFF"/>
          </a:solidFill>
          <a:ln/>
        </p:spPr>
      </p:sp>
      <p:pic>
        <p:nvPicPr>
          <p:cNvPr id="41" name="Image 5" descr="preencoded.png"/>
          <p:cNvPicPr>
            <a:picLocks noChangeAspect="1"/>
          </p:cNvPicPr>
          <p:nvPr/>
        </p:nvPicPr>
        <p:blipFill>
          <a:blip r:embed="rId8"/>
          <a:stretch>
            <a:fillRect/>
          </a:stretch>
        </p:blipFill>
        <p:spPr>
          <a:xfrm>
            <a:off x="5221224" y="4169664"/>
            <a:ext cx="301752" cy="301752"/>
          </a:xfrm>
          <a:prstGeom prst="rect">
            <a:avLst/>
          </a:prstGeom>
        </p:spPr>
      </p:pic>
      <p:sp>
        <p:nvSpPr>
          <p:cNvPr id="42" name="Text 34"/>
          <p:cNvSpPr/>
          <p:nvPr/>
        </p:nvSpPr>
        <p:spPr>
          <a:xfrm>
            <a:off x="5120640" y="4663440"/>
            <a:ext cx="2331720" cy="32004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Text Length</a:t>
            </a:r>
            <a:endParaRPr lang="en-US" sz="1450" dirty="0"/>
          </a:p>
        </p:txBody>
      </p:sp>
      <p:sp>
        <p:nvSpPr>
          <p:cNvPr id="43" name="Text 35"/>
          <p:cNvSpPr/>
          <p:nvPr/>
        </p:nvSpPr>
        <p:spPr>
          <a:xfrm>
            <a:off x="5120640" y="4965192"/>
            <a:ext cx="2331720" cy="274320"/>
          </a:xfrm>
          <a:prstGeom prst="rect">
            <a:avLst/>
          </a:prstGeom>
          <a:noFill/>
          <a:ln/>
        </p:spPr>
        <p:txBody>
          <a:bodyPr wrap="square" lIns="0" tIns="0" rIns="0" bIns="0" rtlCol="0" anchor="ctr"/>
          <a:lstStyle/>
          <a:p>
            <a:pPr marL="0" indent="0">
              <a:buNone/>
            </a:pPr>
            <a:r>
              <a:rPr lang="en-US" sz="1100" dirty="0">
                <a:solidFill>
                  <a:srgbClr val="6B7A72"/>
                </a:solidFill>
                <a:latin typeface="Calibri" pitchFamily="34" charset="0"/>
                <a:ea typeface="Calibri" pitchFamily="34" charset="-122"/>
                <a:cs typeface="Calibri" pitchFamily="34" charset="-120"/>
              </a:rPr>
              <a:t>Limit string length</a:t>
            </a:r>
            <a:endParaRPr lang="en-US" sz="1100" dirty="0"/>
          </a:p>
        </p:txBody>
      </p:sp>
      <p:sp>
        <p:nvSpPr>
          <p:cNvPr id="44" name="Shape 36"/>
          <p:cNvSpPr/>
          <p:nvPr/>
        </p:nvSpPr>
        <p:spPr>
          <a:xfrm>
            <a:off x="5120640" y="5239512"/>
            <a:ext cx="2331720" cy="292608"/>
          </a:xfrm>
          <a:prstGeom prst="roundRect">
            <a:avLst>
              <a:gd name="adj" fmla="val 15625"/>
            </a:avLst>
          </a:prstGeom>
          <a:solidFill>
            <a:srgbClr val="FFFFFF"/>
          </a:solidFill>
          <a:ln/>
        </p:spPr>
      </p:sp>
      <p:sp>
        <p:nvSpPr>
          <p:cNvPr id="45" name="Text 37"/>
          <p:cNvSpPr/>
          <p:nvPr/>
        </p:nvSpPr>
        <p:spPr>
          <a:xfrm>
            <a:off x="5120640" y="5239512"/>
            <a:ext cx="2331720" cy="292608"/>
          </a:xfrm>
          <a:prstGeom prst="rect">
            <a:avLst/>
          </a:prstGeom>
          <a:noFill/>
          <a:ln/>
        </p:spPr>
        <p:txBody>
          <a:bodyPr wrap="square" lIns="0" tIns="0" rIns="0" bIns="0" rtlCol="0" anchor="ctr"/>
          <a:lstStyle/>
          <a:p>
            <a:pPr marL="0" indent="0" algn="ctr">
              <a:buNone/>
            </a:pPr>
            <a:r>
              <a:rPr lang="en-US" sz="1050" dirty="0">
                <a:solidFill>
                  <a:srgbClr val="1E7B4D"/>
                </a:solidFill>
                <a:latin typeface="Courier New" pitchFamily="34" charset="0"/>
                <a:ea typeface="Courier New" pitchFamily="34" charset="-122"/>
                <a:cs typeface="Courier New" pitchFamily="34" charset="-120"/>
              </a:rPr>
              <a:t>Less than 50 chars</a:t>
            </a:r>
            <a:endParaRPr lang="en-US" sz="1050" dirty="0"/>
          </a:p>
        </p:txBody>
      </p:sp>
      <p:sp>
        <p:nvSpPr>
          <p:cNvPr id="46" name="Shape 38"/>
          <p:cNvSpPr/>
          <p:nvPr/>
        </p:nvSpPr>
        <p:spPr>
          <a:xfrm>
            <a:off x="7863840" y="3886200"/>
            <a:ext cx="2697480" cy="1691640"/>
          </a:xfrm>
          <a:prstGeom prst="roundRect">
            <a:avLst>
              <a:gd name="adj" fmla="val 4324"/>
            </a:avLst>
          </a:prstGeom>
          <a:solidFill>
            <a:srgbClr val="E7F4EC"/>
          </a:solidFill>
          <a:ln/>
          <a:effectLst>
            <a:outerShdw blurRad="76200" dist="25400" dir="2700000" algn="bl" rotWithShape="0">
              <a:srgbClr val="1F2A24">
                <a:alpha val="12000"/>
              </a:srgbClr>
            </a:outerShdw>
          </a:effectLst>
        </p:spPr>
      </p:sp>
      <p:sp>
        <p:nvSpPr>
          <p:cNvPr id="47" name="Shape 39"/>
          <p:cNvSpPr/>
          <p:nvPr/>
        </p:nvSpPr>
        <p:spPr>
          <a:xfrm>
            <a:off x="8046720" y="4069080"/>
            <a:ext cx="502920" cy="502920"/>
          </a:xfrm>
          <a:prstGeom prst="ellipse">
            <a:avLst/>
          </a:prstGeom>
          <a:solidFill>
            <a:srgbClr val="FFFFFF"/>
          </a:solidFill>
          <a:ln/>
        </p:spPr>
      </p:sp>
      <p:pic>
        <p:nvPicPr>
          <p:cNvPr id="48" name="Image 6" descr="preencoded.png"/>
          <p:cNvPicPr>
            <a:picLocks noChangeAspect="1"/>
          </p:cNvPicPr>
          <p:nvPr/>
        </p:nvPicPr>
        <p:blipFill>
          <a:blip r:embed="rId9"/>
          <a:stretch>
            <a:fillRect/>
          </a:stretch>
        </p:blipFill>
        <p:spPr>
          <a:xfrm>
            <a:off x="8147304" y="4169664"/>
            <a:ext cx="301752" cy="301752"/>
          </a:xfrm>
          <a:prstGeom prst="rect">
            <a:avLst/>
          </a:prstGeom>
        </p:spPr>
      </p:pic>
      <p:sp>
        <p:nvSpPr>
          <p:cNvPr id="49" name="Text 40"/>
          <p:cNvSpPr/>
          <p:nvPr/>
        </p:nvSpPr>
        <p:spPr>
          <a:xfrm>
            <a:off x="8046720" y="4663440"/>
            <a:ext cx="2331720" cy="32004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Custom Formula</a:t>
            </a:r>
            <a:endParaRPr lang="en-US" sz="1450" dirty="0"/>
          </a:p>
        </p:txBody>
      </p:sp>
      <p:sp>
        <p:nvSpPr>
          <p:cNvPr id="50" name="Text 41"/>
          <p:cNvSpPr/>
          <p:nvPr/>
        </p:nvSpPr>
        <p:spPr>
          <a:xfrm>
            <a:off x="8046720" y="4965192"/>
            <a:ext cx="2331720" cy="274320"/>
          </a:xfrm>
          <a:prstGeom prst="rect">
            <a:avLst/>
          </a:prstGeom>
          <a:noFill/>
          <a:ln/>
        </p:spPr>
        <p:txBody>
          <a:bodyPr wrap="square" lIns="0" tIns="0" rIns="0" bIns="0" rtlCol="0" anchor="ctr"/>
          <a:lstStyle/>
          <a:p>
            <a:pPr marL="0" indent="0">
              <a:buNone/>
            </a:pPr>
            <a:r>
              <a:rPr lang="en-US" sz="1100" dirty="0">
                <a:solidFill>
                  <a:srgbClr val="6B7A72"/>
                </a:solidFill>
                <a:latin typeface="Calibri" pitchFamily="34" charset="0"/>
                <a:ea typeface="Calibri" pitchFamily="34" charset="-122"/>
                <a:cs typeface="Calibri" pitchFamily="34" charset="-120"/>
              </a:rPr>
              <a:t>Formula-based rules</a:t>
            </a:r>
            <a:endParaRPr lang="en-US" sz="1100" dirty="0"/>
          </a:p>
        </p:txBody>
      </p:sp>
      <p:sp>
        <p:nvSpPr>
          <p:cNvPr id="51" name="Shape 42"/>
          <p:cNvSpPr/>
          <p:nvPr/>
        </p:nvSpPr>
        <p:spPr>
          <a:xfrm>
            <a:off x="8046720" y="5239512"/>
            <a:ext cx="2331720" cy="292608"/>
          </a:xfrm>
          <a:prstGeom prst="roundRect">
            <a:avLst>
              <a:gd name="adj" fmla="val 15625"/>
            </a:avLst>
          </a:prstGeom>
          <a:solidFill>
            <a:srgbClr val="FFFFFF"/>
          </a:solidFill>
          <a:ln/>
        </p:spPr>
      </p:sp>
      <p:sp>
        <p:nvSpPr>
          <p:cNvPr id="52" name="Text 43"/>
          <p:cNvSpPr/>
          <p:nvPr/>
        </p:nvSpPr>
        <p:spPr>
          <a:xfrm>
            <a:off x="8046720" y="5239512"/>
            <a:ext cx="2331720" cy="292608"/>
          </a:xfrm>
          <a:prstGeom prst="rect">
            <a:avLst/>
          </a:prstGeom>
          <a:noFill/>
          <a:ln/>
        </p:spPr>
        <p:txBody>
          <a:bodyPr wrap="square" lIns="0" tIns="0" rIns="0" bIns="0" rtlCol="0" anchor="ctr"/>
          <a:lstStyle/>
          <a:p>
            <a:pPr marL="0" indent="0" algn="ctr">
              <a:buNone/>
            </a:pPr>
            <a:r>
              <a:rPr lang="en-US" sz="1050" dirty="0">
                <a:solidFill>
                  <a:srgbClr val="1E7B4D"/>
                </a:solidFill>
                <a:latin typeface="Courier New" pitchFamily="34" charset="0"/>
                <a:ea typeface="Courier New" pitchFamily="34" charset="-122"/>
                <a:cs typeface="Courier New" pitchFamily="34" charset="-120"/>
              </a:rPr>
              <a:t>=AND(A1&gt;0,A1&lt;1000)</a:t>
            </a:r>
            <a:endParaRPr lang="en-US" sz="1050" dirty="0"/>
          </a:p>
        </p:txBody>
      </p:sp>
      <p:sp>
        <p:nvSpPr>
          <p:cNvPr id="53" name="Text 44"/>
          <p:cNvSpPr/>
          <p:nvPr/>
        </p:nvSpPr>
        <p:spPr>
          <a:xfrm>
            <a:off x="11521440" y="6446520"/>
            <a:ext cx="457200" cy="274320"/>
          </a:xfrm>
          <a:prstGeom prst="rect">
            <a:avLst/>
          </a:prstGeom>
          <a:noFill/>
          <a:ln/>
        </p:spPr>
        <p:txBody>
          <a:bodyPr wrap="square" lIns="0" tIns="0" rIns="0" bIns="0" rtlCol="0" anchor="ctr"/>
          <a:lstStyle/>
          <a:p>
            <a:pPr marL="0" indent="0" algn="r">
              <a:buNone/>
            </a:pPr>
            <a:r>
              <a:rPr lang="en-US" sz="1000" dirty="0">
                <a:solidFill>
                  <a:srgbClr val="6B7A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1E7B4D"/>
                </a:solidFill>
                <a:latin typeface="Calibri" pitchFamily="34" charset="0"/>
                <a:ea typeface="Calibri" pitchFamily="34" charset="-122"/>
                <a:cs typeface="Calibri" pitchFamily="34" charset="-120"/>
              </a:rPr>
              <a:t>DATA VALIDATION</a:t>
            </a:r>
            <a:endParaRPr lang="en-US" sz="12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marL="0" indent="0">
              <a:buNone/>
            </a:pPr>
            <a:r>
              <a:rPr lang="en-US" sz="3200" b="1" dirty="0">
                <a:solidFill>
                  <a:srgbClr val="1F2A24"/>
                </a:solidFill>
                <a:latin typeface="Cambria" pitchFamily="34" charset="0"/>
                <a:ea typeface="Cambria" pitchFamily="34" charset="-122"/>
                <a:cs typeface="Cambria" pitchFamily="34" charset="-120"/>
              </a:rPr>
              <a:t>Steps to Apply Data Validation</a:t>
            </a:r>
            <a:endParaRPr lang="en-US" sz="3200" dirty="0"/>
          </a:p>
        </p:txBody>
      </p:sp>
      <p:sp>
        <p:nvSpPr>
          <p:cNvPr id="4" name="Shape 2"/>
          <p:cNvSpPr/>
          <p:nvPr/>
        </p:nvSpPr>
        <p:spPr>
          <a:xfrm>
            <a:off x="731520" y="2834640"/>
            <a:ext cx="914400" cy="914400"/>
          </a:xfrm>
          <a:prstGeom prst="ellipse">
            <a:avLst/>
          </a:prstGeom>
          <a:solidFill>
            <a:srgbClr val="E7F4EC"/>
          </a:solidFill>
          <a:ln/>
        </p:spPr>
      </p:sp>
      <p:pic>
        <p:nvPicPr>
          <p:cNvPr id="5" name="Image 0" descr="preencoded.png"/>
          <p:cNvPicPr>
            <a:picLocks noChangeAspect="1"/>
          </p:cNvPicPr>
          <p:nvPr/>
        </p:nvPicPr>
        <p:blipFill>
          <a:blip r:embed="rId3"/>
          <a:stretch>
            <a:fillRect/>
          </a:stretch>
        </p:blipFill>
        <p:spPr>
          <a:xfrm>
            <a:off x="937260" y="3040380"/>
            <a:ext cx="502920" cy="502920"/>
          </a:xfrm>
          <a:prstGeom prst="rect">
            <a:avLst/>
          </a:prstGeom>
        </p:spPr>
      </p:pic>
      <p:sp>
        <p:nvSpPr>
          <p:cNvPr id="6" name="Shape 3"/>
          <p:cNvSpPr/>
          <p:nvPr/>
        </p:nvSpPr>
        <p:spPr>
          <a:xfrm>
            <a:off x="1353312" y="2542032"/>
            <a:ext cx="411480" cy="411480"/>
          </a:xfrm>
          <a:prstGeom prst="ellipse">
            <a:avLst/>
          </a:prstGeom>
          <a:solidFill>
            <a:srgbClr val="1E7B4D"/>
          </a:solidFill>
          <a:ln/>
        </p:spPr>
      </p:sp>
      <p:sp>
        <p:nvSpPr>
          <p:cNvPr id="7" name="Text 4"/>
          <p:cNvSpPr/>
          <p:nvPr/>
        </p:nvSpPr>
        <p:spPr>
          <a:xfrm>
            <a:off x="1353312" y="254203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82880" y="3886200"/>
            <a:ext cx="2011680" cy="365760"/>
          </a:xfrm>
          <a:prstGeom prst="rect">
            <a:avLst/>
          </a:prstGeom>
          <a:noFill/>
          <a:ln/>
        </p:spPr>
        <p:txBody>
          <a:bodyPr wrap="square" lIns="0" tIns="0" rIns="0" bIns="0" rtlCol="0" anchor="ctr"/>
          <a:lstStyle/>
          <a:p>
            <a:pPr marL="0" indent="0" algn="ctr">
              <a:buNone/>
            </a:pPr>
            <a:r>
              <a:rPr lang="en-US" sz="1600" b="1" dirty="0">
                <a:solidFill>
                  <a:srgbClr val="1F2A24"/>
                </a:solidFill>
                <a:latin typeface="Calibri" pitchFamily="34" charset="0"/>
                <a:ea typeface="Calibri" pitchFamily="34" charset="-122"/>
                <a:cs typeface="Calibri" pitchFamily="34" charset="-120"/>
              </a:rPr>
              <a:t>Select Cells</a:t>
            </a:r>
            <a:endParaRPr lang="en-US" sz="1600" dirty="0"/>
          </a:p>
        </p:txBody>
      </p:sp>
      <p:sp>
        <p:nvSpPr>
          <p:cNvPr id="9" name="Text 6"/>
          <p:cNvSpPr/>
          <p:nvPr/>
        </p:nvSpPr>
        <p:spPr>
          <a:xfrm>
            <a:off x="182880" y="4297680"/>
            <a:ext cx="2011680" cy="822960"/>
          </a:xfrm>
          <a:prstGeom prst="rect">
            <a:avLst/>
          </a:prstGeom>
          <a:noFill/>
          <a:ln/>
        </p:spPr>
        <p:txBody>
          <a:bodyPr wrap="square" lIns="0" tIns="0" rIns="0" bIns="0" rtlCol="0" anchor="ctr"/>
          <a:lstStyle/>
          <a:p>
            <a:pPr marL="0" indent="0" algn="ctr">
              <a:lnSpc>
                <a:spcPct val="115000"/>
              </a:lnSpc>
              <a:buNone/>
            </a:pPr>
            <a:r>
              <a:rPr lang="en-US" sz="1250" dirty="0">
                <a:solidFill>
                  <a:srgbClr val="6B7A72"/>
                </a:solidFill>
                <a:latin typeface="Calibri" pitchFamily="34" charset="0"/>
                <a:ea typeface="Calibri" pitchFamily="34" charset="-122"/>
                <a:cs typeface="Calibri" pitchFamily="34" charset="-120"/>
              </a:rPr>
              <a:t>Highlight the cell(s) you want to restrict.</a:t>
            </a:r>
            <a:endParaRPr lang="en-US" sz="1250" dirty="0"/>
          </a:p>
        </p:txBody>
      </p:sp>
      <p:pic>
        <p:nvPicPr>
          <p:cNvPr id="10" name="Image 1" descr="preencoded.png"/>
          <p:cNvPicPr>
            <a:picLocks noChangeAspect="1"/>
          </p:cNvPicPr>
          <p:nvPr/>
        </p:nvPicPr>
        <p:blipFill>
          <a:blip r:embed="rId4"/>
          <a:stretch>
            <a:fillRect/>
          </a:stretch>
        </p:blipFill>
        <p:spPr>
          <a:xfrm>
            <a:off x="1874520" y="3090672"/>
            <a:ext cx="411480" cy="411480"/>
          </a:xfrm>
          <a:prstGeom prst="rect">
            <a:avLst/>
          </a:prstGeom>
        </p:spPr>
      </p:pic>
      <p:sp>
        <p:nvSpPr>
          <p:cNvPr id="11" name="Shape 7"/>
          <p:cNvSpPr/>
          <p:nvPr/>
        </p:nvSpPr>
        <p:spPr>
          <a:xfrm>
            <a:off x="3474720" y="2834640"/>
            <a:ext cx="914400" cy="914400"/>
          </a:xfrm>
          <a:prstGeom prst="ellipse">
            <a:avLst/>
          </a:prstGeom>
          <a:solidFill>
            <a:srgbClr val="E7F4EC"/>
          </a:solidFill>
          <a:ln/>
        </p:spPr>
      </p:sp>
      <p:pic>
        <p:nvPicPr>
          <p:cNvPr id="12" name="Image 2" descr="preencoded.png"/>
          <p:cNvPicPr>
            <a:picLocks noChangeAspect="1"/>
          </p:cNvPicPr>
          <p:nvPr/>
        </p:nvPicPr>
        <p:blipFill>
          <a:blip r:embed="rId5"/>
          <a:stretch>
            <a:fillRect/>
          </a:stretch>
        </p:blipFill>
        <p:spPr>
          <a:xfrm>
            <a:off x="3680460" y="3040380"/>
            <a:ext cx="502920" cy="502920"/>
          </a:xfrm>
          <a:prstGeom prst="rect">
            <a:avLst/>
          </a:prstGeom>
        </p:spPr>
      </p:pic>
      <p:sp>
        <p:nvSpPr>
          <p:cNvPr id="13" name="Shape 8"/>
          <p:cNvSpPr/>
          <p:nvPr/>
        </p:nvSpPr>
        <p:spPr>
          <a:xfrm>
            <a:off x="4096512" y="2542032"/>
            <a:ext cx="411480" cy="411480"/>
          </a:xfrm>
          <a:prstGeom prst="ellipse">
            <a:avLst/>
          </a:prstGeom>
          <a:solidFill>
            <a:srgbClr val="1E7B4D"/>
          </a:solidFill>
          <a:ln/>
        </p:spPr>
      </p:sp>
      <p:sp>
        <p:nvSpPr>
          <p:cNvPr id="14" name="Text 9"/>
          <p:cNvSpPr/>
          <p:nvPr/>
        </p:nvSpPr>
        <p:spPr>
          <a:xfrm>
            <a:off x="4096512" y="254203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0"/>
          <p:cNvSpPr/>
          <p:nvPr/>
        </p:nvSpPr>
        <p:spPr>
          <a:xfrm>
            <a:off x="2926080" y="3886200"/>
            <a:ext cx="2011680" cy="365760"/>
          </a:xfrm>
          <a:prstGeom prst="rect">
            <a:avLst/>
          </a:prstGeom>
          <a:noFill/>
          <a:ln/>
        </p:spPr>
        <p:txBody>
          <a:bodyPr wrap="square" lIns="0" tIns="0" rIns="0" bIns="0" rtlCol="0" anchor="ctr"/>
          <a:lstStyle/>
          <a:p>
            <a:pPr marL="0" indent="0" algn="ctr">
              <a:buNone/>
            </a:pPr>
            <a:r>
              <a:rPr lang="en-US" sz="1600" b="1" dirty="0">
                <a:solidFill>
                  <a:srgbClr val="1F2A24"/>
                </a:solidFill>
                <a:latin typeface="Calibri" pitchFamily="34" charset="0"/>
                <a:ea typeface="Calibri" pitchFamily="34" charset="-122"/>
                <a:cs typeface="Calibri" pitchFamily="34" charset="-120"/>
              </a:rPr>
              <a:t>Open Dialog</a:t>
            </a:r>
            <a:endParaRPr lang="en-US" sz="1600" dirty="0"/>
          </a:p>
        </p:txBody>
      </p:sp>
      <p:sp>
        <p:nvSpPr>
          <p:cNvPr id="16" name="Text 11"/>
          <p:cNvSpPr/>
          <p:nvPr/>
        </p:nvSpPr>
        <p:spPr>
          <a:xfrm>
            <a:off x="2926080" y="4297680"/>
            <a:ext cx="2011680" cy="822960"/>
          </a:xfrm>
          <a:prstGeom prst="rect">
            <a:avLst/>
          </a:prstGeom>
          <a:noFill/>
          <a:ln/>
        </p:spPr>
        <p:txBody>
          <a:bodyPr wrap="square" lIns="0" tIns="0" rIns="0" bIns="0" rtlCol="0" anchor="ctr"/>
          <a:lstStyle/>
          <a:p>
            <a:pPr marL="0" indent="0" algn="ctr">
              <a:lnSpc>
                <a:spcPct val="115000"/>
              </a:lnSpc>
              <a:buNone/>
            </a:pPr>
            <a:r>
              <a:rPr lang="en-US" sz="1250" dirty="0">
                <a:solidFill>
                  <a:srgbClr val="6B7A72"/>
                </a:solidFill>
                <a:latin typeface="Calibri" pitchFamily="34" charset="0"/>
                <a:ea typeface="Calibri" pitchFamily="34" charset="-122"/>
                <a:cs typeface="Calibri" pitchFamily="34" charset="-120"/>
              </a:rPr>
              <a:t>Go to Data tab → Data Validation.</a:t>
            </a:r>
            <a:endParaRPr lang="en-US" sz="1250" dirty="0"/>
          </a:p>
        </p:txBody>
      </p:sp>
      <p:pic>
        <p:nvPicPr>
          <p:cNvPr id="17" name="Image 3" descr="preencoded.png"/>
          <p:cNvPicPr>
            <a:picLocks noChangeAspect="1"/>
          </p:cNvPicPr>
          <p:nvPr/>
        </p:nvPicPr>
        <p:blipFill>
          <a:blip r:embed="rId4"/>
          <a:stretch>
            <a:fillRect/>
          </a:stretch>
        </p:blipFill>
        <p:spPr>
          <a:xfrm>
            <a:off x="4617720" y="3090672"/>
            <a:ext cx="411480" cy="411480"/>
          </a:xfrm>
          <a:prstGeom prst="rect">
            <a:avLst/>
          </a:prstGeom>
        </p:spPr>
      </p:pic>
      <p:sp>
        <p:nvSpPr>
          <p:cNvPr id="18" name="Shape 12"/>
          <p:cNvSpPr/>
          <p:nvPr/>
        </p:nvSpPr>
        <p:spPr>
          <a:xfrm>
            <a:off x="6217920" y="2834640"/>
            <a:ext cx="914400" cy="914400"/>
          </a:xfrm>
          <a:prstGeom prst="ellipse">
            <a:avLst/>
          </a:prstGeom>
          <a:solidFill>
            <a:srgbClr val="E7F4EC"/>
          </a:solidFill>
          <a:ln/>
        </p:spPr>
      </p:sp>
      <p:pic>
        <p:nvPicPr>
          <p:cNvPr id="19" name="Image 4" descr="preencoded.png"/>
          <p:cNvPicPr>
            <a:picLocks noChangeAspect="1"/>
          </p:cNvPicPr>
          <p:nvPr/>
        </p:nvPicPr>
        <p:blipFill>
          <a:blip r:embed="rId6"/>
          <a:stretch>
            <a:fillRect/>
          </a:stretch>
        </p:blipFill>
        <p:spPr>
          <a:xfrm>
            <a:off x="6423660" y="3040380"/>
            <a:ext cx="502920" cy="502920"/>
          </a:xfrm>
          <a:prstGeom prst="rect">
            <a:avLst/>
          </a:prstGeom>
        </p:spPr>
      </p:pic>
      <p:sp>
        <p:nvSpPr>
          <p:cNvPr id="20" name="Shape 13"/>
          <p:cNvSpPr/>
          <p:nvPr/>
        </p:nvSpPr>
        <p:spPr>
          <a:xfrm>
            <a:off x="6839712" y="2542032"/>
            <a:ext cx="411480" cy="411480"/>
          </a:xfrm>
          <a:prstGeom prst="ellipse">
            <a:avLst/>
          </a:prstGeom>
          <a:solidFill>
            <a:srgbClr val="1E7B4D"/>
          </a:solidFill>
          <a:ln/>
        </p:spPr>
      </p:sp>
      <p:sp>
        <p:nvSpPr>
          <p:cNvPr id="21" name="Text 14"/>
          <p:cNvSpPr/>
          <p:nvPr/>
        </p:nvSpPr>
        <p:spPr>
          <a:xfrm>
            <a:off x="6839712" y="254203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5"/>
          <p:cNvSpPr/>
          <p:nvPr/>
        </p:nvSpPr>
        <p:spPr>
          <a:xfrm>
            <a:off x="5669280" y="3886200"/>
            <a:ext cx="2011680" cy="365760"/>
          </a:xfrm>
          <a:prstGeom prst="rect">
            <a:avLst/>
          </a:prstGeom>
          <a:noFill/>
          <a:ln/>
        </p:spPr>
        <p:txBody>
          <a:bodyPr wrap="square" lIns="0" tIns="0" rIns="0" bIns="0" rtlCol="0" anchor="ctr"/>
          <a:lstStyle/>
          <a:p>
            <a:pPr marL="0" indent="0" algn="ctr">
              <a:buNone/>
            </a:pPr>
            <a:r>
              <a:rPr lang="en-US" sz="1600" b="1" dirty="0">
                <a:solidFill>
                  <a:srgbClr val="1F2A24"/>
                </a:solidFill>
                <a:latin typeface="Calibri" pitchFamily="34" charset="0"/>
                <a:ea typeface="Calibri" pitchFamily="34" charset="-122"/>
                <a:cs typeface="Calibri" pitchFamily="34" charset="-120"/>
              </a:rPr>
              <a:t>Set Rules</a:t>
            </a:r>
            <a:endParaRPr lang="en-US" sz="1600" dirty="0"/>
          </a:p>
        </p:txBody>
      </p:sp>
      <p:sp>
        <p:nvSpPr>
          <p:cNvPr id="23" name="Text 16"/>
          <p:cNvSpPr/>
          <p:nvPr/>
        </p:nvSpPr>
        <p:spPr>
          <a:xfrm>
            <a:off x="5669280" y="4297680"/>
            <a:ext cx="2011680" cy="822960"/>
          </a:xfrm>
          <a:prstGeom prst="rect">
            <a:avLst/>
          </a:prstGeom>
          <a:noFill/>
          <a:ln/>
        </p:spPr>
        <p:txBody>
          <a:bodyPr wrap="square" lIns="0" tIns="0" rIns="0" bIns="0" rtlCol="0" anchor="ctr"/>
          <a:lstStyle/>
          <a:p>
            <a:pPr marL="0" indent="0" algn="ctr">
              <a:lnSpc>
                <a:spcPct val="115000"/>
              </a:lnSpc>
              <a:buNone/>
            </a:pPr>
            <a:r>
              <a:rPr lang="en-US" sz="1250" dirty="0">
                <a:solidFill>
                  <a:srgbClr val="6B7A72"/>
                </a:solidFill>
                <a:latin typeface="Calibri" pitchFamily="34" charset="0"/>
                <a:ea typeface="Calibri" pitchFamily="34" charset="-122"/>
                <a:cs typeface="Calibri" pitchFamily="34" charset="-120"/>
              </a:rPr>
              <a:t>Choose validation type, criteria &amp; messages.</a:t>
            </a:r>
            <a:endParaRPr lang="en-US" sz="1250" dirty="0"/>
          </a:p>
        </p:txBody>
      </p:sp>
      <p:pic>
        <p:nvPicPr>
          <p:cNvPr id="24" name="Image 5" descr="preencoded.png"/>
          <p:cNvPicPr>
            <a:picLocks noChangeAspect="1"/>
          </p:cNvPicPr>
          <p:nvPr/>
        </p:nvPicPr>
        <p:blipFill>
          <a:blip r:embed="rId4"/>
          <a:stretch>
            <a:fillRect/>
          </a:stretch>
        </p:blipFill>
        <p:spPr>
          <a:xfrm>
            <a:off x="7360920" y="3090672"/>
            <a:ext cx="411480" cy="411480"/>
          </a:xfrm>
          <a:prstGeom prst="rect">
            <a:avLst/>
          </a:prstGeom>
        </p:spPr>
      </p:pic>
      <p:sp>
        <p:nvSpPr>
          <p:cNvPr id="25" name="Shape 17"/>
          <p:cNvSpPr/>
          <p:nvPr/>
        </p:nvSpPr>
        <p:spPr>
          <a:xfrm>
            <a:off x="8961120" y="2834640"/>
            <a:ext cx="914400" cy="914400"/>
          </a:xfrm>
          <a:prstGeom prst="ellipse">
            <a:avLst/>
          </a:prstGeom>
          <a:solidFill>
            <a:srgbClr val="E7F4EC"/>
          </a:solidFill>
          <a:ln/>
        </p:spPr>
      </p:sp>
      <p:pic>
        <p:nvPicPr>
          <p:cNvPr id="26" name="Image 6" descr="preencoded.png"/>
          <p:cNvPicPr>
            <a:picLocks noChangeAspect="1"/>
          </p:cNvPicPr>
          <p:nvPr/>
        </p:nvPicPr>
        <p:blipFill>
          <a:blip r:embed="rId7"/>
          <a:stretch>
            <a:fillRect/>
          </a:stretch>
        </p:blipFill>
        <p:spPr>
          <a:xfrm>
            <a:off x="9166860" y="3040380"/>
            <a:ext cx="502920" cy="502920"/>
          </a:xfrm>
          <a:prstGeom prst="rect">
            <a:avLst/>
          </a:prstGeom>
        </p:spPr>
      </p:pic>
      <p:sp>
        <p:nvSpPr>
          <p:cNvPr id="27" name="Shape 18"/>
          <p:cNvSpPr/>
          <p:nvPr/>
        </p:nvSpPr>
        <p:spPr>
          <a:xfrm>
            <a:off x="9582912" y="2542032"/>
            <a:ext cx="411480" cy="411480"/>
          </a:xfrm>
          <a:prstGeom prst="ellipse">
            <a:avLst/>
          </a:prstGeom>
          <a:solidFill>
            <a:srgbClr val="1E7B4D"/>
          </a:solidFill>
          <a:ln/>
        </p:spPr>
      </p:sp>
      <p:sp>
        <p:nvSpPr>
          <p:cNvPr id="28" name="Text 19"/>
          <p:cNvSpPr/>
          <p:nvPr/>
        </p:nvSpPr>
        <p:spPr>
          <a:xfrm>
            <a:off x="9582912" y="254203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9" name="Text 20"/>
          <p:cNvSpPr/>
          <p:nvPr/>
        </p:nvSpPr>
        <p:spPr>
          <a:xfrm>
            <a:off x="8412480" y="3886200"/>
            <a:ext cx="2011680" cy="365760"/>
          </a:xfrm>
          <a:prstGeom prst="rect">
            <a:avLst/>
          </a:prstGeom>
          <a:noFill/>
          <a:ln/>
        </p:spPr>
        <p:txBody>
          <a:bodyPr wrap="square" lIns="0" tIns="0" rIns="0" bIns="0" rtlCol="0" anchor="ctr"/>
          <a:lstStyle/>
          <a:p>
            <a:pPr marL="0" indent="0" algn="ctr">
              <a:buNone/>
            </a:pPr>
            <a:r>
              <a:rPr lang="en-US" sz="1600" b="1" dirty="0">
                <a:solidFill>
                  <a:srgbClr val="1F2A24"/>
                </a:solidFill>
                <a:latin typeface="Calibri" pitchFamily="34" charset="0"/>
                <a:ea typeface="Calibri" pitchFamily="34" charset="-122"/>
                <a:cs typeface="Calibri" pitchFamily="34" charset="-120"/>
              </a:rPr>
              <a:t>Apply &amp; Test</a:t>
            </a:r>
            <a:endParaRPr lang="en-US" sz="1600" dirty="0"/>
          </a:p>
        </p:txBody>
      </p:sp>
      <p:sp>
        <p:nvSpPr>
          <p:cNvPr id="30" name="Text 21"/>
          <p:cNvSpPr/>
          <p:nvPr/>
        </p:nvSpPr>
        <p:spPr>
          <a:xfrm>
            <a:off x="8412480" y="4297680"/>
            <a:ext cx="2011680" cy="822960"/>
          </a:xfrm>
          <a:prstGeom prst="rect">
            <a:avLst/>
          </a:prstGeom>
          <a:noFill/>
          <a:ln/>
        </p:spPr>
        <p:txBody>
          <a:bodyPr wrap="square" lIns="0" tIns="0" rIns="0" bIns="0" rtlCol="0" anchor="ctr"/>
          <a:lstStyle/>
          <a:p>
            <a:pPr marL="0" indent="0" algn="ctr">
              <a:lnSpc>
                <a:spcPct val="115000"/>
              </a:lnSpc>
              <a:buNone/>
            </a:pPr>
            <a:r>
              <a:rPr lang="en-US" sz="1250" dirty="0">
                <a:solidFill>
                  <a:srgbClr val="6B7A72"/>
                </a:solidFill>
                <a:latin typeface="Calibri" pitchFamily="34" charset="0"/>
                <a:ea typeface="Calibri" pitchFamily="34" charset="-122"/>
                <a:cs typeface="Calibri" pitchFamily="34" charset="-120"/>
              </a:rPr>
              <a:t>Click OK, then test with sample entries.</a:t>
            </a:r>
            <a:endParaRPr lang="en-US" sz="1250" dirty="0"/>
          </a:p>
        </p:txBody>
      </p:sp>
      <p:sp>
        <p:nvSpPr>
          <p:cNvPr id="31" name="Shape 22"/>
          <p:cNvSpPr/>
          <p:nvPr/>
        </p:nvSpPr>
        <p:spPr>
          <a:xfrm>
            <a:off x="731520" y="5486400"/>
            <a:ext cx="10698480" cy="868680"/>
          </a:xfrm>
          <a:prstGeom prst="roundRect">
            <a:avLst>
              <a:gd name="adj" fmla="val 8421"/>
            </a:avLst>
          </a:prstGeom>
          <a:solidFill>
            <a:srgbClr val="1E7B4D"/>
          </a:solidFill>
          <a:ln/>
        </p:spPr>
      </p:sp>
      <p:sp>
        <p:nvSpPr>
          <p:cNvPr id="32" name="Shape 23"/>
          <p:cNvSpPr/>
          <p:nvPr/>
        </p:nvSpPr>
        <p:spPr>
          <a:xfrm>
            <a:off x="960120" y="5669280"/>
            <a:ext cx="502920" cy="502920"/>
          </a:xfrm>
          <a:prstGeom prst="ellipse">
            <a:avLst/>
          </a:prstGeom>
          <a:solidFill>
            <a:srgbClr val="5FAE85"/>
          </a:solidFill>
          <a:ln/>
        </p:spPr>
      </p:sp>
      <p:pic>
        <p:nvPicPr>
          <p:cNvPr id="33" name="Image 7" descr="preencoded.png"/>
          <p:cNvPicPr>
            <a:picLocks noChangeAspect="1"/>
          </p:cNvPicPr>
          <p:nvPr/>
        </p:nvPicPr>
        <p:blipFill>
          <a:blip r:embed="rId8"/>
          <a:stretch>
            <a:fillRect/>
          </a:stretch>
        </p:blipFill>
        <p:spPr>
          <a:xfrm>
            <a:off x="1060704" y="5769864"/>
            <a:ext cx="301752" cy="301752"/>
          </a:xfrm>
          <a:prstGeom prst="rect">
            <a:avLst/>
          </a:prstGeom>
        </p:spPr>
      </p:pic>
      <p:sp>
        <p:nvSpPr>
          <p:cNvPr id="34" name="Text 24"/>
          <p:cNvSpPr/>
          <p:nvPr/>
        </p:nvSpPr>
        <p:spPr>
          <a:xfrm>
            <a:off x="1645920" y="5669280"/>
            <a:ext cx="950976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Shortcut: </a:t>
            </a:r>
            <a:r>
              <a:rPr lang="en-US" sz="1400" dirty="0">
                <a:solidFill>
                  <a:srgbClr val="E7F4EC"/>
                </a:solidFill>
                <a:latin typeface="Calibri" pitchFamily="34" charset="0"/>
                <a:ea typeface="Calibri" pitchFamily="34" charset="-122"/>
                <a:cs typeface="Calibri" pitchFamily="34" charset="-120"/>
              </a:rPr>
              <a:t>Alt + A, then V, V opens the Data Validation dialog directly — no mouse required.</a:t>
            </a:r>
            <a:endParaRPr lang="en-US" sz="1400" dirty="0"/>
          </a:p>
        </p:txBody>
      </p:sp>
      <p:sp>
        <p:nvSpPr>
          <p:cNvPr id="35" name="Text 25"/>
          <p:cNvSpPr/>
          <p:nvPr/>
        </p:nvSpPr>
        <p:spPr>
          <a:xfrm>
            <a:off x="11521440" y="6446520"/>
            <a:ext cx="457200" cy="274320"/>
          </a:xfrm>
          <a:prstGeom prst="rect">
            <a:avLst/>
          </a:prstGeom>
          <a:noFill/>
          <a:ln/>
        </p:spPr>
        <p:txBody>
          <a:bodyPr wrap="square" lIns="0" tIns="0" rIns="0" bIns="0" rtlCol="0" anchor="ctr"/>
          <a:lstStyle/>
          <a:p>
            <a:pPr marL="0" indent="0" algn="r">
              <a:buNone/>
            </a:pPr>
            <a:r>
              <a:rPr lang="en-US" sz="1000" dirty="0">
                <a:solidFill>
                  <a:srgbClr val="6B7A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1E7B4D"/>
                </a:solidFill>
                <a:latin typeface="Calibri" pitchFamily="34" charset="0"/>
                <a:ea typeface="Calibri" pitchFamily="34" charset="-122"/>
                <a:cs typeface="Calibri" pitchFamily="34" charset="-120"/>
              </a:rPr>
              <a:t>DATA VALIDATION</a:t>
            </a:r>
            <a:endParaRPr lang="en-US" sz="12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marL="0" indent="0">
              <a:buNone/>
            </a:pPr>
            <a:r>
              <a:rPr lang="en-US" sz="3200" b="1" dirty="0">
                <a:solidFill>
                  <a:srgbClr val="1F2A24"/>
                </a:solidFill>
                <a:latin typeface="Cambria" pitchFamily="34" charset="0"/>
                <a:ea typeface="Cambria" pitchFamily="34" charset="-122"/>
                <a:cs typeface="Cambria" pitchFamily="34" charset="-120"/>
              </a:rPr>
              <a:t>Input Messages &amp; Error Alerts</a:t>
            </a:r>
            <a:endParaRPr lang="en-US" sz="3200" dirty="0"/>
          </a:p>
        </p:txBody>
      </p:sp>
      <p:sp>
        <p:nvSpPr>
          <p:cNvPr id="4" name="Shape 2"/>
          <p:cNvSpPr/>
          <p:nvPr/>
        </p:nvSpPr>
        <p:spPr>
          <a:xfrm>
            <a:off x="548640" y="1920240"/>
            <a:ext cx="5394960" cy="4480560"/>
          </a:xfrm>
          <a:prstGeom prst="roundRect">
            <a:avLst>
              <a:gd name="adj" fmla="val 1633"/>
            </a:avLst>
          </a:prstGeom>
          <a:solidFill>
            <a:srgbClr val="E7F4EC"/>
          </a:solidFill>
          <a:ln/>
          <a:effectLst>
            <a:outerShdw blurRad="76200" dist="25400" dir="2700000" algn="bl" rotWithShape="0">
              <a:srgbClr val="1F2A24">
                <a:alpha val="12000"/>
              </a:srgbClr>
            </a:outerShdw>
          </a:effectLst>
        </p:spPr>
      </p:sp>
      <p:sp>
        <p:nvSpPr>
          <p:cNvPr id="5" name="Shape 3"/>
          <p:cNvSpPr/>
          <p:nvPr/>
        </p:nvSpPr>
        <p:spPr>
          <a:xfrm>
            <a:off x="822960" y="2194560"/>
            <a:ext cx="548640" cy="548640"/>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932688" y="2304288"/>
            <a:ext cx="329184" cy="329184"/>
          </a:xfrm>
          <a:prstGeom prst="rect">
            <a:avLst/>
          </a:prstGeom>
        </p:spPr>
      </p:pic>
      <p:sp>
        <p:nvSpPr>
          <p:cNvPr id="7" name="Text 4"/>
          <p:cNvSpPr/>
          <p:nvPr/>
        </p:nvSpPr>
        <p:spPr>
          <a:xfrm>
            <a:off x="1508760" y="2240280"/>
            <a:ext cx="4206240" cy="411480"/>
          </a:xfrm>
          <a:prstGeom prst="rect">
            <a:avLst/>
          </a:prstGeom>
          <a:noFill/>
          <a:ln/>
        </p:spPr>
        <p:txBody>
          <a:bodyPr wrap="square" lIns="0" tIns="0" rIns="0" bIns="0" rtlCol="0" anchor="ctr"/>
          <a:lstStyle/>
          <a:p>
            <a:pPr marL="0" indent="0">
              <a:buNone/>
            </a:pPr>
            <a:r>
              <a:rPr lang="en-US" sz="1800" b="1" dirty="0">
                <a:solidFill>
                  <a:srgbClr val="1F2A24"/>
                </a:solidFill>
                <a:latin typeface="Calibri" pitchFamily="34" charset="0"/>
                <a:ea typeface="Calibri" pitchFamily="34" charset="-122"/>
                <a:cs typeface="Calibri" pitchFamily="34" charset="-120"/>
              </a:rPr>
              <a:t>Input Message</a:t>
            </a:r>
            <a:endParaRPr lang="en-US" sz="1800" dirty="0"/>
          </a:p>
        </p:txBody>
      </p:sp>
      <p:sp>
        <p:nvSpPr>
          <p:cNvPr id="8" name="Text 5"/>
          <p:cNvSpPr/>
          <p:nvPr/>
        </p:nvSpPr>
        <p:spPr>
          <a:xfrm>
            <a:off x="822960" y="2880360"/>
            <a:ext cx="4846320" cy="777240"/>
          </a:xfrm>
          <a:prstGeom prst="rect">
            <a:avLst/>
          </a:prstGeom>
          <a:noFill/>
          <a:ln/>
        </p:spPr>
        <p:txBody>
          <a:bodyPr wrap="square" lIns="0" tIns="0" rIns="0" bIns="0" rtlCol="0" anchor="ctr"/>
          <a:lstStyle/>
          <a:p>
            <a:pPr marL="0" indent="0">
              <a:lnSpc>
                <a:spcPct val="120000"/>
              </a:lnSpc>
              <a:buNone/>
            </a:pPr>
            <a:r>
              <a:rPr lang="en-US" sz="1350" dirty="0">
                <a:solidFill>
                  <a:srgbClr val="1F2A24"/>
                </a:solidFill>
                <a:latin typeface="Calibri" pitchFamily="34" charset="0"/>
                <a:ea typeface="Calibri" pitchFamily="34" charset="-122"/>
                <a:cs typeface="Calibri" pitchFamily="34" charset="-120"/>
              </a:rPr>
              <a:t>Shows a helpful tooltip when the cell is selected — guiding users before they type.</a:t>
            </a:r>
            <a:endParaRPr lang="en-US" sz="1350" dirty="0"/>
          </a:p>
        </p:txBody>
      </p:sp>
      <p:sp>
        <p:nvSpPr>
          <p:cNvPr id="9" name="Shape 6"/>
          <p:cNvSpPr/>
          <p:nvPr/>
        </p:nvSpPr>
        <p:spPr>
          <a:xfrm>
            <a:off x="822960" y="3840480"/>
            <a:ext cx="1463040" cy="457200"/>
          </a:xfrm>
          <a:prstGeom prst="rect">
            <a:avLst/>
          </a:prstGeom>
          <a:solidFill>
            <a:srgbClr val="FFFFFF"/>
          </a:solidFill>
          <a:ln w="19050">
            <a:solidFill>
              <a:srgbClr val="1E7B4D"/>
            </a:solidFill>
            <a:prstDash val="solid"/>
          </a:ln>
        </p:spPr>
      </p:sp>
      <p:sp>
        <p:nvSpPr>
          <p:cNvPr id="10" name="Text 7"/>
          <p:cNvSpPr/>
          <p:nvPr/>
        </p:nvSpPr>
        <p:spPr>
          <a:xfrm>
            <a:off x="822960" y="3840480"/>
            <a:ext cx="1463040" cy="457200"/>
          </a:xfrm>
          <a:prstGeom prst="rect">
            <a:avLst/>
          </a:prstGeom>
          <a:noFill/>
          <a:ln/>
        </p:spPr>
        <p:txBody>
          <a:bodyPr wrap="square" lIns="0" tIns="0" rIns="0" bIns="0" rtlCol="0" anchor="ctr"/>
          <a:lstStyle/>
          <a:p>
            <a:pPr marL="0" indent="0" algn="ctr">
              <a:buNone/>
            </a:pPr>
            <a:r>
              <a:rPr lang="en-US" sz="1300" dirty="0">
                <a:solidFill>
                  <a:srgbClr val="1F2A24"/>
                </a:solidFill>
                <a:latin typeface="Calibri" pitchFamily="34" charset="0"/>
                <a:ea typeface="Calibri" pitchFamily="34" charset="-122"/>
                <a:cs typeface="Calibri" pitchFamily="34" charset="-120"/>
              </a:rPr>
              <a:t>B4</a:t>
            </a:r>
            <a:endParaRPr lang="en-US" sz="1300" dirty="0"/>
          </a:p>
        </p:txBody>
      </p:sp>
      <p:sp>
        <p:nvSpPr>
          <p:cNvPr id="11" name="Shape 8"/>
          <p:cNvSpPr/>
          <p:nvPr/>
        </p:nvSpPr>
        <p:spPr>
          <a:xfrm>
            <a:off x="2468880" y="3703320"/>
            <a:ext cx="3017520" cy="777240"/>
          </a:xfrm>
          <a:prstGeom prst="roundRect">
            <a:avLst>
              <a:gd name="adj" fmla="val 7059"/>
            </a:avLst>
          </a:prstGeom>
          <a:solidFill>
            <a:srgbClr val="FFFFFF"/>
          </a:solidFill>
          <a:ln w="12700">
            <a:solidFill>
              <a:srgbClr val="5FAE85"/>
            </a:solidFill>
            <a:prstDash val="solid"/>
          </a:ln>
          <a:effectLst>
            <a:outerShdw blurRad="76200" dist="25400" dir="2700000" algn="bl" rotWithShape="0">
              <a:srgbClr val="1F2A24">
                <a:alpha val="12000"/>
              </a:srgbClr>
            </a:outerShdw>
          </a:effectLst>
        </p:spPr>
      </p:sp>
      <p:sp>
        <p:nvSpPr>
          <p:cNvPr id="12" name="Text 9"/>
          <p:cNvSpPr/>
          <p:nvPr/>
        </p:nvSpPr>
        <p:spPr>
          <a:xfrm>
            <a:off x="2606040" y="3703320"/>
            <a:ext cx="2743200" cy="777240"/>
          </a:xfrm>
          <a:prstGeom prst="rect">
            <a:avLst/>
          </a:prstGeom>
          <a:noFill/>
          <a:ln/>
        </p:spPr>
        <p:txBody>
          <a:bodyPr wrap="square" lIns="0" tIns="0" rIns="0" bIns="0" rtlCol="0" anchor="ctr"/>
          <a:lstStyle/>
          <a:p>
            <a:pPr marL="0" indent="0">
              <a:buNone/>
            </a:pPr>
            <a:r>
              <a:rPr lang="en-US" sz="1150" dirty="0">
                <a:solidFill>
                  <a:srgbClr val="1E7B4D"/>
                </a:solidFill>
                <a:latin typeface="Calibri" pitchFamily="34" charset="0"/>
                <a:ea typeface="Calibri" pitchFamily="34" charset="-122"/>
                <a:cs typeface="Calibri" pitchFamily="34" charset="-120"/>
              </a:rPr>
              <a:t>Enter a value between 1 and 100</a:t>
            </a:r>
            <a:endParaRPr lang="en-US" sz="1150" dirty="0"/>
          </a:p>
        </p:txBody>
      </p:sp>
      <p:sp>
        <p:nvSpPr>
          <p:cNvPr id="13" name="Text 10"/>
          <p:cNvSpPr/>
          <p:nvPr/>
        </p:nvSpPr>
        <p:spPr>
          <a:xfrm>
            <a:off x="822960" y="4846320"/>
            <a:ext cx="4846320" cy="365760"/>
          </a:xfrm>
          <a:prstGeom prst="rect">
            <a:avLst/>
          </a:prstGeom>
          <a:noFill/>
          <a:ln/>
        </p:spPr>
        <p:txBody>
          <a:bodyPr wrap="square" lIns="0" tIns="0" rIns="0" bIns="0" rtlCol="0" anchor="ctr"/>
          <a:lstStyle/>
          <a:p>
            <a:pPr marL="0" indent="0">
              <a:buNone/>
            </a:pPr>
            <a:r>
              <a:rPr lang="en-US" sz="1150" i="1" dirty="0">
                <a:solidFill>
                  <a:srgbClr val="6B7A72"/>
                </a:solidFill>
                <a:latin typeface="Calibri" pitchFamily="34" charset="0"/>
                <a:ea typeface="Calibri" pitchFamily="34" charset="-122"/>
                <a:cs typeface="Calibri" pitchFamily="34" charset="-120"/>
              </a:rPr>
              <a:t>Path: Select cell → Data Validation → Input Message tab</a:t>
            </a:r>
            <a:endParaRPr lang="en-US" sz="1150" dirty="0"/>
          </a:p>
        </p:txBody>
      </p:sp>
      <p:sp>
        <p:nvSpPr>
          <p:cNvPr id="14" name="Shape 11"/>
          <p:cNvSpPr/>
          <p:nvPr/>
        </p:nvSpPr>
        <p:spPr>
          <a:xfrm>
            <a:off x="822960" y="5349240"/>
            <a:ext cx="457200" cy="457200"/>
          </a:xfrm>
          <a:prstGeom prst="ellipse">
            <a:avLst/>
          </a:prstGeom>
          <a:solidFill>
            <a:srgbClr val="FFFFFF"/>
          </a:solidFill>
          <a:ln/>
        </p:spPr>
      </p:sp>
      <p:pic>
        <p:nvPicPr>
          <p:cNvPr id="15" name="Image 1" descr="preencoded.png"/>
          <p:cNvPicPr>
            <a:picLocks noChangeAspect="1"/>
          </p:cNvPicPr>
          <p:nvPr/>
        </p:nvPicPr>
        <p:blipFill>
          <a:blip r:embed="rId4"/>
          <a:stretch>
            <a:fillRect/>
          </a:stretch>
        </p:blipFill>
        <p:spPr>
          <a:xfrm>
            <a:off x="914400" y="5440680"/>
            <a:ext cx="274320" cy="274320"/>
          </a:xfrm>
          <a:prstGeom prst="rect">
            <a:avLst/>
          </a:prstGeom>
        </p:spPr>
      </p:pic>
      <p:sp>
        <p:nvSpPr>
          <p:cNvPr id="16" name="Text 12"/>
          <p:cNvSpPr/>
          <p:nvPr/>
        </p:nvSpPr>
        <p:spPr>
          <a:xfrm>
            <a:off x="1417320" y="5349240"/>
            <a:ext cx="4297680" cy="868680"/>
          </a:xfrm>
          <a:prstGeom prst="rect">
            <a:avLst/>
          </a:prstGeom>
          <a:noFill/>
          <a:ln/>
        </p:spPr>
        <p:txBody>
          <a:bodyPr wrap="square" lIns="0" tIns="0" rIns="0" bIns="0" rtlCol="0" anchor="ctr"/>
          <a:lstStyle/>
          <a:p>
            <a:pPr marL="0" indent="0">
              <a:lnSpc>
                <a:spcPct val="120000"/>
              </a:lnSpc>
              <a:buNone/>
            </a:pPr>
            <a:r>
              <a:rPr lang="en-US" sz="1250" dirty="0">
                <a:solidFill>
                  <a:srgbClr val="1F2A24"/>
                </a:solidFill>
                <a:latin typeface="Calibri" pitchFamily="34" charset="0"/>
                <a:ea typeface="Calibri" pitchFamily="34" charset="-122"/>
                <a:cs typeface="Calibri" pitchFamily="34" charset="-120"/>
              </a:rPr>
              <a:t>Pro Tip: Combine with Custom Validation formulas like =ISNUMBER(A1) for flexible, intelligent rules.</a:t>
            </a:r>
            <a:endParaRPr lang="en-US" sz="1250" dirty="0"/>
          </a:p>
        </p:txBody>
      </p:sp>
      <p:sp>
        <p:nvSpPr>
          <p:cNvPr id="17" name="Shape 13"/>
          <p:cNvSpPr/>
          <p:nvPr/>
        </p:nvSpPr>
        <p:spPr>
          <a:xfrm>
            <a:off x="6217920" y="1920240"/>
            <a:ext cx="5394960" cy="4480560"/>
          </a:xfrm>
          <a:prstGeom prst="roundRect">
            <a:avLst>
              <a:gd name="adj" fmla="val 1633"/>
            </a:avLst>
          </a:prstGeom>
          <a:solidFill>
            <a:srgbClr val="1E7B4D"/>
          </a:solidFill>
          <a:ln/>
          <a:effectLst>
            <a:outerShdw blurRad="76200" dist="25400" dir="2700000" algn="bl" rotWithShape="0">
              <a:srgbClr val="1F2A24">
                <a:alpha val="12000"/>
              </a:srgbClr>
            </a:outerShdw>
          </a:effectLst>
        </p:spPr>
      </p:sp>
      <p:sp>
        <p:nvSpPr>
          <p:cNvPr id="18" name="Shape 14"/>
          <p:cNvSpPr/>
          <p:nvPr/>
        </p:nvSpPr>
        <p:spPr>
          <a:xfrm>
            <a:off x="6492240" y="2194560"/>
            <a:ext cx="548640" cy="548640"/>
          </a:xfrm>
          <a:prstGeom prst="ellipse">
            <a:avLst/>
          </a:prstGeom>
          <a:solidFill>
            <a:srgbClr val="5FAE85"/>
          </a:solidFill>
          <a:ln/>
        </p:spPr>
      </p:sp>
      <p:pic>
        <p:nvPicPr>
          <p:cNvPr id="19" name="Image 2" descr="preencoded.png"/>
          <p:cNvPicPr>
            <a:picLocks noChangeAspect="1"/>
          </p:cNvPicPr>
          <p:nvPr/>
        </p:nvPicPr>
        <p:blipFill>
          <a:blip r:embed="rId5"/>
          <a:stretch>
            <a:fillRect/>
          </a:stretch>
        </p:blipFill>
        <p:spPr>
          <a:xfrm>
            <a:off x="6601968" y="2304288"/>
            <a:ext cx="329184" cy="329184"/>
          </a:xfrm>
          <a:prstGeom prst="rect">
            <a:avLst/>
          </a:prstGeom>
        </p:spPr>
      </p:pic>
      <p:sp>
        <p:nvSpPr>
          <p:cNvPr id="20" name="Text 15"/>
          <p:cNvSpPr/>
          <p:nvPr/>
        </p:nvSpPr>
        <p:spPr>
          <a:xfrm>
            <a:off x="7178040" y="2240280"/>
            <a:ext cx="4206240" cy="4114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Error Alert</a:t>
            </a:r>
            <a:endParaRPr lang="en-US" sz="1800" dirty="0"/>
          </a:p>
        </p:txBody>
      </p:sp>
      <p:sp>
        <p:nvSpPr>
          <p:cNvPr id="21" name="Text 16"/>
          <p:cNvSpPr/>
          <p:nvPr/>
        </p:nvSpPr>
        <p:spPr>
          <a:xfrm>
            <a:off x="6492240" y="2880360"/>
            <a:ext cx="4846320" cy="640080"/>
          </a:xfrm>
          <a:prstGeom prst="rect">
            <a:avLst/>
          </a:prstGeom>
          <a:noFill/>
          <a:ln/>
        </p:spPr>
        <p:txBody>
          <a:bodyPr wrap="square" lIns="0" tIns="0" rIns="0" bIns="0" rtlCol="0" anchor="ctr"/>
          <a:lstStyle/>
          <a:p>
            <a:pPr marL="0" indent="0">
              <a:lnSpc>
                <a:spcPct val="120000"/>
              </a:lnSpc>
              <a:buNone/>
            </a:pPr>
            <a:r>
              <a:rPr lang="en-US" sz="1350" dirty="0">
                <a:solidFill>
                  <a:srgbClr val="E7F4EC"/>
                </a:solidFill>
                <a:latin typeface="Calibri" pitchFamily="34" charset="0"/>
                <a:ea typeface="Calibri" pitchFamily="34" charset="-122"/>
                <a:cs typeface="Calibri" pitchFamily="34" charset="-120"/>
              </a:rPr>
              <a:t>Controls what happens when invalid data is entered — three style options available.</a:t>
            </a:r>
            <a:endParaRPr lang="en-US" sz="1350" dirty="0"/>
          </a:p>
        </p:txBody>
      </p:sp>
      <p:sp>
        <p:nvSpPr>
          <p:cNvPr id="22" name="Shape 17"/>
          <p:cNvSpPr/>
          <p:nvPr/>
        </p:nvSpPr>
        <p:spPr>
          <a:xfrm>
            <a:off x="6492240" y="3657600"/>
            <a:ext cx="4846320" cy="822960"/>
          </a:xfrm>
          <a:prstGeom prst="roundRect">
            <a:avLst>
              <a:gd name="adj" fmla="val 7778"/>
            </a:avLst>
          </a:prstGeom>
          <a:solidFill>
            <a:srgbClr val="5FAE85"/>
          </a:solidFill>
          <a:ln/>
        </p:spPr>
      </p:sp>
      <p:sp>
        <p:nvSpPr>
          <p:cNvPr id="23" name="Shape 18"/>
          <p:cNvSpPr/>
          <p:nvPr/>
        </p:nvSpPr>
        <p:spPr>
          <a:xfrm>
            <a:off x="6675120" y="3822192"/>
            <a:ext cx="502920" cy="502920"/>
          </a:xfrm>
          <a:prstGeom prst="ellipse">
            <a:avLst/>
          </a:prstGeom>
          <a:solidFill>
            <a:srgbClr val="1E7B4D"/>
          </a:solidFill>
          <a:ln/>
        </p:spPr>
      </p:sp>
      <p:pic>
        <p:nvPicPr>
          <p:cNvPr id="24" name="Image 3" descr="preencoded.png"/>
          <p:cNvPicPr>
            <a:picLocks noChangeAspect="1"/>
          </p:cNvPicPr>
          <p:nvPr/>
        </p:nvPicPr>
        <p:blipFill>
          <a:blip r:embed="rId5"/>
          <a:stretch>
            <a:fillRect/>
          </a:stretch>
        </p:blipFill>
        <p:spPr>
          <a:xfrm>
            <a:off x="6775704" y="3922776"/>
            <a:ext cx="301752" cy="301752"/>
          </a:xfrm>
          <a:prstGeom prst="rect">
            <a:avLst/>
          </a:prstGeom>
        </p:spPr>
      </p:pic>
      <p:sp>
        <p:nvSpPr>
          <p:cNvPr id="25" name="Text 19"/>
          <p:cNvSpPr/>
          <p:nvPr/>
        </p:nvSpPr>
        <p:spPr>
          <a:xfrm>
            <a:off x="7315200" y="3730752"/>
            <a:ext cx="146304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Stop</a:t>
            </a:r>
            <a:endParaRPr lang="en-US" sz="1400" dirty="0"/>
          </a:p>
        </p:txBody>
      </p:sp>
      <p:sp>
        <p:nvSpPr>
          <p:cNvPr id="26" name="Text 20"/>
          <p:cNvSpPr/>
          <p:nvPr/>
        </p:nvSpPr>
        <p:spPr>
          <a:xfrm>
            <a:off x="7315200" y="4041648"/>
            <a:ext cx="3931920" cy="41148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Rejects invalid entry completely — cell stays unchanged.</a:t>
            </a:r>
            <a:endParaRPr lang="en-US" sz="1150" dirty="0"/>
          </a:p>
        </p:txBody>
      </p:sp>
      <p:sp>
        <p:nvSpPr>
          <p:cNvPr id="27" name="Shape 21"/>
          <p:cNvSpPr/>
          <p:nvPr/>
        </p:nvSpPr>
        <p:spPr>
          <a:xfrm>
            <a:off x="6492240" y="4572000"/>
            <a:ext cx="4846320" cy="822960"/>
          </a:xfrm>
          <a:prstGeom prst="roundRect">
            <a:avLst>
              <a:gd name="adj" fmla="val 7778"/>
            </a:avLst>
          </a:prstGeom>
          <a:solidFill>
            <a:srgbClr val="5FAE85"/>
          </a:solidFill>
          <a:ln/>
        </p:spPr>
      </p:sp>
      <p:sp>
        <p:nvSpPr>
          <p:cNvPr id="28" name="Shape 22"/>
          <p:cNvSpPr/>
          <p:nvPr/>
        </p:nvSpPr>
        <p:spPr>
          <a:xfrm>
            <a:off x="6675120" y="4736592"/>
            <a:ext cx="502920" cy="502920"/>
          </a:xfrm>
          <a:prstGeom prst="ellipse">
            <a:avLst/>
          </a:prstGeom>
          <a:solidFill>
            <a:srgbClr val="1E7B4D"/>
          </a:solidFill>
          <a:ln/>
        </p:spPr>
      </p:sp>
      <p:pic>
        <p:nvPicPr>
          <p:cNvPr id="29" name="Image 4" descr="preencoded.png"/>
          <p:cNvPicPr>
            <a:picLocks noChangeAspect="1"/>
          </p:cNvPicPr>
          <p:nvPr/>
        </p:nvPicPr>
        <p:blipFill>
          <a:blip r:embed="rId6"/>
          <a:stretch>
            <a:fillRect/>
          </a:stretch>
        </p:blipFill>
        <p:spPr>
          <a:xfrm>
            <a:off x="6775704" y="4837176"/>
            <a:ext cx="301752" cy="301752"/>
          </a:xfrm>
          <a:prstGeom prst="rect">
            <a:avLst/>
          </a:prstGeom>
        </p:spPr>
      </p:pic>
      <p:sp>
        <p:nvSpPr>
          <p:cNvPr id="30" name="Text 23"/>
          <p:cNvSpPr/>
          <p:nvPr/>
        </p:nvSpPr>
        <p:spPr>
          <a:xfrm>
            <a:off x="7315200" y="4645152"/>
            <a:ext cx="146304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Warning</a:t>
            </a:r>
            <a:endParaRPr lang="en-US" sz="1400" dirty="0"/>
          </a:p>
        </p:txBody>
      </p:sp>
      <p:sp>
        <p:nvSpPr>
          <p:cNvPr id="31" name="Text 24"/>
          <p:cNvSpPr/>
          <p:nvPr/>
        </p:nvSpPr>
        <p:spPr>
          <a:xfrm>
            <a:off x="7315200" y="4956048"/>
            <a:ext cx="3931920" cy="41148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Allows entry after the user confirms the override.</a:t>
            </a:r>
            <a:endParaRPr lang="en-US" sz="1150" dirty="0"/>
          </a:p>
        </p:txBody>
      </p:sp>
      <p:sp>
        <p:nvSpPr>
          <p:cNvPr id="32" name="Shape 25"/>
          <p:cNvSpPr/>
          <p:nvPr/>
        </p:nvSpPr>
        <p:spPr>
          <a:xfrm>
            <a:off x="6492240" y="5486400"/>
            <a:ext cx="4846320" cy="822960"/>
          </a:xfrm>
          <a:prstGeom prst="roundRect">
            <a:avLst>
              <a:gd name="adj" fmla="val 7778"/>
            </a:avLst>
          </a:prstGeom>
          <a:solidFill>
            <a:srgbClr val="5FAE85"/>
          </a:solidFill>
          <a:ln/>
        </p:spPr>
      </p:sp>
      <p:sp>
        <p:nvSpPr>
          <p:cNvPr id="33" name="Shape 26"/>
          <p:cNvSpPr/>
          <p:nvPr/>
        </p:nvSpPr>
        <p:spPr>
          <a:xfrm>
            <a:off x="6675120" y="5650992"/>
            <a:ext cx="502920" cy="502920"/>
          </a:xfrm>
          <a:prstGeom prst="ellipse">
            <a:avLst/>
          </a:prstGeom>
          <a:solidFill>
            <a:srgbClr val="1E7B4D"/>
          </a:solidFill>
          <a:ln/>
        </p:spPr>
      </p:sp>
      <p:pic>
        <p:nvPicPr>
          <p:cNvPr id="34" name="Image 5" descr="preencoded.png"/>
          <p:cNvPicPr>
            <a:picLocks noChangeAspect="1"/>
          </p:cNvPicPr>
          <p:nvPr/>
        </p:nvPicPr>
        <p:blipFill>
          <a:blip r:embed="rId7"/>
          <a:stretch>
            <a:fillRect/>
          </a:stretch>
        </p:blipFill>
        <p:spPr>
          <a:xfrm>
            <a:off x="6775704" y="5751576"/>
            <a:ext cx="301752" cy="301752"/>
          </a:xfrm>
          <a:prstGeom prst="rect">
            <a:avLst/>
          </a:prstGeom>
        </p:spPr>
      </p:pic>
      <p:sp>
        <p:nvSpPr>
          <p:cNvPr id="35" name="Text 27"/>
          <p:cNvSpPr/>
          <p:nvPr/>
        </p:nvSpPr>
        <p:spPr>
          <a:xfrm>
            <a:off x="7315200" y="5559552"/>
            <a:ext cx="146304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Information</a:t>
            </a:r>
            <a:endParaRPr lang="en-US" sz="1400" dirty="0"/>
          </a:p>
        </p:txBody>
      </p:sp>
      <p:sp>
        <p:nvSpPr>
          <p:cNvPr id="36" name="Text 28"/>
          <p:cNvSpPr/>
          <p:nvPr/>
        </p:nvSpPr>
        <p:spPr>
          <a:xfrm>
            <a:off x="7315200" y="5870448"/>
            <a:ext cx="3931920" cy="41148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Informs the user but does not block the entry.</a:t>
            </a:r>
            <a:endParaRPr lang="en-US" sz="1150" dirty="0"/>
          </a:p>
        </p:txBody>
      </p:sp>
      <p:sp>
        <p:nvSpPr>
          <p:cNvPr id="37" name="Text 29"/>
          <p:cNvSpPr/>
          <p:nvPr/>
        </p:nvSpPr>
        <p:spPr>
          <a:xfrm>
            <a:off x="11521440" y="6446520"/>
            <a:ext cx="457200" cy="274320"/>
          </a:xfrm>
          <a:prstGeom prst="rect">
            <a:avLst/>
          </a:prstGeom>
          <a:noFill/>
          <a:ln/>
        </p:spPr>
        <p:txBody>
          <a:bodyPr wrap="square" lIns="0" tIns="0" rIns="0" bIns="0" rtlCol="0" anchor="ctr"/>
          <a:lstStyle/>
          <a:p>
            <a:pPr marL="0" indent="0" algn="r">
              <a:buNone/>
            </a:pPr>
            <a:r>
              <a:rPr lang="en-US" sz="1000" dirty="0">
                <a:solidFill>
                  <a:srgbClr val="6B7A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1E7B4D"/>
                </a:solidFill>
                <a:latin typeface="Calibri" pitchFamily="34" charset="0"/>
                <a:ea typeface="Calibri" pitchFamily="34" charset="-122"/>
                <a:cs typeface="Calibri" pitchFamily="34" charset="-120"/>
              </a:rPr>
              <a:t>CONDITIONAL FORMATTING</a:t>
            </a:r>
            <a:endParaRPr lang="en-US" sz="12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marL="0" indent="0">
              <a:buNone/>
            </a:pPr>
            <a:r>
              <a:rPr lang="en-US" sz="3200" b="1" dirty="0">
                <a:solidFill>
                  <a:srgbClr val="1F2A24"/>
                </a:solidFill>
                <a:latin typeface="Cambria" pitchFamily="34" charset="0"/>
                <a:ea typeface="Cambria" pitchFamily="34" charset="-122"/>
                <a:cs typeface="Cambria" pitchFamily="34" charset="-120"/>
              </a:rPr>
              <a:t>What is Conditional Formatting?</a:t>
            </a:r>
            <a:endParaRPr lang="en-US" sz="3200" dirty="0"/>
          </a:p>
        </p:txBody>
      </p:sp>
      <p:sp>
        <p:nvSpPr>
          <p:cNvPr id="4" name="Text 2"/>
          <p:cNvSpPr/>
          <p:nvPr/>
        </p:nvSpPr>
        <p:spPr>
          <a:xfrm>
            <a:off x="548640" y="1920240"/>
            <a:ext cx="5760720" cy="1554480"/>
          </a:xfrm>
          <a:prstGeom prst="rect">
            <a:avLst/>
          </a:prstGeom>
          <a:noFill/>
          <a:ln/>
        </p:spPr>
        <p:txBody>
          <a:bodyPr wrap="square" lIns="0" tIns="0" rIns="0" bIns="0" rtlCol="0" anchor="ctr"/>
          <a:lstStyle/>
          <a:p>
            <a:pPr marL="0" indent="0">
              <a:lnSpc>
                <a:spcPct val="125000"/>
              </a:lnSpc>
              <a:buNone/>
            </a:pPr>
            <a:r>
              <a:rPr lang="en-US" sz="1600" dirty="0">
                <a:solidFill>
                  <a:srgbClr val="1F2A24"/>
                </a:solidFill>
                <a:latin typeface="Calibri" pitchFamily="34" charset="0"/>
                <a:ea typeface="Calibri" pitchFamily="34" charset="-122"/>
                <a:cs typeface="Calibri" pitchFamily="34" charset="-120"/>
              </a:rPr>
              <a:t>Conditional Formatting applies visual styles — colors, icons, and data bars — to cells that meet specified criteria. It lets you instantly spot trends, outliers, duplicates, and patterns without writing a single formula, turning rows of numbers into an at-a-glance dashboard.</a:t>
            </a:r>
            <a:endParaRPr lang="en-US" sz="1600" dirty="0"/>
          </a:p>
        </p:txBody>
      </p:sp>
      <p:sp>
        <p:nvSpPr>
          <p:cNvPr id="5" name="Text 3"/>
          <p:cNvSpPr/>
          <p:nvPr/>
        </p:nvSpPr>
        <p:spPr>
          <a:xfrm>
            <a:off x="548640" y="3520440"/>
            <a:ext cx="3657600" cy="365760"/>
          </a:xfrm>
          <a:prstGeom prst="rect">
            <a:avLst/>
          </a:prstGeom>
          <a:noFill/>
          <a:ln/>
        </p:spPr>
        <p:txBody>
          <a:bodyPr wrap="square" lIns="0" tIns="0" rIns="0" bIns="0" rtlCol="0" anchor="ctr"/>
          <a:lstStyle/>
          <a:p>
            <a:pPr marL="0" indent="0">
              <a:buNone/>
            </a:pPr>
            <a:r>
              <a:rPr lang="en-US" sz="1600" b="1" dirty="0">
                <a:solidFill>
                  <a:srgbClr val="1E7B4D"/>
                </a:solidFill>
                <a:latin typeface="Calibri" pitchFamily="34" charset="0"/>
                <a:ea typeface="Calibri" pitchFamily="34" charset="-122"/>
                <a:cs typeface="Calibri" pitchFamily="34" charset="-120"/>
              </a:rPr>
              <a:t>Key Benefits</a:t>
            </a:r>
            <a:endParaRPr lang="en-US" sz="1600" dirty="0"/>
          </a:p>
        </p:txBody>
      </p:sp>
      <p:sp>
        <p:nvSpPr>
          <p:cNvPr id="6" name="Shape 4"/>
          <p:cNvSpPr/>
          <p:nvPr/>
        </p:nvSpPr>
        <p:spPr>
          <a:xfrm>
            <a:off x="548640" y="4023360"/>
            <a:ext cx="292608" cy="292608"/>
          </a:xfrm>
          <a:prstGeom prst="ellipse">
            <a:avLst/>
          </a:prstGeom>
          <a:solidFill>
            <a:srgbClr val="E7F4EC"/>
          </a:solidFill>
          <a:ln/>
        </p:spPr>
      </p:sp>
      <p:pic>
        <p:nvPicPr>
          <p:cNvPr id="7" name="Image 0" descr="preencoded.png"/>
          <p:cNvPicPr>
            <a:picLocks noChangeAspect="1"/>
          </p:cNvPicPr>
          <p:nvPr/>
        </p:nvPicPr>
        <p:blipFill>
          <a:blip r:embed="rId3"/>
          <a:stretch>
            <a:fillRect/>
          </a:stretch>
        </p:blipFill>
        <p:spPr>
          <a:xfrm>
            <a:off x="607162" y="4081882"/>
            <a:ext cx="175565" cy="175565"/>
          </a:xfrm>
          <a:prstGeom prst="rect">
            <a:avLst/>
          </a:prstGeom>
        </p:spPr>
      </p:pic>
      <p:sp>
        <p:nvSpPr>
          <p:cNvPr id="8" name="Text 5"/>
          <p:cNvSpPr/>
          <p:nvPr/>
        </p:nvSpPr>
        <p:spPr>
          <a:xfrm>
            <a:off x="1005840" y="3986784"/>
            <a:ext cx="5303520" cy="365760"/>
          </a:xfrm>
          <a:prstGeom prst="rect">
            <a:avLst/>
          </a:prstGeom>
          <a:noFill/>
          <a:ln/>
        </p:spPr>
        <p:txBody>
          <a:bodyPr wrap="square" lIns="0" tIns="0" rIns="0" bIns="0" rtlCol="0" anchor="ctr"/>
          <a:lstStyle/>
          <a:p>
            <a:pPr marL="0" indent="0">
              <a:buNone/>
            </a:pPr>
            <a:r>
              <a:rPr lang="en-US" sz="1400" dirty="0">
                <a:solidFill>
                  <a:srgbClr val="1F2A24"/>
                </a:solidFill>
                <a:latin typeface="Calibri" pitchFamily="34" charset="0"/>
                <a:ea typeface="Calibri" pitchFamily="34" charset="-122"/>
                <a:cs typeface="Calibri" pitchFamily="34" charset="-120"/>
              </a:rPr>
              <a:t>Instantly highlights outliers &amp; exceptions</a:t>
            </a:r>
            <a:endParaRPr lang="en-US" sz="1400" dirty="0"/>
          </a:p>
        </p:txBody>
      </p:sp>
      <p:sp>
        <p:nvSpPr>
          <p:cNvPr id="9" name="Shape 6"/>
          <p:cNvSpPr/>
          <p:nvPr/>
        </p:nvSpPr>
        <p:spPr>
          <a:xfrm>
            <a:off x="548640" y="4526280"/>
            <a:ext cx="292608" cy="292608"/>
          </a:xfrm>
          <a:prstGeom prst="ellipse">
            <a:avLst/>
          </a:prstGeom>
          <a:solidFill>
            <a:srgbClr val="E7F4EC"/>
          </a:solidFill>
          <a:ln/>
        </p:spPr>
      </p:sp>
      <p:pic>
        <p:nvPicPr>
          <p:cNvPr id="10" name="Image 1" descr="preencoded.png"/>
          <p:cNvPicPr>
            <a:picLocks noChangeAspect="1"/>
          </p:cNvPicPr>
          <p:nvPr/>
        </p:nvPicPr>
        <p:blipFill>
          <a:blip r:embed="rId3"/>
          <a:stretch>
            <a:fillRect/>
          </a:stretch>
        </p:blipFill>
        <p:spPr>
          <a:xfrm>
            <a:off x="607162" y="4584802"/>
            <a:ext cx="175565" cy="175565"/>
          </a:xfrm>
          <a:prstGeom prst="rect">
            <a:avLst/>
          </a:prstGeom>
        </p:spPr>
      </p:pic>
      <p:sp>
        <p:nvSpPr>
          <p:cNvPr id="11" name="Text 7"/>
          <p:cNvSpPr/>
          <p:nvPr/>
        </p:nvSpPr>
        <p:spPr>
          <a:xfrm>
            <a:off x="1005840" y="4489704"/>
            <a:ext cx="5303520" cy="365760"/>
          </a:xfrm>
          <a:prstGeom prst="rect">
            <a:avLst/>
          </a:prstGeom>
          <a:noFill/>
          <a:ln/>
        </p:spPr>
        <p:txBody>
          <a:bodyPr wrap="square" lIns="0" tIns="0" rIns="0" bIns="0" rtlCol="0" anchor="ctr"/>
          <a:lstStyle/>
          <a:p>
            <a:pPr marL="0" indent="0">
              <a:buNone/>
            </a:pPr>
            <a:r>
              <a:rPr lang="en-US" sz="1400" dirty="0">
                <a:solidFill>
                  <a:srgbClr val="1F2A24"/>
                </a:solidFill>
                <a:latin typeface="Calibri" pitchFamily="34" charset="0"/>
                <a:ea typeface="Calibri" pitchFamily="34" charset="-122"/>
                <a:cs typeface="Calibri" pitchFamily="34" charset="-120"/>
              </a:rPr>
              <a:t>Reveals trends through color &amp; icons</a:t>
            </a:r>
            <a:endParaRPr lang="en-US" sz="1400" dirty="0"/>
          </a:p>
        </p:txBody>
      </p:sp>
      <p:sp>
        <p:nvSpPr>
          <p:cNvPr id="12" name="Shape 8"/>
          <p:cNvSpPr/>
          <p:nvPr/>
        </p:nvSpPr>
        <p:spPr>
          <a:xfrm>
            <a:off x="548640" y="5029200"/>
            <a:ext cx="292608" cy="292608"/>
          </a:xfrm>
          <a:prstGeom prst="ellipse">
            <a:avLst/>
          </a:prstGeom>
          <a:solidFill>
            <a:srgbClr val="E7F4EC"/>
          </a:solidFill>
          <a:ln/>
        </p:spPr>
      </p:sp>
      <p:pic>
        <p:nvPicPr>
          <p:cNvPr id="13" name="Image 2" descr="preencoded.png"/>
          <p:cNvPicPr>
            <a:picLocks noChangeAspect="1"/>
          </p:cNvPicPr>
          <p:nvPr/>
        </p:nvPicPr>
        <p:blipFill>
          <a:blip r:embed="rId3"/>
          <a:stretch>
            <a:fillRect/>
          </a:stretch>
        </p:blipFill>
        <p:spPr>
          <a:xfrm>
            <a:off x="607162" y="5087722"/>
            <a:ext cx="175565" cy="175565"/>
          </a:xfrm>
          <a:prstGeom prst="rect">
            <a:avLst/>
          </a:prstGeom>
        </p:spPr>
      </p:pic>
      <p:sp>
        <p:nvSpPr>
          <p:cNvPr id="14" name="Text 9"/>
          <p:cNvSpPr/>
          <p:nvPr/>
        </p:nvSpPr>
        <p:spPr>
          <a:xfrm>
            <a:off x="1005840" y="4992624"/>
            <a:ext cx="5303520" cy="365760"/>
          </a:xfrm>
          <a:prstGeom prst="rect">
            <a:avLst/>
          </a:prstGeom>
          <a:noFill/>
          <a:ln/>
        </p:spPr>
        <p:txBody>
          <a:bodyPr wrap="square" lIns="0" tIns="0" rIns="0" bIns="0" rtlCol="0" anchor="ctr"/>
          <a:lstStyle/>
          <a:p>
            <a:pPr marL="0" indent="0">
              <a:buNone/>
            </a:pPr>
            <a:r>
              <a:rPr lang="en-US" sz="1400" dirty="0">
                <a:solidFill>
                  <a:srgbClr val="1F2A24"/>
                </a:solidFill>
                <a:latin typeface="Calibri" pitchFamily="34" charset="0"/>
                <a:ea typeface="Calibri" pitchFamily="34" charset="-122"/>
                <a:cs typeface="Calibri" pitchFamily="34" charset="-120"/>
              </a:rPr>
              <a:t>Reduces need for manual chart-building</a:t>
            </a:r>
            <a:endParaRPr lang="en-US" sz="1400" dirty="0"/>
          </a:p>
        </p:txBody>
      </p:sp>
      <p:sp>
        <p:nvSpPr>
          <p:cNvPr id="15" name="Shape 10"/>
          <p:cNvSpPr/>
          <p:nvPr/>
        </p:nvSpPr>
        <p:spPr>
          <a:xfrm>
            <a:off x="548640" y="5532120"/>
            <a:ext cx="292608" cy="292608"/>
          </a:xfrm>
          <a:prstGeom prst="ellipse">
            <a:avLst/>
          </a:prstGeom>
          <a:solidFill>
            <a:srgbClr val="E7F4EC"/>
          </a:solidFill>
          <a:ln/>
        </p:spPr>
      </p:sp>
      <p:pic>
        <p:nvPicPr>
          <p:cNvPr id="16" name="Image 3" descr="preencoded.png"/>
          <p:cNvPicPr>
            <a:picLocks noChangeAspect="1"/>
          </p:cNvPicPr>
          <p:nvPr/>
        </p:nvPicPr>
        <p:blipFill>
          <a:blip r:embed="rId3"/>
          <a:stretch>
            <a:fillRect/>
          </a:stretch>
        </p:blipFill>
        <p:spPr>
          <a:xfrm>
            <a:off x="607162" y="5590642"/>
            <a:ext cx="175565" cy="175565"/>
          </a:xfrm>
          <a:prstGeom prst="rect">
            <a:avLst/>
          </a:prstGeom>
        </p:spPr>
      </p:pic>
      <p:sp>
        <p:nvSpPr>
          <p:cNvPr id="17" name="Text 11"/>
          <p:cNvSpPr/>
          <p:nvPr/>
        </p:nvSpPr>
        <p:spPr>
          <a:xfrm>
            <a:off x="1005840" y="5495544"/>
            <a:ext cx="5303520" cy="365760"/>
          </a:xfrm>
          <a:prstGeom prst="rect">
            <a:avLst/>
          </a:prstGeom>
          <a:noFill/>
          <a:ln/>
        </p:spPr>
        <p:txBody>
          <a:bodyPr wrap="square" lIns="0" tIns="0" rIns="0" bIns="0" rtlCol="0" anchor="ctr"/>
          <a:lstStyle/>
          <a:p>
            <a:pPr marL="0" indent="0">
              <a:buNone/>
            </a:pPr>
            <a:r>
              <a:rPr lang="en-US" sz="1400" dirty="0">
                <a:solidFill>
                  <a:srgbClr val="1F2A24"/>
                </a:solidFill>
                <a:latin typeface="Calibri" pitchFamily="34" charset="0"/>
                <a:ea typeface="Calibri" pitchFamily="34" charset="-122"/>
                <a:cs typeface="Calibri" pitchFamily="34" charset="-120"/>
              </a:rPr>
              <a:t>Keeps dashboards dynamic and self-updating</a:t>
            </a:r>
            <a:endParaRPr lang="en-US" sz="1400" dirty="0"/>
          </a:p>
        </p:txBody>
      </p:sp>
      <p:sp>
        <p:nvSpPr>
          <p:cNvPr id="18" name="Shape 12"/>
          <p:cNvSpPr/>
          <p:nvPr/>
        </p:nvSpPr>
        <p:spPr>
          <a:xfrm>
            <a:off x="6766560" y="1920240"/>
            <a:ext cx="4846320" cy="4480560"/>
          </a:xfrm>
          <a:prstGeom prst="roundRect">
            <a:avLst>
              <a:gd name="adj" fmla="val 1633"/>
            </a:avLst>
          </a:prstGeom>
          <a:solidFill>
            <a:srgbClr val="E7F4EC"/>
          </a:solidFill>
          <a:ln/>
          <a:effectLst>
            <a:outerShdw blurRad="76200" dist="25400" dir="2700000" algn="bl" rotWithShape="0">
              <a:srgbClr val="1F2A24">
                <a:alpha val="12000"/>
              </a:srgbClr>
            </a:outerShdw>
          </a:effectLst>
        </p:spPr>
      </p:sp>
      <p:sp>
        <p:nvSpPr>
          <p:cNvPr id="19" name="Text 13"/>
          <p:cNvSpPr/>
          <p:nvPr/>
        </p:nvSpPr>
        <p:spPr>
          <a:xfrm>
            <a:off x="7086600" y="2194560"/>
            <a:ext cx="4206240" cy="365760"/>
          </a:xfrm>
          <a:prstGeom prst="rect">
            <a:avLst/>
          </a:prstGeom>
          <a:noFill/>
          <a:ln/>
        </p:spPr>
        <p:txBody>
          <a:bodyPr wrap="square" lIns="0" tIns="0" rIns="0" bIns="0" rtlCol="0" anchor="ctr"/>
          <a:lstStyle/>
          <a:p>
            <a:pPr marL="0" indent="0">
              <a:buNone/>
            </a:pPr>
            <a:r>
              <a:rPr lang="en-US" sz="1600" b="1" dirty="0">
                <a:solidFill>
                  <a:srgbClr val="1F2A24"/>
                </a:solidFill>
                <a:latin typeface="Calibri" pitchFamily="34" charset="0"/>
                <a:ea typeface="Calibri" pitchFamily="34" charset="-122"/>
                <a:cs typeface="Calibri" pitchFamily="34" charset="-120"/>
              </a:rPr>
              <a:t>Color Scale Preview</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086600" y="2697480"/>
          <a:ext cx="4206240" cy="3200400"/>
        </p:xfrm>
        <a:graphic>
          <a:graphicData uri="http://schemas.openxmlformats.org/drawingml/2006/table">
            <a:tbl>
              <a:tblPr/>
              <a:tblGrid>
                <a:gridCol w="1402080">
                  <a:extLst>
                    <a:ext uri="{9D8B030D-6E8A-4147-A177-3AD203B41FA5}">
                      <a16:colId xmlns:a16="http://schemas.microsoft.com/office/drawing/2014/main" val="20000"/>
                    </a:ext>
                  </a:extLst>
                </a:gridCol>
                <a:gridCol w="1402080">
                  <a:extLst>
                    <a:ext uri="{9D8B030D-6E8A-4147-A177-3AD203B41FA5}">
                      <a16:colId xmlns:a16="http://schemas.microsoft.com/office/drawing/2014/main" val="20001"/>
                    </a:ext>
                  </a:extLst>
                </a:gridCol>
                <a:gridCol w="1402080">
                  <a:extLst>
                    <a:ext uri="{9D8B030D-6E8A-4147-A177-3AD203B41FA5}">
                      <a16:colId xmlns:a16="http://schemas.microsoft.com/office/drawing/2014/main" val="20002"/>
                    </a:ext>
                  </a:extLst>
                </a:gridCol>
              </a:tblGrid>
              <a:tr h="45720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Month</a:t>
                      </a:r>
                      <a:endParaRPr lang="en-US" sz="1200" dirty="0">
                        <a:latin typeface="Calibri" charset="0"/>
                        <a:ea typeface="Calibri" charset="0"/>
                        <a:cs typeface="Calibri" charset="0"/>
                      </a:endParaRPr>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solidFill>
                      <a:srgbClr val="1E7B4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Sales</a:t>
                      </a:r>
                      <a:endParaRPr lang="en-US" sz="1200" dirty="0">
                        <a:latin typeface="Calibri" charset="0"/>
                        <a:ea typeface="Calibri" charset="0"/>
                        <a:cs typeface="Calibri" charset="0"/>
                      </a:endParaRPr>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solidFill>
                      <a:srgbClr val="1E7B4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solidFill>
                      <a:srgbClr val="1E7B4D"/>
                    </a:solidFill>
                  </a:tcPr>
                </a:tc>
                <a:extLst>
                  <a:ext uri="{0D108BD9-81ED-4DB2-BD59-A6C34878D82A}">
                    <a16:rowId xmlns:a16="http://schemas.microsoft.com/office/drawing/2014/main" val="10000"/>
                  </a:ext>
                </a:extLst>
              </a:tr>
              <a:tr h="457200">
                <a:tc>
                  <a:txBody>
                    <a:bodyPr/>
                    <a:lstStyle/>
                    <a:p>
                      <a:pPr marL="0" indent="0" algn="ctr">
                        <a:buNone/>
                      </a:pPr>
                      <a:r>
                        <a:rPr lang="en-US" sz="1200" dirty="0">
                          <a:solidFill>
                            <a:srgbClr val="1F2A24"/>
                          </a:solidFill>
                          <a:latin typeface="Calibri" pitchFamily="34" charset="0"/>
                          <a:ea typeface="Calibri" pitchFamily="34" charset="-122"/>
                          <a:cs typeface="Calibri" pitchFamily="34" charset="-120"/>
                        </a:rPr>
                        <a:t>Jan</a:t>
                      </a:r>
                      <a:endParaRPr lang="en-US" sz="1200" dirty="0">
                        <a:latin typeface="Calibri" charset="0"/>
                        <a:ea typeface="Calibri" charset="0"/>
                        <a:cs typeface="Calibri" charset="0"/>
                      </a:endParaRPr>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4"/>
                          </a:solidFill>
                        </a:rPr>
                        <a:t>42</a:t>
                      </a:r>
                      <a:endParaRPr lang="en-US" sz="1200" dirty="0"/>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solidFill>
                      <a:srgbClr val="F4C7C3"/>
                    </a:solidFill>
                  </a:tcPr>
                </a:tc>
                <a:tc>
                  <a:txBody>
                    <a:bodyPr/>
                    <a:lstStyle/>
                    <a:p>
                      <a:pPr marL="0" indent="0" algn="ctr">
                        <a:buNone/>
                      </a:pPr>
                      <a:r>
                        <a:rPr lang="en-US" sz="1200" dirty="0">
                          <a:solidFill>
                            <a:srgbClr val="B33A3A"/>
                          </a:solidFill>
                        </a:rPr>
                        <a:t>Low</a:t>
                      </a:r>
                      <a:endParaRPr lang="en-US" sz="1200" dirty="0"/>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ctr">
                        <a:buNone/>
                      </a:pPr>
                      <a:r>
                        <a:rPr lang="en-US" sz="1200" dirty="0">
                          <a:solidFill>
                            <a:srgbClr val="1F2A24"/>
                          </a:solidFill>
                          <a:latin typeface="Calibri" pitchFamily="34" charset="0"/>
                          <a:ea typeface="Calibri" pitchFamily="34" charset="-122"/>
                          <a:cs typeface="Calibri" pitchFamily="34" charset="-120"/>
                        </a:rPr>
                        <a:t>Feb</a:t>
                      </a:r>
                      <a:endParaRPr lang="en-US" sz="1200" dirty="0">
                        <a:latin typeface="Calibri" charset="0"/>
                        <a:ea typeface="Calibri" charset="0"/>
                        <a:cs typeface="Calibri" charset="0"/>
                      </a:endParaRPr>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4"/>
                          </a:solidFill>
                        </a:rPr>
                        <a:t>78</a:t>
                      </a:r>
                      <a:endParaRPr lang="en-US" sz="1200" dirty="0"/>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solidFill>
                      <a:srgbClr val="FFF1A8"/>
                    </a:solidFill>
                  </a:tcPr>
                </a:tc>
                <a:tc>
                  <a:txBody>
                    <a:bodyPr/>
                    <a:lstStyle/>
                    <a:p>
                      <a:pPr marL="0" indent="0" algn="ctr">
                        <a:buNone/>
                      </a:pPr>
                      <a:r>
                        <a:rPr lang="en-US" sz="1200" dirty="0">
                          <a:solidFill>
                            <a:srgbClr val="9C8400"/>
                          </a:solidFill>
                        </a:rPr>
                        <a:t>Mid</a:t>
                      </a:r>
                      <a:endParaRPr lang="en-US" sz="1200" dirty="0"/>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ctr">
                        <a:buNone/>
                      </a:pPr>
                      <a:r>
                        <a:rPr lang="en-US" sz="1200" dirty="0">
                          <a:solidFill>
                            <a:srgbClr val="1F2A24"/>
                          </a:solidFill>
                          <a:latin typeface="Calibri" pitchFamily="34" charset="0"/>
                          <a:ea typeface="Calibri" pitchFamily="34" charset="-122"/>
                          <a:cs typeface="Calibri" pitchFamily="34" charset="-120"/>
                        </a:rPr>
                        <a:t>Mar</a:t>
                      </a:r>
                      <a:endParaRPr lang="en-US" sz="1200" dirty="0">
                        <a:latin typeface="Calibri" charset="0"/>
                        <a:ea typeface="Calibri" charset="0"/>
                        <a:cs typeface="Calibri" charset="0"/>
                      </a:endParaRPr>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4"/>
                          </a:solidFill>
                        </a:rPr>
                        <a:t>55</a:t>
                      </a:r>
                      <a:endParaRPr lang="en-US" sz="1200" dirty="0"/>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solidFill>
                      <a:srgbClr val="FFF1A8"/>
                    </a:solidFill>
                  </a:tcPr>
                </a:tc>
                <a:tc>
                  <a:txBody>
                    <a:bodyPr/>
                    <a:lstStyle/>
                    <a:p>
                      <a:pPr marL="0" indent="0" algn="ctr">
                        <a:buNone/>
                      </a:pPr>
                      <a:r>
                        <a:rPr lang="en-US" sz="1200" dirty="0">
                          <a:solidFill>
                            <a:srgbClr val="9C8400"/>
                          </a:solidFill>
                        </a:rPr>
                        <a:t>Mid</a:t>
                      </a:r>
                      <a:endParaRPr lang="en-US" sz="1200" dirty="0"/>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ctr">
                        <a:buNone/>
                      </a:pPr>
                      <a:r>
                        <a:rPr lang="en-US" sz="1200" dirty="0">
                          <a:solidFill>
                            <a:srgbClr val="1F2A24"/>
                          </a:solidFill>
                          <a:latin typeface="Calibri" pitchFamily="34" charset="0"/>
                          <a:ea typeface="Calibri" pitchFamily="34" charset="-122"/>
                          <a:cs typeface="Calibri" pitchFamily="34" charset="-120"/>
                        </a:rPr>
                        <a:t>Apr</a:t>
                      </a:r>
                      <a:endParaRPr lang="en-US" sz="1200" dirty="0">
                        <a:latin typeface="Calibri" charset="0"/>
                        <a:ea typeface="Calibri" charset="0"/>
                        <a:cs typeface="Calibri" charset="0"/>
                      </a:endParaRPr>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4"/>
                          </a:solidFill>
                        </a:rPr>
                        <a:t>91</a:t>
                      </a:r>
                      <a:endParaRPr lang="en-US" sz="1200" dirty="0"/>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solidFill>
                      <a:srgbClr val="BFE5C8"/>
                    </a:solidFill>
                  </a:tcPr>
                </a:tc>
                <a:tc>
                  <a:txBody>
                    <a:bodyPr/>
                    <a:lstStyle/>
                    <a:p>
                      <a:pPr marL="0" indent="0" algn="ctr">
                        <a:buNone/>
                      </a:pPr>
                      <a:r>
                        <a:rPr lang="en-US" sz="1200" dirty="0">
                          <a:solidFill>
                            <a:srgbClr val="1E7B4D"/>
                          </a:solidFill>
                        </a:rPr>
                        <a:t>High</a:t>
                      </a:r>
                      <a:endParaRPr lang="en-US" sz="1200" dirty="0"/>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ctr">
                        <a:buNone/>
                      </a:pPr>
                      <a:r>
                        <a:rPr lang="en-US" sz="1200" dirty="0">
                          <a:solidFill>
                            <a:srgbClr val="1F2A24"/>
                          </a:solidFill>
                          <a:latin typeface="Calibri" pitchFamily="34" charset="0"/>
                          <a:ea typeface="Calibri" pitchFamily="34" charset="-122"/>
                          <a:cs typeface="Calibri" pitchFamily="34" charset="-120"/>
                        </a:rPr>
                        <a:t>May</a:t>
                      </a:r>
                      <a:endParaRPr lang="en-US" sz="1200" dirty="0">
                        <a:latin typeface="Calibri" charset="0"/>
                        <a:ea typeface="Calibri" charset="0"/>
                        <a:cs typeface="Calibri" charset="0"/>
                      </a:endParaRPr>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4"/>
                          </a:solidFill>
                        </a:rPr>
                        <a:t>33</a:t>
                      </a:r>
                      <a:endParaRPr lang="en-US" sz="1200" dirty="0"/>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solidFill>
                      <a:srgbClr val="F4C7C3"/>
                    </a:solidFill>
                  </a:tcPr>
                </a:tc>
                <a:tc>
                  <a:txBody>
                    <a:bodyPr/>
                    <a:lstStyle/>
                    <a:p>
                      <a:pPr marL="0" indent="0" algn="ctr">
                        <a:buNone/>
                      </a:pPr>
                      <a:r>
                        <a:rPr lang="en-US" sz="1200" dirty="0">
                          <a:solidFill>
                            <a:srgbClr val="B33A3A"/>
                          </a:solidFill>
                        </a:rPr>
                        <a:t>Low</a:t>
                      </a:r>
                      <a:endParaRPr lang="en-US" sz="1200" dirty="0"/>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lgn="ctr">
                        <a:buNone/>
                      </a:pPr>
                      <a:r>
                        <a:rPr lang="en-US" sz="1200" dirty="0">
                          <a:solidFill>
                            <a:srgbClr val="1F2A24"/>
                          </a:solidFill>
                          <a:latin typeface="Calibri" pitchFamily="34" charset="0"/>
                          <a:ea typeface="Calibri" pitchFamily="34" charset="-122"/>
                          <a:cs typeface="Calibri" pitchFamily="34" charset="-120"/>
                        </a:rPr>
                        <a:t>Jun</a:t>
                      </a:r>
                      <a:endParaRPr lang="en-US" sz="1200" dirty="0">
                        <a:latin typeface="Calibri" charset="0"/>
                        <a:ea typeface="Calibri" charset="0"/>
                        <a:cs typeface="Calibri" charset="0"/>
                      </a:endParaRPr>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A24"/>
                          </a:solidFill>
                        </a:rPr>
                        <a:t>67</a:t>
                      </a:r>
                      <a:endParaRPr lang="en-US" sz="1200" dirty="0"/>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solidFill>
                      <a:srgbClr val="FFF1A8"/>
                    </a:solidFill>
                  </a:tcPr>
                </a:tc>
                <a:tc>
                  <a:txBody>
                    <a:bodyPr/>
                    <a:lstStyle/>
                    <a:p>
                      <a:pPr marL="0" indent="0" algn="ctr">
                        <a:buNone/>
                      </a:pPr>
                      <a:r>
                        <a:rPr lang="en-US" sz="1200" dirty="0">
                          <a:solidFill>
                            <a:srgbClr val="9C8400"/>
                          </a:solidFill>
                        </a:rPr>
                        <a:t>Mid</a:t>
                      </a:r>
                      <a:endParaRPr lang="en-US" sz="1200" dirty="0"/>
                    </a:p>
                  </a:txBody>
                  <a:tcPr anchor="ctr">
                    <a:lnL w="6350" cap="flat" cmpd="sng" algn="ctr">
                      <a:solidFill>
                        <a:srgbClr val="D6E8DD"/>
                      </a:solidFill>
                      <a:prstDash val="solid"/>
                      <a:round/>
                      <a:headEnd type="none" w="med" len="med"/>
                      <a:tailEnd type="none" w="med" len="med"/>
                    </a:lnL>
                    <a:lnR w="6350" cap="flat" cmpd="sng" algn="ctr">
                      <a:solidFill>
                        <a:srgbClr val="D6E8DD"/>
                      </a:solidFill>
                      <a:prstDash val="solid"/>
                      <a:round/>
                      <a:headEnd type="none" w="med" len="med"/>
                      <a:tailEnd type="none" w="med" len="med"/>
                    </a:lnR>
                    <a:lnT w="6350" cap="flat" cmpd="sng" algn="ctr">
                      <a:solidFill>
                        <a:srgbClr val="D6E8DD"/>
                      </a:solidFill>
                      <a:prstDash val="solid"/>
                      <a:round/>
                      <a:headEnd type="none" w="med" len="med"/>
                      <a:tailEnd type="none" w="med" len="med"/>
                    </a:lnT>
                    <a:lnB w="6350" cap="flat" cmpd="sng" algn="ctr">
                      <a:solidFill>
                        <a:srgbClr val="D6E8DD"/>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1" name="Text 14"/>
          <p:cNvSpPr/>
          <p:nvPr/>
        </p:nvSpPr>
        <p:spPr>
          <a:xfrm>
            <a:off x="7086600" y="6080760"/>
            <a:ext cx="4206240" cy="274320"/>
          </a:xfrm>
          <a:prstGeom prst="rect">
            <a:avLst/>
          </a:prstGeom>
          <a:noFill/>
          <a:ln/>
        </p:spPr>
        <p:txBody>
          <a:bodyPr wrap="square" lIns="0" tIns="0" rIns="0" bIns="0" rtlCol="0" anchor="ctr"/>
          <a:lstStyle/>
          <a:p>
            <a:pPr marL="0" indent="0">
              <a:buNone/>
            </a:pPr>
            <a:r>
              <a:rPr lang="en-US" sz="1100" i="1" dirty="0">
                <a:solidFill>
                  <a:srgbClr val="6B7A72"/>
                </a:solidFill>
                <a:latin typeface="Calibri" pitchFamily="34" charset="0"/>
                <a:ea typeface="Calibri" pitchFamily="34" charset="-122"/>
                <a:cs typeface="Calibri" pitchFamily="34" charset="-120"/>
              </a:rPr>
              <a:t>Color scales translate raw values into an instant gradient — darker shades for higher sales.</a:t>
            </a:r>
            <a:endParaRPr lang="en-US" sz="1100" dirty="0"/>
          </a:p>
        </p:txBody>
      </p:sp>
      <p:sp>
        <p:nvSpPr>
          <p:cNvPr id="22" name="Text 15"/>
          <p:cNvSpPr/>
          <p:nvPr/>
        </p:nvSpPr>
        <p:spPr>
          <a:xfrm>
            <a:off x="11521440" y="6446520"/>
            <a:ext cx="457200" cy="274320"/>
          </a:xfrm>
          <a:prstGeom prst="rect">
            <a:avLst/>
          </a:prstGeom>
          <a:noFill/>
          <a:ln/>
        </p:spPr>
        <p:txBody>
          <a:bodyPr wrap="square" lIns="0" tIns="0" rIns="0" bIns="0" rtlCol="0" anchor="ctr"/>
          <a:lstStyle/>
          <a:p>
            <a:pPr marL="0" indent="0" algn="r">
              <a:buNone/>
            </a:pPr>
            <a:r>
              <a:rPr lang="en-US" sz="1000" dirty="0">
                <a:solidFill>
                  <a:srgbClr val="6B7A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1E7B4D"/>
                </a:solidFill>
                <a:latin typeface="Calibri" pitchFamily="34" charset="0"/>
                <a:ea typeface="Calibri" pitchFamily="34" charset="-122"/>
                <a:cs typeface="Calibri" pitchFamily="34" charset="-120"/>
              </a:rPr>
              <a:t>CONDITIONAL FORMATTING</a:t>
            </a:r>
            <a:endParaRPr lang="en-US" sz="12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marL="0" indent="0">
              <a:buNone/>
            </a:pPr>
            <a:r>
              <a:rPr lang="en-US" sz="3200" b="1" dirty="0">
                <a:solidFill>
                  <a:srgbClr val="1F2A24"/>
                </a:solidFill>
                <a:latin typeface="Cambria" pitchFamily="34" charset="0"/>
                <a:ea typeface="Cambria" pitchFamily="34" charset="-122"/>
                <a:cs typeface="Cambria" pitchFamily="34" charset="-120"/>
              </a:rPr>
              <a:t>Types of Conditional Formatting Rules</a:t>
            </a:r>
            <a:endParaRPr lang="en-US" sz="3200" dirty="0"/>
          </a:p>
        </p:txBody>
      </p:sp>
      <p:sp>
        <p:nvSpPr>
          <p:cNvPr id="4" name="Shape 2"/>
          <p:cNvSpPr/>
          <p:nvPr/>
        </p:nvSpPr>
        <p:spPr>
          <a:xfrm>
            <a:off x="548640" y="192024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5" name="Shape 3"/>
          <p:cNvSpPr/>
          <p:nvPr/>
        </p:nvSpPr>
        <p:spPr>
          <a:xfrm>
            <a:off x="731520" y="2103120"/>
            <a:ext cx="548640" cy="548640"/>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841248" y="2212848"/>
            <a:ext cx="329184" cy="329184"/>
          </a:xfrm>
          <a:prstGeom prst="rect">
            <a:avLst/>
          </a:prstGeom>
        </p:spPr>
      </p:pic>
      <p:sp>
        <p:nvSpPr>
          <p:cNvPr id="7" name="Text 4"/>
          <p:cNvSpPr/>
          <p:nvPr/>
        </p:nvSpPr>
        <p:spPr>
          <a:xfrm>
            <a:off x="1417320" y="2121408"/>
            <a:ext cx="2651760" cy="502920"/>
          </a:xfrm>
          <a:prstGeom prst="rect">
            <a:avLst/>
          </a:prstGeom>
          <a:noFill/>
          <a:ln/>
        </p:spPr>
        <p:txBody>
          <a:bodyPr wrap="square" lIns="0" tIns="0" rIns="0" bIns="0" rtlCol="0" anchor="ctr"/>
          <a:lstStyle/>
          <a:p>
            <a:pPr marL="0" indent="0">
              <a:buNone/>
            </a:pPr>
            <a:r>
              <a:rPr lang="en-US" sz="1500" b="1" dirty="0">
                <a:solidFill>
                  <a:srgbClr val="1F2A24"/>
                </a:solidFill>
                <a:latin typeface="Calibri" pitchFamily="34" charset="0"/>
                <a:ea typeface="Calibri" pitchFamily="34" charset="-122"/>
                <a:cs typeface="Calibri" pitchFamily="34" charset="-120"/>
              </a:rPr>
              <a:t>Highlight Cell Rules</a:t>
            </a:r>
            <a:endParaRPr lang="en-US" sz="1500" dirty="0"/>
          </a:p>
        </p:txBody>
      </p:sp>
      <p:sp>
        <p:nvSpPr>
          <p:cNvPr id="8" name="Text 5"/>
          <p:cNvSpPr/>
          <p:nvPr/>
        </p:nvSpPr>
        <p:spPr>
          <a:xfrm>
            <a:off x="731520" y="2788920"/>
            <a:ext cx="3291840" cy="914400"/>
          </a:xfrm>
          <a:prstGeom prst="rect">
            <a:avLst/>
          </a:prstGeom>
          <a:noFill/>
          <a:ln/>
        </p:spPr>
        <p:txBody>
          <a:bodyPr wrap="square" lIns="0" tIns="0" rIns="0" bIns="0" rtlCol="0" anchor="ctr"/>
          <a:lstStyle/>
          <a:p>
            <a:pPr marL="0" indent="0">
              <a:lnSpc>
                <a:spcPct val="120000"/>
              </a:lnSpc>
              <a:buNone/>
            </a:pPr>
            <a:r>
              <a:rPr lang="en-US" sz="1250" dirty="0">
                <a:solidFill>
                  <a:srgbClr val="6B7A72"/>
                </a:solidFill>
                <a:latin typeface="Calibri" pitchFamily="34" charset="0"/>
                <a:ea typeface="Calibri" pitchFamily="34" charset="-122"/>
                <a:cs typeface="Calibri" pitchFamily="34" charset="-120"/>
              </a:rPr>
              <a:t>Greater than, Less than, Between, Equal to, Text Contains, Dates</a:t>
            </a:r>
            <a:endParaRPr lang="en-US" sz="1250" dirty="0"/>
          </a:p>
        </p:txBody>
      </p:sp>
      <p:sp>
        <p:nvSpPr>
          <p:cNvPr id="9" name="Shape 6"/>
          <p:cNvSpPr/>
          <p:nvPr/>
        </p:nvSpPr>
        <p:spPr>
          <a:xfrm>
            <a:off x="4434840" y="192024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10" name="Shape 7"/>
          <p:cNvSpPr/>
          <p:nvPr/>
        </p:nvSpPr>
        <p:spPr>
          <a:xfrm>
            <a:off x="4617720" y="2103120"/>
            <a:ext cx="548640" cy="548640"/>
          </a:xfrm>
          <a:prstGeom prst="ellipse">
            <a:avLst/>
          </a:prstGeom>
          <a:solidFill>
            <a:srgbClr val="FFFFFF"/>
          </a:solidFill>
          <a:ln/>
        </p:spPr>
      </p:sp>
      <p:pic>
        <p:nvPicPr>
          <p:cNvPr id="11" name="Image 1" descr="preencoded.png"/>
          <p:cNvPicPr>
            <a:picLocks noChangeAspect="1"/>
          </p:cNvPicPr>
          <p:nvPr/>
        </p:nvPicPr>
        <p:blipFill>
          <a:blip r:embed="rId4"/>
          <a:stretch>
            <a:fillRect/>
          </a:stretch>
        </p:blipFill>
        <p:spPr>
          <a:xfrm>
            <a:off x="4727448" y="2212848"/>
            <a:ext cx="329184" cy="329184"/>
          </a:xfrm>
          <a:prstGeom prst="rect">
            <a:avLst/>
          </a:prstGeom>
        </p:spPr>
      </p:pic>
      <p:sp>
        <p:nvSpPr>
          <p:cNvPr id="12" name="Text 8"/>
          <p:cNvSpPr/>
          <p:nvPr/>
        </p:nvSpPr>
        <p:spPr>
          <a:xfrm>
            <a:off x="5303520" y="2121408"/>
            <a:ext cx="2651760" cy="502920"/>
          </a:xfrm>
          <a:prstGeom prst="rect">
            <a:avLst/>
          </a:prstGeom>
          <a:noFill/>
          <a:ln/>
        </p:spPr>
        <p:txBody>
          <a:bodyPr wrap="square" lIns="0" tIns="0" rIns="0" bIns="0" rtlCol="0" anchor="ctr"/>
          <a:lstStyle/>
          <a:p>
            <a:pPr marL="0" indent="0">
              <a:buNone/>
            </a:pPr>
            <a:r>
              <a:rPr lang="en-US" sz="1500" b="1" dirty="0">
                <a:solidFill>
                  <a:srgbClr val="1F2A24"/>
                </a:solidFill>
                <a:latin typeface="Calibri" pitchFamily="34" charset="0"/>
                <a:ea typeface="Calibri" pitchFamily="34" charset="-122"/>
                <a:cs typeface="Calibri" pitchFamily="34" charset="-120"/>
              </a:rPr>
              <a:t>Top / Bottom Rules</a:t>
            </a:r>
            <a:endParaRPr lang="en-US" sz="1500" dirty="0"/>
          </a:p>
        </p:txBody>
      </p:sp>
      <p:sp>
        <p:nvSpPr>
          <p:cNvPr id="13" name="Text 9"/>
          <p:cNvSpPr/>
          <p:nvPr/>
        </p:nvSpPr>
        <p:spPr>
          <a:xfrm>
            <a:off x="4617720" y="2788920"/>
            <a:ext cx="3291840" cy="914400"/>
          </a:xfrm>
          <a:prstGeom prst="rect">
            <a:avLst/>
          </a:prstGeom>
          <a:noFill/>
          <a:ln/>
        </p:spPr>
        <p:txBody>
          <a:bodyPr wrap="square" lIns="0" tIns="0" rIns="0" bIns="0" rtlCol="0" anchor="ctr"/>
          <a:lstStyle/>
          <a:p>
            <a:pPr marL="0" indent="0">
              <a:lnSpc>
                <a:spcPct val="120000"/>
              </a:lnSpc>
              <a:buNone/>
            </a:pPr>
            <a:r>
              <a:rPr lang="en-US" sz="1250" dirty="0">
                <a:solidFill>
                  <a:srgbClr val="6B7A72"/>
                </a:solidFill>
                <a:latin typeface="Calibri" pitchFamily="34" charset="0"/>
                <a:ea typeface="Calibri" pitchFamily="34" charset="-122"/>
                <a:cs typeface="Calibri" pitchFamily="34" charset="-120"/>
              </a:rPr>
              <a:t>Top 10 items / %, Bottom 10 items / %, Above / Below Average</a:t>
            </a:r>
            <a:endParaRPr lang="en-US" sz="1250" dirty="0"/>
          </a:p>
        </p:txBody>
      </p:sp>
      <p:sp>
        <p:nvSpPr>
          <p:cNvPr id="14" name="Shape 10"/>
          <p:cNvSpPr/>
          <p:nvPr/>
        </p:nvSpPr>
        <p:spPr>
          <a:xfrm>
            <a:off x="8321040" y="192024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15" name="Shape 11"/>
          <p:cNvSpPr/>
          <p:nvPr/>
        </p:nvSpPr>
        <p:spPr>
          <a:xfrm>
            <a:off x="8503920" y="2103120"/>
            <a:ext cx="548640" cy="548640"/>
          </a:xfrm>
          <a:prstGeom prst="ellipse">
            <a:avLst/>
          </a:prstGeom>
          <a:solidFill>
            <a:srgbClr val="FFFFFF"/>
          </a:solidFill>
          <a:ln/>
        </p:spPr>
      </p:sp>
      <p:pic>
        <p:nvPicPr>
          <p:cNvPr id="16" name="Image 2" descr="preencoded.png"/>
          <p:cNvPicPr>
            <a:picLocks noChangeAspect="1"/>
          </p:cNvPicPr>
          <p:nvPr/>
        </p:nvPicPr>
        <p:blipFill>
          <a:blip r:embed="rId5"/>
          <a:stretch>
            <a:fillRect/>
          </a:stretch>
        </p:blipFill>
        <p:spPr>
          <a:xfrm>
            <a:off x="8613648" y="2212848"/>
            <a:ext cx="329184" cy="329184"/>
          </a:xfrm>
          <a:prstGeom prst="rect">
            <a:avLst/>
          </a:prstGeom>
        </p:spPr>
      </p:pic>
      <p:sp>
        <p:nvSpPr>
          <p:cNvPr id="17" name="Text 12"/>
          <p:cNvSpPr/>
          <p:nvPr/>
        </p:nvSpPr>
        <p:spPr>
          <a:xfrm>
            <a:off x="9189720" y="2121408"/>
            <a:ext cx="2651760" cy="502920"/>
          </a:xfrm>
          <a:prstGeom prst="rect">
            <a:avLst/>
          </a:prstGeom>
          <a:noFill/>
          <a:ln/>
        </p:spPr>
        <p:txBody>
          <a:bodyPr wrap="square" lIns="0" tIns="0" rIns="0" bIns="0" rtlCol="0" anchor="ctr"/>
          <a:lstStyle/>
          <a:p>
            <a:pPr marL="0" indent="0">
              <a:buNone/>
            </a:pPr>
            <a:r>
              <a:rPr lang="en-US" sz="1500" b="1" dirty="0">
                <a:solidFill>
                  <a:srgbClr val="1F2A24"/>
                </a:solidFill>
                <a:latin typeface="Calibri" pitchFamily="34" charset="0"/>
                <a:ea typeface="Calibri" pitchFamily="34" charset="-122"/>
                <a:cs typeface="Calibri" pitchFamily="34" charset="-120"/>
              </a:rPr>
              <a:t>Data Bars</a:t>
            </a:r>
            <a:endParaRPr lang="en-US" sz="1500" dirty="0"/>
          </a:p>
        </p:txBody>
      </p:sp>
      <p:sp>
        <p:nvSpPr>
          <p:cNvPr id="18" name="Text 13"/>
          <p:cNvSpPr/>
          <p:nvPr/>
        </p:nvSpPr>
        <p:spPr>
          <a:xfrm>
            <a:off x="8503920" y="2788920"/>
            <a:ext cx="3291840" cy="914400"/>
          </a:xfrm>
          <a:prstGeom prst="rect">
            <a:avLst/>
          </a:prstGeom>
          <a:noFill/>
          <a:ln/>
        </p:spPr>
        <p:txBody>
          <a:bodyPr wrap="square" lIns="0" tIns="0" rIns="0" bIns="0" rtlCol="0" anchor="ctr"/>
          <a:lstStyle/>
          <a:p>
            <a:pPr marL="0" indent="0">
              <a:lnSpc>
                <a:spcPct val="120000"/>
              </a:lnSpc>
              <a:buNone/>
            </a:pPr>
            <a:r>
              <a:rPr lang="en-US" sz="1250" dirty="0">
                <a:solidFill>
                  <a:srgbClr val="6B7A72"/>
                </a:solidFill>
                <a:latin typeface="Calibri" pitchFamily="34" charset="0"/>
                <a:ea typeface="Calibri" pitchFamily="34" charset="-122"/>
                <a:cs typeface="Calibri" pitchFamily="34" charset="-120"/>
              </a:rPr>
              <a:t>Horizontal bars inside cells, proportional to cell value</a:t>
            </a:r>
            <a:endParaRPr lang="en-US" sz="1250" dirty="0"/>
          </a:p>
        </p:txBody>
      </p:sp>
      <p:sp>
        <p:nvSpPr>
          <p:cNvPr id="19" name="Shape 14"/>
          <p:cNvSpPr/>
          <p:nvPr/>
        </p:nvSpPr>
        <p:spPr>
          <a:xfrm>
            <a:off x="548640" y="402336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20" name="Shape 15"/>
          <p:cNvSpPr/>
          <p:nvPr/>
        </p:nvSpPr>
        <p:spPr>
          <a:xfrm>
            <a:off x="731520" y="4206240"/>
            <a:ext cx="548640" cy="548640"/>
          </a:xfrm>
          <a:prstGeom prst="ellipse">
            <a:avLst/>
          </a:prstGeom>
          <a:solidFill>
            <a:srgbClr val="FFFFFF"/>
          </a:solidFill>
          <a:ln/>
        </p:spPr>
      </p:sp>
      <p:pic>
        <p:nvPicPr>
          <p:cNvPr id="21" name="Image 3" descr="preencoded.png"/>
          <p:cNvPicPr>
            <a:picLocks noChangeAspect="1"/>
          </p:cNvPicPr>
          <p:nvPr/>
        </p:nvPicPr>
        <p:blipFill>
          <a:blip r:embed="rId6"/>
          <a:stretch>
            <a:fillRect/>
          </a:stretch>
        </p:blipFill>
        <p:spPr>
          <a:xfrm>
            <a:off x="841248" y="4315968"/>
            <a:ext cx="329184" cy="329184"/>
          </a:xfrm>
          <a:prstGeom prst="rect">
            <a:avLst/>
          </a:prstGeom>
        </p:spPr>
      </p:pic>
      <p:sp>
        <p:nvSpPr>
          <p:cNvPr id="22" name="Text 16"/>
          <p:cNvSpPr/>
          <p:nvPr/>
        </p:nvSpPr>
        <p:spPr>
          <a:xfrm>
            <a:off x="1417320" y="4224528"/>
            <a:ext cx="2651760" cy="502920"/>
          </a:xfrm>
          <a:prstGeom prst="rect">
            <a:avLst/>
          </a:prstGeom>
          <a:noFill/>
          <a:ln/>
        </p:spPr>
        <p:txBody>
          <a:bodyPr wrap="square" lIns="0" tIns="0" rIns="0" bIns="0" rtlCol="0" anchor="ctr"/>
          <a:lstStyle/>
          <a:p>
            <a:pPr marL="0" indent="0">
              <a:buNone/>
            </a:pPr>
            <a:r>
              <a:rPr lang="en-US" sz="1500" b="1" dirty="0">
                <a:solidFill>
                  <a:srgbClr val="1F2A24"/>
                </a:solidFill>
                <a:latin typeface="Calibri" pitchFamily="34" charset="0"/>
                <a:ea typeface="Calibri" pitchFamily="34" charset="-122"/>
                <a:cs typeface="Calibri" pitchFamily="34" charset="-120"/>
              </a:rPr>
              <a:t>Color Scales</a:t>
            </a:r>
            <a:endParaRPr lang="en-US" sz="1500" dirty="0"/>
          </a:p>
        </p:txBody>
      </p:sp>
      <p:sp>
        <p:nvSpPr>
          <p:cNvPr id="23" name="Text 17"/>
          <p:cNvSpPr/>
          <p:nvPr/>
        </p:nvSpPr>
        <p:spPr>
          <a:xfrm>
            <a:off x="731520" y="4892040"/>
            <a:ext cx="3291840" cy="914400"/>
          </a:xfrm>
          <a:prstGeom prst="rect">
            <a:avLst/>
          </a:prstGeom>
          <a:noFill/>
          <a:ln/>
        </p:spPr>
        <p:txBody>
          <a:bodyPr wrap="square" lIns="0" tIns="0" rIns="0" bIns="0" rtlCol="0" anchor="ctr"/>
          <a:lstStyle/>
          <a:p>
            <a:pPr marL="0" indent="0">
              <a:lnSpc>
                <a:spcPct val="120000"/>
              </a:lnSpc>
              <a:buNone/>
            </a:pPr>
            <a:r>
              <a:rPr lang="en-US" sz="1250" dirty="0">
                <a:solidFill>
                  <a:srgbClr val="6B7A72"/>
                </a:solidFill>
                <a:latin typeface="Calibri" pitchFamily="34" charset="0"/>
                <a:ea typeface="Calibri" pitchFamily="34" charset="-122"/>
                <a:cs typeface="Calibri" pitchFamily="34" charset="-120"/>
              </a:rPr>
              <a:t>2 or 3-color gradient across a range; Min → Mid → Max</a:t>
            </a:r>
            <a:endParaRPr lang="en-US" sz="1250" dirty="0"/>
          </a:p>
        </p:txBody>
      </p:sp>
      <p:sp>
        <p:nvSpPr>
          <p:cNvPr id="24" name="Shape 18"/>
          <p:cNvSpPr/>
          <p:nvPr/>
        </p:nvSpPr>
        <p:spPr>
          <a:xfrm>
            <a:off x="4434840" y="402336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25" name="Shape 19"/>
          <p:cNvSpPr/>
          <p:nvPr/>
        </p:nvSpPr>
        <p:spPr>
          <a:xfrm>
            <a:off x="4617720" y="4206240"/>
            <a:ext cx="548640" cy="548640"/>
          </a:xfrm>
          <a:prstGeom prst="ellipse">
            <a:avLst/>
          </a:prstGeom>
          <a:solidFill>
            <a:srgbClr val="FFFFFF"/>
          </a:solidFill>
          <a:ln/>
        </p:spPr>
      </p:sp>
      <p:pic>
        <p:nvPicPr>
          <p:cNvPr id="26" name="Image 4" descr="preencoded.png"/>
          <p:cNvPicPr>
            <a:picLocks noChangeAspect="1"/>
          </p:cNvPicPr>
          <p:nvPr/>
        </p:nvPicPr>
        <p:blipFill>
          <a:blip r:embed="rId7"/>
          <a:stretch>
            <a:fillRect/>
          </a:stretch>
        </p:blipFill>
        <p:spPr>
          <a:xfrm>
            <a:off x="4727448" y="4315968"/>
            <a:ext cx="329184" cy="329184"/>
          </a:xfrm>
          <a:prstGeom prst="rect">
            <a:avLst/>
          </a:prstGeom>
        </p:spPr>
      </p:pic>
      <p:sp>
        <p:nvSpPr>
          <p:cNvPr id="27" name="Text 20"/>
          <p:cNvSpPr/>
          <p:nvPr/>
        </p:nvSpPr>
        <p:spPr>
          <a:xfrm>
            <a:off x="5303520" y="4224528"/>
            <a:ext cx="2651760" cy="502920"/>
          </a:xfrm>
          <a:prstGeom prst="rect">
            <a:avLst/>
          </a:prstGeom>
          <a:noFill/>
          <a:ln/>
        </p:spPr>
        <p:txBody>
          <a:bodyPr wrap="square" lIns="0" tIns="0" rIns="0" bIns="0" rtlCol="0" anchor="ctr"/>
          <a:lstStyle/>
          <a:p>
            <a:pPr marL="0" indent="0">
              <a:buNone/>
            </a:pPr>
            <a:r>
              <a:rPr lang="en-US" sz="1500" b="1" dirty="0">
                <a:solidFill>
                  <a:srgbClr val="1F2A24"/>
                </a:solidFill>
                <a:latin typeface="Calibri" pitchFamily="34" charset="0"/>
                <a:ea typeface="Calibri" pitchFamily="34" charset="-122"/>
                <a:cs typeface="Calibri" pitchFamily="34" charset="-120"/>
              </a:rPr>
              <a:t>Icon Sets</a:t>
            </a:r>
            <a:endParaRPr lang="en-US" sz="1500" dirty="0"/>
          </a:p>
        </p:txBody>
      </p:sp>
      <p:sp>
        <p:nvSpPr>
          <p:cNvPr id="28" name="Text 21"/>
          <p:cNvSpPr/>
          <p:nvPr/>
        </p:nvSpPr>
        <p:spPr>
          <a:xfrm>
            <a:off x="4617720" y="4892040"/>
            <a:ext cx="3291840" cy="914400"/>
          </a:xfrm>
          <a:prstGeom prst="rect">
            <a:avLst/>
          </a:prstGeom>
          <a:noFill/>
          <a:ln/>
        </p:spPr>
        <p:txBody>
          <a:bodyPr wrap="square" lIns="0" tIns="0" rIns="0" bIns="0" rtlCol="0" anchor="ctr"/>
          <a:lstStyle/>
          <a:p>
            <a:pPr marL="0" indent="0">
              <a:lnSpc>
                <a:spcPct val="120000"/>
              </a:lnSpc>
              <a:buNone/>
            </a:pPr>
            <a:r>
              <a:rPr lang="en-US" sz="1250" dirty="0">
                <a:solidFill>
                  <a:srgbClr val="6B7A72"/>
                </a:solidFill>
                <a:latin typeface="Calibri" pitchFamily="34" charset="0"/>
                <a:ea typeface="Calibri" pitchFamily="34" charset="-122"/>
                <a:cs typeface="Calibri" pitchFamily="34" charset="-120"/>
              </a:rPr>
              <a:t>Arrows, traffic lights, star ratings, flags based on thresholds</a:t>
            </a:r>
            <a:endParaRPr lang="en-US" sz="1250" dirty="0"/>
          </a:p>
        </p:txBody>
      </p:sp>
      <p:sp>
        <p:nvSpPr>
          <p:cNvPr id="29" name="Shape 22"/>
          <p:cNvSpPr/>
          <p:nvPr/>
        </p:nvSpPr>
        <p:spPr>
          <a:xfrm>
            <a:off x="8321040" y="402336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30" name="Shape 23"/>
          <p:cNvSpPr/>
          <p:nvPr/>
        </p:nvSpPr>
        <p:spPr>
          <a:xfrm>
            <a:off x="8503920" y="4206240"/>
            <a:ext cx="548640" cy="548640"/>
          </a:xfrm>
          <a:prstGeom prst="ellipse">
            <a:avLst/>
          </a:prstGeom>
          <a:solidFill>
            <a:srgbClr val="FFFFFF"/>
          </a:solidFill>
          <a:ln/>
        </p:spPr>
      </p:sp>
      <p:pic>
        <p:nvPicPr>
          <p:cNvPr id="31" name="Image 5" descr="preencoded.png"/>
          <p:cNvPicPr>
            <a:picLocks noChangeAspect="1"/>
          </p:cNvPicPr>
          <p:nvPr/>
        </p:nvPicPr>
        <p:blipFill>
          <a:blip r:embed="rId8"/>
          <a:stretch>
            <a:fillRect/>
          </a:stretch>
        </p:blipFill>
        <p:spPr>
          <a:xfrm>
            <a:off x="8613648" y="4315968"/>
            <a:ext cx="329184" cy="329184"/>
          </a:xfrm>
          <a:prstGeom prst="rect">
            <a:avLst/>
          </a:prstGeom>
        </p:spPr>
      </p:pic>
      <p:sp>
        <p:nvSpPr>
          <p:cNvPr id="32" name="Text 24"/>
          <p:cNvSpPr/>
          <p:nvPr/>
        </p:nvSpPr>
        <p:spPr>
          <a:xfrm>
            <a:off x="9189720" y="4224528"/>
            <a:ext cx="2651760" cy="502920"/>
          </a:xfrm>
          <a:prstGeom prst="rect">
            <a:avLst/>
          </a:prstGeom>
          <a:noFill/>
          <a:ln/>
        </p:spPr>
        <p:txBody>
          <a:bodyPr wrap="square" lIns="0" tIns="0" rIns="0" bIns="0" rtlCol="0" anchor="ctr"/>
          <a:lstStyle/>
          <a:p>
            <a:pPr marL="0" indent="0">
              <a:buNone/>
            </a:pPr>
            <a:r>
              <a:rPr lang="en-US" sz="1500" b="1" dirty="0">
                <a:solidFill>
                  <a:srgbClr val="1F2A24"/>
                </a:solidFill>
                <a:latin typeface="Calibri" pitchFamily="34" charset="0"/>
                <a:ea typeface="Calibri" pitchFamily="34" charset="-122"/>
                <a:cs typeface="Calibri" pitchFamily="34" charset="-120"/>
              </a:rPr>
              <a:t>New / Custom Rule</a:t>
            </a:r>
            <a:endParaRPr lang="en-US" sz="1500" dirty="0"/>
          </a:p>
        </p:txBody>
      </p:sp>
      <p:sp>
        <p:nvSpPr>
          <p:cNvPr id="33" name="Text 25"/>
          <p:cNvSpPr/>
          <p:nvPr/>
        </p:nvSpPr>
        <p:spPr>
          <a:xfrm>
            <a:off x="8503920" y="4892040"/>
            <a:ext cx="3291840" cy="914400"/>
          </a:xfrm>
          <a:prstGeom prst="rect">
            <a:avLst/>
          </a:prstGeom>
          <a:noFill/>
          <a:ln/>
        </p:spPr>
        <p:txBody>
          <a:bodyPr wrap="square" lIns="0" tIns="0" rIns="0" bIns="0" rtlCol="0" anchor="ctr"/>
          <a:lstStyle/>
          <a:p>
            <a:pPr marL="0" indent="0">
              <a:lnSpc>
                <a:spcPct val="120000"/>
              </a:lnSpc>
              <a:buNone/>
            </a:pPr>
            <a:r>
              <a:rPr lang="en-US" sz="1250" dirty="0">
                <a:solidFill>
                  <a:srgbClr val="6B7A72"/>
                </a:solidFill>
                <a:latin typeface="Calibri" pitchFamily="34" charset="0"/>
                <a:ea typeface="Calibri" pitchFamily="34" charset="-122"/>
                <a:cs typeface="Calibri" pitchFamily="34" charset="-120"/>
              </a:rPr>
              <a:t>Formula-based rules; e.g. =MOD(ROW(),2)=0 for banded rows</a:t>
            </a:r>
            <a:endParaRPr lang="en-US" sz="1250" dirty="0"/>
          </a:p>
        </p:txBody>
      </p:sp>
      <p:sp>
        <p:nvSpPr>
          <p:cNvPr id="34" name="Text 26"/>
          <p:cNvSpPr/>
          <p:nvPr/>
        </p:nvSpPr>
        <p:spPr>
          <a:xfrm>
            <a:off x="11521440" y="6446520"/>
            <a:ext cx="457200" cy="274320"/>
          </a:xfrm>
          <a:prstGeom prst="rect">
            <a:avLst/>
          </a:prstGeom>
          <a:noFill/>
          <a:ln/>
        </p:spPr>
        <p:txBody>
          <a:bodyPr wrap="square" lIns="0" tIns="0" rIns="0" bIns="0" rtlCol="0" anchor="ctr"/>
          <a:lstStyle/>
          <a:p>
            <a:pPr marL="0" indent="0" algn="r">
              <a:buNone/>
            </a:pPr>
            <a:r>
              <a:rPr lang="en-US" sz="1000" dirty="0">
                <a:solidFill>
                  <a:srgbClr val="6B7A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1E7B4D"/>
                </a:solidFill>
                <a:latin typeface="Calibri" pitchFamily="34" charset="0"/>
                <a:ea typeface="Calibri" pitchFamily="34" charset="-122"/>
                <a:cs typeface="Calibri" pitchFamily="34" charset="-120"/>
              </a:rPr>
              <a:t>CONDITIONAL FORMATTING</a:t>
            </a:r>
            <a:endParaRPr lang="en-US" sz="12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marL="0" indent="0">
              <a:buNone/>
            </a:pPr>
            <a:r>
              <a:rPr lang="en-US" sz="3200" b="1" dirty="0">
                <a:solidFill>
                  <a:srgbClr val="1F2A24"/>
                </a:solidFill>
                <a:latin typeface="Cambria" pitchFamily="34" charset="0"/>
                <a:ea typeface="Cambria" pitchFamily="34" charset="-122"/>
                <a:cs typeface="Cambria" pitchFamily="34" charset="-120"/>
              </a:rPr>
              <a:t>How to Apply Conditional Formatting</a:t>
            </a:r>
            <a:endParaRPr lang="en-US" sz="3200" dirty="0"/>
          </a:p>
        </p:txBody>
      </p:sp>
      <p:sp>
        <p:nvSpPr>
          <p:cNvPr id="4" name="Shape 2"/>
          <p:cNvSpPr/>
          <p:nvPr/>
        </p:nvSpPr>
        <p:spPr>
          <a:xfrm>
            <a:off x="640080" y="2606040"/>
            <a:ext cx="822960" cy="822960"/>
          </a:xfrm>
          <a:prstGeom prst="ellipse">
            <a:avLst/>
          </a:prstGeom>
          <a:solidFill>
            <a:srgbClr val="E7F4EC"/>
          </a:solidFill>
          <a:ln/>
        </p:spPr>
      </p:sp>
      <p:pic>
        <p:nvPicPr>
          <p:cNvPr id="5" name="Image 0" descr="preencoded.png"/>
          <p:cNvPicPr>
            <a:picLocks noChangeAspect="1"/>
          </p:cNvPicPr>
          <p:nvPr/>
        </p:nvPicPr>
        <p:blipFill>
          <a:blip r:embed="rId3"/>
          <a:stretch>
            <a:fillRect/>
          </a:stretch>
        </p:blipFill>
        <p:spPr>
          <a:xfrm>
            <a:off x="825246" y="2791206"/>
            <a:ext cx="452628" cy="452628"/>
          </a:xfrm>
          <a:prstGeom prst="rect">
            <a:avLst/>
          </a:prstGeom>
        </p:spPr>
      </p:pic>
      <p:sp>
        <p:nvSpPr>
          <p:cNvPr id="6" name="Shape 3"/>
          <p:cNvSpPr/>
          <p:nvPr/>
        </p:nvSpPr>
        <p:spPr>
          <a:xfrm>
            <a:off x="1188720" y="2331720"/>
            <a:ext cx="384048" cy="384048"/>
          </a:xfrm>
          <a:prstGeom prst="ellipse">
            <a:avLst/>
          </a:prstGeom>
          <a:solidFill>
            <a:srgbClr val="1E7B4D"/>
          </a:solidFill>
          <a:ln/>
        </p:spPr>
      </p:sp>
      <p:sp>
        <p:nvSpPr>
          <p:cNvPr id="7" name="Text 4"/>
          <p:cNvSpPr/>
          <p:nvPr/>
        </p:nvSpPr>
        <p:spPr>
          <a:xfrm>
            <a:off x="1188720"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228600" y="3566160"/>
            <a:ext cx="1828800" cy="365760"/>
          </a:xfrm>
          <a:prstGeom prst="rect">
            <a:avLst/>
          </a:prstGeom>
          <a:noFill/>
          <a:ln/>
        </p:spPr>
        <p:txBody>
          <a:bodyPr wrap="square" lIns="0" tIns="0" rIns="0" bIns="0" rtlCol="0" anchor="ctr"/>
          <a:lstStyle/>
          <a:p>
            <a:pPr marL="0" indent="0" algn="ctr">
              <a:buNone/>
            </a:pPr>
            <a:r>
              <a:rPr lang="en-US" sz="1450" b="1" dirty="0">
                <a:solidFill>
                  <a:srgbClr val="1F2A24"/>
                </a:solidFill>
                <a:latin typeface="Calibri" pitchFamily="34" charset="0"/>
                <a:ea typeface="Calibri" pitchFamily="34" charset="-122"/>
                <a:cs typeface="Calibri" pitchFamily="34" charset="-120"/>
              </a:rPr>
              <a:t>Select Range</a:t>
            </a:r>
            <a:endParaRPr lang="en-US" sz="1450" dirty="0"/>
          </a:p>
        </p:txBody>
      </p:sp>
      <p:sp>
        <p:nvSpPr>
          <p:cNvPr id="9" name="Text 6"/>
          <p:cNvSpPr/>
          <p:nvPr/>
        </p:nvSpPr>
        <p:spPr>
          <a:xfrm>
            <a:off x="228600" y="3959352"/>
            <a:ext cx="1828800" cy="777240"/>
          </a:xfrm>
          <a:prstGeom prst="rect">
            <a:avLst/>
          </a:prstGeom>
          <a:noFill/>
          <a:ln/>
        </p:spPr>
        <p:txBody>
          <a:bodyPr wrap="square" lIns="0" tIns="0" rIns="0" bIns="0" rtlCol="0" anchor="ctr"/>
          <a:lstStyle/>
          <a:p>
            <a:pPr marL="0" indent="0" algn="ctr">
              <a:lnSpc>
                <a:spcPct val="115000"/>
              </a:lnSpc>
              <a:buNone/>
            </a:pPr>
            <a:r>
              <a:rPr lang="en-US" sz="1150" dirty="0">
                <a:solidFill>
                  <a:srgbClr val="6B7A72"/>
                </a:solidFill>
                <a:latin typeface="Calibri" pitchFamily="34" charset="0"/>
                <a:ea typeface="Calibri" pitchFamily="34" charset="-122"/>
                <a:cs typeface="Calibri" pitchFamily="34" charset="-120"/>
              </a:rPr>
              <a:t>Highlight the cells you want to format.</a:t>
            </a:r>
            <a:endParaRPr lang="en-US" sz="1150" dirty="0"/>
          </a:p>
        </p:txBody>
      </p:sp>
      <p:pic>
        <p:nvPicPr>
          <p:cNvPr id="10" name="Image 1" descr="preencoded.png"/>
          <p:cNvPicPr>
            <a:picLocks noChangeAspect="1"/>
          </p:cNvPicPr>
          <p:nvPr/>
        </p:nvPicPr>
        <p:blipFill>
          <a:blip r:embed="rId4"/>
          <a:stretch>
            <a:fillRect/>
          </a:stretch>
        </p:blipFill>
        <p:spPr>
          <a:xfrm>
            <a:off x="1600200" y="2834640"/>
            <a:ext cx="365760" cy="365760"/>
          </a:xfrm>
          <a:prstGeom prst="rect">
            <a:avLst/>
          </a:prstGeom>
        </p:spPr>
      </p:pic>
      <p:sp>
        <p:nvSpPr>
          <p:cNvPr id="11" name="Shape 7"/>
          <p:cNvSpPr/>
          <p:nvPr/>
        </p:nvSpPr>
        <p:spPr>
          <a:xfrm>
            <a:off x="2880360" y="2606040"/>
            <a:ext cx="822960" cy="822960"/>
          </a:xfrm>
          <a:prstGeom prst="ellipse">
            <a:avLst/>
          </a:prstGeom>
          <a:solidFill>
            <a:srgbClr val="E7F4EC"/>
          </a:solidFill>
          <a:ln/>
        </p:spPr>
      </p:sp>
      <p:pic>
        <p:nvPicPr>
          <p:cNvPr id="12" name="Image 2" descr="preencoded.png"/>
          <p:cNvPicPr>
            <a:picLocks noChangeAspect="1"/>
          </p:cNvPicPr>
          <p:nvPr/>
        </p:nvPicPr>
        <p:blipFill>
          <a:blip r:embed="rId5"/>
          <a:stretch>
            <a:fillRect/>
          </a:stretch>
        </p:blipFill>
        <p:spPr>
          <a:xfrm>
            <a:off x="3065526" y="2791206"/>
            <a:ext cx="452628" cy="452628"/>
          </a:xfrm>
          <a:prstGeom prst="rect">
            <a:avLst/>
          </a:prstGeom>
        </p:spPr>
      </p:pic>
      <p:sp>
        <p:nvSpPr>
          <p:cNvPr id="13" name="Shape 8"/>
          <p:cNvSpPr/>
          <p:nvPr/>
        </p:nvSpPr>
        <p:spPr>
          <a:xfrm>
            <a:off x="3429000" y="2331720"/>
            <a:ext cx="384048" cy="384048"/>
          </a:xfrm>
          <a:prstGeom prst="ellipse">
            <a:avLst/>
          </a:prstGeom>
          <a:solidFill>
            <a:srgbClr val="1E7B4D"/>
          </a:solidFill>
          <a:ln/>
        </p:spPr>
      </p:sp>
      <p:sp>
        <p:nvSpPr>
          <p:cNvPr id="14" name="Text 9"/>
          <p:cNvSpPr/>
          <p:nvPr/>
        </p:nvSpPr>
        <p:spPr>
          <a:xfrm>
            <a:off x="3429000"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0"/>
          <p:cNvSpPr/>
          <p:nvPr/>
        </p:nvSpPr>
        <p:spPr>
          <a:xfrm>
            <a:off x="2468880" y="3566160"/>
            <a:ext cx="1828800" cy="365760"/>
          </a:xfrm>
          <a:prstGeom prst="rect">
            <a:avLst/>
          </a:prstGeom>
          <a:noFill/>
          <a:ln/>
        </p:spPr>
        <p:txBody>
          <a:bodyPr wrap="square" lIns="0" tIns="0" rIns="0" bIns="0" rtlCol="0" anchor="ctr"/>
          <a:lstStyle/>
          <a:p>
            <a:pPr marL="0" indent="0" algn="ctr">
              <a:buNone/>
            </a:pPr>
            <a:r>
              <a:rPr lang="en-US" sz="1450" b="1" dirty="0">
                <a:solidFill>
                  <a:srgbClr val="1F2A24"/>
                </a:solidFill>
                <a:latin typeface="Calibri" pitchFamily="34" charset="0"/>
                <a:ea typeface="Calibri" pitchFamily="34" charset="-122"/>
                <a:cs typeface="Calibri" pitchFamily="34" charset="-120"/>
              </a:rPr>
              <a:t>Home → CF</a:t>
            </a:r>
            <a:endParaRPr lang="en-US" sz="1450" dirty="0"/>
          </a:p>
        </p:txBody>
      </p:sp>
      <p:sp>
        <p:nvSpPr>
          <p:cNvPr id="16" name="Text 11"/>
          <p:cNvSpPr/>
          <p:nvPr/>
        </p:nvSpPr>
        <p:spPr>
          <a:xfrm>
            <a:off x="2468880" y="3959352"/>
            <a:ext cx="1828800" cy="777240"/>
          </a:xfrm>
          <a:prstGeom prst="rect">
            <a:avLst/>
          </a:prstGeom>
          <a:noFill/>
          <a:ln/>
        </p:spPr>
        <p:txBody>
          <a:bodyPr wrap="square" lIns="0" tIns="0" rIns="0" bIns="0" rtlCol="0" anchor="ctr"/>
          <a:lstStyle/>
          <a:p>
            <a:pPr marL="0" indent="0" algn="ctr">
              <a:lnSpc>
                <a:spcPct val="115000"/>
              </a:lnSpc>
              <a:buNone/>
            </a:pPr>
            <a:r>
              <a:rPr lang="en-US" sz="1150" dirty="0">
                <a:solidFill>
                  <a:srgbClr val="6B7A72"/>
                </a:solidFill>
                <a:latin typeface="Calibri" pitchFamily="34" charset="0"/>
                <a:ea typeface="Calibri" pitchFamily="34" charset="-122"/>
                <a:cs typeface="Calibri" pitchFamily="34" charset="-120"/>
              </a:rPr>
              <a:t>Go to Home tab → Conditional Formatting.</a:t>
            </a:r>
            <a:endParaRPr lang="en-US" sz="1150" dirty="0"/>
          </a:p>
        </p:txBody>
      </p:sp>
      <p:pic>
        <p:nvPicPr>
          <p:cNvPr id="17" name="Image 3" descr="preencoded.png"/>
          <p:cNvPicPr>
            <a:picLocks noChangeAspect="1"/>
          </p:cNvPicPr>
          <p:nvPr/>
        </p:nvPicPr>
        <p:blipFill>
          <a:blip r:embed="rId4"/>
          <a:stretch>
            <a:fillRect/>
          </a:stretch>
        </p:blipFill>
        <p:spPr>
          <a:xfrm>
            <a:off x="3840480" y="2834640"/>
            <a:ext cx="365760" cy="365760"/>
          </a:xfrm>
          <a:prstGeom prst="rect">
            <a:avLst/>
          </a:prstGeom>
        </p:spPr>
      </p:pic>
      <p:sp>
        <p:nvSpPr>
          <p:cNvPr id="18" name="Shape 12"/>
          <p:cNvSpPr/>
          <p:nvPr/>
        </p:nvSpPr>
        <p:spPr>
          <a:xfrm>
            <a:off x="5120640" y="2606040"/>
            <a:ext cx="822960" cy="822960"/>
          </a:xfrm>
          <a:prstGeom prst="ellipse">
            <a:avLst/>
          </a:prstGeom>
          <a:solidFill>
            <a:srgbClr val="E7F4EC"/>
          </a:solidFill>
          <a:ln/>
        </p:spPr>
      </p:sp>
      <p:pic>
        <p:nvPicPr>
          <p:cNvPr id="19" name="Image 4" descr="preencoded.png"/>
          <p:cNvPicPr>
            <a:picLocks noChangeAspect="1"/>
          </p:cNvPicPr>
          <p:nvPr/>
        </p:nvPicPr>
        <p:blipFill>
          <a:blip r:embed="rId6"/>
          <a:stretch>
            <a:fillRect/>
          </a:stretch>
        </p:blipFill>
        <p:spPr>
          <a:xfrm>
            <a:off x="5305806" y="2791206"/>
            <a:ext cx="452628" cy="452628"/>
          </a:xfrm>
          <a:prstGeom prst="rect">
            <a:avLst/>
          </a:prstGeom>
        </p:spPr>
      </p:pic>
      <p:sp>
        <p:nvSpPr>
          <p:cNvPr id="20" name="Shape 13"/>
          <p:cNvSpPr/>
          <p:nvPr/>
        </p:nvSpPr>
        <p:spPr>
          <a:xfrm>
            <a:off x="5669280" y="2331720"/>
            <a:ext cx="384048" cy="384048"/>
          </a:xfrm>
          <a:prstGeom prst="ellipse">
            <a:avLst/>
          </a:prstGeom>
          <a:solidFill>
            <a:srgbClr val="1E7B4D"/>
          </a:solidFill>
          <a:ln/>
        </p:spPr>
      </p:sp>
      <p:sp>
        <p:nvSpPr>
          <p:cNvPr id="21" name="Text 14"/>
          <p:cNvSpPr/>
          <p:nvPr/>
        </p:nvSpPr>
        <p:spPr>
          <a:xfrm>
            <a:off x="5669280"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5"/>
          <p:cNvSpPr/>
          <p:nvPr/>
        </p:nvSpPr>
        <p:spPr>
          <a:xfrm>
            <a:off x="4709160" y="3566160"/>
            <a:ext cx="1828800" cy="365760"/>
          </a:xfrm>
          <a:prstGeom prst="rect">
            <a:avLst/>
          </a:prstGeom>
          <a:noFill/>
          <a:ln/>
        </p:spPr>
        <p:txBody>
          <a:bodyPr wrap="square" lIns="0" tIns="0" rIns="0" bIns="0" rtlCol="0" anchor="ctr"/>
          <a:lstStyle/>
          <a:p>
            <a:pPr marL="0" indent="0" algn="ctr">
              <a:buNone/>
            </a:pPr>
            <a:r>
              <a:rPr lang="en-US" sz="1450" b="1" dirty="0">
                <a:solidFill>
                  <a:srgbClr val="1F2A24"/>
                </a:solidFill>
                <a:latin typeface="Calibri" pitchFamily="34" charset="0"/>
                <a:ea typeface="Calibri" pitchFamily="34" charset="-122"/>
                <a:cs typeface="Calibri" pitchFamily="34" charset="-120"/>
              </a:rPr>
              <a:t>Choose Rule</a:t>
            </a:r>
            <a:endParaRPr lang="en-US" sz="1450" dirty="0"/>
          </a:p>
        </p:txBody>
      </p:sp>
      <p:sp>
        <p:nvSpPr>
          <p:cNvPr id="23" name="Text 16"/>
          <p:cNvSpPr/>
          <p:nvPr/>
        </p:nvSpPr>
        <p:spPr>
          <a:xfrm>
            <a:off x="4709160" y="3959352"/>
            <a:ext cx="1828800" cy="777240"/>
          </a:xfrm>
          <a:prstGeom prst="rect">
            <a:avLst/>
          </a:prstGeom>
          <a:noFill/>
          <a:ln/>
        </p:spPr>
        <p:txBody>
          <a:bodyPr wrap="square" lIns="0" tIns="0" rIns="0" bIns="0" rtlCol="0" anchor="ctr"/>
          <a:lstStyle/>
          <a:p>
            <a:pPr marL="0" indent="0" algn="ctr">
              <a:lnSpc>
                <a:spcPct val="115000"/>
              </a:lnSpc>
              <a:buNone/>
            </a:pPr>
            <a:r>
              <a:rPr lang="en-US" sz="1150" dirty="0">
                <a:solidFill>
                  <a:srgbClr val="6B7A72"/>
                </a:solidFill>
                <a:latin typeface="Calibri" pitchFamily="34" charset="0"/>
                <a:ea typeface="Calibri" pitchFamily="34" charset="-122"/>
                <a:cs typeface="Calibri" pitchFamily="34" charset="-120"/>
              </a:rPr>
              <a:t>Pick a preset or 'New Rule' for a formula.</a:t>
            </a:r>
            <a:endParaRPr lang="en-US" sz="1150" dirty="0"/>
          </a:p>
        </p:txBody>
      </p:sp>
      <p:pic>
        <p:nvPicPr>
          <p:cNvPr id="24" name="Image 5" descr="preencoded.png"/>
          <p:cNvPicPr>
            <a:picLocks noChangeAspect="1"/>
          </p:cNvPicPr>
          <p:nvPr/>
        </p:nvPicPr>
        <p:blipFill>
          <a:blip r:embed="rId4"/>
          <a:stretch>
            <a:fillRect/>
          </a:stretch>
        </p:blipFill>
        <p:spPr>
          <a:xfrm>
            <a:off x="6080760" y="2834640"/>
            <a:ext cx="365760" cy="365760"/>
          </a:xfrm>
          <a:prstGeom prst="rect">
            <a:avLst/>
          </a:prstGeom>
        </p:spPr>
      </p:pic>
      <p:sp>
        <p:nvSpPr>
          <p:cNvPr id="25" name="Shape 17"/>
          <p:cNvSpPr/>
          <p:nvPr/>
        </p:nvSpPr>
        <p:spPr>
          <a:xfrm>
            <a:off x="7360920" y="2606040"/>
            <a:ext cx="822960" cy="822960"/>
          </a:xfrm>
          <a:prstGeom prst="ellipse">
            <a:avLst/>
          </a:prstGeom>
          <a:solidFill>
            <a:srgbClr val="E7F4EC"/>
          </a:solidFill>
          <a:ln/>
        </p:spPr>
      </p:sp>
      <p:pic>
        <p:nvPicPr>
          <p:cNvPr id="26" name="Image 6" descr="preencoded.png"/>
          <p:cNvPicPr>
            <a:picLocks noChangeAspect="1"/>
          </p:cNvPicPr>
          <p:nvPr/>
        </p:nvPicPr>
        <p:blipFill>
          <a:blip r:embed="rId7"/>
          <a:stretch>
            <a:fillRect/>
          </a:stretch>
        </p:blipFill>
        <p:spPr>
          <a:xfrm>
            <a:off x="7546086" y="2791206"/>
            <a:ext cx="452628" cy="452628"/>
          </a:xfrm>
          <a:prstGeom prst="rect">
            <a:avLst/>
          </a:prstGeom>
        </p:spPr>
      </p:pic>
      <p:sp>
        <p:nvSpPr>
          <p:cNvPr id="27" name="Shape 18"/>
          <p:cNvSpPr/>
          <p:nvPr/>
        </p:nvSpPr>
        <p:spPr>
          <a:xfrm>
            <a:off x="7909560" y="2331720"/>
            <a:ext cx="384048" cy="384048"/>
          </a:xfrm>
          <a:prstGeom prst="ellipse">
            <a:avLst/>
          </a:prstGeom>
          <a:solidFill>
            <a:srgbClr val="1E7B4D"/>
          </a:solidFill>
          <a:ln/>
        </p:spPr>
      </p:sp>
      <p:sp>
        <p:nvSpPr>
          <p:cNvPr id="28" name="Text 19"/>
          <p:cNvSpPr/>
          <p:nvPr/>
        </p:nvSpPr>
        <p:spPr>
          <a:xfrm>
            <a:off x="7909560"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0"/>
          <p:cNvSpPr/>
          <p:nvPr/>
        </p:nvSpPr>
        <p:spPr>
          <a:xfrm>
            <a:off x="6949440" y="3566160"/>
            <a:ext cx="1828800" cy="365760"/>
          </a:xfrm>
          <a:prstGeom prst="rect">
            <a:avLst/>
          </a:prstGeom>
          <a:noFill/>
          <a:ln/>
        </p:spPr>
        <p:txBody>
          <a:bodyPr wrap="square" lIns="0" tIns="0" rIns="0" bIns="0" rtlCol="0" anchor="ctr"/>
          <a:lstStyle/>
          <a:p>
            <a:pPr marL="0" indent="0" algn="ctr">
              <a:buNone/>
            </a:pPr>
            <a:r>
              <a:rPr lang="en-US" sz="1450" b="1" dirty="0">
                <a:solidFill>
                  <a:srgbClr val="1F2A24"/>
                </a:solidFill>
                <a:latin typeface="Calibri" pitchFamily="34" charset="0"/>
                <a:ea typeface="Calibri" pitchFamily="34" charset="-122"/>
                <a:cs typeface="Calibri" pitchFamily="34" charset="-120"/>
              </a:rPr>
              <a:t>Set Format</a:t>
            </a:r>
            <a:endParaRPr lang="en-US" sz="1450" dirty="0"/>
          </a:p>
        </p:txBody>
      </p:sp>
      <p:sp>
        <p:nvSpPr>
          <p:cNvPr id="30" name="Text 21"/>
          <p:cNvSpPr/>
          <p:nvPr/>
        </p:nvSpPr>
        <p:spPr>
          <a:xfrm>
            <a:off x="6949440" y="3959352"/>
            <a:ext cx="1828800" cy="777240"/>
          </a:xfrm>
          <a:prstGeom prst="rect">
            <a:avLst/>
          </a:prstGeom>
          <a:noFill/>
          <a:ln/>
        </p:spPr>
        <p:txBody>
          <a:bodyPr wrap="square" lIns="0" tIns="0" rIns="0" bIns="0" rtlCol="0" anchor="ctr"/>
          <a:lstStyle/>
          <a:p>
            <a:pPr marL="0" indent="0" algn="ctr">
              <a:lnSpc>
                <a:spcPct val="115000"/>
              </a:lnSpc>
              <a:buNone/>
            </a:pPr>
            <a:r>
              <a:rPr lang="en-US" sz="1150" dirty="0">
                <a:solidFill>
                  <a:srgbClr val="6B7A72"/>
                </a:solidFill>
                <a:latin typeface="Calibri" pitchFamily="34" charset="0"/>
                <a:ea typeface="Calibri" pitchFamily="34" charset="-122"/>
                <a:cs typeface="Calibri" pitchFamily="34" charset="-120"/>
              </a:rPr>
              <a:t>Choose fill color, font, border style.</a:t>
            </a:r>
            <a:endParaRPr lang="en-US" sz="1150" dirty="0"/>
          </a:p>
        </p:txBody>
      </p:sp>
      <p:pic>
        <p:nvPicPr>
          <p:cNvPr id="31" name="Image 7" descr="preencoded.png"/>
          <p:cNvPicPr>
            <a:picLocks noChangeAspect="1"/>
          </p:cNvPicPr>
          <p:nvPr/>
        </p:nvPicPr>
        <p:blipFill>
          <a:blip r:embed="rId4"/>
          <a:stretch>
            <a:fillRect/>
          </a:stretch>
        </p:blipFill>
        <p:spPr>
          <a:xfrm>
            <a:off x="8321040" y="2834640"/>
            <a:ext cx="365760" cy="365760"/>
          </a:xfrm>
          <a:prstGeom prst="rect">
            <a:avLst/>
          </a:prstGeom>
        </p:spPr>
      </p:pic>
      <p:sp>
        <p:nvSpPr>
          <p:cNvPr id="32" name="Shape 22"/>
          <p:cNvSpPr/>
          <p:nvPr/>
        </p:nvSpPr>
        <p:spPr>
          <a:xfrm>
            <a:off x="9601200" y="2606040"/>
            <a:ext cx="822960" cy="822960"/>
          </a:xfrm>
          <a:prstGeom prst="ellipse">
            <a:avLst/>
          </a:prstGeom>
          <a:solidFill>
            <a:srgbClr val="E7F4EC"/>
          </a:solidFill>
          <a:ln/>
        </p:spPr>
      </p:sp>
      <p:pic>
        <p:nvPicPr>
          <p:cNvPr id="33" name="Image 8" descr="preencoded.png"/>
          <p:cNvPicPr>
            <a:picLocks noChangeAspect="1"/>
          </p:cNvPicPr>
          <p:nvPr/>
        </p:nvPicPr>
        <p:blipFill>
          <a:blip r:embed="rId8"/>
          <a:stretch>
            <a:fillRect/>
          </a:stretch>
        </p:blipFill>
        <p:spPr>
          <a:xfrm>
            <a:off x="9786366" y="2791206"/>
            <a:ext cx="452628" cy="452628"/>
          </a:xfrm>
          <a:prstGeom prst="rect">
            <a:avLst/>
          </a:prstGeom>
        </p:spPr>
      </p:pic>
      <p:sp>
        <p:nvSpPr>
          <p:cNvPr id="34" name="Shape 23"/>
          <p:cNvSpPr/>
          <p:nvPr/>
        </p:nvSpPr>
        <p:spPr>
          <a:xfrm>
            <a:off x="10149840" y="2331720"/>
            <a:ext cx="384048" cy="384048"/>
          </a:xfrm>
          <a:prstGeom prst="ellipse">
            <a:avLst/>
          </a:prstGeom>
          <a:solidFill>
            <a:srgbClr val="1E7B4D"/>
          </a:solidFill>
          <a:ln/>
        </p:spPr>
      </p:sp>
      <p:sp>
        <p:nvSpPr>
          <p:cNvPr id="35" name="Text 24"/>
          <p:cNvSpPr/>
          <p:nvPr/>
        </p:nvSpPr>
        <p:spPr>
          <a:xfrm>
            <a:off x="10149840"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6" name="Text 25"/>
          <p:cNvSpPr/>
          <p:nvPr/>
        </p:nvSpPr>
        <p:spPr>
          <a:xfrm>
            <a:off x="9189720" y="3566160"/>
            <a:ext cx="1828800" cy="365760"/>
          </a:xfrm>
          <a:prstGeom prst="rect">
            <a:avLst/>
          </a:prstGeom>
          <a:noFill/>
          <a:ln/>
        </p:spPr>
        <p:txBody>
          <a:bodyPr wrap="square" lIns="0" tIns="0" rIns="0" bIns="0" rtlCol="0" anchor="ctr"/>
          <a:lstStyle/>
          <a:p>
            <a:pPr marL="0" indent="0" algn="ctr">
              <a:buNone/>
            </a:pPr>
            <a:r>
              <a:rPr lang="en-US" sz="1450" b="1" dirty="0">
                <a:solidFill>
                  <a:srgbClr val="1F2A24"/>
                </a:solidFill>
                <a:latin typeface="Calibri" pitchFamily="34" charset="0"/>
                <a:ea typeface="Calibri" pitchFamily="34" charset="-122"/>
                <a:cs typeface="Calibri" pitchFamily="34" charset="-120"/>
              </a:rPr>
              <a:t>Manage Rules</a:t>
            </a:r>
            <a:endParaRPr lang="en-US" sz="1450" dirty="0"/>
          </a:p>
        </p:txBody>
      </p:sp>
      <p:sp>
        <p:nvSpPr>
          <p:cNvPr id="37" name="Text 26"/>
          <p:cNvSpPr/>
          <p:nvPr/>
        </p:nvSpPr>
        <p:spPr>
          <a:xfrm>
            <a:off x="9189720" y="3959352"/>
            <a:ext cx="1828800" cy="777240"/>
          </a:xfrm>
          <a:prstGeom prst="rect">
            <a:avLst/>
          </a:prstGeom>
          <a:noFill/>
          <a:ln/>
        </p:spPr>
        <p:txBody>
          <a:bodyPr wrap="square" lIns="0" tIns="0" rIns="0" bIns="0" rtlCol="0" anchor="ctr"/>
          <a:lstStyle/>
          <a:p>
            <a:pPr marL="0" indent="0" algn="ctr">
              <a:lnSpc>
                <a:spcPct val="115000"/>
              </a:lnSpc>
              <a:buNone/>
            </a:pPr>
            <a:r>
              <a:rPr lang="en-US" sz="1150" dirty="0">
                <a:solidFill>
                  <a:srgbClr val="6B7A72"/>
                </a:solidFill>
                <a:latin typeface="Calibri" pitchFamily="34" charset="0"/>
                <a:ea typeface="Calibri" pitchFamily="34" charset="-122"/>
                <a:cs typeface="Calibri" pitchFamily="34" charset="-120"/>
              </a:rPr>
              <a:t>Edit priority &amp; scope via Manage Rules.</a:t>
            </a:r>
            <a:endParaRPr lang="en-US" sz="1150" dirty="0"/>
          </a:p>
        </p:txBody>
      </p:sp>
      <p:sp>
        <p:nvSpPr>
          <p:cNvPr id="38" name="Shape 27"/>
          <p:cNvSpPr/>
          <p:nvPr/>
        </p:nvSpPr>
        <p:spPr>
          <a:xfrm>
            <a:off x="640080" y="5074920"/>
            <a:ext cx="10881360" cy="1234440"/>
          </a:xfrm>
          <a:prstGeom prst="roundRect">
            <a:avLst>
              <a:gd name="adj" fmla="val 5926"/>
            </a:avLst>
          </a:prstGeom>
          <a:solidFill>
            <a:srgbClr val="1E7B4D"/>
          </a:solidFill>
          <a:ln/>
        </p:spPr>
      </p:sp>
      <p:sp>
        <p:nvSpPr>
          <p:cNvPr id="39" name="Shape 28"/>
          <p:cNvSpPr/>
          <p:nvPr/>
        </p:nvSpPr>
        <p:spPr>
          <a:xfrm>
            <a:off x="868680" y="5257800"/>
            <a:ext cx="502920" cy="502920"/>
          </a:xfrm>
          <a:prstGeom prst="ellipse">
            <a:avLst/>
          </a:prstGeom>
          <a:solidFill>
            <a:srgbClr val="5FAE85"/>
          </a:solidFill>
          <a:ln/>
        </p:spPr>
      </p:sp>
      <p:pic>
        <p:nvPicPr>
          <p:cNvPr id="40" name="Image 9" descr="preencoded.png"/>
          <p:cNvPicPr>
            <a:picLocks noChangeAspect="1"/>
          </p:cNvPicPr>
          <p:nvPr/>
        </p:nvPicPr>
        <p:blipFill>
          <a:blip r:embed="rId9"/>
          <a:stretch>
            <a:fillRect/>
          </a:stretch>
        </p:blipFill>
        <p:spPr>
          <a:xfrm>
            <a:off x="969264" y="5358384"/>
            <a:ext cx="301752" cy="301752"/>
          </a:xfrm>
          <a:prstGeom prst="rect">
            <a:avLst/>
          </a:prstGeom>
        </p:spPr>
      </p:pic>
      <p:sp>
        <p:nvSpPr>
          <p:cNvPr id="41" name="Text 29"/>
          <p:cNvSpPr/>
          <p:nvPr/>
        </p:nvSpPr>
        <p:spPr>
          <a:xfrm>
            <a:off x="1554480" y="5257800"/>
            <a:ext cx="365760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Worked Example</a:t>
            </a:r>
            <a:endParaRPr lang="en-US" sz="1400" dirty="0"/>
          </a:p>
        </p:txBody>
      </p:sp>
      <p:sp>
        <p:nvSpPr>
          <p:cNvPr id="42" name="Text 30"/>
          <p:cNvSpPr/>
          <p:nvPr/>
        </p:nvSpPr>
        <p:spPr>
          <a:xfrm>
            <a:off x="1554480" y="5577840"/>
            <a:ext cx="9784080" cy="640080"/>
          </a:xfrm>
          <a:prstGeom prst="rect">
            <a:avLst/>
          </a:prstGeom>
          <a:noFill/>
          <a:ln/>
        </p:spPr>
        <p:txBody>
          <a:bodyPr wrap="square" lIns="0" tIns="0" rIns="0" bIns="0" rtlCol="0" anchor="ctr"/>
          <a:lstStyle/>
          <a:p>
            <a:pPr marL="0" indent="0">
              <a:lnSpc>
                <a:spcPct val="120000"/>
              </a:lnSpc>
              <a:buNone/>
            </a:pPr>
            <a:r>
              <a:rPr lang="en-US" sz="1300" dirty="0">
                <a:solidFill>
                  <a:srgbClr val="E7F4EC"/>
                </a:solidFill>
                <a:latin typeface="Calibri" pitchFamily="34" charset="0"/>
                <a:ea typeface="Calibri" pitchFamily="34" charset="-122"/>
                <a:cs typeface="Calibri" pitchFamily="34" charset="-120"/>
              </a:rPr>
              <a:t>Select B2:B50 → Home → Conditional Formatting → New Rule → Use a formula → =B2&gt;AVERAGE($B$2:$B$50) → set green fill → OK.</a:t>
            </a:r>
            <a:endParaRPr lang="en-US" sz="1300" dirty="0"/>
          </a:p>
        </p:txBody>
      </p:sp>
      <p:sp>
        <p:nvSpPr>
          <p:cNvPr id="43" name="Text 31"/>
          <p:cNvSpPr/>
          <p:nvPr/>
        </p:nvSpPr>
        <p:spPr>
          <a:xfrm>
            <a:off x="11521440" y="6446520"/>
            <a:ext cx="457200" cy="274320"/>
          </a:xfrm>
          <a:prstGeom prst="rect">
            <a:avLst/>
          </a:prstGeom>
          <a:noFill/>
          <a:ln/>
        </p:spPr>
        <p:txBody>
          <a:bodyPr wrap="square" lIns="0" tIns="0" rIns="0" bIns="0" rtlCol="0" anchor="ctr"/>
          <a:lstStyle/>
          <a:p>
            <a:pPr marL="0" indent="0" algn="r">
              <a:buNone/>
            </a:pPr>
            <a:r>
              <a:rPr lang="en-US" sz="1000" dirty="0">
                <a:solidFill>
                  <a:srgbClr val="6B7A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1E7B4D"/>
                </a:solidFill>
                <a:latin typeface="Calibri" pitchFamily="34" charset="0"/>
                <a:ea typeface="Calibri" pitchFamily="34" charset="-122"/>
                <a:cs typeface="Calibri" pitchFamily="34" charset="-120"/>
              </a:rPr>
              <a:t>COMPARISON</a:t>
            </a:r>
            <a:endParaRPr lang="en-US" sz="12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marL="0" indent="0">
              <a:buNone/>
            </a:pPr>
            <a:r>
              <a:rPr lang="en-US" sz="3200" b="1" dirty="0">
                <a:solidFill>
                  <a:srgbClr val="1F2A24"/>
                </a:solidFill>
                <a:latin typeface="Cambria" pitchFamily="34" charset="0"/>
                <a:ea typeface="Cambria" pitchFamily="34" charset="-122"/>
                <a:cs typeface="Cambria" pitchFamily="34" charset="-120"/>
              </a:rPr>
              <a:t>Data Validation vs Conditional Formatting</a:t>
            </a:r>
            <a:endParaRPr lang="en-US" sz="3200" dirty="0"/>
          </a:p>
        </p:txBody>
      </p:sp>
      <p:sp>
        <p:nvSpPr>
          <p:cNvPr id="4" name="Shape 2"/>
          <p:cNvSpPr/>
          <p:nvPr/>
        </p:nvSpPr>
        <p:spPr>
          <a:xfrm>
            <a:off x="548640" y="1920240"/>
            <a:ext cx="5212080" cy="4480560"/>
          </a:xfrm>
          <a:prstGeom prst="roundRect">
            <a:avLst>
              <a:gd name="adj" fmla="val 1633"/>
            </a:avLst>
          </a:prstGeom>
          <a:solidFill>
            <a:srgbClr val="E7F4EC"/>
          </a:solidFill>
          <a:ln/>
          <a:effectLst>
            <a:outerShdw blurRad="76200" dist="25400" dir="2700000" algn="bl" rotWithShape="0">
              <a:srgbClr val="1F2A24">
                <a:alpha val="12000"/>
              </a:srgbClr>
            </a:outerShdw>
          </a:effectLst>
        </p:spPr>
      </p:sp>
      <p:sp>
        <p:nvSpPr>
          <p:cNvPr id="5" name="Shape 3"/>
          <p:cNvSpPr/>
          <p:nvPr/>
        </p:nvSpPr>
        <p:spPr>
          <a:xfrm>
            <a:off x="822960" y="2194560"/>
            <a:ext cx="594360" cy="594360"/>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941832" y="2313432"/>
            <a:ext cx="356616" cy="356616"/>
          </a:xfrm>
          <a:prstGeom prst="rect">
            <a:avLst/>
          </a:prstGeom>
        </p:spPr>
      </p:pic>
      <p:sp>
        <p:nvSpPr>
          <p:cNvPr id="7" name="Text 4"/>
          <p:cNvSpPr/>
          <p:nvPr/>
        </p:nvSpPr>
        <p:spPr>
          <a:xfrm>
            <a:off x="1554480" y="2240280"/>
            <a:ext cx="4023360" cy="502920"/>
          </a:xfrm>
          <a:prstGeom prst="rect">
            <a:avLst/>
          </a:prstGeom>
          <a:noFill/>
          <a:ln/>
        </p:spPr>
        <p:txBody>
          <a:bodyPr wrap="square" lIns="0" tIns="0" rIns="0" bIns="0" rtlCol="0" anchor="ctr"/>
          <a:lstStyle/>
          <a:p>
            <a:pPr marL="0" indent="0">
              <a:buNone/>
            </a:pPr>
            <a:r>
              <a:rPr lang="en-US" sz="1900" b="1" dirty="0">
                <a:solidFill>
                  <a:srgbClr val="1F2A24"/>
                </a:solidFill>
                <a:latin typeface="Calibri" pitchFamily="34" charset="0"/>
                <a:ea typeface="Calibri" pitchFamily="34" charset="-122"/>
                <a:cs typeface="Calibri" pitchFamily="34" charset="-120"/>
              </a:rPr>
              <a:t>Data Validation</a:t>
            </a:r>
            <a:endParaRPr lang="en-US" sz="1900" dirty="0"/>
          </a:p>
        </p:txBody>
      </p:sp>
      <p:sp>
        <p:nvSpPr>
          <p:cNvPr id="8" name="Shape 5"/>
          <p:cNvSpPr/>
          <p:nvPr/>
        </p:nvSpPr>
        <p:spPr>
          <a:xfrm>
            <a:off x="822960" y="3017520"/>
            <a:ext cx="274320" cy="274320"/>
          </a:xfrm>
          <a:prstGeom prst="ellipse">
            <a:avLst/>
          </a:prstGeom>
          <a:solidFill>
            <a:srgbClr val="FFFFFF"/>
          </a:solidFill>
          <a:ln/>
        </p:spPr>
      </p:sp>
      <p:pic>
        <p:nvPicPr>
          <p:cNvPr id="9" name="Image 1" descr="preencoded.png"/>
          <p:cNvPicPr>
            <a:picLocks noChangeAspect="1"/>
          </p:cNvPicPr>
          <p:nvPr/>
        </p:nvPicPr>
        <p:blipFill>
          <a:blip r:embed="rId4"/>
          <a:stretch>
            <a:fillRect/>
          </a:stretch>
        </p:blipFill>
        <p:spPr>
          <a:xfrm>
            <a:off x="877824" y="3072384"/>
            <a:ext cx="164592" cy="164592"/>
          </a:xfrm>
          <a:prstGeom prst="rect">
            <a:avLst/>
          </a:prstGeom>
        </p:spPr>
      </p:pic>
      <p:sp>
        <p:nvSpPr>
          <p:cNvPr id="10" name="Text 6"/>
          <p:cNvSpPr/>
          <p:nvPr/>
        </p:nvSpPr>
        <p:spPr>
          <a:xfrm>
            <a:off x="1234440" y="2990088"/>
            <a:ext cx="4297680" cy="347472"/>
          </a:xfrm>
          <a:prstGeom prst="rect">
            <a:avLst/>
          </a:prstGeom>
          <a:noFill/>
          <a:ln/>
        </p:spPr>
        <p:txBody>
          <a:bodyPr wrap="square" lIns="0" tIns="0" rIns="0" bIns="0" rtlCol="0" anchor="ctr"/>
          <a:lstStyle/>
          <a:p>
            <a:pPr marL="0" indent="0">
              <a:buNone/>
            </a:pPr>
            <a:r>
              <a:rPr lang="en-US" sz="1400" dirty="0">
                <a:solidFill>
                  <a:srgbClr val="1F2A24"/>
                </a:solidFill>
                <a:latin typeface="Calibri" pitchFamily="34" charset="0"/>
                <a:ea typeface="Calibri" pitchFamily="34" charset="-122"/>
                <a:cs typeface="Calibri" pitchFamily="34" charset="-120"/>
              </a:rPr>
              <a:t>Controls INPUT</a:t>
            </a:r>
            <a:endParaRPr lang="en-US" sz="1400" dirty="0"/>
          </a:p>
        </p:txBody>
      </p:sp>
      <p:sp>
        <p:nvSpPr>
          <p:cNvPr id="11" name="Shape 7"/>
          <p:cNvSpPr/>
          <p:nvPr/>
        </p:nvSpPr>
        <p:spPr>
          <a:xfrm>
            <a:off x="822960" y="3566160"/>
            <a:ext cx="274320" cy="274320"/>
          </a:xfrm>
          <a:prstGeom prst="ellipse">
            <a:avLst/>
          </a:prstGeom>
          <a:solidFill>
            <a:srgbClr val="FFFFFF"/>
          </a:solidFill>
          <a:ln/>
        </p:spPr>
      </p:sp>
      <p:pic>
        <p:nvPicPr>
          <p:cNvPr id="12" name="Image 2" descr="preencoded.png"/>
          <p:cNvPicPr>
            <a:picLocks noChangeAspect="1"/>
          </p:cNvPicPr>
          <p:nvPr/>
        </p:nvPicPr>
        <p:blipFill>
          <a:blip r:embed="rId4"/>
          <a:stretch>
            <a:fillRect/>
          </a:stretch>
        </p:blipFill>
        <p:spPr>
          <a:xfrm>
            <a:off x="877824" y="3621024"/>
            <a:ext cx="164592" cy="164592"/>
          </a:xfrm>
          <a:prstGeom prst="rect">
            <a:avLst/>
          </a:prstGeom>
        </p:spPr>
      </p:pic>
      <p:sp>
        <p:nvSpPr>
          <p:cNvPr id="13" name="Text 8"/>
          <p:cNvSpPr/>
          <p:nvPr/>
        </p:nvSpPr>
        <p:spPr>
          <a:xfrm>
            <a:off x="1234440" y="3538728"/>
            <a:ext cx="4297680" cy="347472"/>
          </a:xfrm>
          <a:prstGeom prst="rect">
            <a:avLst/>
          </a:prstGeom>
          <a:noFill/>
          <a:ln/>
        </p:spPr>
        <p:txBody>
          <a:bodyPr wrap="square" lIns="0" tIns="0" rIns="0" bIns="0" rtlCol="0" anchor="ctr"/>
          <a:lstStyle/>
          <a:p>
            <a:pPr marL="0" indent="0">
              <a:buNone/>
            </a:pPr>
            <a:r>
              <a:rPr lang="en-US" sz="1400" dirty="0">
                <a:solidFill>
                  <a:srgbClr val="1F2A24"/>
                </a:solidFill>
                <a:latin typeface="Calibri" pitchFamily="34" charset="0"/>
                <a:ea typeface="Calibri" pitchFamily="34" charset="-122"/>
                <a:cs typeface="Calibri" pitchFamily="34" charset="-120"/>
              </a:rPr>
              <a:t>Prevents bad data entry</a:t>
            </a:r>
            <a:endParaRPr lang="en-US" sz="1400" dirty="0"/>
          </a:p>
        </p:txBody>
      </p:sp>
      <p:sp>
        <p:nvSpPr>
          <p:cNvPr id="14" name="Shape 9"/>
          <p:cNvSpPr/>
          <p:nvPr/>
        </p:nvSpPr>
        <p:spPr>
          <a:xfrm>
            <a:off x="822960" y="4114800"/>
            <a:ext cx="274320" cy="274320"/>
          </a:xfrm>
          <a:prstGeom prst="ellipse">
            <a:avLst/>
          </a:prstGeom>
          <a:solidFill>
            <a:srgbClr val="FFFFFF"/>
          </a:solidFill>
          <a:ln/>
        </p:spPr>
      </p:sp>
      <p:pic>
        <p:nvPicPr>
          <p:cNvPr id="15" name="Image 3" descr="preencoded.png"/>
          <p:cNvPicPr>
            <a:picLocks noChangeAspect="1"/>
          </p:cNvPicPr>
          <p:nvPr/>
        </p:nvPicPr>
        <p:blipFill>
          <a:blip r:embed="rId4"/>
          <a:stretch>
            <a:fillRect/>
          </a:stretch>
        </p:blipFill>
        <p:spPr>
          <a:xfrm>
            <a:off x="877824" y="4169664"/>
            <a:ext cx="164592" cy="164592"/>
          </a:xfrm>
          <a:prstGeom prst="rect">
            <a:avLst/>
          </a:prstGeom>
        </p:spPr>
      </p:pic>
      <p:sp>
        <p:nvSpPr>
          <p:cNvPr id="16" name="Text 10"/>
          <p:cNvSpPr/>
          <p:nvPr/>
        </p:nvSpPr>
        <p:spPr>
          <a:xfrm>
            <a:off x="1234440" y="4087368"/>
            <a:ext cx="4297680" cy="347472"/>
          </a:xfrm>
          <a:prstGeom prst="rect">
            <a:avLst/>
          </a:prstGeom>
          <a:noFill/>
          <a:ln/>
        </p:spPr>
        <p:txBody>
          <a:bodyPr wrap="square" lIns="0" tIns="0" rIns="0" bIns="0" rtlCol="0" anchor="ctr"/>
          <a:lstStyle/>
          <a:p>
            <a:pPr marL="0" indent="0">
              <a:buNone/>
            </a:pPr>
            <a:r>
              <a:rPr lang="en-US" sz="1400" dirty="0">
                <a:solidFill>
                  <a:srgbClr val="1F2A24"/>
                </a:solidFill>
                <a:latin typeface="Calibri" pitchFamily="34" charset="0"/>
                <a:ea typeface="Calibri" pitchFamily="34" charset="-122"/>
                <a:cs typeface="Calibri" pitchFamily="34" charset="-120"/>
              </a:rPr>
              <a:t>Shows dropdown lists</a:t>
            </a:r>
            <a:endParaRPr lang="en-US" sz="1400" dirty="0"/>
          </a:p>
        </p:txBody>
      </p:sp>
      <p:sp>
        <p:nvSpPr>
          <p:cNvPr id="17" name="Shape 11"/>
          <p:cNvSpPr/>
          <p:nvPr/>
        </p:nvSpPr>
        <p:spPr>
          <a:xfrm>
            <a:off x="822960" y="4663440"/>
            <a:ext cx="274320" cy="274320"/>
          </a:xfrm>
          <a:prstGeom prst="ellipse">
            <a:avLst/>
          </a:prstGeom>
          <a:solidFill>
            <a:srgbClr val="FFFFFF"/>
          </a:solidFill>
          <a:ln/>
        </p:spPr>
      </p:sp>
      <p:pic>
        <p:nvPicPr>
          <p:cNvPr id="18" name="Image 4" descr="preencoded.png"/>
          <p:cNvPicPr>
            <a:picLocks noChangeAspect="1"/>
          </p:cNvPicPr>
          <p:nvPr/>
        </p:nvPicPr>
        <p:blipFill>
          <a:blip r:embed="rId4"/>
          <a:stretch>
            <a:fillRect/>
          </a:stretch>
        </p:blipFill>
        <p:spPr>
          <a:xfrm>
            <a:off x="877824" y="4718304"/>
            <a:ext cx="164592" cy="164592"/>
          </a:xfrm>
          <a:prstGeom prst="rect">
            <a:avLst/>
          </a:prstGeom>
        </p:spPr>
      </p:pic>
      <p:sp>
        <p:nvSpPr>
          <p:cNvPr id="19" name="Text 12"/>
          <p:cNvSpPr/>
          <p:nvPr/>
        </p:nvSpPr>
        <p:spPr>
          <a:xfrm>
            <a:off x="1234440" y="4636008"/>
            <a:ext cx="4297680" cy="347472"/>
          </a:xfrm>
          <a:prstGeom prst="rect">
            <a:avLst/>
          </a:prstGeom>
          <a:noFill/>
          <a:ln/>
        </p:spPr>
        <p:txBody>
          <a:bodyPr wrap="square" lIns="0" tIns="0" rIns="0" bIns="0" rtlCol="0" anchor="ctr"/>
          <a:lstStyle/>
          <a:p>
            <a:pPr marL="0" indent="0">
              <a:buNone/>
            </a:pPr>
            <a:r>
              <a:rPr lang="en-US" sz="1400" dirty="0">
                <a:solidFill>
                  <a:srgbClr val="1F2A24"/>
                </a:solidFill>
                <a:latin typeface="Calibri" pitchFamily="34" charset="0"/>
                <a:ea typeface="Calibri" pitchFamily="34" charset="-122"/>
                <a:cs typeface="Calibri" pitchFamily="34" charset="-120"/>
              </a:rPr>
              <a:t>Triggers error alerts</a:t>
            </a:r>
            <a:endParaRPr lang="en-US" sz="1400" dirty="0"/>
          </a:p>
        </p:txBody>
      </p:sp>
      <p:sp>
        <p:nvSpPr>
          <p:cNvPr id="20" name="Shape 13"/>
          <p:cNvSpPr/>
          <p:nvPr/>
        </p:nvSpPr>
        <p:spPr>
          <a:xfrm>
            <a:off x="822960" y="5212080"/>
            <a:ext cx="274320" cy="274320"/>
          </a:xfrm>
          <a:prstGeom prst="ellipse">
            <a:avLst/>
          </a:prstGeom>
          <a:solidFill>
            <a:srgbClr val="FFFFFF"/>
          </a:solidFill>
          <a:ln/>
        </p:spPr>
      </p:sp>
      <p:pic>
        <p:nvPicPr>
          <p:cNvPr id="21" name="Image 5" descr="preencoded.png"/>
          <p:cNvPicPr>
            <a:picLocks noChangeAspect="1"/>
          </p:cNvPicPr>
          <p:nvPr/>
        </p:nvPicPr>
        <p:blipFill>
          <a:blip r:embed="rId4"/>
          <a:stretch>
            <a:fillRect/>
          </a:stretch>
        </p:blipFill>
        <p:spPr>
          <a:xfrm>
            <a:off x="877824" y="5266944"/>
            <a:ext cx="164592" cy="164592"/>
          </a:xfrm>
          <a:prstGeom prst="rect">
            <a:avLst/>
          </a:prstGeom>
        </p:spPr>
      </p:pic>
      <p:sp>
        <p:nvSpPr>
          <p:cNvPr id="22" name="Text 14"/>
          <p:cNvSpPr/>
          <p:nvPr/>
        </p:nvSpPr>
        <p:spPr>
          <a:xfrm>
            <a:off x="1234440" y="5184648"/>
            <a:ext cx="4297680" cy="347472"/>
          </a:xfrm>
          <a:prstGeom prst="rect">
            <a:avLst/>
          </a:prstGeom>
          <a:noFill/>
          <a:ln/>
        </p:spPr>
        <p:txBody>
          <a:bodyPr wrap="square" lIns="0" tIns="0" rIns="0" bIns="0" rtlCol="0" anchor="ctr"/>
          <a:lstStyle/>
          <a:p>
            <a:pPr marL="0" indent="0">
              <a:buNone/>
            </a:pPr>
            <a:r>
              <a:rPr lang="en-US" sz="1400" dirty="0">
                <a:solidFill>
                  <a:srgbClr val="1F2A24"/>
                </a:solidFill>
                <a:latin typeface="Calibri" pitchFamily="34" charset="0"/>
                <a:ea typeface="Calibri" pitchFamily="34" charset="-122"/>
                <a:cs typeface="Calibri" pitchFamily="34" charset="-120"/>
              </a:rPr>
              <a:t>Applied before entry</a:t>
            </a:r>
            <a:endParaRPr lang="en-US" sz="1400" dirty="0"/>
          </a:p>
        </p:txBody>
      </p:sp>
      <p:sp>
        <p:nvSpPr>
          <p:cNvPr id="23" name="Shape 15"/>
          <p:cNvSpPr/>
          <p:nvPr/>
        </p:nvSpPr>
        <p:spPr>
          <a:xfrm>
            <a:off x="822960" y="5760720"/>
            <a:ext cx="274320" cy="274320"/>
          </a:xfrm>
          <a:prstGeom prst="ellipse">
            <a:avLst/>
          </a:prstGeom>
          <a:solidFill>
            <a:srgbClr val="FFFFFF"/>
          </a:solidFill>
          <a:ln/>
        </p:spPr>
      </p:sp>
      <p:pic>
        <p:nvPicPr>
          <p:cNvPr id="24" name="Image 6" descr="preencoded.png"/>
          <p:cNvPicPr>
            <a:picLocks noChangeAspect="1"/>
          </p:cNvPicPr>
          <p:nvPr/>
        </p:nvPicPr>
        <p:blipFill>
          <a:blip r:embed="rId4"/>
          <a:stretch>
            <a:fillRect/>
          </a:stretch>
        </p:blipFill>
        <p:spPr>
          <a:xfrm>
            <a:off x="877824" y="5815584"/>
            <a:ext cx="164592" cy="164592"/>
          </a:xfrm>
          <a:prstGeom prst="rect">
            <a:avLst/>
          </a:prstGeom>
        </p:spPr>
      </p:pic>
      <p:sp>
        <p:nvSpPr>
          <p:cNvPr id="25" name="Text 16"/>
          <p:cNvSpPr/>
          <p:nvPr/>
        </p:nvSpPr>
        <p:spPr>
          <a:xfrm>
            <a:off x="1234440" y="5733288"/>
            <a:ext cx="4297680" cy="347472"/>
          </a:xfrm>
          <a:prstGeom prst="rect">
            <a:avLst/>
          </a:prstGeom>
          <a:noFill/>
          <a:ln/>
        </p:spPr>
        <p:txBody>
          <a:bodyPr wrap="square" lIns="0" tIns="0" rIns="0" bIns="0" rtlCol="0" anchor="ctr"/>
          <a:lstStyle/>
          <a:p>
            <a:pPr marL="0" indent="0">
              <a:buNone/>
            </a:pPr>
            <a:r>
              <a:rPr lang="en-US" sz="1400" dirty="0">
                <a:solidFill>
                  <a:srgbClr val="1F2A24"/>
                </a:solidFill>
                <a:latin typeface="Calibri" pitchFamily="34" charset="0"/>
                <a:ea typeface="Calibri" pitchFamily="34" charset="-122"/>
                <a:cs typeface="Calibri" pitchFamily="34" charset="-120"/>
              </a:rPr>
              <a:t>Found in: Data tab</a:t>
            </a:r>
            <a:endParaRPr lang="en-US" sz="1400" dirty="0"/>
          </a:p>
        </p:txBody>
      </p:sp>
      <p:sp>
        <p:nvSpPr>
          <p:cNvPr id="26" name="Shape 17"/>
          <p:cNvSpPr/>
          <p:nvPr/>
        </p:nvSpPr>
        <p:spPr>
          <a:xfrm>
            <a:off x="6035040" y="1920240"/>
            <a:ext cx="5212080" cy="4480560"/>
          </a:xfrm>
          <a:prstGeom prst="roundRect">
            <a:avLst>
              <a:gd name="adj" fmla="val 1633"/>
            </a:avLst>
          </a:prstGeom>
          <a:solidFill>
            <a:srgbClr val="1E7B4D"/>
          </a:solidFill>
          <a:ln/>
          <a:effectLst>
            <a:outerShdw blurRad="76200" dist="25400" dir="2700000" algn="bl" rotWithShape="0">
              <a:srgbClr val="1F2A24">
                <a:alpha val="12000"/>
              </a:srgbClr>
            </a:outerShdw>
          </a:effectLst>
        </p:spPr>
      </p:sp>
      <p:sp>
        <p:nvSpPr>
          <p:cNvPr id="27" name="Shape 18"/>
          <p:cNvSpPr/>
          <p:nvPr/>
        </p:nvSpPr>
        <p:spPr>
          <a:xfrm>
            <a:off x="6309360" y="2194560"/>
            <a:ext cx="594360" cy="594360"/>
          </a:xfrm>
          <a:prstGeom prst="ellipse">
            <a:avLst/>
          </a:prstGeom>
          <a:solidFill>
            <a:srgbClr val="5FAE85"/>
          </a:solidFill>
          <a:ln/>
        </p:spPr>
      </p:sp>
      <p:pic>
        <p:nvPicPr>
          <p:cNvPr id="28" name="Image 7" descr="preencoded.png"/>
          <p:cNvPicPr>
            <a:picLocks noChangeAspect="1"/>
          </p:cNvPicPr>
          <p:nvPr/>
        </p:nvPicPr>
        <p:blipFill>
          <a:blip r:embed="rId5"/>
          <a:stretch>
            <a:fillRect/>
          </a:stretch>
        </p:blipFill>
        <p:spPr>
          <a:xfrm>
            <a:off x="6428232" y="2313432"/>
            <a:ext cx="356616" cy="356616"/>
          </a:xfrm>
          <a:prstGeom prst="rect">
            <a:avLst/>
          </a:prstGeom>
        </p:spPr>
      </p:pic>
      <p:sp>
        <p:nvSpPr>
          <p:cNvPr id="29" name="Text 19"/>
          <p:cNvSpPr/>
          <p:nvPr/>
        </p:nvSpPr>
        <p:spPr>
          <a:xfrm>
            <a:off x="7040880" y="2240280"/>
            <a:ext cx="4023360" cy="50292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Conditional Formatting</a:t>
            </a:r>
            <a:endParaRPr lang="en-US" sz="1900" dirty="0"/>
          </a:p>
        </p:txBody>
      </p:sp>
      <p:sp>
        <p:nvSpPr>
          <p:cNvPr id="30" name="Shape 20"/>
          <p:cNvSpPr/>
          <p:nvPr/>
        </p:nvSpPr>
        <p:spPr>
          <a:xfrm>
            <a:off x="6309360" y="3017520"/>
            <a:ext cx="274320" cy="274320"/>
          </a:xfrm>
          <a:prstGeom prst="ellipse">
            <a:avLst/>
          </a:prstGeom>
          <a:solidFill>
            <a:srgbClr val="5FAE85"/>
          </a:solidFill>
          <a:ln/>
        </p:spPr>
      </p:sp>
      <p:pic>
        <p:nvPicPr>
          <p:cNvPr id="31" name="Image 8" descr="preencoded.png"/>
          <p:cNvPicPr>
            <a:picLocks noChangeAspect="1"/>
          </p:cNvPicPr>
          <p:nvPr/>
        </p:nvPicPr>
        <p:blipFill>
          <a:blip r:embed="rId6"/>
          <a:stretch>
            <a:fillRect/>
          </a:stretch>
        </p:blipFill>
        <p:spPr>
          <a:xfrm>
            <a:off x="6364224" y="3072384"/>
            <a:ext cx="164592" cy="164592"/>
          </a:xfrm>
          <a:prstGeom prst="rect">
            <a:avLst/>
          </a:prstGeom>
        </p:spPr>
      </p:pic>
      <p:sp>
        <p:nvSpPr>
          <p:cNvPr id="32" name="Text 21"/>
          <p:cNvSpPr/>
          <p:nvPr/>
        </p:nvSpPr>
        <p:spPr>
          <a:xfrm>
            <a:off x="6720840" y="2990088"/>
            <a:ext cx="429768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Controls APPEARANCE</a:t>
            </a:r>
            <a:endParaRPr lang="en-US" sz="1400" dirty="0"/>
          </a:p>
        </p:txBody>
      </p:sp>
      <p:sp>
        <p:nvSpPr>
          <p:cNvPr id="33" name="Shape 22"/>
          <p:cNvSpPr/>
          <p:nvPr/>
        </p:nvSpPr>
        <p:spPr>
          <a:xfrm>
            <a:off x="6309360" y="3566160"/>
            <a:ext cx="274320" cy="274320"/>
          </a:xfrm>
          <a:prstGeom prst="ellipse">
            <a:avLst/>
          </a:prstGeom>
          <a:solidFill>
            <a:srgbClr val="5FAE85"/>
          </a:solidFill>
          <a:ln/>
        </p:spPr>
      </p:sp>
      <p:pic>
        <p:nvPicPr>
          <p:cNvPr id="34" name="Image 9" descr="preencoded.png"/>
          <p:cNvPicPr>
            <a:picLocks noChangeAspect="1"/>
          </p:cNvPicPr>
          <p:nvPr/>
        </p:nvPicPr>
        <p:blipFill>
          <a:blip r:embed="rId6"/>
          <a:stretch>
            <a:fillRect/>
          </a:stretch>
        </p:blipFill>
        <p:spPr>
          <a:xfrm>
            <a:off x="6364224" y="3621024"/>
            <a:ext cx="164592" cy="164592"/>
          </a:xfrm>
          <a:prstGeom prst="rect">
            <a:avLst/>
          </a:prstGeom>
        </p:spPr>
      </p:pic>
      <p:sp>
        <p:nvSpPr>
          <p:cNvPr id="35" name="Text 23"/>
          <p:cNvSpPr/>
          <p:nvPr/>
        </p:nvSpPr>
        <p:spPr>
          <a:xfrm>
            <a:off x="6720840" y="3538728"/>
            <a:ext cx="429768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Highlights existing data</a:t>
            </a:r>
            <a:endParaRPr lang="en-US" sz="1400" dirty="0"/>
          </a:p>
        </p:txBody>
      </p:sp>
      <p:sp>
        <p:nvSpPr>
          <p:cNvPr id="36" name="Shape 24"/>
          <p:cNvSpPr/>
          <p:nvPr/>
        </p:nvSpPr>
        <p:spPr>
          <a:xfrm>
            <a:off x="6309360" y="4114800"/>
            <a:ext cx="274320" cy="274320"/>
          </a:xfrm>
          <a:prstGeom prst="ellipse">
            <a:avLst/>
          </a:prstGeom>
          <a:solidFill>
            <a:srgbClr val="5FAE85"/>
          </a:solidFill>
          <a:ln/>
        </p:spPr>
      </p:sp>
      <p:pic>
        <p:nvPicPr>
          <p:cNvPr id="37" name="Image 10" descr="preencoded.png"/>
          <p:cNvPicPr>
            <a:picLocks noChangeAspect="1"/>
          </p:cNvPicPr>
          <p:nvPr/>
        </p:nvPicPr>
        <p:blipFill>
          <a:blip r:embed="rId6"/>
          <a:stretch>
            <a:fillRect/>
          </a:stretch>
        </p:blipFill>
        <p:spPr>
          <a:xfrm>
            <a:off x="6364224" y="4169664"/>
            <a:ext cx="164592" cy="164592"/>
          </a:xfrm>
          <a:prstGeom prst="rect">
            <a:avLst/>
          </a:prstGeom>
        </p:spPr>
      </p:pic>
      <p:sp>
        <p:nvSpPr>
          <p:cNvPr id="38" name="Text 25"/>
          <p:cNvSpPr/>
          <p:nvPr/>
        </p:nvSpPr>
        <p:spPr>
          <a:xfrm>
            <a:off x="6720840" y="4087368"/>
            <a:ext cx="429768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Colors, icons, data bars</a:t>
            </a:r>
            <a:endParaRPr lang="en-US" sz="1400" dirty="0"/>
          </a:p>
        </p:txBody>
      </p:sp>
      <p:sp>
        <p:nvSpPr>
          <p:cNvPr id="39" name="Shape 26"/>
          <p:cNvSpPr/>
          <p:nvPr/>
        </p:nvSpPr>
        <p:spPr>
          <a:xfrm>
            <a:off x="6309360" y="4663440"/>
            <a:ext cx="274320" cy="274320"/>
          </a:xfrm>
          <a:prstGeom prst="ellipse">
            <a:avLst/>
          </a:prstGeom>
          <a:solidFill>
            <a:srgbClr val="5FAE85"/>
          </a:solidFill>
          <a:ln/>
        </p:spPr>
      </p:sp>
      <p:pic>
        <p:nvPicPr>
          <p:cNvPr id="40" name="Image 11" descr="preencoded.png"/>
          <p:cNvPicPr>
            <a:picLocks noChangeAspect="1"/>
          </p:cNvPicPr>
          <p:nvPr/>
        </p:nvPicPr>
        <p:blipFill>
          <a:blip r:embed="rId6"/>
          <a:stretch>
            <a:fillRect/>
          </a:stretch>
        </p:blipFill>
        <p:spPr>
          <a:xfrm>
            <a:off x="6364224" y="4718304"/>
            <a:ext cx="164592" cy="164592"/>
          </a:xfrm>
          <a:prstGeom prst="rect">
            <a:avLst/>
          </a:prstGeom>
        </p:spPr>
      </p:pic>
      <p:sp>
        <p:nvSpPr>
          <p:cNvPr id="41" name="Text 27"/>
          <p:cNvSpPr/>
          <p:nvPr/>
        </p:nvSpPr>
        <p:spPr>
          <a:xfrm>
            <a:off x="6720840" y="4636008"/>
            <a:ext cx="429768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Visual cues only</a:t>
            </a:r>
            <a:endParaRPr lang="en-US" sz="1400" dirty="0"/>
          </a:p>
        </p:txBody>
      </p:sp>
      <p:sp>
        <p:nvSpPr>
          <p:cNvPr id="42" name="Shape 28"/>
          <p:cNvSpPr/>
          <p:nvPr/>
        </p:nvSpPr>
        <p:spPr>
          <a:xfrm>
            <a:off x="6309360" y="5212080"/>
            <a:ext cx="274320" cy="274320"/>
          </a:xfrm>
          <a:prstGeom prst="ellipse">
            <a:avLst/>
          </a:prstGeom>
          <a:solidFill>
            <a:srgbClr val="5FAE85"/>
          </a:solidFill>
          <a:ln/>
        </p:spPr>
      </p:sp>
      <p:pic>
        <p:nvPicPr>
          <p:cNvPr id="43" name="Image 12" descr="preencoded.png"/>
          <p:cNvPicPr>
            <a:picLocks noChangeAspect="1"/>
          </p:cNvPicPr>
          <p:nvPr/>
        </p:nvPicPr>
        <p:blipFill>
          <a:blip r:embed="rId6"/>
          <a:stretch>
            <a:fillRect/>
          </a:stretch>
        </p:blipFill>
        <p:spPr>
          <a:xfrm>
            <a:off x="6364224" y="5266944"/>
            <a:ext cx="164592" cy="164592"/>
          </a:xfrm>
          <a:prstGeom prst="rect">
            <a:avLst/>
          </a:prstGeom>
        </p:spPr>
      </p:pic>
      <p:sp>
        <p:nvSpPr>
          <p:cNvPr id="44" name="Text 29"/>
          <p:cNvSpPr/>
          <p:nvPr/>
        </p:nvSpPr>
        <p:spPr>
          <a:xfrm>
            <a:off x="6720840" y="5184648"/>
            <a:ext cx="429768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Applied to existing values</a:t>
            </a:r>
            <a:endParaRPr lang="en-US" sz="1400" dirty="0"/>
          </a:p>
        </p:txBody>
      </p:sp>
      <p:sp>
        <p:nvSpPr>
          <p:cNvPr id="45" name="Shape 30"/>
          <p:cNvSpPr/>
          <p:nvPr/>
        </p:nvSpPr>
        <p:spPr>
          <a:xfrm>
            <a:off x="6309360" y="5760720"/>
            <a:ext cx="274320" cy="274320"/>
          </a:xfrm>
          <a:prstGeom prst="ellipse">
            <a:avLst/>
          </a:prstGeom>
          <a:solidFill>
            <a:srgbClr val="5FAE85"/>
          </a:solidFill>
          <a:ln/>
        </p:spPr>
      </p:sp>
      <p:pic>
        <p:nvPicPr>
          <p:cNvPr id="46" name="Image 13" descr="preencoded.png"/>
          <p:cNvPicPr>
            <a:picLocks noChangeAspect="1"/>
          </p:cNvPicPr>
          <p:nvPr/>
        </p:nvPicPr>
        <p:blipFill>
          <a:blip r:embed="rId6"/>
          <a:stretch>
            <a:fillRect/>
          </a:stretch>
        </p:blipFill>
        <p:spPr>
          <a:xfrm>
            <a:off x="6364224" y="5815584"/>
            <a:ext cx="164592" cy="164592"/>
          </a:xfrm>
          <a:prstGeom prst="rect">
            <a:avLst/>
          </a:prstGeom>
        </p:spPr>
      </p:pic>
      <p:sp>
        <p:nvSpPr>
          <p:cNvPr id="47" name="Text 31"/>
          <p:cNvSpPr/>
          <p:nvPr/>
        </p:nvSpPr>
        <p:spPr>
          <a:xfrm>
            <a:off x="6720840" y="5733288"/>
            <a:ext cx="4297680" cy="34747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Found in: Home tab</a:t>
            </a:r>
            <a:endParaRPr lang="en-US" sz="1400" dirty="0"/>
          </a:p>
        </p:txBody>
      </p:sp>
      <p:sp>
        <p:nvSpPr>
          <p:cNvPr id="48" name="Shape 32"/>
          <p:cNvSpPr/>
          <p:nvPr/>
        </p:nvSpPr>
        <p:spPr>
          <a:xfrm>
            <a:off x="5486400" y="3749040"/>
            <a:ext cx="822960" cy="822960"/>
          </a:xfrm>
          <a:prstGeom prst="ellipse">
            <a:avLst/>
          </a:prstGeom>
          <a:solidFill>
            <a:srgbClr val="FFFFFF"/>
          </a:solidFill>
          <a:ln w="25400">
            <a:solidFill>
              <a:srgbClr val="1E7B4D"/>
            </a:solidFill>
            <a:prstDash val="solid"/>
          </a:ln>
          <a:effectLst>
            <a:outerShdw blurRad="76200" dist="25400" dir="2700000" algn="bl" rotWithShape="0">
              <a:srgbClr val="1F2A24">
                <a:alpha val="12000"/>
              </a:srgbClr>
            </a:outerShdw>
          </a:effectLst>
        </p:spPr>
      </p:sp>
      <p:sp>
        <p:nvSpPr>
          <p:cNvPr id="49" name="Text 33"/>
          <p:cNvSpPr/>
          <p:nvPr/>
        </p:nvSpPr>
        <p:spPr>
          <a:xfrm>
            <a:off x="5486400" y="3749040"/>
            <a:ext cx="822960" cy="822960"/>
          </a:xfrm>
          <a:prstGeom prst="rect">
            <a:avLst/>
          </a:prstGeom>
          <a:noFill/>
          <a:ln/>
        </p:spPr>
        <p:txBody>
          <a:bodyPr wrap="square" lIns="0" tIns="0" rIns="0" bIns="0" rtlCol="0" anchor="ctr"/>
          <a:lstStyle/>
          <a:p>
            <a:pPr marL="0" indent="0" algn="ctr">
              <a:buNone/>
            </a:pPr>
            <a:r>
              <a:rPr lang="en-US" sz="1800" b="1" dirty="0">
                <a:solidFill>
                  <a:srgbClr val="1E7B4D"/>
                </a:solidFill>
                <a:latin typeface="Calibri" pitchFamily="34" charset="0"/>
                <a:ea typeface="Calibri" pitchFamily="34" charset="-122"/>
                <a:cs typeface="Calibri" pitchFamily="34" charset="-120"/>
              </a:rPr>
              <a:t>VS</a:t>
            </a:r>
            <a:endParaRPr lang="en-US" sz="1800" dirty="0"/>
          </a:p>
        </p:txBody>
      </p:sp>
      <p:sp>
        <p:nvSpPr>
          <p:cNvPr id="50" name="Text 34"/>
          <p:cNvSpPr/>
          <p:nvPr/>
        </p:nvSpPr>
        <p:spPr>
          <a:xfrm>
            <a:off x="11521440" y="6446520"/>
            <a:ext cx="457200" cy="274320"/>
          </a:xfrm>
          <a:prstGeom prst="rect">
            <a:avLst/>
          </a:prstGeom>
          <a:noFill/>
          <a:ln/>
        </p:spPr>
        <p:txBody>
          <a:bodyPr wrap="square" lIns="0" tIns="0" rIns="0" bIns="0" rtlCol="0" anchor="ctr"/>
          <a:lstStyle/>
          <a:p>
            <a:pPr marL="0" indent="0" algn="r">
              <a:buNone/>
            </a:pPr>
            <a:r>
              <a:rPr lang="en-US" sz="1000" dirty="0">
                <a:solidFill>
                  <a:srgbClr val="6B7A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1E7B4D"/>
                </a:solidFill>
                <a:latin typeface="Calibri" pitchFamily="34" charset="0"/>
                <a:ea typeface="Calibri" pitchFamily="34" charset="-122"/>
                <a:cs typeface="Calibri" pitchFamily="34" charset="-120"/>
              </a:rPr>
              <a:t>ADVANCED TECHNIQUES</a:t>
            </a:r>
            <a:endParaRPr lang="en-US" sz="12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marL="0" indent="0">
              <a:buNone/>
            </a:pPr>
            <a:r>
              <a:rPr lang="en-US" sz="3200" b="1" dirty="0">
                <a:solidFill>
                  <a:srgbClr val="1F2A24"/>
                </a:solidFill>
                <a:latin typeface="Cambria" pitchFamily="34" charset="0"/>
                <a:ea typeface="Cambria" pitchFamily="34" charset="-122"/>
                <a:cs typeface="Cambria" pitchFamily="34" charset="-120"/>
              </a:rPr>
              <a:t>Advanced Techniques &amp; Power Tips</a:t>
            </a:r>
            <a:endParaRPr lang="en-US" sz="3200" dirty="0"/>
          </a:p>
        </p:txBody>
      </p:sp>
      <p:sp>
        <p:nvSpPr>
          <p:cNvPr id="4" name="Shape 2"/>
          <p:cNvSpPr/>
          <p:nvPr/>
        </p:nvSpPr>
        <p:spPr>
          <a:xfrm>
            <a:off x="548640" y="192024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5" name="Shape 3"/>
          <p:cNvSpPr/>
          <p:nvPr/>
        </p:nvSpPr>
        <p:spPr>
          <a:xfrm>
            <a:off x="731520" y="2103120"/>
            <a:ext cx="502920" cy="502920"/>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832104" y="2203704"/>
            <a:ext cx="301752" cy="301752"/>
          </a:xfrm>
          <a:prstGeom prst="rect">
            <a:avLst/>
          </a:prstGeom>
        </p:spPr>
      </p:pic>
      <p:sp>
        <p:nvSpPr>
          <p:cNvPr id="7" name="Text 4"/>
          <p:cNvSpPr/>
          <p:nvPr/>
        </p:nvSpPr>
        <p:spPr>
          <a:xfrm>
            <a:off x="1371600" y="2121408"/>
            <a:ext cx="2651760" cy="50292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Named Ranges</a:t>
            </a:r>
            <a:endParaRPr lang="en-US" sz="1450" dirty="0"/>
          </a:p>
        </p:txBody>
      </p:sp>
      <p:sp>
        <p:nvSpPr>
          <p:cNvPr id="8" name="Text 5"/>
          <p:cNvSpPr/>
          <p:nvPr/>
        </p:nvSpPr>
        <p:spPr>
          <a:xfrm>
            <a:off x="731520" y="2743200"/>
            <a:ext cx="3291840" cy="914400"/>
          </a:xfrm>
          <a:prstGeom prst="rect">
            <a:avLst/>
          </a:prstGeom>
          <a:noFill/>
          <a:ln/>
        </p:spPr>
        <p:txBody>
          <a:bodyPr wrap="square" lIns="0" tIns="0" rIns="0" bIns="0" rtlCol="0" anchor="ctr"/>
          <a:lstStyle/>
          <a:p>
            <a:pPr marL="0" indent="0">
              <a:lnSpc>
                <a:spcPct val="115000"/>
              </a:lnSpc>
              <a:buNone/>
            </a:pPr>
            <a:r>
              <a:rPr lang="en-US" sz="1150" dirty="0">
                <a:solidFill>
                  <a:srgbClr val="6B7A72"/>
                </a:solidFill>
                <a:latin typeface="Calibri" pitchFamily="34" charset="0"/>
                <a:ea typeface="Calibri" pitchFamily="34" charset="-122"/>
                <a:cs typeface="Calibri" pitchFamily="34" charset="-120"/>
              </a:rPr>
              <a:t>Use named ranges as list sources in DV so dropdowns update automatically when source data changes.</a:t>
            </a:r>
            <a:endParaRPr lang="en-US" sz="1150" dirty="0"/>
          </a:p>
        </p:txBody>
      </p:sp>
      <p:sp>
        <p:nvSpPr>
          <p:cNvPr id="9" name="Shape 6"/>
          <p:cNvSpPr/>
          <p:nvPr/>
        </p:nvSpPr>
        <p:spPr>
          <a:xfrm>
            <a:off x="4434840" y="192024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10" name="Shape 7"/>
          <p:cNvSpPr/>
          <p:nvPr/>
        </p:nvSpPr>
        <p:spPr>
          <a:xfrm>
            <a:off x="4617720" y="2103120"/>
            <a:ext cx="502920" cy="502920"/>
          </a:xfrm>
          <a:prstGeom prst="ellipse">
            <a:avLst/>
          </a:prstGeom>
          <a:solidFill>
            <a:srgbClr val="FFFFFF"/>
          </a:solidFill>
          <a:ln/>
        </p:spPr>
      </p:sp>
      <p:pic>
        <p:nvPicPr>
          <p:cNvPr id="11" name="Image 1" descr="preencoded.png"/>
          <p:cNvPicPr>
            <a:picLocks noChangeAspect="1"/>
          </p:cNvPicPr>
          <p:nvPr/>
        </p:nvPicPr>
        <p:blipFill>
          <a:blip r:embed="rId4"/>
          <a:stretch>
            <a:fillRect/>
          </a:stretch>
        </p:blipFill>
        <p:spPr>
          <a:xfrm>
            <a:off x="4718304" y="2203704"/>
            <a:ext cx="301752" cy="301752"/>
          </a:xfrm>
          <a:prstGeom prst="rect">
            <a:avLst/>
          </a:prstGeom>
        </p:spPr>
      </p:pic>
      <p:sp>
        <p:nvSpPr>
          <p:cNvPr id="12" name="Text 8"/>
          <p:cNvSpPr/>
          <p:nvPr/>
        </p:nvSpPr>
        <p:spPr>
          <a:xfrm>
            <a:off x="5257800" y="2121408"/>
            <a:ext cx="2651760" cy="50292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Dependent Dropdowns</a:t>
            </a:r>
            <a:endParaRPr lang="en-US" sz="1450" dirty="0"/>
          </a:p>
        </p:txBody>
      </p:sp>
      <p:sp>
        <p:nvSpPr>
          <p:cNvPr id="13" name="Text 9"/>
          <p:cNvSpPr/>
          <p:nvPr/>
        </p:nvSpPr>
        <p:spPr>
          <a:xfrm>
            <a:off x="4617720" y="2743200"/>
            <a:ext cx="3291840" cy="777240"/>
          </a:xfrm>
          <a:prstGeom prst="rect">
            <a:avLst/>
          </a:prstGeom>
          <a:noFill/>
          <a:ln/>
        </p:spPr>
        <p:txBody>
          <a:bodyPr wrap="square" lIns="0" tIns="0" rIns="0" bIns="0" rtlCol="0" anchor="ctr"/>
          <a:lstStyle/>
          <a:p>
            <a:pPr marL="0" indent="0">
              <a:lnSpc>
                <a:spcPct val="115000"/>
              </a:lnSpc>
              <a:buNone/>
            </a:pPr>
            <a:r>
              <a:rPr lang="en-US" sz="1150" dirty="0">
                <a:solidFill>
                  <a:srgbClr val="6B7A72"/>
                </a:solidFill>
                <a:latin typeface="Calibri" pitchFamily="34" charset="0"/>
                <a:ea typeface="Calibri" pitchFamily="34" charset="-122"/>
                <a:cs typeface="Calibri" pitchFamily="34" charset="-120"/>
              </a:rPr>
              <a:t>Use INDIRECT() to create cascading dropdowns — e.g. Country → City.</a:t>
            </a:r>
            <a:endParaRPr lang="en-US" sz="1150" dirty="0"/>
          </a:p>
        </p:txBody>
      </p:sp>
      <p:sp>
        <p:nvSpPr>
          <p:cNvPr id="14" name="Shape 10"/>
          <p:cNvSpPr/>
          <p:nvPr/>
        </p:nvSpPr>
        <p:spPr>
          <a:xfrm>
            <a:off x="4617720" y="3410712"/>
            <a:ext cx="3291840" cy="292608"/>
          </a:xfrm>
          <a:prstGeom prst="roundRect">
            <a:avLst>
              <a:gd name="adj" fmla="val 15625"/>
            </a:avLst>
          </a:prstGeom>
          <a:solidFill>
            <a:srgbClr val="FFFFFF"/>
          </a:solidFill>
          <a:ln/>
        </p:spPr>
      </p:sp>
      <p:sp>
        <p:nvSpPr>
          <p:cNvPr id="15" name="Text 11"/>
          <p:cNvSpPr/>
          <p:nvPr/>
        </p:nvSpPr>
        <p:spPr>
          <a:xfrm>
            <a:off x="4617720" y="3410712"/>
            <a:ext cx="3291840" cy="292608"/>
          </a:xfrm>
          <a:prstGeom prst="rect">
            <a:avLst/>
          </a:prstGeom>
          <a:noFill/>
          <a:ln/>
        </p:spPr>
        <p:txBody>
          <a:bodyPr wrap="square" lIns="0" tIns="0" rIns="0" bIns="0" rtlCol="0" anchor="ctr"/>
          <a:lstStyle/>
          <a:p>
            <a:pPr marL="0" indent="0" algn="ctr">
              <a:buNone/>
            </a:pPr>
            <a:r>
              <a:rPr lang="en-US" sz="1100" dirty="0">
                <a:solidFill>
                  <a:srgbClr val="1E7B4D"/>
                </a:solidFill>
                <a:latin typeface="Courier New" pitchFamily="34" charset="0"/>
                <a:ea typeface="Courier New" pitchFamily="34" charset="-122"/>
                <a:cs typeface="Courier New" pitchFamily="34" charset="-120"/>
              </a:rPr>
              <a:t>=INDIRECT(B1)</a:t>
            </a:r>
            <a:endParaRPr lang="en-US" sz="1100" dirty="0"/>
          </a:p>
        </p:txBody>
      </p:sp>
      <p:sp>
        <p:nvSpPr>
          <p:cNvPr id="16" name="Shape 12"/>
          <p:cNvSpPr/>
          <p:nvPr/>
        </p:nvSpPr>
        <p:spPr>
          <a:xfrm>
            <a:off x="8321040" y="192024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17" name="Shape 13"/>
          <p:cNvSpPr/>
          <p:nvPr/>
        </p:nvSpPr>
        <p:spPr>
          <a:xfrm>
            <a:off x="8503920" y="2103120"/>
            <a:ext cx="502920" cy="502920"/>
          </a:xfrm>
          <a:prstGeom prst="ellipse">
            <a:avLst/>
          </a:prstGeom>
          <a:solidFill>
            <a:srgbClr val="FFFFFF"/>
          </a:solidFill>
          <a:ln/>
        </p:spPr>
      </p:sp>
      <p:pic>
        <p:nvPicPr>
          <p:cNvPr id="18" name="Image 2" descr="preencoded.png"/>
          <p:cNvPicPr>
            <a:picLocks noChangeAspect="1"/>
          </p:cNvPicPr>
          <p:nvPr/>
        </p:nvPicPr>
        <p:blipFill>
          <a:blip r:embed="rId5"/>
          <a:stretch>
            <a:fillRect/>
          </a:stretch>
        </p:blipFill>
        <p:spPr>
          <a:xfrm>
            <a:off x="8604504" y="2203704"/>
            <a:ext cx="301752" cy="301752"/>
          </a:xfrm>
          <a:prstGeom prst="rect">
            <a:avLst/>
          </a:prstGeom>
        </p:spPr>
      </p:pic>
      <p:sp>
        <p:nvSpPr>
          <p:cNvPr id="19" name="Text 14"/>
          <p:cNvSpPr/>
          <p:nvPr/>
        </p:nvSpPr>
        <p:spPr>
          <a:xfrm>
            <a:off x="9144000" y="2121408"/>
            <a:ext cx="2651760" cy="50292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Formula-Based CF</a:t>
            </a:r>
            <a:endParaRPr lang="en-US" sz="1450" dirty="0"/>
          </a:p>
        </p:txBody>
      </p:sp>
      <p:sp>
        <p:nvSpPr>
          <p:cNvPr id="20" name="Text 15"/>
          <p:cNvSpPr/>
          <p:nvPr/>
        </p:nvSpPr>
        <p:spPr>
          <a:xfrm>
            <a:off x="8503920" y="2743200"/>
            <a:ext cx="3291840" cy="777240"/>
          </a:xfrm>
          <a:prstGeom prst="rect">
            <a:avLst/>
          </a:prstGeom>
          <a:noFill/>
          <a:ln/>
        </p:spPr>
        <p:txBody>
          <a:bodyPr wrap="square" lIns="0" tIns="0" rIns="0" bIns="0" rtlCol="0" anchor="ctr"/>
          <a:lstStyle/>
          <a:p>
            <a:pPr marL="0" indent="0">
              <a:lnSpc>
                <a:spcPct val="115000"/>
              </a:lnSpc>
              <a:buNone/>
            </a:pPr>
            <a:r>
              <a:rPr lang="en-US" sz="1150" dirty="0">
                <a:solidFill>
                  <a:srgbClr val="6B7A72"/>
                </a:solidFill>
                <a:latin typeface="Calibri" pitchFamily="34" charset="0"/>
                <a:ea typeface="Calibri" pitchFamily="34" charset="-122"/>
                <a:cs typeface="Calibri" pitchFamily="34" charset="-120"/>
              </a:rPr>
              <a:t>Highlights weekends automatically in a schedule using a single formula.</a:t>
            </a:r>
            <a:endParaRPr lang="en-US" sz="1150" dirty="0"/>
          </a:p>
        </p:txBody>
      </p:sp>
      <p:sp>
        <p:nvSpPr>
          <p:cNvPr id="21" name="Shape 16"/>
          <p:cNvSpPr/>
          <p:nvPr/>
        </p:nvSpPr>
        <p:spPr>
          <a:xfrm>
            <a:off x="8503920" y="3410712"/>
            <a:ext cx="3291840" cy="292608"/>
          </a:xfrm>
          <a:prstGeom prst="roundRect">
            <a:avLst>
              <a:gd name="adj" fmla="val 15625"/>
            </a:avLst>
          </a:prstGeom>
          <a:solidFill>
            <a:srgbClr val="FFFFFF"/>
          </a:solidFill>
          <a:ln/>
        </p:spPr>
      </p:sp>
      <p:sp>
        <p:nvSpPr>
          <p:cNvPr id="22" name="Text 17"/>
          <p:cNvSpPr/>
          <p:nvPr/>
        </p:nvSpPr>
        <p:spPr>
          <a:xfrm>
            <a:off x="8503920" y="3410712"/>
            <a:ext cx="3291840" cy="292608"/>
          </a:xfrm>
          <a:prstGeom prst="rect">
            <a:avLst/>
          </a:prstGeom>
          <a:noFill/>
          <a:ln/>
        </p:spPr>
        <p:txBody>
          <a:bodyPr wrap="square" lIns="0" tIns="0" rIns="0" bIns="0" rtlCol="0" anchor="ctr"/>
          <a:lstStyle/>
          <a:p>
            <a:pPr marL="0" indent="0" algn="ctr">
              <a:buNone/>
            </a:pPr>
            <a:r>
              <a:rPr lang="en-US" sz="1100" dirty="0">
                <a:solidFill>
                  <a:srgbClr val="1E7B4D"/>
                </a:solidFill>
                <a:latin typeface="Courier New" pitchFamily="34" charset="0"/>
                <a:ea typeface="Courier New" pitchFamily="34" charset="-122"/>
                <a:cs typeface="Courier New" pitchFamily="34" charset="-120"/>
              </a:rPr>
              <a:t>=WEEKDAY(A1,2)&gt;5</a:t>
            </a:r>
            <a:endParaRPr lang="en-US" sz="1100" dirty="0"/>
          </a:p>
        </p:txBody>
      </p:sp>
      <p:sp>
        <p:nvSpPr>
          <p:cNvPr id="23" name="Shape 18"/>
          <p:cNvSpPr/>
          <p:nvPr/>
        </p:nvSpPr>
        <p:spPr>
          <a:xfrm>
            <a:off x="548640" y="402336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24" name="Shape 19"/>
          <p:cNvSpPr/>
          <p:nvPr/>
        </p:nvSpPr>
        <p:spPr>
          <a:xfrm>
            <a:off x="731520" y="4206240"/>
            <a:ext cx="502920" cy="502920"/>
          </a:xfrm>
          <a:prstGeom prst="ellipse">
            <a:avLst/>
          </a:prstGeom>
          <a:solidFill>
            <a:srgbClr val="FFFFFF"/>
          </a:solidFill>
          <a:ln/>
        </p:spPr>
      </p:sp>
      <p:pic>
        <p:nvPicPr>
          <p:cNvPr id="25" name="Image 3" descr="preencoded.png"/>
          <p:cNvPicPr>
            <a:picLocks noChangeAspect="1"/>
          </p:cNvPicPr>
          <p:nvPr/>
        </p:nvPicPr>
        <p:blipFill>
          <a:blip r:embed="rId6"/>
          <a:stretch>
            <a:fillRect/>
          </a:stretch>
        </p:blipFill>
        <p:spPr>
          <a:xfrm>
            <a:off x="832104" y="4306824"/>
            <a:ext cx="301752" cy="301752"/>
          </a:xfrm>
          <a:prstGeom prst="rect">
            <a:avLst/>
          </a:prstGeom>
        </p:spPr>
      </p:pic>
      <p:sp>
        <p:nvSpPr>
          <p:cNvPr id="26" name="Text 20"/>
          <p:cNvSpPr/>
          <p:nvPr/>
        </p:nvSpPr>
        <p:spPr>
          <a:xfrm>
            <a:off x="1371600" y="4224528"/>
            <a:ext cx="2651760" cy="50292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CF with DV</a:t>
            </a:r>
            <a:endParaRPr lang="en-US" sz="1450" dirty="0"/>
          </a:p>
        </p:txBody>
      </p:sp>
      <p:sp>
        <p:nvSpPr>
          <p:cNvPr id="27" name="Text 21"/>
          <p:cNvSpPr/>
          <p:nvPr/>
        </p:nvSpPr>
        <p:spPr>
          <a:xfrm>
            <a:off x="731520" y="4846320"/>
            <a:ext cx="3291840" cy="914400"/>
          </a:xfrm>
          <a:prstGeom prst="rect">
            <a:avLst/>
          </a:prstGeom>
          <a:noFill/>
          <a:ln/>
        </p:spPr>
        <p:txBody>
          <a:bodyPr wrap="square" lIns="0" tIns="0" rIns="0" bIns="0" rtlCol="0" anchor="ctr"/>
          <a:lstStyle/>
          <a:p>
            <a:pPr marL="0" indent="0">
              <a:lnSpc>
                <a:spcPct val="115000"/>
              </a:lnSpc>
              <a:buNone/>
            </a:pPr>
            <a:r>
              <a:rPr lang="en-US" sz="1150" dirty="0">
                <a:solidFill>
                  <a:srgbClr val="6B7A72"/>
                </a:solidFill>
                <a:latin typeface="Calibri" pitchFamily="34" charset="0"/>
                <a:ea typeface="Calibri" pitchFamily="34" charset="-122"/>
                <a:cs typeface="Calibri" pitchFamily="34" charset="-120"/>
              </a:rPr>
              <a:t>Combine both: restrict input AND colour-code by status simultaneously for full control.</a:t>
            </a:r>
            <a:endParaRPr lang="en-US" sz="1150" dirty="0"/>
          </a:p>
        </p:txBody>
      </p:sp>
      <p:sp>
        <p:nvSpPr>
          <p:cNvPr id="28" name="Shape 22"/>
          <p:cNvSpPr/>
          <p:nvPr/>
        </p:nvSpPr>
        <p:spPr>
          <a:xfrm>
            <a:off x="4434840" y="402336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29" name="Shape 23"/>
          <p:cNvSpPr/>
          <p:nvPr/>
        </p:nvSpPr>
        <p:spPr>
          <a:xfrm>
            <a:off x="4617720" y="4206240"/>
            <a:ext cx="502920" cy="502920"/>
          </a:xfrm>
          <a:prstGeom prst="ellipse">
            <a:avLst/>
          </a:prstGeom>
          <a:solidFill>
            <a:srgbClr val="FFFFFF"/>
          </a:solidFill>
          <a:ln/>
        </p:spPr>
      </p:sp>
      <p:pic>
        <p:nvPicPr>
          <p:cNvPr id="30" name="Image 4" descr="preencoded.png"/>
          <p:cNvPicPr>
            <a:picLocks noChangeAspect="1"/>
          </p:cNvPicPr>
          <p:nvPr/>
        </p:nvPicPr>
        <p:blipFill>
          <a:blip r:embed="rId7"/>
          <a:stretch>
            <a:fillRect/>
          </a:stretch>
        </p:blipFill>
        <p:spPr>
          <a:xfrm>
            <a:off x="4718304" y="4306824"/>
            <a:ext cx="301752" cy="301752"/>
          </a:xfrm>
          <a:prstGeom prst="rect">
            <a:avLst/>
          </a:prstGeom>
        </p:spPr>
      </p:pic>
      <p:sp>
        <p:nvSpPr>
          <p:cNvPr id="31" name="Text 24"/>
          <p:cNvSpPr/>
          <p:nvPr/>
        </p:nvSpPr>
        <p:spPr>
          <a:xfrm>
            <a:off x="5257800" y="4224528"/>
            <a:ext cx="2651760" cy="50292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Manage Rule Order</a:t>
            </a:r>
            <a:endParaRPr lang="en-US" sz="1450" dirty="0"/>
          </a:p>
        </p:txBody>
      </p:sp>
      <p:sp>
        <p:nvSpPr>
          <p:cNvPr id="32" name="Text 25"/>
          <p:cNvSpPr/>
          <p:nvPr/>
        </p:nvSpPr>
        <p:spPr>
          <a:xfrm>
            <a:off x="4617720" y="4846320"/>
            <a:ext cx="3291840" cy="914400"/>
          </a:xfrm>
          <a:prstGeom prst="rect">
            <a:avLst/>
          </a:prstGeom>
          <a:noFill/>
          <a:ln/>
        </p:spPr>
        <p:txBody>
          <a:bodyPr wrap="square" lIns="0" tIns="0" rIns="0" bIns="0" rtlCol="0" anchor="ctr"/>
          <a:lstStyle/>
          <a:p>
            <a:pPr marL="0" indent="0">
              <a:lnSpc>
                <a:spcPct val="115000"/>
              </a:lnSpc>
              <a:buNone/>
            </a:pPr>
            <a:r>
              <a:rPr lang="en-US" sz="1150" dirty="0">
                <a:solidFill>
                  <a:srgbClr val="6B7A72"/>
                </a:solidFill>
                <a:latin typeface="Calibri" pitchFamily="34" charset="0"/>
                <a:ea typeface="Calibri" pitchFamily="34" charset="-122"/>
                <a:cs typeface="Calibri" pitchFamily="34" charset="-120"/>
              </a:rPr>
              <a:t>CF rules evaluated top-down; use 'Stop If True' to prevent overlapping formats.</a:t>
            </a:r>
            <a:endParaRPr lang="en-US" sz="1150" dirty="0"/>
          </a:p>
        </p:txBody>
      </p:sp>
      <p:sp>
        <p:nvSpPr>
          <p:cNvPr id="33" name="Shape 26"/>
          <p:cNvSpPr/>
          <p:nvPr/>
        </p:nvSpPr>
        <p:spPr>
          <a:xfrm>
            <a:off x="8321040" y="402336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34" name="Shape 27"/>
          <p:cNvSpPr/>
          <p:nvPr/>
        </p:nvSpPr>
        <p:spPr>
          <a:xfrm>
            <a:off x="8503920" y="4206240"/>
            <a:ext cx="502920" cy="502920"/>
          </a:xfrm>
          <a:prstGeom prst="ellipse">
            <a:avLst/>
          </a:prstGeom>
          <a:solidFill>
            <a:srgbClr val="FFFFFF"/>
          </a:solidFill>
          <a:ln/>
        </p:spPr>
      </p:sp>
      <p:pic>
        <p:nvPicPr>
          <p:cNvPr id="35" name="Image 5" descr="preencoded.png"/>
          <p:cNvPicPr>
            <a:picLocks noChangeAspect="1"/>
          </p:cNvPicPr>
          <p:nvPr/>
        </p:nvPicPr>
        <p:blipFill>
          <a:blip r:embed="rId8"/>
          <a:stretch>
            <a:fillRect/>
          </a:stretch>
        </p:blipFill>
        <p:spPr>
          <a:xfrm>
            <a:off x="8604504" y="4306824"/>
            <a:ext cx="301752" cy="301752"/>
          </a:xfrm>
          <a:prstGeom prst="rect">
            <a:avLst/>
          </a:prstGeom>
        </p:spPr>
      </p:pic>
      <p:sp>
        <p:nvSpPr>
          <p:cNvPr id="36" name="Text 28"/>
          <p:cNvSpPr/>
          <p:nvPr/>
        </p:nvSpPr>
        <p:spPr>
          <a:xfrm>
            <a:off x="9144000" y="4224528"/>
            <a:ext cx="2651760" cy="50292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Clear Rules Safely</a:t>
            </a:r>
            <a:endParaRPr lang="en-US" sz="1450" dirty="0"/>
          </a:p>
        </p:txBody>
      </p:sp>
      <p:sp>
        <p:nvSpPr>
          <p:cNvPr id="37" name="Text 29"/>
          <p:cNvSpPr/>
          <p:nvPr/>
        </p:nvSpPr>
        <p:spPr>
          <a:xfrm>
            <a:off x="8503920" y="4846320"/>
            <a:ext cx="3291840" cy="914400"/>
          </a:xfrm>
          <a:prstGeom prst="rect">
            <a:avLst/>
          </a:prstGeom>
          <a:noFill/>
          <a:ln/>
        </p:spPr>
        <p:txBody>
          <a:bodyPr wrap="square" lIns="0" tIns="0" rIns="0" bIns="0" rtlCol="0" anchor="ctr"/>
          <a:lstStyle/>
          <a:p>
            <a:pPr marL="0" indent="0">
              <a:lnSpc>
                <a:spcPct val="115000"/>
              </a:lnSpc>
              <a:buNone/>
            </a:pPr>
            <a:r>
              <a:rPr lang="en-US" sz="1150" dirty="0">
                <a:solidFill>
                  <a:srgbClr val="6B7A72"/>
                </a:solidFill>
                <a:latin typeface="Calibri" pitchFamily="34" charset="0"/>
                <a:ea typeface="Calibri" pitchFamily="34" charset="-122"/>
                <a:cs typeface="Calibri" pitchFamily="34" charset="-120"/>
              </a:rPr>
              <a:t>Use the Manage Rules dialog to remove specific rules — avoid 'Clear All', which removes everything.</a:t>
            </a:r>
            <a:endParaRPr lang="en-US" sz="1150" dirty="0"/>
          </a:p>
        </p:txBody>
      </p:sp>
      <p:sp>
        <p:nvSpPr>
          <p:cNvPr id="38" name="Text 30"/>
          <p:cNvSpPr/>
          <p:nvPr/>
        </p:nvSpPr>
        <p:spPr>
          <a:xfrm>
            <a:off x="11521440" y="6446520"/>
            <a:ext cx="457200" cy="274320"/>
          </a:xfrm>
          <a:prstGeom prst="rect">
            <a:avLst/>
          </a:prstGeom>
          <a:noFill/>
          <a:ln/>
        </p:spPr>
        <p:txBody>
          <a:bodyPr wrap="square" lIns="0" tIns="0" rIns="0" bIns="0" rtlCol="0" anchor="ctr"/>
          <a:lstStyle/>
          <a:p>
            <a:pPr marL="0" indent="0" algn="r">
              <a:buNone/>
            </a:pPr>
            <a:r>
              <a:rPr lang="en-US" sz="1000" dirty="0">
                <a:solidFill>
                  <a:srgbClr val="6B7A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1E7B4D"/>
                </a:solidFill>
                <a:latin typeface="Calibri" pitchFamily="34" charset="0"/>
                <a:ea typeface="Calibri" pitchFamily="34" charset="-122"/>
                <a:cs typeface="Calibri" pitchFamily="34" charset="-120"/>
              </a:rPr>
              <a:t>APPLICATIONS</a:t>
            </a:r>
            <a:endParaRPr lang="en-US" sz="12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marL="0" indent="0">
              <a:buNone/>
            </a:pPr>
            <a:r>
              <a:rPr lang="en-US" sz="3200" b="1" dirty="0">
                <a:solidFill>
                  <a:srgbClr val="1F2A24"/>
                </a:solidFill>
                <a:latin typeface="Cambria" pitchFamily="34" charset="0"/>
                <a:ea typeface="Cambria" pitchFamily="34" charset="-122"/>
                <a:cs typeface="Cambria" pitchFamily="34" charset="-120"/>
              </a:rPr>
              <a:t>Business Use Cases</a:t>
            </a:r>
            <a:endParaRPr lang="en-US" sz="3200" dirty="0"/>
          </a:p>
        </p:txBody>
      </p:sp>
      <p:sp>
        <p:nvSpPr>
          <p:cNvPr id="4" name="Shape 2"/>
          <p:cNvSpPr/>
          <p:nvPr/>
        </p:nvSpPr>
        <p:spPr>
          <a:xfrm>
            <a:off x="548640" y="1920240"/>
            <a:ext cx="5349240" cy="2057400"/>
          </a:xfrm>
          <a:prstGeom prst="roundRect">
            <a:avLst>
              <a:gd name="adj" fmla="val 3556"/>
            </a:avLst>
          </a:prstGeom>
          <a:solidFill>
            <a:srgbClr val="E7F4EC"/>
          </a:solidFill>
          <a:ln/>
          <a:effectLst>
            <a:outerShdw blurRad="76200" dist="25400" dir="2700000" algn="bl" rotWithShape="0">
              <a:srgbClr val="1F2A24">
                <a:alpha val="12000"/>
              </a:srgbClr>
            </a:outerShdw>
          </a:effectLst>
        </p:spPr>
      </p:sp>
      <p:sp>
        <p:nvSpPr>
          <p:cNvPr id="5" name="Shape 3"/>
          <p:cNvSpPr/>
          <p:nvPr/>
        </p:nvSpPr>
        <p:spPr>
          <a:xfrm>
            <a:off x="777240" y="2148840"/>
            <a:ext cx="594360" cy="594360"/>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896112" y="2267712"/>
            <a:ext cx="356616" cy="356616"/>
          </a:xfrm>
          <a:prstGeom prst="rect">
            <a:avLst/>
          </a:prstGeom>
        </p:spPr>
      </p:pic>
      <p:sp>
        <p:nvSpPr>
          <p:cNvPr id="7" name="Text 4"/>
          <p:cNvSpPr/>
          <p:nvPr/>
        </p:nvSpPr>
        <p:spPr>
          <a:xfrm>
            <a:off x="1554480" y="2176272"/>
            <a:ext cx="4160520" cy="502920"/>
          </a:xfrm>
          <a:prstGeom prst="rect">
            <a:avLst/>
          </a:prstGeom>
          <a:noFill/>
          <a:ln/>
        </p:spPr>
        <p:txBody>
          <a:bodyPr wrap="square" lIns="0" tIns="0" rIns="0" bIns="0" rtlCol="0" anchor="ctr"/>
          <a:lstStyle/>
          <a:p>
            <a:pPr marL="0" indent="0">
              <a:buNone/>
            </a:pPr>
            <a:r>
              <a:rPr lang="en-US" sz="1700" b="1" dirty="0">
                <a:solidFill>
                  <a:srgbClr val="1F2A24"/>
                </a:solidFill>
                <a:latin typeface="Calibri" pitchFamily="34" charset="0"/>
                <a:ea typeface="Calibri" pitchFamily="34" charset="-122"/>
                <a:cs typeface="Calibri" pitchFamily="34" charset="-120"/>
              </a:rPr>
              <a:t>Sales Tracking</a:t>
            </a:r>
            <a:endParaRPr lang="en-US" sz="1700" dirty="0"/>
          </a:p>
        </p:txBody>
      </p:sp>
      <p:sp>
        <p:nvSpPr>
          <p:cNvPr id="8" name="Shape 5"/>
          <p:cNvSpPr/>
          <p:nvPr/>
        </p:nvSpPr>
        <p:spPr>
          <a:xfrm>
            <a:off x="777240" y="2880360"/>
            <a:ext cx="4892040" cy="457200"/>
          </a:xfrm>
          <a:prstGeom prst="roundRect">
            <a:avLst>
              <a:gd name="adj" fmla="val 12000"/>
            </a:avLst>
          </a:prstGeom>
          <a:solidFill>
            <a:srgbClr val="FFFFFF"/>
          </a:solidFill>
          <a:ln/>
        </p:spPr>
      </p:sp>
      <p:sp>
        <p:nvSpPr>
          <p:cNvPr id="9" name="Text 6"/>
          <p:cNvSpPr/>
          <p:nvPr/>
        </p:nvSpPr>
        <p:spPr>
          <a:xfrm>
            <a:off x="914400" y="2880360"/>
            <a:ext cx="4617720" cy="457200"/>
          </a:xfrm>
          <a:prstGeom prst="rect">
            <a:avLst/>
          </a:prstGeom>
          <a:noFill/>
          <a:ln/>
        </p:spPr>
        <p:txBody>
          <a:bodyPr wrap="square" lIns="0" tIns="0" rIns="0" bIns="0" rtlCol="0" anchor="ctr"/>
          <a:lstStyle/>
          <a:p>
            <a:pPr marL="0" indent="0">
              <a:buNone/>
            </a:pPr>
            <a:r>
              <a:rPr lang="en-US" sz="1150" b="1" dirty="0">
                <a:solidFill>
                  <a:srgbClr val="1E7B4D"/>
                </a:solidFill>
                <a:latin typeface="Calibri" pitchFamily="34" charset="0"/>
                <a:ea typeface="Calibri" pitchFamily="34" charset="-122"/>
                <a:cs typeface="Calibri" pitchFamily="34" charset="-120"/>
              </a:rPr>
              <a:t>DV:  </a:t>
            </a:r>
            <a:r>
              <a:rPr lang="en-US" sz="1150" dirty="0">
                <a:solidFill>
                  <a:srgbClr val="1F2A24"/>
                </a:solidFill>
                <a:latin typeface="Calibri" pitchFamily="34" charset="0"/>
                <a:ea typeface="Calibri" pitchFamily="34" charset="-122"/>
                <a:cs typeface="Calibri" pitchFamily="34" charset="-120"/>
              </a:rPr>
              <a:t>Restrict region &amp; product codes to approved lists</a:t>
            </a:r>
            <a:endParaRPr lang="en-US" sz="1150" dirty="0"/>
          </a:p>
        </p:txBody>
      </p:sp>
      <p:sp>
        <p:nvSpPr>
          <p:cNvPr id="10" name="Shape 7"/>
          <p:cNvSpPr/>
          <p:nvPr/>
        </p:nvSpPr>
        <p:spPr>
          <a:xfrm>
            <a:off x="777240" y="3401568"/>
            <a:ext cx="4892040" cy="457200"/>
          </a:xfrm>
          <a:prstGeom prst="roundRect">
            <a:avLst>
              <a:gd name="adj" fmla="val 12000"/>
            </a:avLst>
          </a:prstGeom>
          <a:solidFill>
            <a:srgbClr val="FFFFFF"/>
          </a:solidFill>
          <a:ln/>
        </p:spPr>
      </p:sp>
      <p:sp>
        <p:nvSpPr>
          <p:cNvPr id="11" name="Text 8"/>
          <p:cNvSpPr/>
          <p:nvPr/>
        </p:nvSpPr>
        <p:spPr>
          <a:xfrm>
            <a:off x="914400" y="3401568"/>
            <a:ext cx="4617720" cy="457200"/>
          </a:xfrm>
          <a:prstGeom prst="rect">
            <a:avLst/>
          </a:prstGeom>
          <a:noFill/>
          <a:ln/>
        </p:spPr>
        <p:txBody>
          <a:bodyPr wrap="square" lIns="0" tIns="0" rIns="0" bIns="0" rtlCol="0" anchor="ctr"/>
          <a:lstStyle/>
          <a:p>
            <a:pPr marL="0" indent="0">
              <a:buNone/>
            </a:pPr>
            <a:r>
              <a:rPr lang="en-US" sz="1150" b="1" dirty="0">
                <a:solidFill>
                  <a:srgbClr val="1E7B4D"/>
                </a:solidFill>
                <a:latin typeface="Calibri" pitchFamily="34" charset="0"/>
                <a:ea typeface="Calibri" pitchFamily="34" charset="-122"/>
                <a:cs typeface="Calibri" pitchFamily="34" charset="-120"/>
              </a:rPr>
              <a:t>CF:  </a:t>
            </a:r>
            <a:r>
              <a:rPr lang="en-US" sz="1150" dirty="0">
                <a:solidFill>
                  <a:srgbClr val="1F2A24"/>
                </a:solidFill>
                <a:latin typeface="Calibri" pitchFamily="34" charset="0"/>
                <a:ea typeface="Calibri" pitchFamily="34" charset="-122"/>
                <a:cs typeface="Calibri" pitchFamily="34" charset="-120"/>
              </a:rPr>
              <a:t>Color-scale monthly revenue; flag targets in red/green</a:t>
            </a:r>
            <a:endParaRPr lang="en-US" sz="1150" dirty="0"/>
          </a:p>
        </p:txBody>
      </p:sp>
      <p:sp>
        <p:nvSpPr>
          <p:cNvPr id="12" name="Shape 9"/>
          <p:cNvSpPr/>
          <p:nvPr/>
        </p:nvSpPr>
        <p:spPr>
          <a:xfrm>
            <a:off x="6126480" y="1920240"/>
            <a:ext cx="5349240" cy="2057400"/>
          </a:xfrm>
          <a:prstGeom prst="roundRect">
            <a:avLst>
              <a:gd name="adj" fmla="val 3556"/>
            </a:avLst>
          </a:prstGeom>
          <a:solidFill>
            <a:srgbClr val="E7F4EC"/>
          </a:solidFill>
          <a:ln/>
          <a:effectLst>
            <a:outerShdw blurRad="76200" dist="25400" dir="2700000" algn="bl" rotWithShape="0">
              <a:srgbClr val="1F2A24">
                <a:alpha val="12000"/>
              </a:srgbClr>
            </a:outerShdw>
          </a:effectLst>
        </p:spPr>
      </p:sp>
      <p:sp>
        <p:nvSpPr>
          <p:cNvPr id="13" name="Shape 10"/>
          <p:cNvSpPr/>
          <p:nvPr/>
        </p:nvSpPr>
        <p:spPr>
          <a:xfrm>
            <a:off x="6355080" y="2148840"/>
            <a:ext cx="594360" cy="594360"/>
          </a:xfrm>
          <a:prstGeom prst="ellipse">
            <a:avLst/>
          </a:prstGeom>
          <a:solidFill>
            <a:srgbClr val="FFFFFF"/>
          </a:solidFill>
          <a:ln/>
        </p:spPr>
      </p:sp>
      <p:pic>
        <p:nvPicPr>
          <p:cNvPr id="14" name="Image 1" descr="preencoded.png"/>
          <p:cNvPicPr>
            <a:picLocks noChangeAspect="1"/>
          </p:cNvPicPr>
          <p:nvPr/>
        </p:nvPicPr>
        <p:blipFill>
          <a:blip r:embed="rId4"/>
          <a:stretch>
            <a:fillRect/>
          </a:stretch>
        </p:blipFill>
        <p:spPr>
          <a:xfrm>
            <a:off x="6473952" y="2267712"/>
            <a:ext cx="356616" cy="356616"/>
          </a:xfrm>
          <a:prstGeom prst="rect">
            <a:avLst/>
          </a:prstGeom>
        </p:spPr>
      </p:pic>
      <p:sp>
        <p:nvSpPr>
          <p:cNvPr id="15" name="Text 11"/>
          <p:cNvSpPr/>
          <p:nvPr/>
        </p:nvSpPr>
        <p:spPr>
          <a:xfrm>
            <a:off x="7132320" y="2176272"/>
            <a:ext cx="4160520" cy="502920"/>
          </a:xfrm>
          <a:prstGeom prst="rect">
            <a:avLst/>
          </a:prstGeom>
          <a:noFill/>
          <a:ln/>
        </p:spPr>
        <p:txBody>
          <a:bodyPr wrap="square" lIns="0" tIns="0" rIns="0" bIns="0" rtlCol="0" anchor="ctr"/>
          <a:lstStyle/>
          <a:p>
            <a:pPr marL="0" indent="0">
              <a:buNone/>
            </a:pPr>
            <a:r>
              <a:rPr lang="en-US" sz="1700" b="1" dirty="0">
                <a:solidFill>
                  <a:srgbClr val="1F2A24"/>
                </a:solidFill>
                <a:latin typeface="Calibri" pitchFamily="34" charset="0"/>
                <a:ea typeface="Calibri" pitchFamily="34" charset="-122"/>
                <a:cs typeface="Calibri" pitchFamily="34" charset="-120"/>
              </a:rPr>
              <a:t>Attendance Management</a:t>
            </a:r>
            <a:endParaRPr lang="en-US" sz="1700" dirty="0"/>
          </a:p>
        </p:txBody>
      </p:sp>
      <p:sp>
        <p:nvSpPr>
          <p:cNvPr id="16" name="Shape 12"/>
          <p:cNvSpPr/>
          <p:nvPr/>
        </p:nvSpPr>
        <p:spPr>
          <a:xfrm>
            <a:off x="6355080" y="2880360"/>
            <a:ext cx="4892040" cy="457200"/>
          </a:xfrm>
          <a:prstGeom prst="roundRect">
            <a:avLst>
              <a:gd name="adj" fmla="val 12000"/>
            </a:avLst>
          </a:prstGeom>
          <a:solidFill>
            <a:srgbClr val="FFFFFF"/>
          </a:solidFill>
          <a:ln/>
        </p:spPr>
      </p:sp>
      <p:sp>
        <p:nvSpPr>
          <p:cNvPr id="17" name="Text 13"/>
          <p:cNvSpPr/>
          <p:nvPr/>
        </p:nvSpPr>
        <p:spPr>
          <a:xfrm>
            <a:off x="6492240" y="2880360"/>
            <a:ext cx="4617720" cy="457200"/>
          </a:xfrm>
          <a:prstGeom prst="rect">
            <a:avLst/>
          </a:prstGeom>
          <a:noFill/>
          <a:ln/>
        </p:spPr>
        <p:txBody>
          <a:bodyPr wrap="square" lIns="0" tIns="0" rIns="0" bIns="0" rtlCol="0" anchor="ctr"/>
          <a:lstStyle/>
          <a:p>
            <a:pPr marL="0" indent="0">
              <a:buNone/>
            </a:pPr>
            <a:r>
              <a:rPr lang="en-US" sz="1150" b="1" dirty="0">
                <a:solidFill>
                  <a:srgbClr val="1E7B4D"/>
                </a:solidFill>
                <a:latin typeface="Calibri" pitchFamily="34" charset="0"/>
                <a:ea typeface="Calibri" pitchFamily="34" charset="-122"/>
                <a:cs typeface="Calibri" pitchFamily="34" charset="-120"/>
              </a:rPr>
              <a:t>DV:  </a:t>
            </a:r>
            <a:r>
              <a:rPr lang="en-US" sz="1150" dirty="0">
                <a:solidFill>
                  <a:srgbClr val="1F2A24"/>
                </a:solidFill>
                <a:latin typeface="Calibri" pitchFamily="34" charset="0"/>
                <a:ea typeface="Calibri" pitchFamily="34" charset="-122"/>
                <a:cs typeface="Calibri" pitchFamily="34" charset="-120"/>
              </a:rPr>
              <a:t>Limit status entries to Present / Absent / Leave</a:t>
            </a:r>
            <a:endParaRPr lang="en-US" sz="1150" dirty="0"/>
          </a:p>
        </p:txBody>
      </p:sp>
      <p:sp>
        <p:nvSpPr>
          <p:cNvPr id="18" name="Shape 14"/>
          <p:cNvSpPr/>
          <p:nvPr/>
        </p:nvSpPr>
        <p:spPr>
          <a:xfrm>
            <a:off x="6355080" y="3401568"/>
            <a:ext cx="4892040" cy="457200"/>
          </a:xfrm>
          <a:prstGeom prst="roundRect">
            <a:avLst>
              <a:gd name="adj" fmla="val 12000"/>
            </a:avLst>
          </a:prstGeom>
          <a:solidFill>
            <a:srgbClr val="FFFFFF"/>
          </a:solidFill>
          <a:ln/>
        </p:spPr>
      </p:sp>
      <p:sp>
        <p:nvSpPr>
          <p:cNvPr id="19" name="Text 15"/>
          <p:cNvSpPr/>
          <p:nvPr/>
        </p:nvSpPr>
        <p:spPr>
          <a:xfrm>
            <a:off x="6492240" y="3401568"/>
            <a:ext cx="4617720" cy="457200"/>
          </a:xfrm>
          <a:prstGeom prst="rect">
            <a:avLst/>
          </a:prstGeom>
          <a:noFill/>
          <a:ln/>
        </p:spPr>
        <p:txBody>
          <a:bodyPr wrap="square" lIns="0" tIns="0" rIns="0" bIns="0" rtlCol="0" anchor="ctr"/>
          <a:lstStyle/>
          <a:p>
            <a:pPr marL="0" indent="0">
              <a:buNone/>
            </a:pPr>
            <a:r>
              <a:rPr lang="en-US" sz="1150" b="1" dirty="0">
                <a:solidFill>
                  <a:srgbClr val="1E7B4D"/>
                </a:solidFill>
                <a:latin typeface="Calibri" pitchFamily="34" charset="0"/>
                <a:ea typeface="Calibri" pitchFamily="34" charset="-122"/>
                <a:cs typeface="Calibri" pitchFamily="34" charset="-120"/>
              </a:rPr>
              <a:t>CF:  </a:t>
            </a:r>
            <a:r>
              <a:rPr lang="en-US" sz="1150" dirty="0">
                <a:solidFill>
                  <a:srgbClr val="1F2A24"/>
                </a:solidFill>
                <a:latin typeface="Calibri" pitchFamily="34" charset="0"/>
                <a:ea typeface="Calibri" pitchFamily="34" charset="-122"/>
                <a:cs typeface="Calibri" pitchFamily="34" charset="-120"/>
              </a:rPr>
              <a:t>Highlight repeated absences or late check-ins</a:t>
            </a:r>
            <a:endParaRPr lang="en-US" sz="1150" dirty="0"/>
          </a:p>
        </p:txBody>
      </p:sp>
      <p:sp>
        <p:nvSpPr>
          <p:cNvPr id="20" name="Shape 16"/>
          <p:cNvSpPr/>
          <p:nvPr/>
        </p:nvSpPr>
        <p:spPr>
          <a:xfrm>
            <a:off x="548640" y="4206240"/>
            <a:ext cx="5349240" cy="2057400"/>
          </a:xfrm>
          <a:prstGeom prst="roundRect">
            <a:avLst>
              <a:gd name="adj" fmla="val 3556"/>
            </a:avLst>
          </a:prstGeom>
          <a:solidFill>
            <a:srgbClr val="E7F4EC"/>
          </a:solidFill>
          <a:ln/>
          <a:effectLst>
            <a:outerShdw blurRad="76200" dist="25400" dir="2700000" algn="bl" rotWithShape="0">
              <a:srgbClr val="1F2A24">
                <a:alpha val="12000"/>
              </a:srgbClr>
            </a:outerShdw>
          </a:effectLst>
        </p:spPr>
      </p:sp>
      <p:sp>
        <p:nvSpPr>
          <p:cNvPr id="21" name="Shape 17"/>
          <p:cNvSpPr/>
          <p:nvPr/>
        </p:nvSpPr>
        <p:spPr>
          <a:xfrm>
            <a:off x="777240" y="4434840"/>
            <a:ext cx="594360" cy="594360"/>
          </a:xfrm>
          <a:prstGeom prst="ellipse">
            <a:avLst/>
          </a:prstGeom>
          <a:solidFill>
            <a:srgbClr val="FFFFFF"/>
          </a:solidFill>
          <a:ln/>
        </p:spPr>
      </p:sp>
      <p:pic>
        <p:nvPicPr>
          <p:cNvPr id="22" name="Image 2" descr="preencoded.png"/>
          <p:cNvPicPr>
            <a:picLocks noChangeAspect="1"/>
          </p:cNvPicPr>
          <p:nvPr/>
        </p:nvPicPr>
        <p:blipFill>
          <a:blip r:embed="rId5"/>
          <a:stretch>
            <a:fillRect/>
          </a:stretch>
        </p:blipFill>
        <p:spPr>
          <a:xfrm>
            <a:off x="896112" y="4553712"/>
            <a:ext cx="356616" cy="356616"/>
          </a:xfrm>
          <a:prstGeom prst="rect">
            <a:avLst/>
          </a:prstGeom>
        </p:spPr>
      </p:pic>
      <p:sp>
        <p:nvSpPr>
          <p:cNvPr id="23" name="Text 18"/>
          <p:cNvSpPr/>
          <p:nvPr/>
        </p:nvSpPr>
        <p:spPr>
          <a:xfrm>
            <a:off x="1554480" y="4462272"/>
            <a:ext cx="4160520" cy="502920"/>
          </a:xfrm>
          <a:prstGeom prst="rect">
            <a:avLst/>
          </a:prstGeom>
          <a:noFill/>
          <a:ln/>
        </p:spPr>
        <p:txBody>
          <a:bodyPr wrap="square" lIns="0" tIns="0" rIns="0" bIns="0" rtlCol="0" anchor="ctr"/>
          <a:lstStyle/>
          <a:p>
            <a:pPr marL="0" indent="0">
              <a:buNone/>
            </a:pPr>
            <a:r>
              <a:rPr lang="en-US" sz="1700" b="1" dirty="0">
                <a:solidFill>
                  <a:srgbClr val="1F2A24"/>
                </a:solidFill>
                <a:latin typeface="Calibri" pitchFamily="34" charset="0"/>
                <a:ea typeface="Calibri" pitchFamily="34" charset="-122"/>
                <a:cs typeface="Calibri" pitchFamily="34" charset="-120"/>
              </a:rPr>
              <a:t>Inventory Control</a:t>
            </a:r>
            <a:endParaRPr lang="en-US" sz="1700" dirty="0"/>
          </a:p>
        </p:txBody>
      </p:sp>
      <p:sp>
        <p:nvSpPr>
          <p:cNvPr id="24" name="Shape 19"/>
          <p:cNvSpPr/>
          <p:nvPr/>
        </p:nvSpPr>
        <p:spPr>
          <a:xfrm>
            <a:off x="777240" y="5166360"/>
            <a:ext cx="4892040" cy="457200"/>
          </a:xfrm>
          <a:prstGeom prst="roundRect">
            <a:avLst>
              <a:gd name="adj" fmla="val 12000"/>
            </a:avLst>
          </a:prstGeom>
          <a:solidFill>
            <a:srgbClr val="FFFFFF"/>
          </a:solidFill>
          <a:ln/>
        </p:spPr>
      </p:sp>
      <p:sp>
        <p:nvSpPr>
          <p:cNvPr id="25" name="Text 20"/>
          <p:cNvSpPr/>
          <p:nvPr/>
        </p:nvSpPr>
        <p:spPr>
          <a:xfrm>
            <a:off x="914400" y="5166360"/>
            <a:ext cx="4617720" cy="457200"/>
          </a:xfrm>
          <a:prstGeom prst="rect">
            <a:avLst/>
          </a:prstGeom>
          <a:noFill/>
          <a:ln/>
        </p:spPr>
        <p:txBody>
          <a:bodyPr wrap="square" lIns="0" tIns="0" rIns="0" bIns="0" rtlCol="0" anchor="ctr"/>
          <a:lstStyle/>
          <a:p>
            <a:pPr marL="0" indent="0">
              <a:buNone/>
            </a:pPr>
            <a:r>
              <a:rPr lang="en-US" sz="1150" b="1" dirty="0">
                <a:solidFill>
                  <a:srgbClr val="1E7B4D"/>
                </a:solidFill>
                <a:latin typeface="Calibri" pitchFamily="34" charset="0"/>
                <a:ea typeface="Calibri" pitchFamily="34" charset="-122"/>
                <a:cs typeface="Calibri" pitchFamily="34" charset="-120"/>
              </a:rPr>
              <a:t>DV:  </a:t>
            </a:r>
            <a:r>
              <a:rPr lang="en-US" sz="1150" dirty="0">
                <a:solidFill>
                  <a:srgbClr val="1F2A24"/>
                </a:solidFill>
                <a:latin typeface="Calibri" pitchFamily="34" charset="0"/>
                <a:ea typeface="Calibri" pitchFamily="34" charset="-122"/>
                <a:cs typeface="Calibri" pitchFamily="34" charset="-120"/>
              </a:rPr>
              <a:t>Enforce whole-number stock counts within set limits</a:t>
            </a:r>
            <a:endParaRPr lang="en-US" sz="1150" dirty="0"/>
          </a:p>
        </p:txBody>
      </p:sp>
      <p:sp>
        <p:nvSpPr>
          <p:cNvPr id="26" name="Shape 21"/>
          <p:cNvSpPr/>
          <p:nvPr/>
        </p:nvSpPr>
        <p:spPr>
          <a:xfrm>
            <a:off x="777240" y="5687568"/>
            <a:ext cx="4892040" cy="457200"/>
          </a:xfrm>
          <a:prstGeom prst="roundRect">
            <a:avLst>
              <a:gd name="adj" fmla="val 12000"/>
            </a:avLst>
          </a:prstGeom>
          <a:solidFill>
            <a:srgbClr val="FFFFFF"/>
          </a:solidFill>
          <a:ln/>
        </p:spPr>
      </p:sp>
      <p:sp>
        <p:nvSpPr>
          <p:cNvPr id="27" name="Text 22"/>
          <p:cNvSpPr/>
          <p:nvPr/>
        </p:nvSpPr>
        <p:spPr>
          <a:xfrm>
            <a:off x="914400" y="5687568"/>
            <a:ext cx="4617720" cy="457200"/>
          </a:xfrm>
          <a:prstGeom prst="rect">
            <a:avLst/>
          </a:prstGeom>
          <a:noFill/>
          <a:ln/>
        </p:spPr>
        <p:txBody>
          <a:bodyPr wrap="square" lIns="0" tIns="0" rIns="0" bIns="0" rtlCol="0" anchor="ctr"/>
          <a:lstStyle/>
          <a:p>
            <a:pPr marL="0" indent="0">
              <a:buNone/>
            </a:pPr>
            <a:r>
              <a:rPr lang="en-US" sz="1150" b="1" dirty="0">
                <a:solidFill>
                  <a:srgbClr val="1E7B4D"/>
                </a:solidFill>
                <a:latin typeface="Calibri" pitchFamily="34" charset="0"/>
                <a:ea typeface="Calibri" pitchFamily="34" charset="-122"/>
                <a:cs typeface="Calibri" pitchFamily="34" charset="-120"/>
              </a:rPr>
              <a:t>CF:  </a:t>
            </a:r>
            <a:r>
              <a:rPr lang="en-US" sz="1150" dirty="0">
                <a:solidFill>
                  <a:srgbClr val="1F2A24"/>
                </a:solidFill>
                <a:latin typeface="Calibri" pitchFamily="34" charset="0"/>
                <a:ea typeface="Calibri" pitchFamily="34" charset="-122"/>
                <a:cs typeface="Calibri" pitchFamily="34" charset="-120"/>
              </a:rPr>
              <a:t>Icon sets flag low-stock items needing reorder</a:t>
            </a:r>
            <a:endParaRPr lang="en-US" sz="1150" dirty="0"/>
          </a:p>
        </p:txBody>
      </p:sp>
      <p:sp>
        <p:nvSpPr>
          <p:cNvPr id="28" name="Shape 23"/>
          <p:cNvSpPr/>
          <p:nvPr/>
        </p:nvSpPr>
        <p:spPr>
          <a:xfrm>
            <a:off x="6126480" y="4206240"/>
            <a:ext cx="5349240" cy="2057400"/>
          </a:xfrm>
          <a:prstGeom prst="roundRect">
            <a:avLst>
              <a:gd name="adj" fmla="val 3556"/>
            </a:avLst>
          </a:prstGeom>
          <a:solidFill>
            <a:srgbClr val="E7F4EC"/>
          </a:solidFill>
          <a:ln/>
          <a:effectLst>
            <a:outerShdw blurRad="76200" dist="25400" dir="2700000" algn="bl" rotWithShape="0">
              <a:srgbClr val="1F2A24">
                <a:alpha val="12000"/>
              </a:srgbClr>
            </a:outerShdw>
          </a:effectLst>
        </p:spPr>
      </p:sp>
      <p:sp>
        <p:nvSpPr>
          <p:cNvPr id="29" name="Shape 24"/>
          <p:cNvSpPr/>
          <p:nvPr/>
        </p:nvSpPr>
        <p:spPr>
          <a:xfrm>
            <a:off x="6355080" y="4434840"/>
            <a:ext cx="594360" cy="594360"/>
          </a:xfrm>
          <a:prstGeom prst="ellipse">
            <a:avLst/>
          </a:prstGeom>
          <a:solidFill>
            <a:srgbClr val="FFFFFF"/>
          </a:solidFill>
          <a:ln/>
        </p:spPr>
      </p:sp>
      <p:pic>
        <p:nvPicPr>
          <p:cNvPr id="30" name="Image 3" descr="preencoded.png"/>
          <p:cNvPicPr>
            <a:picLocks noChangeAspect="1"/>
          </p:cNvPicPr>
          <p:nvPr/>
        </p:nvPicPr>
        <p:blipFill>
          <a:blip r:embed="rId6"/>
          <a:stretch>
            <a:fillRect/>
          </a:stretch>
        </p:blipFill>
        <p:spPr>
          <a:xfrm>
            <a:off x="6473952" y="4553712"/>
            <a:ext cx="356616" cy="356616"/>
          </a:xfrm>
          <a:prstGeom prst="rect">
            <a:avLst/>
          </a:prstGeom>
        </p:spPr>
      </p:pic>
      <p:sp>
        <p:nvSpPr>
          <p:cNvPr id="31" name="Text 25"/>
          <p:cNvSpPr/>
          <p:nvPr/>
        </p:nvSpPr>
        <p:spPr>
          <a:xfrm>
            <a:off x="7132320" y="4462272"/>
            <a:ext cx="4160520" cy="502920"/>
          </a:xfrm>
          <a:prstGeom prst="rect">
            <a:avLst/>
          </a:prstGeom>
          <a:noFill/>
          <a:ln/>
        </p:spPr>
        <p:txBody>
          <a:bodyPr wrap="square" lIns="0" tIns="0" rIns="0" bIns="0" rtlCol="0" anchor="ctr"/>
          <a:lstStyle/>
          <a:p>
            <a:pPr marL="0" indent="0">
              <a:buNone/>
            </a:pPr>
            <a:r>
              <a:rPr lang="en-US" sz="1700" b="1" dirty="0">
                <a:solidFill>
                  <a:srgbClr val="1F2A24"/>
                </a:solidFill>
                <a:latin typeface="Calibri" pitchFamily="34" charset="0"/>
                <a:ea typeface="Calibri" pitchFamily="34" charset="-122"/>
                <a:cs typeface="Calibri" pitchFamily="34" charset="-120"/>
              </a:rPr>
              <a:t>Data Entry Forms</a:t>
            </a:r>
            <a:endParaRPr lang="en-US" sz="1700" dirty="0"/>
          </a:p>
        </p:txBody>
      </p:sp>
      <p:sp>
        <p:nvSpPr>
          <p:cNvPr id="32" name="Shape 26"/>
          <p:cNvSpPr/>
          <p:nvPr/>
        </p:nvSpPr>
        <p:spPr>
          <a:xfrm>
            <a:off x="6355080" y="5166360"/>
            <a:ext cx="4892040" cy="457200"/>
          </a:xfrm>
          <a:prstGeom prst="roundRect">
            <a:avLst>
              <a:gd name="adj" fmla="val 12000"/>
            </a:avLst>
          </a:prstGeom>
          <a:solidFill>
            <a:srgbClr val="FFFFFF"/>
          </a:solidFill>
          <a:ln/>
        </p:spPr>
      </p:sp>
      <p:sp>
        <p:nvSpPr>
          <p:cNvPr id="33" name="Text 27"/>
          <p:cNvSpPr/>
          <p:nvPr/>
        </p:nvSpPr>
        <p:spPr>
          <a:xfrm>
            <a:off x="6492240" y="5166360"/>
            <a:ext cx="4617720" cy="457200"/>
          </a:xfrm>
          <a:prstGeom prst="rect">
            <a:avLst/>
          </a:prstGeom>
          <a:noFill/>
          <a:ln/>
        </p:spPr>
        <p:txBody>
          <a:bodyPr wrap="square" lIns="0" tIns="0" rIns="0" bIns="0" rtlCol="0" anchor="ctr"/>
          <a:lstStyle/>
          <a:p>
            <a:pPr marL="0" indent="0">
              <a:buNone/>
            </a:pPr>
            <a:r>
              <a:rPr lang="en-US" sz="1150" b="1" dirty="0">
                <a:solidFill>
                  <a:srgbClr val="1E7B4D"/>
                </a:solidFill>
                <a:latin typeface="Calibri" pitchFamily="34" charset="0"/>
                <a:ea typeface="Calibri" pitchFamily="34" charset="-122"/>
                <a:cs typeface="Calibri" pitchFamily="34" charset="-120"/>
              </a:rPr>
              <a:t>DV:  </a:t>
            </a:r>
            <a:r>
              <a:rPr lang="en-US" sz="1150" dirty="0">
                <a:solidFill>
                  <a:srgbClr val="1F2A24"/>
                </a:solidFill>
                <a:latin typeface="Calibri" pitchFamily="34" charset="0"/>
                <a:ea typeface="Calibri" pitchFamily="34" charset="-122"/>
                <a:cs typeface="Calibri" pitchFamily="34" charset="-120"/>
              </a:rPr>
              <a:t>Dropdowns and date pickers prevent malformed records</a:t>
            </a:r>
            <a:endParaRPr lang="en-US" sz="1150" dirty="0"/>
          </a:p>
        </p:txBody>
      </p:sp>
      <p:sp>
        <p:nvSpPr>
          <p:cNvPr id="34" name="Shape 28"/>
          <p:cNvSpPr/>
          <p:nvPr/>
        </p:nvSpPr>
        <p:spPr>
          <a:xfrm>
            <a:off x="6355080" y="5687568"/>
            <a:ext cx="4892040" cy="457200"/>
          </a:xfrm>
          <a:prstGeom prst="roundRect">
            <a:avLst>
              <a:gd name="adj" fmla="val 12000"/>
            </a:avLst>
          </a:prstGeom>
          <a:solidFill>
            <a:srgbClr val="FFFFFF"/>
          </a:solidFill>
          <a:ln/>
        </p:spPr>
      </p:sp>
      <p:sp>
        <p:nvSpPr>
          <p:cNvPr id="35" name="Text 29"/>
          <p:cNvSpPr/>
          <p:nvPr/>
        </p:nvSpPr>
        <p:spPr>
          <a:xfrm>
            <a:off x="6492240" y="5687568"/>
            <a:ext cx="4617720" cy="457200"/>
          </a:xfrm>
          <a:prstGeom prst="rect">
            <a:avLst/>
          </a:prstGeom>
          <a:noFill/>
          <a:ln/>
        </p:spPr>
        <p:txBody>
          <a:bodyPr wrap="square" lIns="0" tIns="0" rIns="0" bIns="0" rtlCol="0" anchor="ctr"/>
          <a:lstStyle/>
          <a:p>
            <a:pPr marL="0" indent="0">
              <a:buNone/>
            </a:pPr>
            <a:r>
              <a:rPr lang="en-US" sz="1150" b="1" dirty="0">
                <a:solidFill>
                  <a:srgbClr val="1E7B4D"/>
                </a:solidFill>
                <a:latin typeface="Calibri" pitchFamily="34" charset="0"/>
                <a:ea typeface="Calibri" pitchFamily="34" charset="-122"/>
                <a:cs typeface="Calibri" pitchFamily="34" charset="-120"/>
              </a:rPr>
              <a:t>CF:  </a:t>
            </a:r>
            <a:r>
              <a:rPr lang="en-US" sz="1150" dirty="0">
                <a:solidFill>
                  <a:srgbClr val="1F2A24"/>
                </a:solidFill>
                <a:latin typeface="Calibri" pitchFamily="34" charset="0"/>
                <a:ea typeface="Calibri" pitchFamily="34" charset="-122"/>
                <a:cs typeface="Calibri" pitchFamily="34" charset="-120"/>
              </a:rPr>
              <a:t>Highlight incomplete or duplicate submissions</a:t>
            </a:r>
            <a:endParaRPr lang="en-US" sz="1150" dirty="0"/>
          </a:p>
        </p:txBody>
      </p:sp>
      <p:sp>
        <p:nvSpPr>
          <p:cNvPr id="36" name="Text 30"/>
          <p:cNvSpPr/>
          <p:nvPr/>
        </p:nvSpPr>
        <p:spPr>
          <a:xfrm>
            <a:off x="11521440" y="6446520"/>
            <a:ext cx="457200" cy="274320"/>
          </a:xfrm>
          <a:prstGeom prst="rect">
            <a:avLst/>
          </a:prstGeom>
          <a:noFill/>
          <a:ln/>
        </p:spPr>
        <p:txBody>
          <a:bodyPr wrap="square" lIns="0" tIns="0" rIns="0" bIns="0" rtlCol="0" anchor="ctr"/>
          <a:lstStyle/>
          <a:p>
            <a:pPr marL="0" indent="0" algn="r">
              <a:buNone/>
            </a:pPr>
            <a:r>
              <a:rPr lang="en-US" sz="1000" dirty="0">
                <a:solidFill>
                  <a:srgbClr val="6B7A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1E7B4D"/>
                </a:solidFill>
                <a:latin typeface="Calibri" pitchFamily="34" charset="0"/>
                <a:ea typeface="Calibri" pitchFamily="34" charset="-122"/>
                <a:cs typeface="Calibri" pitchFamily="34" charset="-120"/>
              </a:rPr>
              <a:t>BEST PRACTICES</a:t>
            </a:r>
            <a:endParaRPr lang="en-US" sz="12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marL="0" indent="0">
              <a:buNone/>
            </a:pPr>
            <a:r>
              <a:rPr lang="en-US" sz="3200" b="1" dirty="0">
                <a:solidFill>
                  <a:srgbClr val="1F2A24"/>
                </a:solidFill>
                <a:latin typeface="Cambria" pitchFamily="34" charset="0"/>
                <a:ea typeface="Cambria" pitchFamily="34" charset="-122"/>
                <a:cs typeface="Cambria" pitchFamily="34" charset="-120"/>
              </a:rPr>
              <a:t>Best Practices &amp; Tips</a:t>
            </a:r>
            <a:endParaRPr lang="en-US" sz="3200" dirty="0"/>
          </a:p>
        </p:txBody>
      </p:sp>
      <p:sp>
        <p:nvSpPr>
          <p:cNvPr id="4" name="Shape 2"/>
          <p:cNvSpPr/>
          <p:nvPr/>
        </p:nvSpPr>
        <p:spPr>
          <a:xfrm>
            <a:off x="548640" y="192024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5" name="Shape 3"/>
          <p:cNvSpPr/>
          <p:nvPr/>
        </p:nvSpPr>
        <p:spPr>
          <a:xfrm>
            <a:off x="731520" y="2103120"/>
            <a:ext cx="548640" cy="548640"/>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841248" y="2212848"/>
            <a:ext cx="329184" cy="329184"/>
          </a:xfrm>
          <a:prstGeom prst="rect">
            <a:avLst/>
          </a:prstGeom>
        </p:spPr>
      </p:pic>
      <p:sp>
        <p:nvSpPr>
          <p:cNvPr id="7" name="Text 4"/>
          <p:cNvSpPr/>
          <p:nvPr/>
        </p:nvSpPr>
        <p:spPr>
          <a:xfrm>
            <a:off x="1417320" y="2121408"/>
            <a:ext cx="2651760" cy="50292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Manage Rule Priority</a:t>
            </a:r>
            <a:endParaRPr lang="en-US" sz="1450" dirty="0"/>
          </a:p>
        </p:txBody>
      </p:sp>
      <p:sp>
        <p:nvSpPr>
          <p:cNvPr id="8" name="Text 5"/>
          <p:cNvSpPr/>
          <p:nvPr/>
        </p:nvSpPr>
        <p:spPr>
          <a:xfrm>
            <a:off x="731520" y="2788920"/>
            <a:ext cx="3291840" cy="914400"/>
          </a:xfrm>
          <a:prstGeom prst="rect">
            <a:avLst/>
          </a:prstGeom>
          <a:noFill/>
          <a:ln/>
        </p:spPr>
        <p:txBody>
          <a:bodyPr wrap="square" lIns="0" tIns="0" rIns="0" bIns="0" rtlCol="0" anchor="ctr"/>
          <a:lstStyle/>
          <a:p>
            <a:pPr marL="0" indent="0">
              <a:lnSpc>
                <a:spcPct val="120000"/>
              </a:lnSpc>
              <a:buNone/>
            </a:pPr>
            <a:r>
              <a:rPr lang="en-US" sz="1200" dirty="0">
                <a:solidFill>
                  <a:srgbClr val="6B7A72"/>
                </a:solidFill>
                <a:latin typeface="Calibri" pitchFamily="34" charset="0"/>
                <a:ea typeface="Calibri" pitchFamily="34" charset="-122"/>
                <a:cs typeface="Calibri" pitchFamily="34" charset="-120"/>
              </a:rPr>
              <a:t>Review the Manage Rules dialog regularly; order determines which formats win on conflicts.</a:t>
            </a:r>
            <a:endParaRPr lang="en-US" sz="1200" dirty="0"/>
          </a:p>
        </p:txBody>
      </p:sp>
      <p:sp>
        <p:nvSpPr>
          <p:cNvPr id="9" name="Shape 6"/>
          <p:cNvSpPr/>
          <p:nvPr/>
        </p:nvSpPr>
        <p:spPr>
          <a:xfrm>
            <a:off x="4434840" y="192024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10" name="Shape 7"/>
          <p:cNvSpPr/>
          <p:nvPr/>
        </p:nvSpPr>
        <p:spPr>
          <a:xfrm>
            <a:off x="4617720" y="2103120"/>
            <a:ext cx="548640" cy="548640"/>
          </a:xfrm>
          <a:prstGeom prst="ellipse">
            <a:avLst/>
          </a:prstGeom>
          <a:solidFill>
            <a:srgbClr val="FFFFFF"/>
          </a:solidFill>
          <a:ln/>
        </p:spPr>
      </p:sp>
      <p:pic>
        <p:nvPicPr>
          <p:cNvPr id="11" name="Image 1" descr="preencoded.png"/>
          <p:cNvPicPr>
            <a:picLocks noChangeAspect="1"/>
          </p:cNvPicPr>
          <p:nvPr/>
        </p:nvPicPr>
        <p:blipFill>
          <a:blip r:embed="rId4"/>
          <a:stretch>
            <a:fillRect/>
          </a:stretch>
        </p:blipFill>
        <p:spPr>
          <a:xfrm>
            <a:off x="4727448" y="2212848"/>
            <a:ext cx="329184" cy="329184"/>
          </a:xfrm>
          <a:prstGeom prst="rect">
            <a:avLst/>
          </a:prstGeom>
        </p:spPr>
      </p:pic>
      <p:sp>
        <p:nvSpPr>
          <p:cNvPr id="12" name="Text 8"/>
          <p:cNvSpPr/>
          <p:nvPr/>
        </p:nvSpPr>
        <p:spPr>
          <a:xfrm>
            <a:off x="5303520" y="2121408"/>
            <a:ext cx="2651760" cy="50292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Avoid 'Clear All'</a:t>
            </a:r>
            <a:endParaRPr lang="en-US" sz="1450" dirty="0"/>
          </a:p>
        </p:txBody>
      </p:sp>
      <p:sp>
        <p:nvSpPr>
          <p:cNvPr id="13" name="Text 9"/>
          <p:cNvSpPr/>
          <p:nvPr/>
        </p:nvSpPr>
        <p:spPr>
          <a:xfrm>
            <a:off x="4617720" y="2788920"/>
            <a:ext cx="3291840" cy="914400"/>
          </a:xfrm>
          <a:prstGeom prst="rect">
            <a:avLst/>
          </a:prstGeom>
          <a:noFill/>
          <a:ln/>
        </p:spPr>
        <p:txBody>
          <a:bodyPr wrap="square" lIns="0" tIns="0" rIns="0" bIns="0" rtlCol="0" anchor="ctr"/>
          <a:lstStyle/>
          <a:p>
            <a:pPr marL="0" indent="0">
              <a:lnSpc>
                <a:spcPct val="120000"/>
              </a:lnSpc>
              <a:buNone/>
            </a:pPr>
            <a:r>
              <a:rPr lang="en-US" sz="1200" dirty="0">
                <a:solidFill>
                  <a:srgbClr val="6B7A72"/>
                </a:solidFill>
                <a:latin typeface="Calibri" pitchFamily="34" charset="0"/>
                <a:ea typeface="Calibri" pitchFamily="34" charset="-122"/>
                <a:cs typeface="Calibri" pitchFamily="34" charset="-120"/>
              </a:rPr>
              <a:t>Always remove specific rules individually — Clear All wipes every rule in the selection.</a:t>
            </a:r>
            <a:endParaRPr lang="en-US" sz="1200" dirty="0"/>
          </a:p>
        </p:txBody>
      </p:sp>
      <p:sp>
        <p:nvSpPr>
          <p:cNvPr id="14" name="Shape 10"/>
          <p:cNvSpPr/>
          <p:nvPr/>
        </p:nvSpPr>
        <p:spPr>
          <a:xfrm>
            <a:off x="8321040" y="192024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15" name="Shape 11"/>
          <p:cNvSpPr/>
          <p:nvPr/>
        </p:nvSpPr>
        <p:spPr>
          <a:xfrm>
            <a:off x="8503920" y="2103120"/>
            <a:ext cx="548640" cy="548640"/>
          </a:xfrm>
          <a:prstGeom prst="ellipse">
            <a:avLst/>
          </a:prstGeom>
          <a:solidFill>
            <a:srgbClr val="FFFFFF"/>
          </a:solidFill>
          <a:ln/>
        </p:spPr>
      </p:sp>
      <p:pic>
        <p:nvPicPr>
          <p:cNvPr id="16" name="Image 2" descr="preencoded.png"/>
          <p:cNvPicPr>
            <a:picLocks noChangeAspect="1"/>
          </p:cNvPicPr>
          <p:nvPr/>
        </p:nvPicPr>
        <p:blipFill>
          <a:blip r:embed="rId5"/>
          <a:stretch>
            <a:fillRect/>
          </a:stretch>
        </p:blipFill>
        <p:spPr>
          <a:xfrm>
            <a:off x="8613648" y="2212848"/>
            <a:ext cx="329184" cy="329184"/>
          </a:xfrm>
          <a:prstGeom prst="rect">
            <a:avLst/>
          </a:prstGeom>
        </p:spPr>
      </p:pic>
      <p:sp>
        <p:nvSpPr>
          <p:cNvPr id="17" name="Text 12"/>
          <p:cNvSpPr/>
          <p:nvPr/>
        </p:nvSpPr>
        <p:spPr>
          <a:xfrm>
            <a:off x="9189720" y="2121408"/>
            <a:ext cx="2651760" cy="50292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Use Named Ranges</a:t>
            </a:r>
            <a:endParaRPr lang="en-US" sz="1450" dirty="0"/>
          </a:p>
        </p:txBody>
      </p:sp>
      <p:sp>
        <p:nvSpPr>
          <p:cNvPr id="18" name="Text 13"/>
          <p:cNvSpPr/>
          <p:nvPr/>
        </p:nvSpPr>
        <p:spPr>
          <a:xfrm>
            <a:off x="8503920" y="2788920"/>
            <a:ext cx="3291840" cy="914400"/>
          </a:xfrm>
          <a:prstGeom prst="rect">
            <a:avLst/>
          </a:prstGeom>
          <a:noFill/>
          <a:ln/>
        </p:spPr>
        <p:txBody>
          <a:bodyPr wrap="square" lIns="0" tIns="0" rIns="0" bIns="0" rtlCol="0" anchor="ctr"/>
          <a:lstStyle/>
          <a:p>
            <a:pPr marL="0" indent="0">
              <a:lnSpc>
                <a:spcPct val="120000"/>
              </a:lnSpc>
              <a:buNone/>
            </a:pPr>
            <a:r>
              <a:rPr lang="en-US" sz="1200" dirty="0">
                <a:solidFill>
                  <a:srgbClr val="6B7A72"/>
                </a:solidFill>
                <a:latin typeface="Calibri" pitchFamily="34" charset="0"/>
                <a:ea typeface="Calibri" pitchFamily="34" charset="-122"/>
                <a:cs typeface="Calibri" pitchFamily="34" charset="-120"/>
              </a:rPr>
              <a:t>Name your list sources so dropdowns and formulas stay accurate as data grows.</a:t>
            </a:r>
            <a:endParaRPr lang="en-US" sz="1200" dirty="0"/>
          </a:p>
        </p:txBody>
      </p:sp>
      <p:sp>
        <p:nvSpPr>
          <p:cNvPr id="19" name="Shape 14"/>
          <p:cNvSpPr/>
          <p:nvPr/>
        </p:nvSpPr>
        <p:spPr>
          <a:xfrm>
            <a:off x="548640" y="402336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20" name="Shape 15"/>
          <p:cNvSpPr/>
          <p:nvPr/>
        </p:nvSpPr>
        <p:spPr>
          <a:xfrm>
            <a:off x="731520" y="4206240"/>
            <a:ext cx="548640" cy="548640"/>
          </a:xfrm>
          <a:prstGeom prst="ellipse">
            <a:avLst/>
          </a:prstGeom>
          <a:solidFill>
            <a:srgbClr val="FFFFFF"/>
          </a:solidFill>
          <a:ln/>
        </p:spPr>
      </p:sp>
      <p:pic>
        <p:nvPicPr>
          <p:cNvPr id="21" name="Image 3" descr="preencoded.png"/>
          <p:cNvPicPr>
            <a:picLocks noChangeAspect="1"/>
          </p:cNvPicPr>
          <p:nvPr/>
        </p:nvPicPr>
        <p:blipFill>
          <a:blip r:embed="rId6"/>
          <a:stretch>
            <a:fillRect/>
          </a:stretch>
        </p:blipFill>
        <p:spPr>
          <a:xfrm>
            <a:off x="841248" y="4315968"/>
            <a:ext cx="329184" cy="329184"/>
          </a:xfrm>
          <a:prstGeom prst="rect">
            <a:avLst/>
          </a:prstGeom>
        </p:spPr>
      </p:pic>
      <p:sp>
        <p:nvSpPr>
          <p:cNvPr id="22" name="Text 16"/>
          <p:cNvSpPr/>
          <p:nvPr/>
        </p:nvSpPr>
        <p:spPr>
          <a:xfrm>
            <a:off x="1417320" y="4224528"/>
            <a:ext cx="2651760" cy="50292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Test Formula Rules</a:t>
            </a:r>
            <a:endParaRPr lang="en-US" sz="1450" dirty="0"/>
          </a:p>
        </p:txBody>
      </p:sp>
      <p:sp>
        <p:nvSpPr>
          <p:cNvPr id="23" name="Text 17"/>
          <p:cNvSpPr/>
          <p:nvPr/>
        </p:nvSpPr>
        <p:spPr>
          <a:xfrm>
            <a:off x="731520" y="4892040"/>
            <a:ext cx="3291840" cy="914400"/>
          </a:xfrm>
          <a:prstGeom prst="rect">
            <a:avLst/>
          </a:prstGeom>
          <a:noFill/>
          <a:ln/>
        </p:spPr>
        <p:txBody>
          <a:bodyPr wrap="square" lIns="0" tIns="0" rIns="0" bIns="0" rtlCol="0" anchor="ctr"/>
          <a:lstStyle/>
          <a:p>
            <a:pPr marL="0" indent="0">
              <a:lnSpc>
                <a:spcPct val="120000"/>
              </a:lnSpc>
              <a:buNone/>
            </a:pPr>
            <a:r>
              <a:rPr lang="en-US" sz="1200" dirty="0">
                <a:solidFill>
                  <a:srgbClr val="6B7A72"/>
                </a:solidFill>
                <a:latin typeface="Calibri" pitchFamily="34" charset="0"/>
                <a:ea typeface="Calibri" pitchFamily="34" charset="-122"/>
                <a:cs typeface="Calibri" pitchFamily="34" charset="-120"/>
              </a:rPr>
              <a:t>Validate custom formulas on sample data before applying them to a full dataset.</a:t>
            </a:r>
            <a:endParaRPr lang="en-US" sz="1200" dirty="0"/>
          </a:p>
        </p:txBody>
      </p:sp>
      <p:sp>
        <p:nvSpPr>
          <p:cNvPr id="24" name="Shape 18"/>
          <p:cNvSpPr/>
          <p:nvPr/>
        </p:nvSpPr>
        <p:spPr>
          <a:xfrm>
            <a:off x="4434840" y="402336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25" name="Shape 19"/>
          <p:cNvSpPr/>
          <p:nvPr/>
        </p:nvSpPr>
        <p:spPr>
          <a:xfrm>
            <a:off x="4617720" y="4206240"/>
            <a:ext cx="548640" cy="548640"/>
          </a:xfrm>
          <a:prstGeom prst="ellipse">
            <a:avLst/>
          </a:prstGeom>
          <a:solidFill>
            <a:srgbClr val="FFFFFF"/>
          </a:solidFill>
          <a:ln/>
        </p:spPr>
      </p:sp>
      <p:pic>
        <p:nvPicPr>
          <p:cNvPr id="26" name="Image 4" descr="preencoded.png"/>
          <p:cNvPicPr>
            <a:picLocks noChangeAspect="1"/>
          </p:cNvPicPr>
          <p:nvPr/>
        </p:nvPicPr>
        <p:blipFill>
          <a:blip r:embed="rId7"/>
          <a:stretch>
            <a:fillRect/>
          </a:stretch>
        </p:blipFill>
        <p:spPr>
          <a:xfrm>
            <a:off x="4727448" y="4315968"/>
            <a:ext cx="329184" cy="329184"/>
          </a:xfrm>
          <a:prstGeom prst="rect">
            <a:avLst/>
          </a:prstGeom>
        </p:spPr>
      </p:pic>
      <p:sp>
        <p:nvSpPr>
          <p:cNvPr id="27" name="Text 20"/>
          <p:cNvSpPr/>
          <p:nvPr/>
        </p:nvSpPr>
        <p:spPr>
          <a:xfrm>
            <a:off x="5303520" y="4224528"/>
            <a:ext cx="2651760" cy="50292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Keep Rules Minimal</a:t>
            </a:r>
            <a:endParaRPr lang="en-US" sz="1450" dirty="0"/>
          </a:p>
        </p:txBody>
      </p:sp>
      <p:sp>
        <p:nvSpPr>
          <p:cNvPr id="28" name="Text 21"/>
          <p:cNvSpPr/>
          <p:nvPr/>
        </p:nvSpPr>
        <p:spPr>
          <a:xfrm>
            <a:off x="4617720" y="4892040"/>
            <a:ext cx="3291840" cy="914400"/>
          </a:xfrm>
          <a:prstGeom prst="rect">
            <a:avLst/>
          </a:prstGeom>
          <a:noFill/>
          <a:ln/>
        </p:spPr>
        <p:txBody>
          <a:bodyPr wrap="square" lIns="0" tIns="0" rIns="0" bIns="0" rtlCol="0" anchor="ctr"/>
          <a:lstStyle/>
          <a:p>
            <a:pPr marL="0" indent="0">
              <a:lnSpc>
                <a:spcPct val="120000"/>
              </a:lnSpc>
              <a:buNone/>
            </a:pPr>
            <a:r>
              <a:rPr lang="en-US" sz="1200" dirty="0">
                <a:solidFill>
                  <a:srgbClr val="6B7A72"/>
                </a:solidFill>
                <a:latin typeface="Calibri" pitchFamily="34" charset="0"/>
                <a:ea typeface="Calibri" pitchFamily="34" charset="-122"/>
                <a:cs typeface="Calibri" pitchFamily="34" charset="-120"/>
              </a:rPr>
              <a:t>Too many overlapping rules slow performance and confuse maintenance — consolidate where possible.</a:t>
            </a:r>
            <a:endParaRPr lang="en-US" sz="1200" dirty="0"/>
          </a:p>
        </p:txBody>
      </p:sp>
      <p:sp>
        <p:nvSpPr>
          <p:cNvPr id="29" name="Shape 22"/>
          <p:cNvSpPr/>
          <p:nvPr/>
        </p:nvSpPr>
        <p:spPr>
          <a:xfrm>
            <a:off x="8321040" y="4023360"/>
            <a:ext cx="3657600" cy="1874520"/>
          </a:xfrm>
          <a:prstGeom prst="roundRect">
            <a:avLst>
              <a:gd name="adj" fmla="val 3902"/>
            </a:avLst>
          </a:prstGeom>
          <a:solidFill>
            <a:srgbClr val="E7F4EC"/>
          </a:solidFill>
          <a:ln/>
          <a:effectLst>
            <a:outerShdw blurRad="76200" dist="25400" dir="2700000" algn="bl" rotWithShape="0">
              <a:srgbClr val="1F2A24">
                <a:alpha val="12000"/>
              </a:srgbClr>
            </a:outerShdw>
          </a:effectLst>
        </p:spPr>
      </p:sp>
      <p:sp>
        <p:nvSpPr>
          <p:cNvPr id="30" name="Shape 23"/>
          <p:cNvSpPr/>
          <p:nvPr/>
        </p:nvSpPr>
        <p:spPr>
          <a:xfrm>
            <a:off x="8503920" y="4206240"/>
            <a:ext cx="548640" cy="548640"/>
          </a:xfrm>
          <a:prstGeom prst="ellipse">
            <a:avLst/>
          </a:prstGeom>
          <a:solidFill>
            <a:srgbClr val="FFFFFF"/>
          </a:solidFill>
          <a:ln/>
        </p:spPr>
      </p:sp>
      <p:pic>
        <p:nvPicPr>
          <p:cNvPr id="31" name="Image 5" descr="preencoded.png"/>
          <p:cNvPicPr>
            <a:picLocks noChangeAspect="1"/>
          </p:cNvPicPr>
          <p:nvPr/>
        </p:nvPicPr>
        <p:blipFill>
          <a:blip r:embed="rId8"/>
          <a:stretch>
            <a:fillRect/>
          </a:stretch>
        </p:blipFill>
        <p:spPr>
          <a:xfrm>
            <a:off x="8613648" y="4315968"/>
            <a:ext cx="329184" cy="329184"/>
          </a:xfrm>
          <a:prstGeom prst="rect">
            <a:avLst/>
          </a:prstGeom>
        </p:spPr>
      </p:pic>
      <p:sp>
        <p:nvSpPr>
          <p:cNvPr id="32" name="Text 24"/>
          <p:cNvSpPr/>
          <p:nvPr/>
        </p:nvSpPr>
        <p:spPr>
          <a:xfrm>
            <a:off x="9189720" y="4224528"/>
            <a:ext cx="2651760" cy="502920"/>
          </a:xfrm>
          <a:prstGeom prst="rect">
            <a:avLst/>
          </a:prstGeom>
          <a:noFill/>
          <a:ln/>
        </p:spPr>
        <p:txBody>
          <a:bodyPr wrap="square" lIns="0" tIns="0" rIns="0" bIns="0" rtlCol="0" anchor="ctr"/>
          <a:lstStyle/>
          <a:p>
            <a:pPr marL="0" indent="0">
              <a:buNone/>
            </a:pPr>
            <a:r>
              <a:rPr lang="en-US" sz="1450" b="1" dirty="0">
                <a:solidFill>
                  <a:srgbClr val="1F2A24"/>
                </a:solidFill>
                <a:latin typeface="Calibri" pitchFamily="34" charset="0"/>
                <a:ea typeface="Calibri" pitchFamily="34" charset="-122"/>
                <a:cs typeface="Calibri" pitchFamily="34" charset="-120"/>
              </a:rPr>
              <a:t>Document Your Logic</a:t>
            </a:r>
            <a:endParaRPr lang="en-US" sz="1450" dirty="0"/>
          </a:p>
        </p:txBody>
      </p:sp>
      <p:sp>
        <p:nvSpPr>
          <p:cNvPr id="33" name="Text 25"/>
          <p:cNvSpPr/>
          <p:nvPr/>
        </p:nvSpPr>
        <p:spPr>
          <a:xfrm>
            <a:off x="8503920" y="4892040"/>
            <a:ext cx="3291840" cy="914400"/>
          </a:xfrm>
          <a:prstGeom prst="rect">
            <a:avLst/>
          </a:prstGeom>
          <a:noFill/>
          <a:ln/>
        </p:spPr>
        <p:txBody>
          <a:bodyPr wrap="square" lIns="0" tIns="0" rIns="0" bIns="0" rtlCol="0" anchor="ctr"/>
          <a:lstStyle/>
          <a:p>
            <a:pPr marL="0" indent="0">
              <a:lnSpc>
                <a:spcPct val="120000"/>
              </a:lnSpc>
              <a:buNone/>
            </a:pPr>
            <a:r>
              <a:rPr lang="en-US" sz="1200" dirty="0">
                <a:solidFill>
                  <a:srgbClr val="6B7A72"/>
                </a:solidFill>
                <a:latin typeface="Calibri" pitchFamily="34" charset="0"/>
                <a:ea typeface="Calibri" pitchFamily="34" charset="-122"/>
                <a:cs typeface="Calibri" pitchFamily="34" charset="-120"/>
              </a:rPr>
              <a:t>Add cell comments or a notes tab explaining validation criteria and formatting logic for future users.</a:t>
            </a:r>
            <a:endParaRPr lang="en-US" sz="1200" dirty="0"/>
          </a:p>
        </p:txBody>
      </p:sp>
      <p:sp>
        <p:nvSpPr>
          <p:cNvPr id="34" name="Text 26"/>
          <p:cNvSpPr/>
          <p:nvPr/>
        </p:nvSpPr>
        <p:spPr>
          <a:xfrm>
            <a:off x="11521440" y="6446520"/>
            <a:ext cx="457200" cy="274320"/>
          </a:xfrm>
          <a:prstGeom prst="rect">
            <a:avLst/>
          </a:prstGeom>
          <a:noFill/>
          <a:ln/>
        </p:spPr>
        <p:txBody>
          <a:bodyPr wrap="square" lIns="0" tIns="0" rIns="0" bIns="0" rtlCol="0" anchor="ctr"/>
          <a:lstStyle/>
          <a:p>
            <a:pPr marL="0" indent="0" algn="r">
              <a:buNone/>
            </a:pPr>
            <a:r>
              <a:rPr lang="en-US" sz="1000" dirty="0">
                <a:solidFill>
                  <a:srgbClr val="6B7A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1E7B4D"/>
                </a:solidFill>
                <a:latin typeface="Calibri" pitchFamily="34" charset="0"/>
                <a:ea typeface="Calibri" pitchFamily="34" charset="-122"/>
                <a:cs typeface="Calibri" pitchFamily="34" charset="-120"/>
              </a:rPr>
              <a:t>QUICK REFERENCE</a:t>
            </a:r>
            <a:endParaRPr lang="en-US" sz="1200" dirty="0"/>
          </a:p>
        </p:txBody>
      </p:sp>
      <p:sp>
        <p:nvSpPr>
          <p:cNvPr id="3" name="Text 1"/>
          <p:cNvSpPr/>
          <p:nvPr/>
        </p:nvSpPr>
        <p:spPr>
          <a:xfrm>
            <a:off x="548640" y="713232"/>
            <a:ext cx="11064240" cy="731520"/>
          </a:xfrm>
          <a:prstGeom prst="rect">
            <a:avLst/>
          </a:prstGeom>
          <a:noFill/>
          <a:ln/>
        </p:spPr>
        <p:txBody>
          <a:bodyPr wrap="square" lIns="0" tIns="0" rIns="0" bIns="0" rtlCol="0" anchor="ctr"/>
          <a:lstStyle/>
          <a:p>
            <a:pPr marL="0" indent="0">
              <a:buNone/>
            </a:pPr>
            <a:r>
              <a:rPr lang="en-US" sz="3200" b="1" dirty="0">
                <a:solidFill>
                  <a:srgbClr val="1F2A24"/>
                </a:solidFill>
                <a:latin typeface="Cambria" pitchFamily="34" charset="0"/>
                <a:ea typeface="Cambria" pitchFamily="34" charset="-122"/>
                <a:cs typeface="Cambria" pitchFamily="34" charset="-120"/>
              </a:rPr>
              <a:t>Quick Reference Cheat Sheet</a:t>
            </a:r>
            <a:endParaRPr lang="en-US" sz="3200" dirty="0"/>
          </a:p>
        </p:txBody>
      </p:sp>
      <p:sp>
        <p:nvSpPr>
          <p:cNvPr id="4" name="Shape 2"/>
          <p:cNvSpPr/>
          <p:nvPr/>
        </p:nvSpPr>
        <p:spPr>
          <a:xfrm>
            <a:off x="548640" y="1691640"/>
            <a:ext cx="5349240" cy="457200"/>
          </a:xfrm>
          <a:prstGeom prst="roundRect">
            <a:avLst>
              <a:gd name="adj" fmla="val 12000"/>
            </a:avLst>
          </a:prstGeom>
          <a:solidFill>
            <a:srgbClr val="1E7B4D"/>
          </a:solidFill>
          <a:ln/>
        </p:spPr>
      </p:sp>
      <p:sp>
        <p:nvSpPr>
          <p:cNvPr id="5" name="Text 3"/>
          <p:cNvSpPr/>
          <p:nvPr/>
        </p:nvSpPr>
        <p:spPr>
          <a:xfrm>
            <a:off x="548640" y="1691640"/>
            <a:ext cx="5349240" cy="457200"/>
          </a:xfrm>
          <a:prstGeom prst="rect">
            <a:avLst/>
          </a:prstGeom>
          <a:noFill/>
          <a:ln/>
        </p:spPr>
        <p:txBody>
          <a:bodyPr wrap="square" lIns="0" tIns="0" rIns="0" bIns="0" rtlCol="0" anchor="ctr"/>
          <a:lstStyle/>
          <a:p>
            <a:pPr marL="0" indent="0" algn="ctr">
              <a:buNone/>
            </a:pPr>
            <a:r>
              <a:rPr lang="en-US" sz="1300" b="1" kern="0" spc="200" dirty="0">
                <a:solidFill>
                  <a:srgbClr val="FFFFFF"/>
                </a:solidFill>
                <a:latin typeface="Calibri" pitchFamily="34" charset="0"/>
                <a:ea typeface="Calibri" pitchFamily="34" charset="-122"/>
                <a:cs typeface="Calibri" pitchFamily="34" charset="-120"/>
              </a:rPr>
              <a:t>DATA VALIDATION</a:t>
            </a:r>
            <a:endParaRPr lang="en-US" sz="1300" dirty="0"/>
          </a:p>
        </p:txBody>
      </p:sp>
      <p:sp>
        <p:nvSpPr>
          <p:cNvPr id="6" name="Shape 4"/>
          <p:cNvSpPr/>
          <p:nvPr/>
        </p:nvSpPr>
        <p:spPr>
          <a:xfrm>
            <a:off x="548640" y="2148840"/>
            <a:ext cx="5349240" cy="493776"/>
          </a:xfrm>
          <a:prstGeom prst="rect">
            <a:avLst/>
          </a:prstGeom>
          <a:solidFill>
            <a:srgbClr val="E7F4EC"/>
          </a:solidFill>
          <a:ln/>
        </p:spPr>
      </p:sp>
      <p:sp>
        <p:nvSpPr>
          <p:cNvPr id="7" name="Text 5"/>
          <p:cNvSpPr/>
          <p:nvPr/>
        </p:nvSpPr>
        <p:spPr>
          <a:xfrm>
            <a:off x="685800" y="2148840"/>
            <a:ext cx="1828800" cy="493776"/>
          </a:xfrm>
          <a:prstGeom prst="rect">
            <a:avLst/>
          </a:prstGeom>
          <a:noFill/>
          <a:ln/>
        </p:spPr>
        <p:txBody>
          <a:bodyPr wrap="square" lIns="0" tIns="0" rIns="0" bIns="0" rtlCol="0" anchor="ctr"/>
          <a:lstStyle/>
          <a:p>
            <a:pPr marL="0" indent="0">
              <a:buNone/>
            </a:pPr>
            <a:r>
              <a:rPr lang="en-US" sz="1100" b="1" dirty="0">
                <a:solidFill>
                  <a:srgbClr val="1F2A24"/>
                </a:solidFill>
                <a:latin typeface="Calibri" pitchFamily="34" charset="0"/>
                <a:ea typeface="Calibri" pitchFamily="34" charset="-122"/>
                <a:cs typeface="Calibri" pitchFamily="34" charset="-120"/>
              </a:rPr>
              <a:t>Allow: Whole Number</a:t>
            </a:r>
            <a:endParaRPr lang="en-US" sz="1100" dirty="0"/>
          </a:p>
        </p:txBody>
      </p:sp>
      <p:sp>
        <p:nvSpPr>
          <p:cNvPr id="8" name="Text 6"/>
          <p:cNvSpPr/>
          <p:nvPr/>
        </p:nvSpPr>
        <p:spPr>
          <a:xfrm>
            <a:off x="2560320" y="2148840"/>
            <a:ext cx="3246120" cy="493776"/>
          </a:xfrm>
          <a:prstGeom prst="rect">
            <a:avLst/>
          </a:prstGeom>
          <a:noFill/>
          <a:ln/>
        </p:spPr>
        <p:txBody>
          <a:bodyPr wrap="square" lIns="0" tIns="0" rIns="0" bIns="0" rtlCol="0" anchor="ctr"/>
          <a:lstStyle/>
          <a:p>
            <a:pPr marL="0" indent="0">
              <a:buNone/>
            </a:pPr>
            <a:r>
              <a:rPr lang="en-US" sz="1050" dirty="0">
                <a:solidFill>
                  <a:srgbClr val="6B7A72"/>
                </a:solidFill>
                <a:latin typeface="Calibri" pitchFamily="34" charset="0"/>
                <a:ea typeface="Calibri" pitchFamily="34" charset="-122"/>
                <a:cs typeface="Calibri" pitchFamily="34" charset="-120"/>
              </a:rPr>
              <a:t>Data → Data Validation → Allow: Whole Number</a:t>
            </a:r>
            <a:endParaRPr lang="en-US" sz="1050" dirty="0"/>
          </a:p>
        </p:txBody>
      </p:sp>
      <p:sp>
        <p:nvSpPr>
          <p:cNvPr id="9" name="Shape 7"/>
          <p:cNvSpPr/>
          <p:nvPr/>
        </p:nvSpPr>
        <p:spPr>
          <a:xfrm>
            <a:off x="548640" y="2642616"/>
            <a:ext cx="5349240" cy="493776"/>
          </a:xfrm>
          <a:prstGeom prst="rect">
            <a:avLst/>
          </a:prstGeom>
          <a:solidFill>
            <a:srgbClr val="FFFFFF"/>
          </a:solidFill>
          <a:ln/>
        </p:spPr>
      </p:sp>
      <p:sp>
        <p:nvSpPr>
          <p:cNvPr id="10" name="Text 8"/>
          <p:cNvSpPr/>
          <p:nvPr/>
        </p:nvSpPr>
        <p:spPr>
          <a:xfrm>
            <a:off x="685800" y="2642616"/>
            <a:ext cx="1828800" cy="493776"/>
          </a:xfrm>
          <a:prstGeom prst="rect">
            <a:avLst/>
          </a:prstGeom>
          <a:noFill/>
          <a:ln/>
        </p:spPr>
        <p:txBody>
          <a:bodyPr wrap="square" lIns="0" tIns="0" rIns="0" bIns="0" rtlCol="0" anchor="ctr"/>
          <a:lstStyle/>
          <a:p>
            <a:pPr marL="0" indent="0">
              <a:buNone/>
            </a:pPr>
            <a:r>
              <a:rPr lang="en-US" sz="1100" b="1" dirty="0">
                <a:solidFill>
                  <a:srgbClr val="1F2A24"/>
                </a:solidFill>
                <a:latin typeface="Calibri" pitchFamily="34" charset="0"/>
                <a:ea typeface="Calibri" pitchFamily="34" charset="-122"/>
                <a:cs typeface="Calibri" pitchFamily="34" charset="-120"/>
              </a:rPr>
              <a:t>Dropdown List</a:t>
            </a:r>
            <a:endParaRPr lang="en-US" sz="1100" dirty="0"/>
          </a:p>
        </p:txBody>
      </p:sp>
      <p:sp>
        <p:nvSpPr>
          <p:cNvPr id="11" name="Text 9"/>
          <p:cNvSpPr/>
          <p:nvPr/>
        </p:nvSpPr>
        <p:spPr>
          <a:xfrm>
            <a:off x="2560320" y="2642616"/>
            <a:ext cx="3246120" cy="493776"/>
          </a:xfrm>
          <a:prstGeom prst="rect">
            <a:avLst/>
          </a:prstGeom>
          <a:noFill/>
          <a:ln/>
        </p:spPr>
        <p:txBody>
          <a:bodyPr wrap="square" lIns="0" tIns="0" rIns="0" bIns="0" rtlCol="0" anchor="ctr"/>
          <a:lstStyle/>
          <a:p>
            <a:pPr marL="0" indent="0">
              <a:buNone/>
            </a:pPr>
            <a:r>
              <a:rPr lang="en-US" sz="1050" dirty="0">
                <a:solidFill>
                  <a:srgbClr val="6B7A72"/>
                </a:solidFill>
                <a:latin typeface="Calibri" pitchFamily="34" charset="0"/>
                <a:ea typeface="Calibri" pitchFamily="34" charset="-122"/>
                <a:cs typeface="Calibri" pitchFamily="34" charset="-120"/>
              </a:rPr>
              <a:t>Allow: List → Source: A1:A10 or type items</a:t>
            </a:r>
            <a:endParaRPr lang="en-US" sz="1050" dirty="0"/>
          </a:p>
        </p:txBody>
      </p:sp>
      <p:sp>
        <p:nvSpPr>
          <p:cNvPr id="12" name="Shape 10"/>
          <p:cNvSpPr/>
          <p:nvPr/>
        </p:nvSpPr>
        <p:spPr>
          <a:xfrm>
            <a:off x="548640" y="3136392"/>
            <a:ext cx="5349240" cy="493776"/>
          </a:xfrm>
          <a:prstGeom prst="rect">
            <a:avLst/>
          </a:prstGeom>
          <a:solidFill>
            <a:srgbClr val="E7F4EC"/>
          </a:solidFill>
          <a:ln/>
        </p:spPr>
      </p:sp>
      <p:sp>
        <p:nvSpPr>
          <p:cNvPr id="13" name="Text 11"/>
          <p:cNvSpPr/>
          <p:nvPr/>
        </p:nvSpPr>
        <p:spPr>
          <a:xfrm>
            <a:off x="685800" y="3136392"/>
            <a:ext cx="1828800" cy="493776"/>
          </a:xfrm>
          <a:prstGeom prst="rect">
            <a:avLst/>
          </a:prstGeom>
          <a:noFill/>
          <a:ln/>
        </p:spPr>
        <p:txBody>
          <a:bodyPr wrap="square" lIns="0" tIns="0" rIns="0" bIns="0" rtlCol="0" anchor="ctr"/>
          <a:lstStyle/>
          <a:p>
            <a:pPr marL="0" indent="0">
              <a:buNone/>
            </a:pPr>
            <a:r>
              <a:rPr lang="en-US" sz="1100" b="1" dirty="0">
                <a:solidFill>
                  <a:srgbClr val="1F2A24"/>
                </a:solidFill>
                <a:latin typeface="Calibri" pitchFamily="34" charset="0"/>
                <a:ea typeface="Calibri" pitchFamily="34" charset="-122"/>
                <a:cs typeface="Calibri" pitchFamily="34" charset="-120"/>
              </a:rPr>
              <a:t>Custom Formula</a:t>
            </a:r>
            <a:endParaRPr lang="en-US" sz="1100" dirty="0"/>
          </a:p>
        </p:txBody>
      </p:sp>
      <p:sp>
        <p:nvSpPr>
          <p:cNvPr id="14" name="Text 12"/>
          <p:cNvSpPr/>
          <p:nvPr/>
        </p:nvSpPr>
        <p:spPr>
          <a:xfrm>
            <a:off x="2560320" y="3136392"/>
            <a:ext cx="3246120" cy="493776"/>
          </a:xfrm>
          <a:prstGeom prst="rect">
            <a:avLst/>
          </a:prstGeom>
          <a:noFill/>
          <a:ln/>
        </p:spPr>
        <p:txBody>
          <a:bodyPr wrap="square" lIns="0" tIns="0" rIns="0" bIns="0" rtlCol="0" anchor="ctr"/>
          <a:lstStyle/>
          <a:p>
            <a:pPr marL="0" indent="0">
              <a:buNone/>
            </a:pPr>
            <a:r>
              <a:rPr lang="en-US" sz="1050" dirty="0">
                <a:solidFill>
                  <a:srgbClr val="6B7A72"/>
                </a:solidFill>
                <a:latin typeface="Calibri" pitchFamily="34" charset="0"/>
                <a:ea typeface="Calibri" pitchFamily="34" charset="-122"/>
                <a:cs typeface="Calibri" pitchFamily="34" charset="-120"/>
              </a:rPr>
              <a:t>Allow: Custom → =AND(A1&gt;0,A1&lt;=100)</a:t>
            </a:r>
            <a:endParaRPr lang="en-US" sz="1050" dirty="0"/>
          </a:p>
        </p:txBody>
      </p:sp>
      <p:sp>
        <p:nvSpPr>
          <p:cNvPr id="15" name="Shape 13"/>
          <p:cNvSpPr/>
          <p:nvPr/>
        </p:nvSpPr>
        <p:spPr>
          <a:xfrm>
            <a:off x="548640" y="3630168"/>
            <a:ext cx="5349240" cy="493776"/>
          </a:xfrm>
          <a:prstGeom prst="rect">
            <a:avLst/>
          </a:prstGeom>
          <a:solidFill>
            <a:srgbClr val="FFFFFF"/>
          </a:solidFill>
          <a:ln/>
        </p:spPr>
      </p:sp>
      <p:sp>
        <p:nvSpPr>
          <p:cNvPr id="16" name="Text 14"/>
          <p:cNvSpPr/>
          <p:nvPr/>
        </p:nvSpPr>
        <p:spPr>
          <a:xfrm>
            <a:off x="685800" y="3630168"/>
            <a:ext cx="1828800" cy="493776"/>
          </a:xfrm>
          <a:prstGeom prst="rect">
            <a:avLst/>
          </a:prstGeom>
          <a:noFill/>
          <a:ln/>
        </p:spPr>
        <p:txBody>
          <a:bodyPr wrap="square" lIns="0" tIns="0" rIns="0" bIns="0" rtlCol="0" anchor="ctr"/>
          <a:lstStyle/>
          <a:p>
            <a:pPr marL="0" indent="0">
              <a:buNone/>
            </a:pPr>
            <a:r>
              <a:rPr lang="en-US" sz="1100" b="1" dirty="0">
                <a:solidFill>
                  <a:srgbClr val="1F2A24"/>
                </a:solidFill>
                <a:latin typeface="Calibri" pitchFamily="34" charset="0"/>
                <a:ea typeface="Calibri" pitchFamily="34" charset="-122"/>
                <a:cs typeface="Calibri" pitchFamily="34" charset="-120"/>
              </a:rPr>
              <a:t>Input Message</a:t>
            </a:r>
            <a:endParaRPr lang="en-US" sz="1100" dirty="0"/>
          </a:p>
        </p:txBody>
      </p:sp>
      <p:sp>
        <p:nvSpPr>
          <p:cNvPr id="17" name="Text 15"/>
          <p:cNvSpPr/>
          <p:nvPr/>
        </p:nvSpPr>
        <p:spPr>
          <a:xfrm>
            <a:off x="2560320" y="3630168"/>
            <a:ext cx="3246120" cy="493776"/>
          </a:xfrm>
          <a:prstGeom prst="rect">
            <a:avLst/>
          </a:prstGeom>
          <a:noFill/>
          <a:ln/>
        </p:spPr>
        <p:txBody>
          <a:bodyPr wrap="square" lIns="0" tIns="0" rIns="0" bIns="0" rtlCol="0" anchor="ctr"/>
          <a:lstStyle/>
          <a:p>
            <a:pPr marL="0" indent="0">
              <a:buNone/>
            </a:pPr>
            <a:r>
              <a:rPr lang="en-US" sz="1050" dirty="0">
                <a:solidFill>
                  <a:srgbClr val="6B7A72"/>
                </a:solidFill>
                <a:latin typeface="Calibri" pitchFamily="34" charset="0"/>
                <a:ea typeface="Calibri" pitchFamily="34" charset="-122"/>
                <a:cs typeface="Calibri" pitchFamily="34" charset="-120"/>
              </a:rPr>
              <a:t>Data Validation → Input Message tab</a:t>
            </a:r>
            <a:endParaRPr lang="en-US" sz="1050" dirty="0"/>
          </a:p>
        </p:txBody>
      </p:sp>
      <p:sp>
        <p:nvSpPr>
          <p:cNvPr id="18" name="Shape 16"/>
          <p:cNvSpPr/>
          <p:nvPr/>
        </p:nvSpPr>
        <p:spPr>
          <a:xfrm>
            <a:off x="548640" y="4123944"/>
            <a:ext cx="5349240" cy="493776"/>
          </a:xfrm>
          <a:prstGeom prst="rect">
            <a:avLst/>
          </a:prstGeom>
          <a:solidFill>
            <a:srgbClr val="E7F4EC"/>
          </a:solidFill>
          <a:ln/>
        </p:spPr>
      </p:sp>
      <p:sp>
        <p:nvSpPr>
          <p:cNvPr id="19" name="Text 17"/>
          <p:cNvSpPr/>
          <p:nvPr/>
        </p:nvSpPr>
        <p:spPr>
          <a:xfrm>
            <a:off x="685800" y="4123944"/>
            <a:ext cx="1828800" cy="493776"/>
          </a:xfrm>
          <a:prstGeom prst="rect">
            <a:avLst/>
          </a:prstGeom>
          <a:noFill/>
          <a:ln/>
        </p:spPr>
        <p:txBody>
          <a:bodyPr wrap="square" lIns="0" tIns="0" rIns="0" bIns="0" rtlCol="0" anchor="ctr"/>
          <a:lstStyle/>
          <a:p>
            <a:pPr marL="0" indent="0">
              <a:buNone/>
            </a:pPr>
            <a:r>
              <a:rPr lang="en-US" sz="1100" b="1" dirty="0">
                <a:solidFill>
                  <a:srgbClr val="1F2A24"/>
                </a:solidFill>
                <a:latin typeface="Calibri" pitchFamily="34" charset="0"/>
                <a:ea typeface="Calibri" pitchFamily="34" charset="-122"/>
                <a:cs typeface="Calibri" pitchFamily="34" charset="-120"/>
              </a:rPr>
              <a:t>Error Alert – Stop</a:t>
            </a:r>
            <a:endParaRPr lang="en-US" sz="1100" dirty="0"/>
          </a:p>
        </p:txBody>
      </p:sp>
      <p:sp>
        <p:nvSpPr>
          <p:cNvPr id="20" name="Text 18"/>
          <p:cNvSpPr/>
          <p:nvPr/>
        </p:nvSpPr>
        <p:spPr>
          <a:xfrm>
            <a:off x="2560320" y="4123944"/>
            <a:ext cx="3246120" cy="493776"/>
          </a:xfrm>
          <a:prstGeom prst="rect">
            <a:avLst/>
          </a:prstGeom>
          <a:noFill/>
          <a:ln/>
        </p:spPr>
        <p:txBody>
          <a:bodyPr wrap="square" lIns="0" tIns="0" rIns="0" bIns="0" rtlCol="0" anchor="ctr"/>
          <a:lstStyle/>
          <a:p>
            <a:pPr marL="0" indent="0">
              <a:buNone/>
            </a:pPr>
            <a:r>
              <a:rPr lang="en-US" sz="1050" dirty="0">
                <a:solidFill>
                  <a:srgbClr val="6B7A72"/>
                </a:solidFill>
                <a:latin typeface="Calibri" pitchFamily="34" charset="0"/>
                <a:ea typeface="Calibri" pitchFamily="34" charset="-122"/>
                <a:cs typeface="Calibri" pitchFamily="34" charset="-120"/>
              </a:rPr>
              <a:t>Style: Stop → rejects invalid entry</a:t>
            </a:r>
            <a:endParaRPr lang="en-US" sz="1050" dirty="0"/>
          </a:p>
        </p:txBody>
      </p:sp>
      <p:sp>
        <p:nvSpPr>
          <p:cNvPr id="21" name="Shape 19"/>
          <p:cNvSpPr/>
          <p:nvPr/>
        </p:nvSpPr>
        <p:spPr>
          <a:xfrm>
            <a:off x="548640" y="4617720"/>
            <a:ext cx="5349240" cy="493776"/>
          </a:xfrm>
          <a:prstGeom prst="rect">
            <a:avLst/>
          </a:prstGeom>
          <a:solidFill>
            <a:srgbClr val="FFFFFF"/>
          </a:solidFill>
          <a:ln/>
        </p:spPr>
      </p:sp>
      <p:sp>
        <p:nvSpPr>
          <p:cNvPr id="22" name="Text 20"/>
          <p:cNvSpPr/>
          <p:nvPr/>
        </p:nvSpPr>
        <p:spPr>
          <a:xfrm>
            <a:off x="685800" y="4617720"/>
            <a:ext cx="1828800" cy="493776"/>
          </a:xfrm>
          <a:prstGeom prst="rect">
            <a:avLst/>
          </a:prstGeom>
          <a:noFill/>
          <a:ln/>
        </p:spPr>
        <p:txBody>
          <a:bodyPr wrap="square" lIns="0" tIns="0" rIns="0" bIns="0" rtlCol="0" anchor="ctr"/>
          <a:lstStyle/>
          <a:p>
            <a:pPr marL="0" indent="0">
              <a:buNone/>
            </a:pPr>
            <a:r>
              <a:rPr lang="en-US" sz="1100" b="1" dirty="0">
                <a:solidFill>
                  <a:srgbClr val="1F2A24"/>
                </a:solidFill>
                <a:latin typeface="Calibri" pitchFamily="34" charset="0"/>
                <a:ea typeface="Calibri" pitchFamily="34" charset="-122"/>
                <a:cs typeface="Calibri" pitchFamily="34" charset="-120"/>
              </a:rPr>
              <a:t>Error Alert – Warning</a:t>
            </a:r>
            <a:endParaRPr lang="en-US" sz="1100" dirty="0"/>
          </a:p>
        </p:txBody>
      </p:sp>
      <p:sp>
        <p:nvSpPr>
          <p:cNvPr id="23" name="Text 21"/>
          <p:cNvSpPr/>
          <p:nvPr/>
        </p:nvSpPr>
        <p:spPr>
          <a:xfrm>
            <a:off x="2560320" y="4617720"/>
            <a:ext cx="3246120" cy="493776"/>
          </a:xfrm>
          <a:prstGeom prst="rect">
            <a:avLst/>
          </a:prstGeom>
          <a:noFill/>
          <a:ln/>
        </p:spPr>
        <p:txBody>
          <a:bodyPr wrap="square" lIns="0" tIns="0" rIns="0" bIns="0" rtlCol="0" anchor="ctr"/>
          <a:lstStyle/>
          <a:p>
            <a:pPr marL="0" indent="0">
              <a:buNone/>
            </a:pPr>
            <a:r>
              <a:rPr lang="en-US" sz="1050" dirty="0">
                <a:solidFill>
                  <a:srgbClr val="6B7A72"/>
                </a:solidFill>
                <a:latin typeface="Calibri" pitchFamily="34" charset="0"/>
                <a:ea typeface="Calibri" pitchFamily="34" charset="-122"/>
                <a:cs typeface="Calibri" pitchFamily="34" charset="-120"/>
              </a:rPr>
              <a:t>Style: Warning → allows after confirm</a:t>
            </a:r>
            <a:endParaRPr lang="en-US" sz="1050" dirty="0"/>
          </a:p>
        </p:txBody>
      </p:sp>
      <p:sp>
        <p:nvSpPr>
          <p:cNvPr id="24" name="Shape 22"/>
          <p:cNvSpPr/>
          <p:nvPr/>
        </p:nvSpPr>
        <p:spPr>
          <a:xfrm>
            <a:off x="548640" y="5111496"/>
            <a:ext cx="5349240" cy="493776"/>
          </a:xfrm>
          <a:prstGeom prst="rect">
            <a:avLst/>
          </a:prstGeom>
          <a:solidFill>
            <a:srgbClr val="E7F4EC"/>
          </a:solidFill>
          <a:ln/>
        </p:spPr>
      </p:sp>
      <p:sp>
        <p:nvSpPr>
          <p:cNvPr id="25" name="Text 23"/>
          <p:cNvSpPr/>
          <p:nvPr/>
        </p:nvSpPr>
        <p:spPr>
          <a:xfrm>
            <a:off x="685800" y="5111496"/>
            <a:ext cx="1828800" cy="493776"/>
          </a:xfrm>
          <a:prstGeom prst="rect">
            <a:avLst/>
          </a:prstGeom>
          <a:noFill/>
          <a:ln/>
        </p:spPr>
        <p:txBody>
          <a:bodyPr wrap="square" lIns="0" tIns="0" rIns="0" bIns="0" rtlCol="0" anchor="ctr"/>
          <a:lstStyle/>
          <a:p>
            <a:pPr marL="0" indent="0">
              <a:buNone/>
            </a:pPr>
            <a:r>
              <a:rPr lang="en-US" sz="1100" b="1" dirty="0">
                <a:solidFill>
                  <a:srgbClr val="1F2A24"/>
                </a:solidFill>
                <a:latin typeface="Calibri" pitchFamily="34" charset="0"/>
                <a:ea typeface="Calibri" pitchFamily="34" charset="-122"/>
                <a:cs typeface="Calibri" pitchFamily="34" charset="-120"/>
              </a:rPr>
              <a:t>Circle Invalid Data</a:t>
            </a:r>
            <a:endParaRPr lang="en-US" sz="1100" dirty="0"/>
          </a:p>
        </p:txBody>
      </p:sp>
      <p:sp>
        <p:nvSpPr>
          <p:cNvPr id="26" name="Text 24"/>
          <p:cNvSpPr/>
          <p:nvPr/>
        </p:nvSpPr>
        <p:spPr>
          <a:xfrm>
            <a:off x="2560320" y="5111496"/>
            <a:ext cx="3246120" cy="493776"/>
          </a:xfrm>
          <a:prstGeom prst="rect">
            <a:avLst/>
          </a:prstGeom>
          <a:noFill/>
          <a:ln/>
        </p:spPr>
        <p:txBody>
          <a:bodyPr wrap="square" lIns="0" tIns="0" rIns="0" bIns="0" rtlCol="0" anchor="ctr"/>
          <a:lstStyle/>
          <a:p>
            <a:pPr marL="0" indent="0">
              <a:buNone/>
            </a:pPr>
            <a:r>
              <a:rPr lang="en-US" sz="1050" dirty="0">
                <a:solidFill>
                  <a:srgbClr val="6B7A72"/>
                </a:solidFill>
                <a:latin typeface="Calibri" pitchFamily="34" charset="0"/>
                <a:ea typeface="Calibri" pitchFamily="34" charset="-122"/>
                <a:cs typeface="Calibri" pitchFamily="34" charset="-120"/>
              </a:rPr>
              <a:t>Data → Data Validation → Circle Invalid Data</a:t>
            </a:r>
            <a:endParaRPr lang="en-US" sz="1050" dirty="0"/>
          </a:p>
        </p:txBody>
      </p:sp>
      <p:sp>
        <p:nvSpPr>
          <p:cNvPr id="27" name="Shape 25"/>
          <p:cNvSpPr/>
          <p:nvPr/>
        </p:nvSpPr>
        <p:spPr>
          <a:xfrm>
            <a:off x="548640" y="5605272"/>
            <a:ext cx="5349240" cy="493776"/>
          </a:xfrm>
          <a:prstGeom prst="rect">
            <a:avLst/>
          </a:prstGeom>
          <a:solidFill>
            <a:srgbClr val="FFFFFF"/>
          </a:solidFill>
          <a:ln/>
        </p:spPr>
      </p:sp>
      <p:sp>
        <p:nvSpPr>
          <p:cNvPr id="28" name="Text 26"/>
          <p:cNvSpPr/>
          <p:nvPr/>
        </p:nvSpPr>
        <p:spPr>
          <a:xfrm>
            <a:off x="685800" y="5605272"/>
            <a:ext cx="1828800" cy="493776"/>
          </a:xfrm>
          <a:prstGeom prst="rect">
            <a:avLst/>
          </a:prstGeom>
          <a:noFill/>
          <a:ln/>
        </p:spPr>
        <p:txBody>
          <a:bodyPr wrap="square" lIns="0" tIns="0" rIns="0" bIns="0" rtlCol="0" anchor="ctr"/>
          <a:lstStyle/>
          <a:p>
            <a:pPr marL="0" indent="0">
              <a:buNone/>
            </a:pPr>
            <a:r>
              <a:rPr lang="en-US" sz="1100" b="1" dirty="0">
                <a:solidFill>
                  <a:srgbClr val="1F2A24"/>
                </a:solidFill>
                <a:latin typeface="Calibri" pitchFamily="34" charset="0"/>
                <a:ea typeface="Calibri" pitchFamily="34" charset="-122"/>
                <a:cs typeface="Calibri" pitchFamily="34" charset="-120"/>
              </a:rPr>
              <a:t>Clear Validation</a:t>
            </a:r>
            <a:endParaRPr lang="en-US" sz="1100" dirty="0"/>
          </a:p>
        </p:txBody>
      </p:sp>
      <p:sp>
        <p:nvSpPr>
          <p:cNvPr id="29" name="Text 27"/>
          <p:cNvSpPr/>
          <p:nvPr/>
        </p:nvSpPr>
        <p:spPr>
          <a:xfrm>
            <a:off x="2560320" y="5605272"/>
            <a:ext cx="3246120" cy="493776"/>
          </a:xfrm>
          <a:prstGeom prst="rect">
            <a:avLst/>
          </a:prstGeom>
          <a:noFill/>
          <a:ln/>
        </p:spPr>
        <p:txBody>
          <a:bodyPr wrap="square" lIns="0" tIns="0" rIns="0" bIns="0" rtlCol="0" anchor="ctr"/>
          <a:lstStyle/>
          <a:p>
            <a:pPr marL="0" indent="0">
              <a:buNone/>
            </a:pPr>
            <a:r>
              <a:rPr lang="en-US" sz="1050" dirty="0">
                <a:solidFill>
                  <a:srgbClr val="6B7A72"/>
                </a:solidFill>
                <a:latin typeface="Calibri" pitchFamily="34" charset="0"/>
                <a:ea typeface="Calibri" pitchFamily="34" charset="-122"/>
                <a:cs typeface="Calibri" pitchFamily="34" charset="-120"/>
              </a:rPr>
              <a:t>Data → Data Validation → Clear All</a:t>
            </a:r>
            <a:endParaRPr lang="en-US" sz="1050" dirty="0"/>
          </a:p>
        </p:txBody>
      </p:sp>
      <p:sp>
        <p:nvSpPr>
          <p:cNvPr id="30" name="Shape 28"/>
          <p:cNvSpPr/>
          <p:nvPr/>
        </p:nvSpPr>
        <p:spPr>
          <a:xfrm>
            <a:off x="6126480" y="1691640"/>
            <a:ext cx="5349240" cy="457200"/>
          </a:xfrm>
          <a:prstGeom prst="roundRect">
            <a:avLst>
              <a:gd name="adj" fmla="val 12000"/>
            </a:avLst>
          </a:prstGeom>
          <a:solidFill>
            <a:srgbClr val="1E7B4D"/>
          </a:solidFill>
          <a:ln/>
        </p:spPr>
      </p:sp>
      <p:sp>
        <p:nvSpPr>
          <p:cNvPr id="31" name="Text 29"/>
          <p:cNvSpPr/>
          <p:nvPr/>
        </p:nvSpPr>
        <p:spPr>
          <a:xfrm>
            <a:off x="6126480" y="1691640"/>
            <a:ext cx="5349240" cy="457200"/>
          </a:xfrm>
          <a:prstGeom prst="rect">
            <a:avLst/>
          </a:prstGeom>
          <a:noFill/>
          <a:ln/>
        </p:spPr>
        <p:txBody>
          <a:bodyPr wrap="square" lIns="0" tIns="0" rIns="0" bIns="0" rtlCol="0" anchor="ctr"/>
          <a:lstStyle/>
          <a:p>
            <a:pPr marL="0" indent="0" algn="ctr">
              <a:buNone/>
            </a:pPr>
            <a:r>
              <a:rPr lang="en-US" sz="1300" b="1" kern="0" spc="200" dirty="0">
                <a:solidFill>
                  <a:srgbClr val="FFFFFF"/>
                </a:solidFill>
                <a:latin typeface="Calibri" pitchFamily="34" charset="0"/>
                <a:ea typeface="Calibri" pitchFamily="34" charset="-122"/>
                <a:cs typeface="Calibri" pitchFamily="34" charset="-120"/>
              </a:rPr>
              <a:t>CONDITIONAL FORMATTING</a:t>
            </a:r>
            <a:endParaRPr lang="en-US" sz="1300" dirty="0"/>
          </a:p>
        </p:txBody>
      </p:sp>
      <p:sp>
        <p:nvSpPr>
          <p:cNvPr id="32" name="Shape 30"/>
          <p:cNvSpPr/>
          <p:nvPr/>
        </p:nvSpPr>
        <p:spPr>
          <a:xfrm>
            <a:off x="6126480" y="2148840"/>
            <a:ext cx="5349240" cy="493776"/>
          </a:xfrm>
          <a:prstGeom prst="rect">
            <a:avLst/>
          </a:prstGeom>
          <a:solidFill>
            <a:srgbClr val="E7F4EC"/>
          </a:solidFill>
          <a:ln/>
        </p:spPr>
      </p:sp>
      <p:sp>
        <p:nvSpPr>
          <p:cNvPr id="33" name="Text 31"/>
          <p:cNvSpPr/>
          <p:nvPr/>
        </p:nvSpPr>
        <p:spPr>
          <a:xfrm>
            <a:off x="6263640" y="2148840"/>
            <a:ext cx="1828800" cy="493776"/>
          </a:xfrm>
          <a:prstGeom prst="rect">
            <a:avLst/>
          </a:prstGeom>
          <a:noFill/>
          <a:ln/>
        </p:spPr>
        <p:txBody>
          <a:bodyPr wrap="square" lIns="0" tIns="0" rIns="0" bIns="0" rtlCol="0" anchor="ctr"/>
          <a:lstStyle/>
          <a:p>
            <a:pPr marL="0" indent="0">
              <a:buNone/>
            </a:pPr>
            <a:r>
              <a:rPr lang="en-US" sz="1100" b="1" dirty="0">
                <a:solidFill>
                  <a:srgbClr val="1F2A24"/>
                </a:solidFill>
                <a:latin typeface="Calibri" pitchFamily="34" charset="0"/>
                <a:ea typeface="Calibri" pitchFamily="34" charset="-122"/>
                <a:cs typeface="Calibri" pitchFamily="34" charset="-120"/>
              </a:rPr>
              <a:t>Highlight &gt; value</a:t>
            </a:r>
            <a:endParaRPr lang="en-US" sz="1100" dirty="0"/>
          </a:p>
        </p:txBody>
      </p:sp>
      <p:sp>
        <p:nvSpPr>
          <p:cNvPr id="34" name="Text 32"/>
          <p:cNvSpPr/>
          <p:nvPr/>
        </p:nvSpPr>
        <p:spPr>
          <a:xfrm>
            <a:off x="8138160" y="2148840"/>
            <a:ext cx="3246120" cy="493776"/>
          </a:xfrm>
          <a:prstGeom prst="rect">
            <a:avLst/>
          </a:prstGeom>
          <a:noFill/>
          <a:ln/>
        </p:spPr>
        <p:txBody>
          <a:bodyPr wrap="square" lIns="0" tIns="0" rIns="0" bIns="0" rtlCol="0" anchor="ctr"/>
          <a:lstStyle/>
          <a:p>
            <a:pPr marL="0" indent="0">
              <a:buNone/>
            </a:pPr>
            <a:r>
              <a:rPr lang="en-US" sz="1050" dirty="0">
                <a:solidFill>
                  <a:srgbClr val="6B7A72"/>
                </a:solidFill>
                <a:latin typeface="Calibri" pitchFamily="34" charset="0"/>
                <a:ea typeface="Calibri" pitchFamily="34" charset="-122"/>
                <a:cs typeface="Calibri" pitchFamily="34" charset="-120"/>
              </a:rPr>
              <a:t>Home → CF → Highlight Cells → Greater Than</a:t>
            </a:r>
            <a:endParaRPr lang="en-US" sz="1050" dirty="0"/>
          </a:p>
        </p:txBody>
      </p:sp>
      <p:sp>
        <p:nvSpPr>
          <p:cNvPr id="35" name="Shape 33"/>
          <p:cNvSpPr/>
          <p:nvPr/>
        </p:nvSpPr>
        <p:spPr>
          <a:xfrm>
            <a:off x="6126480" y="2642616"/>
            <a:ext cx="5349240" cy="493776"/>
          </a:xfrm>
          <a:prstGeom prst="rect">
            <a:avLst/>
          </a:prstGeom>
          <a:solidFill>
            <a:srgbClr val="FFFFFF"/>
          </a:solidFill>
          <a:ln/>
        </p:spPr>
      </p:sp>
      <p:sp>
        <p:nvSpPr>
          <p:cNvPr id="36" name="Text 34"/>
          <p:cNvSpPr/>
          <p:nvPr/>
        </p:nvSpPr>
        <p:spPr>
          <a:xfrm>
            <a:off x="6263640" y="2642616"/>
            <a:ext cx="1828800" cy="493776"/>
          </a:xfrm>
          <a:prstGeom prst="rect">
            <a:avLst/>
          </a:prstGeom>
          <a:noFill/>
          <a:ln/>
        </p:spPr>
        <p:txBody>
          <a:bodyPr wrap="square" lIns="0" tIns="0" rIns="0" bIns="0" rtlCol="0" anchor="ctr"/>
          <a:lstStyle/>
          <a:p>
            <a:pPr marL="0" indent="0">
              <a:buNone/>
            </a:pPr>
            <a:r>
              <a:rPr lang="en-US" sz="1100" b="1" dirty="0">
                <a:solidFill>
                  <a:srgbClr val="1F2A24"/>
                </a:solidFill>
                <a:latin typeface="Calibri" pitchFamily="34" charset="0"/>
                <a:ea typeface="Calibri" pitchFamily="34" charset="-122"/>
                <a:cs typeface="Calibri" pitchFamily="34" charset="-120"/>
              </a:rPr>
              <a:t>Top 10 items</a:t>
            </a:r>
            <a:endParaRPr lang="en-US" sz="1100" dirty="0"/>
          </a:p>
        </p:txBody>
      </p:sp>
      <p:sp>
        <p:nvSpPr>
          <p:cNvPr id="37" name="Text 35"/>
          <p:cNvSpPr/>
          <p:nvPr/>
        </p:nvSpPr>
        <p:spPr>
          <a:xfrm>
            <a:off x="8138160" y="2642616"/>
            <a:ext cx="3246120" cy="493776"/>
          </a:xfrm>
          <a:prstGeom prst="rect">
            <a:avLst/>
          </a:prstGeom>
          <a:noFill/>
          <a:ln/>
        </p:spPr>
        <p:txBody>
          <a:bodyPr wrap="square" lIns="0" tIns="0" rIns="0" bIns="0" rtlCol="0" anchor="ctr"/>
          <a:lstStyle/>
          <a:p>
            <a:pPr marL="0" indent="0">
              <a:buNone/>
            </a:pPr>
            <a:r>
              <a:rPr lang="en-US" sz="1050" dirty="0">
                <a:solidFill>
                  <a:srgbClr val="6B7A72"/>
                </a:solidFill>
                <a:latin typeface="Calibri" pitchFamily="34" charset="0"/>
                <a:ea typeface="Calibri" pitchFamily="34" charset="-122"/>
                <a:cs typeface="Calibri" pitchFamily="34" charset="-120"/>
              </a:rPr>
              <a:t>Home → CF → Top/Bottom → Top 10 Items</a:t>
            </a:r>
            <a:endParaRPr lang="en-US" sz="1050" dirty="0"/>
          </a:p>
        </p:txBody>
      </p:sp>
      <p:sp>
        <p:nvSpPr>
          <p:cNvPr id="38" name="Shape 36"/>
          <p:cNvSpPr/>
          <p:nvPr/>
        </p:nvSpPr>
        <p:spPr>
          <a:xfrm>
            <a:off x="6126480" y="3136392"/>
            <a:ext cx="5349240" cy="493776"/>
          </a:xfrm>
          <a:prstGeom prst="rect">
            <a:avLst/>
          </a:prstGeom>
          <a:solidFill>
            <a:srgbClr val="E7F4EC"/>
          </a:solidFill>
          <a:ln/>
        </p:spPr>
      </p:sp>
      <p:sp>
        <p:nvSpPr>
          <p:cNvPr id="39" name="Text 37"/>
          <p:cNvSpPr/>
          <p:nvPr/>
        </p:nvSpPr>
        <p:spPr>
          <a:xfrm>
            <a:off x="6263640" y="3136392"/>
            <a:ext cx="1828800" cy="493776"/>
          </a:xfrm>
          <a:prstGeom prst="rect">
            <a:avLst/>
          </a:prstGeom>
          <a:noFill/>
          <a:ln/>
        </p:spPr>
        <p:txBody>
          <a:bodyPr wrap="square" lIns="0" tIns="0" rIns="0" bIns="0" rtlCol="0" anchor="ctr"/>
          <a:lstStyle/>
          <a:p>
            <a:pPr marL="0" indent="0">
              <a:buNone/>
            </a:pPr>
            <a:r>
              <a:rPr lang="en-US" sz="1100" b="1" dirty="0">
                <a:solidFill>
                  <a:srgbClr val="1F2A24"/>
                </a:solidFill>
                <a:latin typeface="Calibri" pitchFamily="34" charset="0"/>
                <a:ea typeface="Calibri" pitchFamily="34" charset="-122"/>
                <a:cs typeface="Calibri" pitchFamily="34" charset="-120"/>
              </a:rPr>
              <a:t>Data Bars</a:t>
            </a:r>
            <a:endParaRPr lang="en-US" sz="1100" dirty="0"/>
          </a:p>
        </p:txBody>
      </p:sp>
      <p:sp>
        <p:nvSpPr>
          <p:cNvPr id="40" name="Text 38"/>
          <p:cNvSpPr/>
          <p:nvPr/>
        </p:nvSpPr>
        <p:spPr>
          <a:xfrm>
            <a:off x="8138160" y="3136392"/>
            <a:ext cx="3246120" cy="493776"/>
          </a:xfrm>
          <a:prstGeom prst="rect">
            <a:avLst/>
          </a:prstGeom>
          <a:noFill/>
          <a:ln/>
        </p:spPr>
        <p:txBody>
          <a:bodyPr wrap="square" lIns="0" tIns="0" rIns="0" bIns="0" rtlCol="0" anchor="ctr"/>
          <a:lstStyle/>
          <a:p>
            <a:pPr marL="0" indent="0">
              <a:buNone/>
            </a:pPr>
            <a:r>
              <a:rPr lang="en-US" sz="1050" dirty="0">
                <a:solidFill>
                  <a:srgbClr val="6B7A72"/>
                </a:solidFill>
                <a:latin typeface="Calibri" pitchFamily="34" charset="0"/>
                <a:ea typeface="Calibri" pitchFamily="34" charset="-122"/>
                <a:cs typeface="Calibri" pitchFamily="34" charset="-120"/>
              </a:rPr>
              <a:t>Home → CF → Data Bars → choose style</a:t>
            </a:r>
            <a:endParaRPr lang="en-US" sz="1050" dirty="0"/>
          </a:p>
        </p:txBody>
      </p:sp>
      <p:sp>
        <p:nvSpPr>
          <p:cNvPr id="41" name="Shape 39"/>
          <p:cNvSpPr/>
          <p:nvPr/>
        </p:nvSpPr>
        <p:spPr>
          <a:xfrm>
            <a:off x="6126480" y="3630168"/>
            <a:ext cx="5349240" cy="493776"/>
          </a:xfrm>
          <a:prstGeom prst="rect">
            <a:avLst/>
          </a:prstGeom>
          <a:solidFill>
            <a:srgbClr val="FFFFFF"/>
          </a:solidFill>
          <a:ln/>
        </p:spPr>
      </p:sp>
      <p:sp>
        <p:nvSpPr>
          <p:cNvPr id="42" name="Text 40"/>
          <p:cNvSpPr/>
          <p:nvPr/>
        </p:nvSpPr>
        <p:spPr>
          <a:xfrm>
            <a:off x="6263640" y="3630168"/>
            <a:ext cx="1828800" cy="493776"/>
          </a:xfrm>
          <a:prstGeom prst="rect">
            <a:avLst/>
          </a:prstGeom>
          <a:noFill/>
          <a:ln/>
        </p:spPr>
        <p:txBody>
          <a:bodyPr wrap="square" lIns="0" tIns="0" rIns="0" bIns="0" rtlCol="0" anchor="ctr"/>
          <a:lstStyle/>
          <a:p>
            <a:pPr marL="0" indent="0">
              <a:buNone/>
            </a:pPr>
            <a:r>
              <a:rPr lang="en-US" sz="1100" b="1" dirty="0">
                <a:solidFill>
                  <a:srgbClr val="1F2A24"/>
                </a:solidFill>
                <a:latin typeface="Calibri" pitchFamily="34" charset="0"/>
                <a:ea typeface="Calibri" pitchFamily="34" charset="-122"/>
                <a:cs typeface="Calibri" pitchFamily="34" charset="-120"/>
              </a:rPr>
              <a:t>3-Color Scale</a:t>
            </a:r>
            <a:endParaRPr lang="en-US" sz="1100" dirty="0"/>
          </a:p>
        </p:txBody>
      </p:sp>
      <p:sp>
        <p:nvSpPr>
          <p:cNvPr id="43" name="Text 41"/>
          <p:cNvSpPr/>
          <p:nvPr/>
        </p:nvSpPr>
        <p:spPr>
          <a:xfrm>
            <a:off x="8138160" y="3630168"/>
            <a:ext cx="3246120" cy="493776"/>
          </a:xfrm>
          <a:prstGeom prst="rect">
            <a:avLst/>
          </a:prstGeom>
          <a:noFill/>
          <a:ln/>
        </p:spPr>
        <p:txBody>
          <a:bodyPr wrap="square" lIns="0" tIns="0" rIns="0" bIns="0" rtlCol="0" anchor="ctr"/>
          <a:lstStyle/>
          <a:p>
            <a:pPr marL="0" indent="0">
              <a:buNone/>
            </a:pPr>
            <a:r>
              <a:rPr lang="en-US" sz="1050" dirty="0">
                <a:solidFill>
                  <a:srgbClr val="6B7A72"/>
                </a:solidFill>
                <a:latin typeface="Calibri" pitchFamily="34" charset="0"/>
                <a:ea typeface="Calibri" pitchFamily="34" charset="-122"/>
                <a:cs typeface="Calibri" pitchFamily="34" charset="-120"/>
              </a:rPr>
              <a:t>Home → CF → Color Scales → choose preset</a:t>
            </a:r>
            <a:endParaRPr lang="en-US" sz="1050" dirty="0"/>
          </a:p>
        </p:txBody>
      </p:sp>
      <p:sp>
        <p:nvSpPr>
          <p:cNvPr id="44" name="Shape 42"/>
          <p:cNvSpPr/>
          <p:nvPr/>
        </p:nvSpPr>
        <p:spPr>
          <a:xfrm>
            <a:off x="6126480" y="4123944"/>
            <a:ext cx="5349240" cy="493776"/>
          </a:xfrm>
          <a:prstGeom prst="rect">
            <a:avLst/>
          </a:prstGeom>
          <a:solidFill>
            <a:srgbClr val="E7F4EC"/>
          </a:solidFill>
          <a:ln/>
        </p:spPr>
      </p:sp>
      <p:sp>
        <p:nvSpPr>
          <p:cNvPr id="45" name="Text 43"/>
          <p:cNvSpPr/>
          <p:nvPr/>
        </p:nvSpPr>
        <p:spPr>
          <a:xfrm>
            <a:off x="6263640" y="4123944"/>
            <a:ext cx="1828800" cy="493776"/>
          </a:xfrm>
          <a:prstGeom prst="rect">
            <a:avLst/>
          </a:prstGeom>
          <a:noFill/>
          <a:ln/>
        </p:spPr>
        <p:txBody>
          <a:bodyPr wrap="square" lIns="0" tIns="0" rIns="0" bIns="0" rtlCol="0" anchor="ctr"/>
          <a:lstStyle/>
          <a:p>
            <a:pPr marL="0" indent="0">
              <a:buNone/>
            </a:pPr>
            <a:r>
              <a:rPr lang="en-US" sz="1100" b="1" dirty="0">
                <a:solidFill>
                  <a:srgbClr val="1F2A24"/>
                </a:solidFill>
                <a:latin typeface="Calibri" pitchFamily="34" charset="0"/>
                <a:ea typeface="Calibri" pitchFamily="34" charset="-122"/>
                <a:cs typeface="Calibri" pitchFamily="34" charset="-120"/>
              </a:rPr>
              <a:t>Traffic Light Icons</a:t>
            </a:r>
            <a:endParaRPr lang="en-US" sz="1100" dirty="0"/>
          </a:p>
        </p:txBody>
      </p:sp>
      <p:sp>
        <p:nvSpPr>
          <p:cNvPr id="46" name="Text 44"/>
          <p:cNvSpPr/>
          <p:nvPr/>
        </p:nvSpPr>
        <p:spPr>
          <a:xfrm>
            <a:off x="8138160" y="4123944"/>
            <a:ext cx="3246120" cy="493776"/>
          </a:xfrm>
          <a:prstGeom prst="rect">
            <a:avLst/>
          </a:prstGeom>
          <a:noFill/>
          <a:ln/>
        </p:spPr>
        <p:txBody>
          <a:bodyPr wrap="square" lIns="0" tIns="0" rIns="0" bIns="0" rtlCol="0" anchor="ctr"/>
          <a:lstStyle/>
          <a:p>
            <a:pPr marL="0" indent="0">
              <a:buNone/>
            </a:pPr>
            <a:r>
              <a:rPr lang="en-US" sz="1050" dirty="0">
                <a:solidFill>
                  <a:srgbClr val="6B7A72"/>
                </a:solidFill>
                <a:latin typeface="Calibri" pitchFamily="34" charset="0"/>
                <a:ea typeface="Calibri" pitchFamily="34" charset="-122"/>
                <a:cs typeface="Calibri" pitchFamily="34" charset="-120"/>
              </a:rPr>
              <a:t>Home → CF → Icon Sets → 3 Traffic Lights</a:t>
            </a:r>
            <a:endParaRPr lang="en-US" sz="1050" dirty="0"/>
          </a:p>
        </p:txBody>
      </p:sp>
      <p:sp>
        <p:nvSpPr>
          <p:cNvPr id="47" name="Shape 45"/>
          <p:cNvSpPr/>
          <p:nvPr/>
        </p:nvSpPr>
        <p:spPr>
          <a:xfrm>
            <a:off x="6126480" y="4617720"/>
            <a:ext cx="5349240" cy="493776"/>
          </a:xfrm>
          <a:prstGeom prst="rect">
            <a:avLst/>
          </a:prstGeom>
          <a:solidFill>
            <a:srgbClr val="FFFFFF"/>
          </a:solidFill>
          <a:ln/>
        </p:spPr>
      </p:sp>
      <p:sp>
        <p:nvSpPr>
          <p:cNvPr id="48" name="Text 46"/>
          <p:cNvSpPr/>
          <p:nvPr/>
        </p:nvSpPr>
        <p:spPr>
          <a:xfrm>
            <a:off x="6263640" y="4617720"/>
            <a:ext cx="1828800" cy="493776"/>
          </a:xfrm>
          <a:prstGeom prst="rect">
            <a:avLst/>
          </a:prstGeom>
          <a:noFill/>
          <a:ln/>
        </p:spPr>
        <p:txBody>
          <a:bodyPr wrap="square" lIns="0" tIns="0" rIns="0" bIns="0" rtlCol="0" anchor="ctr"/>
          <a:lstStyle/>
          <a:p>
            <a:pPr marL="0" indent="0">
              <a:buNone/>
            </a:pPr>
            <a:r>
              <a:rPr lang="en-US" sz="1100" b="1" dirty="0">
                <a:solidFill>
                  <a:srgbClr val="1F2A24"/>
                </a:solidFill>
                <a:latin typeface="Calibri" pitchFamily="34" charset="0"/>
                <a:ea typeface="Calibri" pitchFamily="34" charset="-122"/>
                <a:cs typeface="Calibri" pitchFamily="34" charset="-120"/>
              </a:rPr>
              <a:t>Formula Rule</a:t>
            </a:r>
            <a:endParaRPr lang="en-US" sz="1100" dirty="0"/>
          </a:p>
        </p:txBody>
      </p:sp>
      <p:sp>
        <p:nvSpPr>
          <p:cNvPr id="49" name="Text 47"/>
          <p:cNvSpPr/>
          <p:nvPr/>
        </p:nvSpPr>
        <p:spPr>
          <a:xfrm>
            <a:off x="8138160" y="4617720"/>
            <a:ext cx="3246120" cy="493776"/>
          </a:xfrm>
          <a:prstGeom prst="rect">
            <a:avLst/>
          </a:prstGeom>
          <a:noFill/>
          <a:ln/>
        </p:spPr>
        <p:txBody>
          <a:bodyPr wrap="square" lIns="0" tIns="0" rIns="0" bIns="0" rtlCol="0" anchor="ctr"/>
          <a:lstStyle/>
          <a:p>
            <a:pPr marL="0" indent="0">
              <a:buNone/>
            </a:pPr>
            <a:r>
              <a:rPr lang="en-US" sz="1050" dirty="0">
                <a:solidFill>
                  <a:srgbClr val="6B7A72"/>
                </a:solidFill>
                <a:latin typeface="Calibri" pitchFamily="34" charset="0"/>
                <a:ea typeface="Calibri" pitchFamily="34" charset="-122"/>
                <a:cs typeface="Calibri" pitchFamily="34" charset="-120"/>
              </a:rPr>
              <a:t>New Rule → Use a formula → =A1&gt;AVERAGE($A$1:$A$10)</a:t>
            </a:r>
            <a:endParaRPr lang="en-US" sz="1050" dirty="0"/>
          </a:p>
        </p:txBody>
      </p:sp>
      <p:sp>
        <p:nvSpPr>
          <p:cNvPr id="50" name="Shape 48"/>
          <p:cNvSpPr/>
          <p:nvPr/>
        </p:nvSpPr>
        <p:spPr>
          <a:xfrm>
            <a:off x="6126480" y="5111496"/>
            <a:ext cx="5349240" cy="493776"/>
          </a:xfrm>
          <a:prstGeom prst="rect">
            <a:avLst/>
          </a:prstGeom>
          <a:solidFill>
            <a:srgbClr val="E7F4EC"/>
          </a:solidFill>
          <a:ln/>
        </p:spPr>
      </p:sp>
      <p:sp>
        <p:nvSpPr>
          <p:cNvPr id="51" name="Text 49"/>
          <p:cNvSpPr/>
          <p:nvPr/>
        </p:nvSpPr>
        <p:spPr>
          <a:xfrm>
            <a:off x="6263640" y="5111496"/>
            <a:ext cx="1828800" cy="493776"/>
          </a:xfrm>
          <a:prstGeom prst="rect">
            <a:avLst/>
          </a:prstGeom>
          <a:noFill/>
          <a:ln/>
        </p:spPr>
        <p:txBody>
          <a:bodyPr wrap="square" lIns="0" tIns="0" rIns="0" bIns="0" rtlCol="0" anchor="ctr"/>
          <a:lstStyle/>
          <a:p>
            <a:pPr marL="0" indent="0">
              <a:buNone/>
            </a:pPr>
            <a:r>
              <a:rPr lang="en-US" sz="1100" b="1" dirty="0">
                <a:solidFill>
                  <a:srgbClr val="1F2A24"/>
                </a:solidFill>
                <a:latin typeface="Calibri" pitchFamily="34" charset="0"/>
                <a:ea typeface="Calibri" pitchFamily="34" charset="-122"/>
                <a:cs typeface="Calibri" pitchFamily="34" charset="-120"/>
              </a:rPr>
              <a:t>Highlight Duplicates</a:t>
            </a:r>
            <a:endParaRPr lang="en-US" sz="1100" dirty="0"/>
          </a:p>
        </p:txBody>
      </p:sp>
      <p:sp>
        <p:nvSpPr>
          <p:cNvPr id="52" name="Text 50"/>
          <p:cNvSpPr/>
          <p:nvPr/>
        </p:nvSpPr>
        <p:spPr>
          <a:xfrm>
            <a:off x="8138160" y="5111496"/>
            <a:ext cx="3246120" cy="493776"/>
          </a:xfrm>
          <a:prstGeom prst="rect">
            <a:avLst/>
          </a:prstGeom>
          <a:noFill/>
          <a:ln/>
        </p:spPr>
        <p:txBody>
          <a:bodyPr wrap="square" lIns="0" tIns="0" rIns="0" bIns="0" rtlCol="0" anchor="ctr"/>
          <a:lstStyle/>
          <a:p>
            <a:pPr marL="0" indent="0">
              <a:buNone/>
            </a:pPr>
            <a:r>
              <a:rPr lang="en-US" sz="1050" dirty="0">
                <a:solidFill>
                  <a:srgbClr val="6B7A72"/>
                </a:solidFill>
                <a:latin typeface="Calibri" pitchFamily="34" charset="0"/>
                <a:ea typeface="Calibri" pitchFamily="34" charset="-122"/>
                <a:cs typeface="Calibri" pitchFamily="34" charset="-120"/>
              </a:rPr>
              <a:t>Home → CF → Highlight → Duplicate Values</a:t>
            </a:r>
            <a:endParaRPr lang="en-US" sz="1050" dirty="0"/>
          </a:p>
        </p:txBody>
      </p:sp>
      <p:sp>
        <p:nvSpPr>
          <p:cNvPr id="53" name="Shape 51"/>
          <p:cNvSpPr/>
          <p:nvPr/>
        </p:nvSpPr>
        <p:spPr>
          <a:xfrm>
            <a:off x="6126480" y="5605272"/>
            <a:ext cx="5349240" cy="493776"/>
          </a:xfrm>
          <a:prstGeom prst="rect">
            <a:avLst/>
          </a:prstGeom>
          <a:solidFill>
            <a:srgbClr val="FFFFFF"/>
          </a:solidFill>
          <a:ln/>
        </p:spPr>
      </p:sp>
      <p:sp>
        <p:nvSpPr>
          <p:cNvPr id="54" name="Text 52"/>
          <p:cNvSpPr/>
          <p:nvPr/>
        </p:nvSpPr>
        <p:spPr>
          <a:xfrm>
            <a:off x="6263640" y="5605272"/>
            <a:ext cx="1828800" cy="493776"/>
          </a:xfrm>
          <a:prstGeom prst="rect">
            <a:avLst/>
          </a:prstGeom>
          <a:noFill/>
          <a:ln/>
        </p:spPr>
        <p:txBody>
          <a:bodyPr wrap="square" lIns="0" tIns="0" rIns="0" bIns="0" rtlCol="0" anchor="ctr"/>
          <a:lstStyle/>
          <a:p>
            <a:pPr marL="0" indent="0">
              <a:buNone/>
            </a:pPr>
            <a:r>
              <a:rPr lang="en-US" sz="1100" b="1" dirty="0">
                <a:solidFill>
                  <a:srgbClr val="1F2A24"/>
                </a:solidFill>
                <a:latin typeface="Calibri" pitchFamily="34" charset="0"/>
                <a:ea typeface="Calibri" pitchFamily="34" charset="-122"/>
                <a:cs typeface="Calibri" pitchFamily="34" charset="-120"/>
              </a:rPr>
              <a:t>Manage / Delete Rules</a:t>
            </a:r>
            <a:endParaRPr lang="en-US" sz="1100" dirty="0"/>
          </a:p>
        </p:txBody>
      </p:sp>
      <p:sp>
        <p:nvSpPr>
          <p:cNvPr id="55" name="Text 53"/>
          <p:cNvSpPr/>
          <p:nvPr/>
        </p:nvSpPr>
        <p:spPr>
          <a:xfrm>
            <a:off x="8138160" y="5605272"/>
            <a:ext cx="3246120" cy="493776"/>
          </a:xfrm>
          <a:prstGeom prst="rect">
            <a:avLst/>
          </a:prstGeom>
          <a:noFill/>
          <a:ln/>
        </p:spPr>
        <p:txBody>
          <a:bodyPr wrap="square" lIns="0" tIns="0" rIns="0" bIns="0" rtlCol="0" anchor="ctr"/>
          <a:lstStyle/>
          <a:p>
            <a:pPr marL="0" indent="0">
              <a:buNone/>
            </a:pPr>
            <a:r>
              <a:rPr lang="en-US" sz="1050" dirty="0">
                <a:solidFill>
                  <a:srgbClr val="6B7A72"/>
                </a:solidFill>
                <a:latin typeface="Calibri" pitchFamily="34" charset="0"/>
                <a:ea typeface="Calibri" pitchFamily="34" charset="-122"/>
                <a:cs typeface="Calibri" pitchFamily="34" charset="-120"/>
              </a:rPr>
              <a:t>Home → CF → Manage Rules → Edit/Delete</a:t>
            </a:r>
            <a:endParaRPr lang="en-US" sz="1050" dirty="0"/>
          </a:p>
        </p:txBody>
      </p:sp>
      <p:sp>
        <p:nvSpPr>
          <p:cNvPr id="56" name="Shape 54"/>
          <p:cNvSpPr/>
          <p:nvPr/>
        </p:nvSpPr>
        <p:spPr>
          <a:xfrm>
            <a:off x="548640" y="6190488"/>
            <a:ext cx="10927080" cy="457200"/>
          </a:xfrm>
          <a:prstGeom prst="roundRect">
            <a:avLst>
              <a:gd name="adj" fmla="val 12000"/>
            </a:avLst>
          </a:prstGeom>
          <a:solidFill>
            <a:srgbClr val="1E7B4D"/>
          </a:solidFill>
          <a:ln/>
        </p:spPr>
      </p:sp>
      <p:sp>
        <p:nvSpPr>
          <p:cNvPr id="57" name="Text 55"/>
          <p:cNvSpPr/>
          <p:nvPr/>
        </p:nvSpPr>
        <p:spPr>
          <a:xfrm>
            <a:off x="548640" y="6190488"/>
            <a:ext cx="1092708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Remember: Data Validation = Control Input  |  Conditional Formatting = Visualise Output</a:t>
            </a:r>
            <a:endParaRPr lang="en-US" sz="1300" dirty="0"/>
          </a:p>
        </p:txBody>
      </p:sp>
      <p:sp>
        <p:nvSpPr>
          <p:cNvPr id="58" name="Text 56"/>
          <p:cNvSpPr/>
          <p:nvPr/>
        </p:nvSpPr>
        <p:spPr>
          <a:xfrm>
            <a:off x="11521440" y="6446520"/>
            <a:ext cx="457200" cy="274320"/>
          </a:xfrm>
          <a:prstGeom prst="rect">
            <a:avLst/>
          </a:prstGeom>
          <a:noFill/>
          <a:ln/>
        </p:spPr>
        <p:txBody>
          <a:bodyPr wrap="square" lIns="0" tIns="0" rIns="0" bIns="0" rtlCol="0" anchor="ctr"/>
          <a:lstStyle/>
          <a:p>
            <a:pPr marL="0" indent="0" algn="r">
              <a:buNone/>
            </a:pPr>
            <a:r>
              <a:rPr lang="en-US" sz="1000" dirty="0">
                <a:solidFill>
                  <a:srgbClr val="6B7A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7B4D"/>
        </a:solidFill>
        <a:effectLst/>
      </p:bgPr>
    </p:bg>
    <p:spTree>
      <p:nvGrpSpPr>
        <p:cNvPr id="1" name=""/>
        <p:cNvGrpSpPr/>
        <p:nvPr/>
      </p:nvGrpSpPr>
      <p:grpSpPr>
        <a:xfrm>
          <a:off x="0" y="0"/>
          <a:ext cx="0" cy="0"/>
          <a:chOff x="0" y="0"/>
          <a:chExt cx="0" cy="0"/>
        </a:xfrm>
      </p:grpSpPr>
      <p:sp>
        <p:nvSpPr>
          <p:cNvPr id="2" name="Shape 0"/>
          <p:cNvSpPr/>
          <p:nvPr/>
        </p:nvSpPr>
        <p:spPr>
          <a:xfrm>
            <a:off x="9144000" y="-2286000"/>
            <a:ext cx="5486400" cy="5486400"/>
          </a:xfrm>
          <a:prstGeom prst="ellipse">
            <a:avLst/>
          </a:prstGeom>
          <a:solidFill>
            <a:srgbClr val="5FAE85">
              <a:alpha val="30000"/>
            </a:srgbClr>
          </a:solidFill>
          <a:ln/>
        </p:spPr>
      </p:sp>
      <p:sp>
        <p:nvSpPr>
          <p:cNvPr id="3" name="Shape 1"/>
          <p:cNvSpPr/>
          <p:nvPr/>
        </p:nvSpPr>
        <p:spPr>
          <a:xfrm>
            <a:off x="-2011680" y="3931920"/>
            <a:ext cx="5029200" cy="5029200"/>
          </a:xfrm>
          <a:prstGeom prst="ellipse">
            <a:avLst/>
          </a:prstGeom>
          <a:solidFill>
            <a:srgbClr val="FFFFFF">
              <a:alpha val="10000"/>
            </a:srgbClr>
          </a:solidFill>
          <a:ln/>
        </p:spPr>
      </p:sp>
      <p:sp>
        <p:nvSpPr>
          <p:cNvPr id="4" name="Text 2"/>
          <p:cNvSpPr/>
          <p:nvPr/>
        </p:nvSpPr>
        <p:spPr>
          <a:xfrm>
            <a:off x="822960" y="822960"/>
            <a:ext cx="7315200" cy="457200"/>
          </a:xfrm>
          <a:prstGeom prst="rect">
            <a:avLst/>
          </a:prstGeom>
          <a:noFill/>
          <a:ln/>
        </p:spPr>
        <p:txBody>
          <a:bodyPr wrap="square" lIns="0" tIns="0" rIns="0" bIns="0" rtlCol="0" anchor="ctr"/>
          <a:lstStyle/>
          <a:p>
            <a:pPr marL="0" indent="0">
              <a:buNone/>
            </a:pPr>
            <a:r>
              <a:rPr lang="en-US" sz="1600" b="1" kern="0" spc="400" dirty="0">
                <a:solidFill>
                  <a:srgbClr val="E7F4EC"/>
                </a:solidFill>
                <a:latin typeface="Calibri" pitchFamily="34" charset="0"/>
                <a:ea typeface="Calibri" pitchFamily="34" charset="-122"/>
                <a:cs typeface="Calibri" pitchFamily="34" charset="-120"/>
              </a:rPr>
              <a:t>CONCLUSION &amp; Q&amp;A</a:t>
            </a:r>
            <a:endParaRPr lang="en-US" sz="1600" dirty="0"/>
          </a:p>
        </p:txBody>
      </p:sp>
      <p:sp>
        <p:nvSpPr>
          <p:cNvPr id="5" name="Text 3"/>
          <p:cNvSpPr/>
          <p:nvPr/>
        </p:nvSpPr>
        <p:spPr>
          <a:xfrm>
            <a:off x="822960" y="1280160"/>
            <a:ext cx="73152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Key Takeaways</a:t>
            </a:r>
            <a:endParaRPr lang="en-US" sz="4400" dirty="0"/>
          </a:p>
        </p:txBody>
      </p:sp>
      <p:sp>
        <p:nvSpPr>
          <p:cNvPr id="6" name="Shape 4"/>
          <p:cNvSpPr/>
          <p:nvPr/>
        </p:nvSpPr>
        <p:spPr>
          <a:xfrm>
            <a:off x="822960" y="2423160"/>
            <a:ext cx="502920" cy="502920"/>
          </a:xfrm>
          <a:prstGeom prst="ellipse">
            <a:avLst/>
          </a:prstGeom>
          <a:solidFill>
            <a:srgbClr val="5FAE85"/>
          </a:solidFill>
          <a:ln/>
        </p:spPr>
      </p:sp>
      <p:pic>
        <p:nvPicPr>
          <p:cNvPr id="7" name="Image 0" descr="preencoded.png"/>
          <p:cNvPicPr>
            <a:picLocks noChangeAspect="1"/>
          </p:cNvPicPr>
          <p:nvPr/>
        </p:nvPicPr>
        <p:blipFill>
          <a:blip r:embed="rId3"/>
          <a:stretch>
            <a:fillRect/>
          </a:stretch>
        </p:blipFill>
        <p:spPr>
          <a:xfrm>
            <a:off x="923544" y="2523744"/>
            <a:ext cx="301752" cy="301752"/>
          </a:xfrm>
          <a:prstGeom prst="rect">
            <a:avLst/>
          </a:prstGeom>
        </p:spPr>
      </p:pic>
      <p:sp>
        <p:nvSpPr>
          <p:cNvPr id="8" name="Text 5"/>
          <p:cNvSpPr/>
          <p:nvPr/>
        </p:nvSpPr>
        <p:spPr>
          <a:xfrm>
            <a:off x="1508760" y="2423160"/>
            <a:ext cx="6858000" cy="50292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Validate before you visualise — control input first.</a:t>
            </a:r>
            <a:endParaRPr lang="en-US" sz="1700" dirty="0"/>
          </a:p>
        </p:txBody>
      </p:sp>
      <p:sp>
        <p:nvSpPr>
          <p:cNvPr id="9" name="Shape 6"/>
          <p:cNvSpPr/>
          <p:nvPr/>
        </p:nvSpPr>
        <p:spPr>
          <a:xfrm>
            <a:off x="822960" y="3136392"/>
            <a:ext cx="502920" cy="502920"/>
          </a:xfrm>
          <a:prstGeom prst="ellipse">
            <a:avLst/>
          </a:prstGeom>
          <a:solidFill>
            <a:srgbClr val="5FAE85"/>
          </a:solidFill>
          <a:ln/>
        </p:spPr>
      </p:sp>
      <p:pic>
        <p:nvPicPr>
          <p:cNvPr id="10" name="Image 1" descr="preencoded.png"/>
          <p:cNvPicPr>
            <a:picLocks noChangeAspect="1"/>
          </p:cNvPicPr>
          <p:nvPr/>
        </p:nvPicPr>
        <p:blipFill>
          <a:blip r:embed="rId4"/>
          <a:stretch>
            <a:fillRect/>
          </a:stretch>
        </p:blipFill>
        <p:spPr>
          <a:xfrm>
            <a:off x="923544" y="3236976"/>
            <a:ext cx="301752" cy="301752"/>
          </a:xfrm>
          <a:prstGeom prst="rect">
            <a:avLst/>
          </a:prstGeom>
        </p:spPr>
      </p:pic>
      <p:sp>
        <p:nvSpPr>
          <p:cNvPr id="11" name="Text 7"/>
          <p:cNvSpPr/>
          <p:nvPr/>
        </p:nvSpPr>
        <p:spPr>
          <a:xfrm>
            <a:off x="1508760" y="3136392"/>
            <a:ext cx="6858000" cy="50292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Conditional Formatting turns raw data into instant insight.</a:t>
            </a:r>
            <a:endParaRPr lang="en-US" sz="1700" dirty="0"/>
          </a:p>
        </p:txBody>
      </p:sp>
      <p:sp>
        <p:nvSpPr>
          <p:cNvPr id="12" name="Shape 8"/>
          <p:cNvSpPr/>
          <p:nvPr/>
        </p:nvSpPr>
        <p:spPr>
          <a:xfrm>
            <a:off x="822960" y="3849624"/>
            <a:ext cx="502920" cy="502920"/>
          </a:xfrm>
          <a:prstGeom prst="ellipse">
            <a:avLst/>
          </a:prstGeom>
          <a:solidFill>
            <a:srgbClr val="5FAE85"/>
          </a:solidFill>
          <a:ln/>
        </p:spPr>
      </p:sp>
      <p:pic>
        <p:nvPicPr>
          <p:cNvPr id="13" name="Image 2" descr="preencoded.png"/>
          <p:cNvPicPr>
            <a:picLocks noChangeAspect="1"/>
          </p:cNvPicPr>
          <p:nvPr/>
        </p:nvPicPr>
        <p:blipFill>
          <a:blip r:embed="rId5"/>
          <a:stretch>
            <a:fillRect/>
          </a:stretch>
        </p:blipFill>
        <p:spPr>
          <a:xfrm>
            <a:off x="923544" y="3950208"/>
            <a:ext cx="301752" cy="301752"/>
          </a:xfrm>
          <a:prstGeom prst="rect">
            <a:avLst/>
          </a:prstGeom>
        </p:spPr>
      </p:pic>
      <p:sp>
        <p:nvSpPr>
          <p:cNvPr id="14" name="Text 9"/>
          <p:cNvSpPr/>
          <p:nvPr/>
        </p:nvSpPr>
        <p:spPr>
          <a:xfrm>
            <a:off x="1508760" y="3849624"/>
            <a:ext cx="6858000" cy="50292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Formula-based rules unlock unlimited customisation.</a:t>
            </a:r>
            <a:endParaRPr lang="en-US" sz="1700" dirty="0"/>
          </a:p>
        </p:txBody>
      </p:sp>
      <p:sp>
        <p:nvSpPr>
          <p:cNvPr id="15" name="Shape 10"/>
          <p:cNvSpPr/>
          <p:nvPr/>
        </p:nvSpPr>
        <p:spPr>
          <a:xfrm>
            <a:off x="822960" y="4562856"/>
            <a:ext cx="502920" cy="502920"/>
          </a:xfrm>
          <a:prstGeom prst="ellipse">
            <a:avLst/>
          </a:prstGeom>
          <a:solidFill>
            <a:srgbClr val="5FAE85"/>
          </a:solidFill>
          <a:ln/>
        </p:spPr>
      </p:sp>
      <p:pic>
        <p:nvPicPr>
          <p:cNvPr id="16" name="Image 3" descr="preencoded.png"/>
          <p:cNvPicPr>
            <a:picLocks noChangeAspect="1"/>
          </p:cNvPicPr>
          <p:nvPr/>
        </p:nvPicPr>
        <p:blipFill>
          <a:blip r:embed="rId6"/>
          <a:stretch>
            <a:fillRect/>
          </a:stretch>
        </p:blipFill>
        <p:spPr>
          <a:xfrm>
            <a:off x="923544" y="4663440"/>
            <a:ext cx="301752" cy="301752"/>
          </a:xfrm>
          <a:prstGeom prst="rect">
            <a:avLst/>
          </a:prstGeom>
        </p:spPr>
      </p:pic>
      <p:sp>
        <p:nvSpPr>
          <p:cNvPr id="17" name="Text 11"/>
          <p:cNvSpPr/>
          <p:nvPr/>
        </p:nvSpPr>
        <p:spPr>
          <a:xfrm>
            <a:off x="1508760" y="4562856"/>
            <a:ext cx="6858000" cy="50292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Use both together for accurate, beautiful spreadsheets.</a:t>
            </a:r>
            <a:endParaRPr lang="en-US" sz="1700" dirty="0"/>
          </a:p>
        </p:txBody>
      </p:sp>
      <p:sp>
        <p:nvSpPr>
          <p:cNvPr id="21" name="Text 14"/>
          <p:cNvSpPr/>
          <p:nvPr/>
        </p:nvSpPr>
        <p:spPr>
          <a:xfrm>
            <a:off x="8503920" y="2606040"/>
            <a:ext cx="2834640" cy="411480"/>
          </a:xfrm>
          <a:prstGeom prst="rect">
            <a:avLst/>
          </a:prstGeom>
          <a:noFill/>
          <a:ln/>
        </p:spPr>
        <p:txBody>
          <a:bodyPr wrap="square" lIns="0" tIns="0" rIns="0" bIns="0" rtlCol="0" anchor="ctr"/>
          <a:lstStyle/>
          <a:p>
            <a:pPr marL="0" indent="0" algn="ctr">
              <a:buNone/>
            </a:pPr>
            <a:endParaRPr lang="en-US" sz="2000" dirty="0"/>
          </a:p>
        </p:txBody>
      </p:sp>
      <p:sp>
        <p:nvSpPr>
          <p:cNvPr id="22" name="Text 15"/>
          <p:cNvSpPr/>
          <p:nvPr/>
        </p:nvSpPr>
        <p:spPr>
          <a:xfrm>
            <a:off x="8503920" y="3108960"/>
            <a:ext cx="2834640" cy="1280160"/>
          </a:xfrm>
          <a:prstGeom prst="rect">
            <a:avLst/>
          </a:prstGeom>
          <a:noFill/>
          <a:ln/>
        </p:spPr>
        <p:txBody>
          <a:bodyPr wrap="square" lIns="0" tIns="0" rIns="0" bIns="0" rtlCol="0" anchor="ctr"/>
          <a:lstStyle/>
          <a:p>
            <a:pPr marL="0" indent="0" algn="ctr">
              <a:lnSpc>
                <a:spcPct val="125000"/>
              </a:lnSpc>
              <a:buNone/>
            </a:pPr>
            <a:endParaRPr lang="en-US" sz="1250" dirty="0"/>
          </a:p>
        </p:txBody>
      </p:sp>
      <p:sp>
        <p:nvSpPr>
          <p:cNvPr id="23" name="Shape 16"/>
          <p:cNvSpPr/>
          <p:nvPr/>
        </p:nvSpPr>
        <p:spPr>
          <a:xfrm flipV="1">
            <a:off x="0" y="5852159"/>
            <a:ext cx="12192000" cy="0"/>
          </a:xfrm>
          <a:prstGeom prst="line">
            <a:avLst/>
          </a:prstGeom>
          <a:noFill/>
          <a:ln w="12700">
            <a:solidFill>
              <a:srgbClr val="E7F4EC"/>
            </a:solidFill>
            <a:prstDash val="solid"/>
          </a:ln>
        </p:spPr>
        <p:txBody>
          <a:bodyPr/>
          <a:lstStyle/>
          <a:p>
            <a:endParaRPr lang="en-IN" dirty="0"/>
          </a:p>
        </p:txBody>
      </p:sp>
      <p:sp>
        <p:nvSpPr>
          <p:cNvPr id="24" name="Text 17"/>
          <p:cNvSpPr/>
          <p:nvPr/>
        </p:nvSpPr>
        <p:spPr>
          <a:xfrm>
            <a:off x="4112895" y="6205346"/>
            <a:ext cx="2834640" cy="365760"/>
          </a:xfrm>
          <a:prstGeom prst="rect">
            <a:avLst/>
          </a:prstGeom>
          <a:noFill/>
          <a:ln/>
        </p:spPr>
        <p:txBody>
          <a:bodyPr wrap="square" lIns="0" tIns="0" rIns="0" bIns="0" rtlCol="0" anchor="ctr"/>
          <a:lstStyle/>
          <a:p>
            <a:pPr marL="0" indent="0" algn="ctr">
              <a:buNone/>
            </a:pPr>
            <a:r>
              <a:rPr lang="en-US" sz="3200" i="1" dirty="0">
                <a:solidFill>
                  <a:srgbClr val="FFC000"/>
                </a:solidFill>
                <a:latin typeface="Calibri" pitchFamily="34" charset="0"/>
                <a:ea typeface="Calibri" pitchFamily="34" charset="-122"/>
                <a:cs typeface="Calibri" pitchFamily="34" charset="-120"/>
              </a:rPr>
              <a:t>Thank you</a:t>
            </a:r>
            <a:endParaRPr lang="en-US" sz="3200" dirty="0">
              <a:solidFill>
                <a:srgbClr val="FFC000"/>
              </a:solidFill>
            </a:endParaRPr>
          </a:p>
        </p:txBody>
      </p:sp>
      <p:sp>
        <p:nvSpPr>
          <p:cNvPr id="25" name="Text 18"/>
          <p:cNvSpPr/>
          <p:nvPr/>
        </p:nvSpPr>
        <p:spPr>
          <a:xfrm>
            <a:off x="8503920" y="5029200"/>
            <a:ext cx="2834640" cy="320040"/>
          </a:xfrm>
          <a:prstGeom prst="rect">
            <a:avLst/>
          </a:prstGeom>
          <a:noFill/>
          <a:ln/>
        </p:spPr>
        <p:txBody>
          <a:bodyPr wrap="square" lIns="0" tIns="0" rIns="0" bIns="0" rtlCol="0" anchor="ctr"/>
          <a:lstStyle/>
          <a:p>
            <a:pPr marL="0" indent="0" algn="ctr">
              <a:buNone/>
            </a:pPr>
            <a:endParaRPr lang="en-US" sz="1100" dirty="0">
              <a:solidFill>
                <a:schemeClr val="bg1"/>
              </a:solidFill>
            </a:endParaRPr>
          </a:p>
        </p:txBody>
      </p:sp>
    </p:spTree>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4B4B4B"/>
      </a:dk2>
      <a:lt2>
        <a:srgbClr val="B5B5B5"/>
      </a:lt2>
      <a:accent1>
        <a:srgbClr val="9AC43E"/>
      </a:accent1>
      <a:accent2>
        <a:srgbClr val="44BA98"/>
      </a:accent2>
      <a:accent3>
        <a:srgbClr val="43A9D9"/>
      </a:accent3>
      <a:accent4>
        <a:srgbClr val="6274D8"/>
      </a:accent4>
      <a:accent5>
        <a:srgbClr val="AB54D7"/>
      </a:accent5>
      <a:accent6>
        <a:srgbClr val="D15B37"/>
      </a:accent6>
      <a:hlink>
        <a:srgbClr val="BFE962"/>
      </a:hlink>
      <a:folHlink>
        <a:srgbClr val="C0D591"/>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892FADA9-420D-4323-A7A4-C1060166525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TM04033925[[fn=Droplet]]</Template>
  <TotalTime>6</TotalTime>
  <Words>2463</Words>
  <Application>Microsoft Office PowerPoint</Application>
  <PresentationFormat>Widescreen</PresentationFormat>
  <Paragraphs>305</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Cambria</vt:lpstr>
      <vt:lpstr>Courier New</vt:lpstr>
      <vt:lpstr>Tw Cen MT</vt: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 Data Validation &amp; Conditional Formatting</dc:title>
  <dc:subject>PptxGenJS Presentation</dc:subject>
  <dc:creator>Excel Mastery Series</dc:creator>
  <cp:lastModifiedBy>visxnugosali123@gmail.com</cp:lastModifiedBy>
  <cp:revision>2</cp:revision>
  <dcterms:created xsi:type="dcterms:W3CDTF">2026-06-14T12:12:24Z</dcterms:created>
  <dcterms:modified xsi:type="dcterms:W3CDTF">2026-06-14T12:29:45Z</dcterms:modified>
</cp:coreProperties>
</file>