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529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400800" cy="6400800"/>
          </a:xfrm>
          <a:prstGeom prst="ellipse">
            <a:avLst/>
          </a:prstGeom>
          <a:solidFill>
            <a:srgbClr val="0F6E4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4206240" cy="4206240"/>
          </a:xfrm>
          <a:prstGeom prst="ellipse">
            <a:avLst/>
          </a:prstGeom>
          <a:solidFill>
            <a:srgbClr val="4FA98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0F6E4F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640080"/>
            <a:ext cx="2688336" cy="0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24128"/>
            <a:ext cx="2688336" cy="0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408176"/>
            <a:ext cx="2688336" cy="0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792224"/>
            <a:ext cx="2688336" cy="0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176272"/>
            <a:ext cx="2688336" cy="0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2560320"/>
            <a:ext cx="2688336" cy="0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944368"/>
            <a:ext cx="2688336" cy="0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62288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46336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30384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14432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82528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66576" y="640080"/>
            <a:ext cx="0" cy="2304288"/>
          </a:xfrm>
          <a:prstGeom prst="line">
            <a:avLst/>
          </a:prstGeom>
          <a:noFill/>
          <a:ln w="9525">
            <a:solidFill>
              <a:srgbClr val="4FA980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FA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APPLICATIONS  ·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Magic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777240" y="2606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BF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Productivity with Microsoft Excel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22960" y="4297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briefing on AutoFill, Custom Lists, Cell Merging, and Excel Tables — the four pillars of intelligent spreadsheet automation.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212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FA98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54086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63" y="5495087"/>
            <a:ext cx="211226" cy="2112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0" y="5212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355848" y="5212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FA980">
                <a:alpha val="5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20440" y="54086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851" y="5495087"/>
            <a:ext cx="211226" cy="21122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995928" y="5212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Lists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5888736" y="5212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FA980">
                <a:alpha val="5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053328" y="54086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739" y="5495087"/>
            <a:ext cx="211226" cy="21122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528816" y="5212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8421624" y="5212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FA980">
                <a:alpha val="5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586216" y="54086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2627" y="5495087"/>
            <a:ext cx="211226" cy="21122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061704" y="5212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Magic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10820095" y="6309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300" b="1" kern="0" spc="20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Excel Automation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workplaces, spreadsheets are the backbone of reporting and decision-making. Automation features turn repetitive data work into a fast, reliable, and error-resistant process — freeing analysts to focus on insight rather than data entry.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006840" y="7772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0A4D37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06840" y="868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098280" y="1572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Productivity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Covered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3383280"/>
            <a:ext cx="8174736" cy="0"/>
          </a:xfrm>
          <a:prstGeom prst="line">
            <a:avLst/>
          </a:prstGeom>
          <a:noFill/>
          <a:ln w="31750">
            <a:solidFill>
              <a:srgbClr val="CFE9D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554480" y="3063240"/>
            <a:ext cx="640080" cy="64008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3223260"/>
            <a:ext cx="320040" cy="320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38404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" y="3959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" y="42702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4672" y="46634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pattern-based data entry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79392" y="3063240"/>
            <a:ext cx="640080" cy="64008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3223260"/>
            <a:ext cx="320040" cy="320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364992" y="38404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529584" y="3959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29584" y="42702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529584" y="46634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fill sequences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004304" y="3063240"/>
            <a:ext cx="640080" cy="64008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324" y="3223260"/>
            <a:ext cx="320040" cy="3200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89904" y="38404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254496" y="3959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54496" y="42702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Cells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254496" y="46634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cells for clean headers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729216" y="3063240"/>
            <a:ext cx="640080" cy="64008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236" y="3223260"/>
            <a:ext cx="320040" cy="3200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814816" y="38404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979408" y="3959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979408" y="42702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Magic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8979408" y="46634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intelligent data objects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MAGIC REPORT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300" b="1" kern="0" spc="20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ENTRY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AutoFill &amp; Custom Lists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engines for fast, pattern-driven data entry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59" y="227639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30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4963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fill handle to extend patterns instantly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numeric, date, and weekday series automatically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Fill (Ctrl+E) extracts and formats patterns intelligently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formulas across rows with zero retyping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48840"/>
            <a:ext cx="566928" cy="566928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799" y="227639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130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223760" y="24963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Excel your own repeating sequences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92240" y="292608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via File → Options → Edit Custom Lists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departments, branches, or product codes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exactly like a built-in AutoFill sequence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 ·  LIVE DEMONSTRATION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489204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FBFDFC"/>
          </a:solidFill>
          <a:ln w="12700">
            <a:solidFill>
              <a:srgbClr val="CFE9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Series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22960" y="5276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r>
              <a:rPr lang="en-US" sz="1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Wed · Thu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343400" y="489204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FBFDFC"/>
          </a:solidFill>
          <a:ln w="12700">
            <a:solidFill>
              <a:srgbClr val="CFE9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2628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526280" y="5276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r>
              <a:rPr lang="en-US" sz="1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· Nashik · Nagpur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46720" y="489204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FBFDFC"/>
          </a:solidFill>
          <a:ln w="12700">
            <a:solidFill>
              <a:srgbClr val="CFE9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2960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Pattern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229600" y="5276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r>
              <a:rPr lang="en-US" sz="1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1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Q3 · Q4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MAGIC REPORT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300" b="1" kern="0" spc="20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Cells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cells for cleaner titles, headers, and labels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PROCESS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713232" cy="548640"/>
          </a:xfrm>
          <a:prstGeom prst="rect">
            <a:avLst/>
          </a:prstGeom>
          <a:solidFill>
            <a:srgbClr val="FBFDFC"/>
          </a:solidFill>
          <a:ln w="19050">
            <a:solidFill>
              <a:srgbClr val="CFE9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53312" y="2377440"/>
            <a:ext cx="713232" cy="548640"/>
          </a:xfrm>
          <a:prstGeom prst="rect">
            <a:avLst/>
          </a:prstGeom>
          <a:solidFill>
            <a:srgbClr val="FBFDFC"/>
          </a:solidFill>
          <a:ln w="19050">
            <a:solidFill>
              <a:srgbClr val="CFE9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37744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66544" y="2377440"/>
            <a:ext cx="713232" cy="548640"/>
          </a:xfrm>
          <a:prstGeom prst="rect">
            <a:avLst/>
          </a:prstGeom>
          <a:solidFill>
            <a:srgbClr val="FBFDFC"/>
          </a:solidFill>
          <a:ln w="19050">
            <a:solidFill>
              <a:srgbClr val="CFE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237744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62656" y="2423160"/>
            <a:ext cx="457200" cy="45720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526" y="2526030"/>
            <a:ext cx="251460" cy="2514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02736" y="2377440"/>
            <a:ext cx="2139696" cy="548640"/>
          </a:xfrm>
          <a:prstGeom prst="rect">
            <a:avLst/>
          </a:prstGeom>
          <a:solidFill>
            <a:srgbClr val="0F6E4F"/>
          </a:solidFill>
          <a:ln/>
        </p:spPr>
      </p:sp>
      <p:sp>
        <p:nvSpPr>
          <p:cNvPr id="16" name="Text 13"/>
          <p:cNvSpPr/>
          <p:nvPr/>
        </p:nvSpPr>
        <p:spPr>
          <a:xfrm>
            <a:off x="3602736" y="23774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: C2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02736" y="29992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Alignment group → Merge &amp; Center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OPTIONS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Center  </a:t>
            </a: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Merges and centers content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4498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Across  </a:t>
            </a: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Merges each row separately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4791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Cells  </a:t>
            </a: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Merges without centering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1965960"/>
            <a:ext cx="5285232" cy="1965960"/>
          </a:xfrm>
          <a:prstGeom prst="roundRect">
            <a:avLst>
              <a:gd name="adj" fmla="val 4651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37960" y="216712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 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954512" y="21488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212848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37960" y="2560320"/>
            <a:ext cx="4645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merging for titles and header rows only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consistent merge width across repeated headers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Center Across Selection as a non-destructive alternative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63640" y="4160520"/>
            <a:ext cx="5285232" cy="1965960"/>
          </a:xfrm>
          <a:prstGeom prst="roundRect">
            <a:avLst>
              <a:gd name="adj" fmla="val 4651"/>
            </a:avLst>
          </a:prstGeom>
          <a:solidFill>
            <a:srgbClr val="FBEEEC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537960" y="436168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 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10954512" y="4343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4407408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37960" y="4754880"/>
            <a:ext cx="4645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cells within data ranges used for sorting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formula references that expect single cells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Unmerge is needed before re-sorting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MAGIC REPORT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300" b="1" kern="0" spc="20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Magic — Excel Tables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plain ranges into structured, self-maintaining data objects (Ctrl+T)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42032" cy="1508760"/>
          </a:xfrm>
          <a:prstGeom prst="roundRect">
            <a:avLst>
              <a:gd name="adj" fmla="val 5455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9636" y="2121408"/>
            <a:ext cx="502920" cy="50292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793" y="2234565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7614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Filters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0540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every column header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64992" y="1920240"/>
            <a:ext cx="2542032" cy="1508760"/>
          </a:xfrm>
          <a:prstGeom prst="roundRect">
            <a:avLst>
              <a:gd name="adj" fmla="val 5455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4548" y="2121408"/>
            <a:ext cx="502920" cy="50292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705" y="2234565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7614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Refs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02152" y="30540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=Table1[Sales] instead of =B2:B10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89904" y="1920240"/>
            <a:ext cx="2542032" cy="1508760"/>
          </a:xfrm>
          <a:prstGeom prst="roundRect">
            <a:avLst>
              <a:gd name="adj" fmla="val 5455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09460" y="2121408"/>
            <a:ext cx="502920" cy="50292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2617" y="2234565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9632" y="27614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Expansion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27064" y="30540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automatically with new data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814816" y="1920240"/>
            <a:ext cx="2542032" cy="1508760"/>
          </a:xfrm>
          <a:prstGeom prst="roundRect">
            <a:avLst>
              <a:gd name="adj" fmla="val 5455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34372" y="2121408"/>
            <a:ext cx="502920" cy="502920"/>
          </a:xfrm>
          <a:prstGeom prst="ellipse">
            <a:avLst/>
          </a:prstGeom>
          <a:solidFill>
            <a:srgbClr val="0F6E4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529" y="2234565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24544" y="27614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951976" y="30540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SUM, AVG, COUNT, MAX, MIN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RANGE  vs.  EXCEL TABLE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10927080" cy="21031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Plain Range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Excel Table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Auto Filter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Manual setup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4D37"/>
                          </a:solidFill>
                        </a:rPr>
                        <a:t>Included automatically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New Rows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Manual range expansion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4D37"/>
                          </a:solidFill>
                        </a:rPr>
                        <a:t>Expands automatically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Formula Reference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=B2:B10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4D37"/>
                          </a:solidFill>
                        </a:rPr>
                        <a:t>=Table1[Sales]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Total Row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41F"/>
                          </a:solidFill>
                        </a:rPr>
                        <a:t>Not available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4D37"/>
                          </a:solidFill>
                        </a:rPr>
                        <a:t>One-click SUM / AVG / COUNT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MAGIC REPORT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pic>
        <p:nvPicPr>
          <p:cNvPr id="29" name="Image 0" descr="/home/claude/excel_pptx/icons/filter_white.png">
            <a:extLst>
              <a:ext uri="{FF2B5EF4-FFF2-40B4-BE49-F238E27FC236}">
                <a16:creationId xmlns:a16="http://schemas.microsoft.com/office/drawing/2014/main" id="{568DB3D6-A828-F9F6-AD2C-82492A112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2793" y="2235801"/>
            <a:ext cx="310896" cy="310896"/>
          </a:xfrm>
          <a:prstGeom prst="rect">
            <a:avLst/>
          </a:prstGeom>
        </p:spPr>
      </p:pic>
      <p:pic>
        <p:nvPicPr>
          <p:cNvPr id="30" name="Image 1" descr="/home/claude/excel_pptx/icons/layers_white.png">
            <a:extLst>
              <a:ext uri="{FF2B5EF4-FFF2-40B4-BE49-F238E27FC236}">
                <a16:creationId xmlns:a16="http://schemas.microsoft.com/office/drawing/2014/main" id="{B25EEE1A-7608-2326-9695-DB7837972B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7529" y="2217420"/>
            <a:ext cx="310896" cy="310896"/>
          </a:xfrm>
          <a:prstGeom prst="rect">
            <a:avLst/>
          </a:prstGeom>
        </p:spPr>
      </p:pic>
      <p:pic>
        <p:nvPicPr>
          <p:cNvPr id="31" name="Image 2" descr="/home/claude/excel_pptx/icons/sync_white.png">
            <a:extLst>
              <a:ext uri="{FF2B5EF4-FFF2-40B4-BE49-F238E27FC236}">
                <a16:creationId xmlns:a16="http://schemas.microsoft.com/office/drawing/2014/main" id="{BAFF590D-DD6A-8AE6-1B8F-EE06B25D9A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2617" y="2185416"/>
            <a:ext cx="310896" cy="310896"/>
          </a:xfrm>
          <a:prstGeom prst="rect">
            <a:avLst/>
          </a:prstGeom>
        </p:spPr>
      </p:pic>
      <p:pic>
        <p:nvPicPr>
          <p:cNvPr id="32" name="Image 3" descr="/home/claude/excel_pptx/icons/calculator_white.png">
            <a:extLst>
              <a:ext uri="{FF2B5EF4-FFF2-40B4-BE49-F238E27FC236}">
                <a16:creationId xmlns:a16="http://schemas.microsoft.com/office/drawing/2014/main" id="{9662054B-0D3B-0DA4-FDB0-9106B65CDD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7705" y="2209326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300" b="1" kern="0" spc="20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Applications &amp;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four features compound to improve everyday spreadsheet work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0391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822" y="212689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5117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28254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fewer errors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43784" y="187452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6744" y="20391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526" y="212689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5224" y="255117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35224" y="28254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formatted output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47488" y="187452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70448" y="20391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230" y="212689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8928" y="255117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138928" y="28254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structured references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251192" y="187452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74152" y="20391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934" y="2126894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2632" y="255117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342632" y="28254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self-updating visuals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9454896" y="187452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E7F4EE"/>
          </a:solidFill>
          <a:ln/>
          <a:effectLst>
            <a:outerShdw blurRad="127000" dist="38100" dir="5400000" algn="bl" rotWithShape="0">
              <a:srgbClr val="0A4D37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77856" y="20391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5638" y="2126894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46336" y="255117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546336" y="28254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every week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A4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MATRIX</a:t>
            </a:r>
            <a:endParaRPr lang="en-US" sz="10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86200"/>
          <a:ext cx="10927080" cy="187452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AutoFill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Custom Lists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Merging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Tables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41F"/>
                          </a:solidFill>
                        </a:rPr>
                        <a:t>Speeds up data entry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989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41F"/>
                          </a:solidFill>
                        </a:rPr>
                        <a:t>Improves visual presentation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989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989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41F"/>
                          </a:solidFill>
                        </a:rPr>
                        <a:t>Reduces manual errors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989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41F"/>
                          </a:solidFill>
                        </a:rPr>
                        <a:t>Scales with growing data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9892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4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MAGIC REPORT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0F6E4F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657600"/>
            <a:ext cx="4754880" cy="4754880"/>
          </a:xfrm>
          <a:prstGeom prst="ellipse">
            <a:avLst/>
          </a:prstGeom>
          <a:solidFill>
            <a:srgbClr val="4FA980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 · 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Mastering These Tools Pays Off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A980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92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" y="2005965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53288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2862072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repetitive typing for series, dates, and formulas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64992" y="16916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A980">
                <a:alpha val="5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892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317" y="2005965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53288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2862072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your own recurring sequences for one-drag entry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9904" y="16916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A980">
                <a:alpha val="5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91072" y="1892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229" y="2005965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253288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Cells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2862072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polished headers — used selectively, never on data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814816" y="169164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FA980">
                <a:alpha val="5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15984" y="1892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141" y="2005965"/>
            <a:ext cx="276606" cy="2766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15984" y="253288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Magic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015984" y="2862072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ranges into self-filtering, self-expanding data objects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40080" y="38862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0A4D37"/>
          </a:solidFill>
          <a:ln/>
        </p:spPr>
      </p:sp>
      <p:sp>
        <p:nvSpPr>
          <p:cNvPr id="27" name="Shape 21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169664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3886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features convert Excel from a static record-keeper into a dynamic productivity engine — saving hours, reducing errors, and elevating the quality of every report.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40080" y="5074920"/>
            <a:ext cx="10908792" cy="0"/>
          </a:xfrm>
          <a:prstGeom prst="line">
            <a:avLst/>
          </a:prstGeom>
          <a:noFill/>
          <a:ln w="12700">
            <a:solidFill>
              <a:srgbClr val="4FA980">
                <a:alpha val="40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4008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2" name="Text 25"/>
          <p:cNvSpPr/>
          <p:nvPr/>
        </p:nvSpPr>
        <p:spPr>
          <a:xfrm>
            <a:off x="640080" y="5943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778240" y="52578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MAGIC REPORT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667</Words>
  <Application>Microsoft Office PowerPoint</Application>
  <PresentationFormat>Widescreen</PresentationFormat>
  <Paragraphs>168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Magic Report</dc:title>
  <dc:subject>PptxGenJS Presentation</dc:subject>
  <dc:creator>Student Report</dc:creator>
  <cp:lastModifiedBy>visxnugosali123@gmail.com</cp:lastModifiedBy>
  <cp:revision>2</cp:revision>
  <dcterms:created xsi:type="dcterms:W3CDTF">2026-06-20T08:01:32Z</dcterms:created>
  <dcterms:modified xsi:type="dcterms:W3CDTF">2026-06-20T08:07:30Z</dcterms:modified>
</cp:coreProperties>
</file>