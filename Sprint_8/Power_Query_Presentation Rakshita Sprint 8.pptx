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01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Power Query as Microsoft's data transformation engine. Emphasize that it's available across Excel, Power BI, and Azure Data Factory, and that it lets users discover, connect, combine, and refine data using a visual, no-code interface backed by the M language. Highlight the three key benefits shown on screen: no-code transformations make it accessible to analysts without programming backgrounds; reusable query pipelines mean you build once and refresh forever; and query folding pushes heavy processing back to the source database for speed. This sets up the architecture discussion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four-stage architecture left to right: Data Sources feed into the Power Query Engine, which applies Transformations, before the result is sent to a Load Destination. Mention that this pipeline is recorded step by step, so it can be refreshed automatically whenever the source data changes. Then cover the four key concepts at the bottom: Steps (each transformation appears in Applied Steps), M Code (the formula language generated behind every click), Queries (named, reusable pipelines), and Folding (pushing transformation logic back to the source database for performance). This slide sets the mental model for everything that follows in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available connectors into three buckets: File Sources (Excel, CSV, JSON, and even PDF tables), Database Sources (SQL Server, MySQL, PostgreSQL, Access, Azure SQL), and Online and Cloud sources (SharePoint, web page scraping, OData feeds, Salesforce). Mention the strip at the bottom covers further options — folder combination, Google Sheets, Python and R scripts, and generic ODBC connections — to show the breadth of connectivity. The takeaway: if data exists anywhere in the organization, Power Query can very likely reach it without custom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 as the functional, case-sensitive language that underlies every Power Query operation — every click in the Query Editor generates M code. Walk through the let...in structure shown in the dark code card: each step is a named expression, and the final 'in' clause determines what's returned. Cover why learning M matters: it enables custom transformations beyond what the UI exposes, dynamic parameter-driven queries, and proper error handling using the try...otherwise pattern. Then reference the function table on the right as a quick-glance cheat sheet covering the most commonly used Table, Text, Date, List, and Number functions.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six most commonly used transformation features as a grid: Filter Rows and Sort Data for basic row control, Remove Duplicates for data quality, Add Custom Columns for computed values using M expressions, and Pivot and Unpivot together with Group By for reshaping and aggregating data. If time allows, briefly demonstrate or describe the Pivot vs Unpivot example from the source guide: a wide table of student scores by subject can be unpivoted into a long format with Student, Subject, and Score columns — useful for feeding BI tools that expect long-format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main ways to combine data in Power Query. Merge works like a SQL JOIN, combining tables side by side based on a matching key — walk through Inner, Left Outer, Right Outer, and Full Outer joins, and mention Anti joins for finding unmatched rows. Append, by contrast, stacks tables vertically like a SQL UNION ALL, matching columns by name — shown in the mini diagram combining a January and February sales query into one appended result. Close with the practical business use cases: merging Orders with Customer data to enrich a report, or appending twelve months of sales files into a single combined query.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Query Folding as one of Power Query's most important performance concepts: instead of pulling every row into memory and processing it locally, Power Query translates your applied steps into the source system's native query language — typically SQL — so filtering and aggregation happen at the database level. Contrast the 'without folding' path, which loads everything into RAM and is slow at scale, against the 'with folding' path, which is fast because the database does the heavy lifting. Mention the tip from the source guide: right-click any Applied Step and choose View Native Query to check whether folding is still active. Close with the four best practices: filter early, use parameters for reusability, rename steps for clarity, and prefer native connectors over generic ODBC drivers.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key takeaways from the full presentation: Power Query connects, cleans, and reshapes data with no-code steps; the M language unlocks custom and dynamic transformations beyond the UI; Merge and Append let you combine data from multiple sources; and Query Folding keeps large datasets fast by pushing work back to the source system. Connect these concepts to real business value by walking through the four application areas: Sales Analysis (consolidating regional sales data), Financial Reporting (automating month-end close processes), Inventory Management (merging warehouse and order data), and Customer Analytics (building unified customer views from CRM and transaction data). Close by inviting questions and discussion — this is a natural pause point for a viva or business demonstration.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3A"/>
        </a:solidFill>
        <a:effectLst/>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E8B57">
              <a:alpha val="22000"/>
            </a:srgbClr>
          </a:solidFill>
          <a:ln/>
        </p:spPr>
      </p:sp>
      <p:sp>
        <p:nvSpPr>
          <p:cNvPr id="3" name="Shape 1"/>
          <p:cNvSpPr/>
          <p:nvPr/>
        </p:nvSpPr>
        <p:spPr>
          <a:xfrm>
            <a:off x="9692640" y="4206240"/>
            <a:ext cx="3840480" cy="3840480"/>
          </a:xfrm>
          <a:prstGeom prst="ellipse">
            <a:avLst/>
          </a:prstGeom>
          <a:solidFill>
            <a:srgbClr val="FFFFFF">
              <a:alpha val="8000"/>
            </a:srgbClr>
          </a:solidFill>
          <a:ln/>
        </p:spPr>
      </p:sp>
      <p:sp>
        <p:nvSpPr>
          <p:cNvPr id="4" name="Text 2"/>
          <p:cNvSpPr/>
          <p:nvPr/>
        </p:nvSpPr>
        <p:spPr>
          <a:xfrm>
            <a:off x="822960" y="1417320"/>
            <a:ext cx="6400800" cy="320040"/>
          </a:xfrm>
          <a:prstGeom prst="rect">
            <a:avLst/>
          </a:prstGeom>
          <a:noFill/>
          <a:ln/>
        </p:spPr>
        <p:txBody>
          <a:bodyPr wrap="square" lIns="0" tIns="0" rIns="0" bIns="0" rtlCol="0" anchor="ctr"/>
          <a:lstStyle/>
          <a:p>
            <a:pPr marL="0" indent="0">
              <a:buNone/>
            </a:pPr>
            <a:r>
              <a:rPr lang="en-US" sz="1300" b="1" kern="0" spc="250" dirty="0">
                <a:solidFill>
                  <a:srgbClr val="8FD6AE"/>
                </a:solidFill>
                <a:latin typeface="Calibri" pitchFamily="34" charset="0"/>
                <a:ea typeface="Calibri" pitchFamily="34" charset="-122"/>
                <a:cs typeface="Calibri" pitchFamily="34" charset="-120"/>
              </a:rPr>
              <a:t>EXCEL  •  POWER BI  •  ETL</a:t>
            </a:r>
            <a:endParaRPr lang="en-US" sz="1300" dirty="0"/>
          </a:p>
        </p:txBody>
      </p:sp>
      <p:sp>
        <p:nvSpPr>
          <p:cNvPr id="5" name="Text 3"/>
          <p:cNvSpPr/>
          <p:nvPr/>
        </p:nvSpPr>
        <p:spPr>
          <a:xfrm>
            <a:off x="777240" y="1783080"/>
            <a:ext cx="96012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Power Query</a:t>
            </a:r>
            <a:endParaRPr lang="en-US" sz="6000" dirty="0"/>
          </a:p>
        </p:txBody>
      </p:sp>
      <p:sp>
        <p:nvSpPr>
          <p:cNvPr id="6" name="Text 4"/>
          <p:cNvSpPr/>
          <p:nvPr/>
        </p:nvSpPr>
        <p:spPr>
          <a:xfrm>
            <a:off x="822960" y="2697480"/>
            <a:ext cx="8686800" cy="548640"/>
          </a:xfrm>
          <a:prstGeom prst="rect">
            <a:avLst/>
          </a:prstGeom>
          <a:noFill/>
          <a:ln/>
        </p:spPr>
        <p:txBody>
          <a:bodyPr wrap="square" lIns="0" tIns="0" rIns="0" bIns="0" rtlCol="0" anchor="ctr"/>
          <a:lstStyle/>
          <a:p>
            <a:pPr marL="0" indent="0">
              <a:buNone/>
            </a:pPr>
            <a:r>
              <a:rPr lang="en-US" sz="2200" i="1" dirty="0">
                <a:solidFill>
                  <a:srgbClr val="D8EFE1"/>
                </a:solidFill>
                <a:latin typeface="Calibri" pitchFamily="34" charset="0"/>
                <a:ea typeface="Calibri" pitchFamily="34" charset="-122"/>
                <a:cs typeface="Calibri" pitchFamily="34" charset="-120"/>
              </a:rPr>
              <a:t>The Complete Practical Guide</a:t>
            </a:r>
            <a:endParaRPr lang="en-US" sz="2200" dirty="0"/>
          </a:p>
        </p:txBody>
      </p:sp>
      <p:sp>
        <p:nvSpPr>
          <p:cNvPr id="7" name="Text 5"/>
          <p:cNvSpPr/>
          <p:nvPr/>
        </p:nvSpPr>
        <p:spPr>
          <a:xfrm>
            <a:off x="822960" y="3429000"/>
            <a:ext cx="7863840" cy="868680"/>
          </a:xfrm>
          <a:prstGeom prst="rect">
            <a:avLst/>
          </a:prstGeom>
          <a:noFill/>
          <a:ln/>
        </p:spPr>
        <p:txBody>
          <a:bodyPr wrap="square" lIns="0" tIns="0" rIns="0" bIns="0" rtlCol="0" anchor="ctr"/>
          <a:lstStyle/>
          <a:p>
            <a:pPr marL="0" indent="0">
              <a:lnSpc>
                <a:spcPct val="125000"/>
              </a:lnSpc>
              <a:buNone/>
            </a:pPr>
            <a:r>
              <a:rPr lang="en-US" sz="1400" dirty="0">
                <a:solidFill>
                  <a:srgbClr val="E9F4ED"/>
                </a:solidFill>
                <a:latin typeface="Calibri" pitchFamily="34" charset="0"/>
                <a:ea typeface="Calibri" pitchFamily="34" charset="-122"/>
                <a:cs typeface="Calibri" pitchFamily="34" charset="-120"/>
              </a:rPr>
              <a:t>Power Query is Microsoft's data transformation and ETL engine built into Excel and Power BI — a visual, no-code interface for discovering, connecting, cleaning, and reshaping data at scale.</a:t>
            </a:r>
            <a:endParaRPr lang="en-US" sz="1400" dirty="0"/>
          </a:p>
        </p:txBody>
      </p:sp>
      <p:sp>
        <p:nvSpPr>
          <p:cNvPr id="8" name="Shape 6"/>
          <p:cNvSpPr/>
          <p:nvPr/>
        </p:nvSpPr>
        <p:spPr>
          <a:xfrm>
            <a:off x="822960" y="4572000"/>
            <a:ext cx="3246120" cy="777240"/>
          </a:xfrm>
          <a:prstGeom prst="roundRect">
            <a:avLst>
              <a:gd name="adj" fmla="val 11765"/>
            </a:avLst>
          </a:prstGeom>
          <a:solidFill>
            <a:srgbClr val="FFFFFF">
              <a:alpha val="10000"/>
            </a:srgbClr>
          </a:solidFill>
          <a:ln w="9525">
            <a:solidFill>
              <a:srgbClr val="FFFFFF">
                <a:alpha val="40000"/>
              </a:srgbClr>
            </a:solidFill>
            <a:prstDash val="solid"/>
          </a:ln>
        </p:spPr>
      </p:sp>
      <p:pic>
        <p:nvPicPr>
          <p:cNvPr id="9" name="Image 0" descr="assets/icon_bolt_white.png"/>
          <p:cNvPicPr>
            <a:picLocks noChangeAspect="1"/>
          </p:cNvPicPr>
          <p:nvPr/>
        </p:nvPicPr>
        <p:blipFill>
          <a:blip r:embed="rId3"/>
          <a:stretch>
            <a:fillRect/>
          </a:stretch>
        </p:blipFill>
        <p:spPr>
          <a:xfrm>
            <a:off x="1005840" y="4773168"/>
            <a:ext cx="384048" cy="384048"/>
          </a:xfrm>
          <a:prstGeom prst="rect">
            <a:avLst/>
          </a:prstGeom>
        </p:spPr>
      </p:pic>
      <p:sp>
        <p:nvSpPr>
          <p:cNvPr id="10" name="Text 7"/>
          <p:cNvSpPr/>
          <p:nvPr/>
        </p:nvSpPr>
        <p:spPr>
          <a:xfrm>
            <a:off x="1508760" y="4572000"/>
            <a:ext cx="2423160" cy="7772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No-Code Transformations</a:t>
            </a:r>
            <a:endParaRPr lang="en-US" sz="1250" dirty="0"/>
          </a:p>
        </p:txBody>
      </p:sp>
      <p:sp>
        <p:nvSpPr>
          <p:cNvPr id="11" name="Shape 8"/>
          <p:cNvSpPr/>
          <p:nvPr/>
        </p:nvSpPr>
        <p:spPr>
          <a:xfrm>
            <a:off x="4251960" y="4572000"/>
            <a:ext cx="3246120" cy="777240"/>
          </a:xfrm>
          <a:prstGeom prst="roundRect">
            <a:avLst>
              <a:gd name="adj" fmla="val 11765"/>
            </a:avLst>
          </a:prstGeom>
          <a:solidFill>
            <a:srgbClr val="FFFFFF">
              <a:alpha val="10000"/>
            </a:srgbClr>
          </a:solidFill>
          <a:ln w="9525">
            <a:solidFill>
              <a:srgbClr val="FFFFFF">
                <a:alpha val="40000"/>
              </a:srgbClr>
            </a:solidFill>
            <a:prstDash val="solid"/>
          </a:ln>
        </p:spPr>
      </p:sp>
      <p:pic>
        <p:nvPicPr>
          <p:cNvPr id="12" name="Image 1" descr="assets/icon_diagram_white.png"/>
          <p:cNvPicPr>
            <a:picLocks noChangeAspect="1"/>
          </p:cNvPicPr>
          <p:nvPr/>
        </p:nvPicPr>
        <p:blipFill>
          <a:blip r:embed="rId4"/>
          <a:stretch>
            <a:fillRect/>
          </a:stretch>
        </p:blipFill>
        <p:spPr>
          <a:xfrm>
            <a:off x="4434840" y="4773168"/>
            <a:ext cx="384048" cy="384048"/>
          </a:xfrm>
          <a:prstGeom prst="rect">
            <a:avLst/>
          </a:prstGeom>
        </p:spPr>
      </p:pic>
      <p:sp>
        <p:nvSpPr>
          <p:cNvPr id="13" name="Text 9"/>
          <p:cNvSpPr/>
          <p:nvPr/>
        </p:nvSpPr>
        <p:spPr>
          <a:xfrm>
            <a:off x="4937760" y="4572000"/>
            <a:ext cx="2423160" cy="7772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Reusable Query Pipelines</a:t>
            </a:r>
            <a:endParaRPr lang="en-US" sz="1250" dirty="0"/>
          </a:p>
        </p:txBody>
      </p:sp>
      <p:sp>
        <p:nvSpPr>
          <p:cNvPr id="14" name="Shape 10"/>
          <p:cNvSpPr/>
          <p:nvPr/>
        </p:nvSpPr>
        <p:spPr>
          <a:xfrm>
            <a:off x="7680960" y="4572000"/>
            <a:ext cx="3246120" cy="777240"/>
          </a:xfrm>
          <a:prstGeom prst="roundRect">
            <a:avLst>
              <a:gd name="adj" fmla="val 11765"/>
            </a:avLst>
          </a:prstGeom>
          <a:solidFill>
            <a:srgbClr val="FFFFFF">
              <a:alpha val="10000"/>
            </a:srgbClr>
          </a:solidFill>
          <a:ln w="9525">
            <a:solidFill>
              <a:srgbClr val="FFFFFF">
                <a:alpha val="40000"/>
              </a:srgbClr>
            </a:solidFill>
            <a:prstDash val="solid"/>
          </a:ln>
        </p:spPr>
      </p:sp>
      <p:pic>
        <p:nvPicPr>
          <p:cNvPr id="15" name="Image 2" descr="assets/icon_speed_white.png"/>
          <p:cNvPicPr>
            <a:picLocks noChangeAspect="1"/>
          </p:cNvPicPr>
          <p:nvPr/>
        </p:nvPicPr>
        <p:blipFill>
          <a:blip r:embed="rId5"/>
          <a:stretch>
            <a:fillRect/>
          </a:stretch>
        </p:blipFill>
        <p:spPr>
          <a:xfrm>
            <a:off x="7863840" y="4773168"/>
            <a:ext cx="384048" cy="384048"/>
          </a:xfrm>
          <a:prstGeom prst="rect">
            <a:avLst/>
          </a:prstGeom>
        </p:spPr>
      </p:pic>
      <p:sp>
        <p:nvSpPr>
          <p:cNvPr id="16" name="Text 11"/>
          <p:cNvSpPr/>
          <p:nvPr/>
        </p:nvSpPr>
        <p:spPr>
          <a:xfrm>
            <a:off x="8366760" y="4572000"/>
            <a:ext cx="2423160" cy="7772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Source-Side Performance</a:t>
            </a:r>
            <a:endParaRPr lang="en-US" sz="1250" dirty="0"/>
          </a:p>
        </p:txBody>
      </p:sp>
      <p:sp>
        <p:nvSpPr>
          <p:cNvPr id="17" name="Text 12"/>
          <p:cNvSpPr/>
          <p:nvPr/>
        </p:nvSpPr>
        <p:spPr>
          <a:xfrm>
            <a:off x="10637215" y="5989320"/>
            <a:ext cx="1097280" cy="548640"/>
          </a:xfrm>
          <a:prstGeom prst="rect">
            <a:avLst/>
          </a:prstGeom>
          <a:noFill/>
          <a:ln/>
        </p:spPr>
        <p:txBody>
          <a:bodyPr wrap="square" lIns="0" tIns="0" rIns="0" bIns="0" rtlCol="0" anchor="ctr"/>
          <a:lstStyle/>
          <a:p>
            <a:pPr marL="0" indent="0" algn="r">
              <a:buNone/>
            </a:pPr>
            <a:r>
              <a:rPr lang="en-US" sz="2200" b="1" dirty="0">
                <a:solidFill>
                  <a:srgbClr val="8FD6AE"/>
                </a:solidFill>
                <a:latin typeface="Cambria" pitchFamily="34" charset="0"/>
                <a:ea typeface="Cambria" pitchFamily="34" charset="-122"/>
                <a:cs typeface="Cambria" pitchFamily="34" charset="-120"/>
              </a:rPr>
              <a:t>01</a:t>
            </a:r>
            <a:endParaRPr lang="en-US" sz="2200" dirty="0"/>
          </a:p>
        </p:txBody>
      </p:sp>
      <p:sp>
        <p:nvSpPr>
          <p:cNvPr id="18" name="Text 13"/>
          <p:cNvSpPr/>
          <p:nvPr/>
        </p:nvSpPr>
        <p:spPr>
          <a:xfrm>
            <a:off x="822960" y="6217920"/>
            <a:ext cx="7315200" cy="320040"/>
          </a:xfrm>
          <a:prstGeom prst="rect">
            <a:avLst/>
          </a:prstGeom>
          <a:noFill/>
          <a:ln/>
        </p:spPr>
        <p:txBody>
          <a:bodyPr wrap="square" lIns="0" tIns="0" rIns="0" bIns="0" rtlCol="0" anchor="ctr"/>
          <a:lstStyle/>
          <a:p>
            <a:pPr marL="0" indent="0">
              <a:buNone/>
            </a:pPr>
            <a:r>
              <a:rPr lang="en-US" sz="1100" dirty="0">
                <a:solidFill>
                  <a:srgbClr val="BFE3CD"/>
                </a:solidFill>
                <a:latin typeface="Calibri" pitchFamily="34" charset="0"/>
                <a:ea typeface="Calibri" pitchFamily="34" charset="-122"/>
                <a:cs typeface="Calibri" pitchFamily="34" charset="-120"/>
              </a:rPr>
              <a:t>Introduction to Power Query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02 · ARCHITECTURE</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How Power Query Is Built</a:t>
            </a:r>
            <a:endParaRPr lang="en-US" sz="3200" dirty="0"/>
          </a:p>
        </p:txBody>
      </p:sp>
      <p:sp>
        <p:nvSpPr>
          <p:cNvPr id="4" name="Text 2"/>
          <p:cNvSpPr/>
          <p:nvPr/>
        </p:nvSpPr>
        <p:spPr>
          <a:xfrm>
            <a:off x="548640" y="1298448"/>
            <a:ext cx="10515600" cy="365760"/>
          </a:xfrm>
          <a:prstGeom prst="rect">
            <a:avLst/>
          </a:prstGeom>
          <a:noFill/>
          <a:ln/>
        </p:spPr>
        <p:txBody>
          <a:bodyPr wrap="square" lIns="0" tIns="0" rIns="0" bIns="0" rtlCol="0" anchor="ctr"/>
          <a:lstStyle/>
          <a:p>
            <a:pPr marL="0" indent="0">
              <a:buNone/>
            </a:pPr>
            <a:r>
              <a:rPr lang="en-US" sz="1300" dirty="0">
                <a:solidFill>
                  <a:srgbClr val="5B6670"/>
                </a:solidFill>
                <a:latin typeface="Calibri" pitchFamily="34" charset="0"/>
                <a:ea typeface="Calibri" pitchFamily="34" charset="-122"/>
                <a:cs typeface="Calibri" pitchFamily="34" charset="-120"/>
              </a:rPr>
              <a:t>Four stages move data from raw sources to a finished, load-ready table — each step recorded, repeatable, and refreshable.</a:t>
            </a:r>
            <a:endParaRPr lang="en-US" sz="1300" dirty="0"/>
          </a:p>
        </p:txBody>
      </p:sp>
      <p:sp>
        <p:nvSpPr>
          <p:cNvPr id="5" name="Shape 3"/>
          <p:cNvSpPr/>
          <p:nvPr/>
        </p:nvSpPr>
        <p:spPr>
          <a:xfrm>
            <a:off x="548640" y="1965960"/>
            <a:ext cx="2395728" cy="3520440"/>
          </a:xfrm>
          <a:prstGeom prst="roundRect">
            <a:avLst>
              <a:gd name="adj" fmla="val 3053"/>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6" name="Shape 4"/>
          <p:cNvSpPr/>
          <p:nvPr/>
        </p:nvSpPr>
        <p:spPr>
          <a:xfrm>
            <a:off x="1417320" y="2139696"/>
            <a:ext cx="658368" cy="658368"/>
          </a:xfrm>
          <a:prstGeom prst="ellipse">
            <a:avLst/>
          </a:prstGeom>
          <a:solidFill>
            <a:srgbClr val="1B5E3A"/>
          </a:solidFill>
          <a:ln/>
        </p:spPr>
      </p:sp>
      <p:pic>
        <p:nvPicPr>
          <p:cNvPr id="7" name="Image 0" descr="assets/icon_database_white.png"/>
          <p:cNvPicPr>
            <a:picLocks noChangeAspect="1"/>
          </p:cNvPicPr>
          <p:nvPr/>
        </p:nvPicPr>
        <p:blipFill>
          <a:blip r:embed="rId3"/>
          <a:stretch>
            <a:fillRect/>
          </a:stretch>
        </p:blipFill>
        <p:spPr>
          <a:xfrm>
            <a:off x="1529243" y="2251619"/>
            <a:ext cx="434523" cy="434523"/>
          </a:xfrm>
          <a:prstGeom prst="rect">
            <a:avLst/>
          </a:prstGeom>
        </p:spPr>
      </p:pic>
      <p:sp>
        <p:nvSpPr>
          <p:cNvPr id="8" name="Text 5"/>
          <p:cNvSpPr/>
          <p:nvPr/>
        </p:nvSpPr>
        <p:spPr>
          <a:xfrm>
            <a:off x="658368" y="2926080"/>
            <a:ext cx="2176272" cy="502920"/>
          </a:xfrm>
          <a:prstGeom prst="rect">
            <a:avLst/>
          </a:prstGeom>
          <a:noFill/>
          <a:ln/>
        </p:spPr>
        <p:txBody>
          <a:bodyPr wrap="square" lIns="0" tIns="0" rIns="0" bIns="0" rtlCol="0" anchor="t"/>
          <a:lstStyle/>
          <a:p>
            <a:pPr marL="0" indent="0" algn="ctr">
              <a:buNone/>
            </a:pPr>
            <a:r>
              <a:rPr lang="en-US" sz="1450" b="1" dirty="0">
                <a:solidFill>
                  <a:srgbClr val="2E3338"/>
                </a:solidFill>
                <a:latin typeface="Cambria" pitchFamily="34" charset="0"/>
                <a:ea typeface="Cambria" pitchFamily="34" charset="-122"/>
                <a:cs typeface="Cambria" pitchFamily="34" charset="-120"/>
              </a:rPr>
              <a:t>Data Sources</a:t>
            </a:r>
            <a:endParaRPr lang="en-US" sz="1450" dirty="0"/>
          </a:p>
        </p:txBody>
      </p:sp>
      <p:sp>
        <p:nvSpPr>
          <p:cNvPr id="9" name="Text 6"/>
          <p:cNvSpPr/>
          <p:nvPr/>
        </p:nvSpPr>
        <p:spPr>
          <a:xfrm>
            <a:off x="804672" y="3474720"/>
            <a:ext cx="1938528"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Excel / CSV / JSON</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SQL Server</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Web APIs</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SharePoint</a:t>
            </a:r>
            <a:endParaRPr lang="en-US" sz="1150" dirty="0"/>
          </a:p>
        </p:txBody>
      </p:sp>
      <p:sp>
        <p:nvSpPr>
          <p:cNvPr id="10" name="Text 7"/>
          <p:cNvSpPr/>
          <p:nvPr/>
        </p:nvSpPr>
        <p:spPr>
          <a:xfrm>
            <a:off x="2926080" y="3433572"/>
            <a:ext cx="292608" cy="585216"/>
          </a:xfrm>
          <a:prstGeom prst="rect">
            <a:avLst/>
          </a:prstGeom>
          <a:noFill/>
          <a:ln/>
        </p:spPr>
        <p:txBody>
          <a:bodyPr wrap="square" lIns="0" tIns="0" rIns="0" bIns="0" rtlCol="0" anchor="ctr"/>
          <a:lstStyle/>
          <a:p>
            <a:pPr marL="0" indent="0" algn="ctr">
              <a:buNone/>
            </a:pPr>
            <a:r>
              <a:rPr lang="en-US" sz="2800" b="1" dirty="0">
                <a:solidFill>
                  <a:srgbClr val="2E8B57"/>
                </a:solidFill>
                <a:latin typeface="Calibri" pitchFamily="34" charset="0"/>
                <a:ea typeface="Calibri" pitchFamily="34" charset="-122"/>
                <a:cs typeface="Calibri" pitchFamily="34" charset="-120"/>
              </a:rPr>
              <a:t>›</a:t>
            </a:r>
            <a:endParaRPr lang="en-US" sz="2800" dirty="0"/>
          </a:p>
        </p:txBody>
      </p:sp>
      <p:sp>
        <p:nvSpPr>
          <p:cNvPr id="11" name="Shape 8"/>
          <p:cNvSpPr/>
          <p:nvPr/>
        </p:nvSpPr>
        <p:spPr>
          <a:xfrm>
            <a:off x="3200400" y="1965960"/>
            <a:ext cx="2395728" cy="3520440"/>
          </a:xfrm>
          <a:prstGeom prst="roundRect">
            <a:avLst>
              <a:gd name="adj" fmla="val 3053"/>
            </a:avLst>
          </a:prstGeom>
          <a:solidFill>
            <a:srgbClr val="1B5E3A"/>
          </a:solidFill>
          <a:ln w="12700">
            <a:solidFill>
              <a:srgbClr val="1B5E3A"/>
            </a:solidFill>
            <a:prstDash val="solid"/>
          </a:ln>
          <a:effectLst>
            <a:outerShdw blurRad="88900" dist="38100" dir="2700000" algn="bl" rotWithShape="0">
              <a:srgbClr val="1B5E3A">
                <a:alpha val="12000"/>
              </a:srgbClr>
            </a:outerShdw>
          </a:effectLst>
        </p:spPr>
      </p:sp>
      <p:sp>
        <p:nvSpPr>
          <p:cNvPr id="12" name="Shape 9"/>
          <p:cNvSpPr/>
          <p:nvPr/>
        </p:nvSpPr>
        <p:spPr>
          <a:xfrm>
            <a:off x="4069080" y="2139696"/>
            <a:ext cx="658368" cy="658368"/>
          </a:xfrm>
          <a:prstGeom prst="ellipse">
            <a:avLst/>
          </a:prstGeom>
          <a:solidFill>
            <a:srgbClr val="FFFFFF"/>
          </a:solidFill>
          <a:ln/>
        </p:spPr>
      </p:sp>
      <p:pic>
        <p:nvPicPr>
          <p:cNvPr id="13" name="Image 1" descr="assets/icon_cogs_white.png"/>
          <p:cNvPicPr>
            <a:picLocks noChangeAspect="1"/>
          </p:cNvPicPr>
          <p:nvPr/>
        </p:nvPicPr>
        <p:blipFill>
          <a:blip r:embed="rId4"/>
          <a:stretch>
            <a:fillRect/>
          </a:stretch>
        </p:blipFill>
        <p:spPr>
          <a:xfrm>
            <a:off x="4181003" y="2251619"/>
            <a:ext cx="434523" cy="434523"/>
          </a:xfrm>
          <a:prstGeom prst="rect">
            <a:avLst/>
          </a:prstGeom>
        </p:spPr>
      </p:pic>
      <p:sp>
        <p:nvSpPr>
          <p:cNvPr id="14" name="Text 10"/>
          <p:cNvSpPr/>
          <p:nvPr/>
        </p:nvSpPr>
        <p:spPr>
          <a:xfrm>
            <a:off x="3310128" y="2926080"/>
            <a:ext cx="2176272" cy="502920"/>
          </a:xfrm>
          <a:prstGeom prst="rect">
            <a:avLst/>
          </a:prstGeom>
          <a:noFill/>
          <a:ln/>
        </p:spPr>
        <p:txBody>
          <a:bodyPr wrap="square" lIns="0" tIns="0" rIns="0" bIns="0" rtlCol="0" anchor="t"/>
          <a:lstStyle/>
          <a:p>
            <a:pPr marL="0" indent="0" algn="ctr">
              <a:buNone/>
            </a:pPr>
            <a:r>
              <a:rPr lang="en-US" sz="1450" b="1" dirty="0">
                <a:solidFill>
                  <a:srgbClr val="FFFFFF"/>
                </a:solidFill>
                <a:latin typeface="Cambria" pitchFamily="34" charset="0"/>
                <a:ea typeface="Cambria" pitchFamily="34" charset="-122"/>
                <a:cs typeface="Cambria" pitchFamily="34" charset="-120"/>
              </a:rPr>
              <a:t>Power Query Engine</a:t>
            </a:r>
            <a:endParaRPr lang="en-US" sz="1450" dirty="0"/>
          </a:p>
        </p:txBody>
      </p:sp>
      <p:sp>
        <p:nvSpPr>
          <p:cNvPr id="15" name="Text 11"/>
          <p:cNvSpPr/>
          <p:nvPr/>
        </p:nvSpPr>
        <p:spPr>
          <a:xfrm>
            <a:off x="3456432" y="3474720"/>
            <a:ext cx="1938528"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8EFE1"/>
                </a:solidFill>
                <a:latin typeface="Calibri" pitchFamily="34" charset="0"/>
                <a:ea typeface="Calibri" pitchFamily="34" charset="-122"/>
                <a:cs typeface="Calibri" pitchFamily="34" charset="-120"/>
              </a:rPr>
              <a:t>Query Editor</a:t>
            </a:r>
            <a:endParaRPr lang="en-US" sz="1150" dirty="0"/>
          </a:p>
          <a:p>
            <a:pPr marL="342900" indent="-342900">
              <a:spcAft>
                <a:spcPts val="600"/>
              </a:spcAft>
              <a:buSzPct val="100000"/>
              <a:buChar char="•"/>
            </a:pPr>
            <a:r>
              <a:rPr lang="en-US" sz="1150" dirty="0">
                <a:solidFill>
                  <a:srgbClr val="D8EFE1"/>
                </a:solidFill>
                <a:latin typeface="Calibri" pitchFamily="34" charset="0"/>
                <a:ea typeface="Calibri" pitchFamily="34" charset="-122"/>
                <a:cs typeface="Calibri" pitchFamily="34" charset="-120"/>
              </a:rPr>
              <a:t>M Language</a:t>
            </a:r>
            <a:endParaRPr lang="en-US" sz="1150" dirty="0"/>
          </a:p>
          <a:p>
            <a:pPr marL="342900" indent="-342900">
              <a:spcAft>
                <a:spcPts val="600"/>
              </a:spcAft>
              <a:buSzPct val="100000"/>
              <a:buChar char="•"/>
            </a:pPr>
            <a:r>
              <a:rPr lang="en-US" sz="1150" dirty="0">
                <a:solidFill>
                  <a:srgbClr val="D8EFE1"/>
                </a:solidFill>
                <a:latin typeface="Calibri" pitchFamily="34" charset="0"/>
                <a:ea typeface="Calibri" pitchFamily="34" charset="-122"/>
                <a:cs typeface="Calibri" pitchFamily="34" charset="-120"/>
              </a:rPr>
              <a:t>Step History</a:t>
            </a:r>
            <a:endParaRPr lang="en-US" sz="1150" dirty="0"/>
          </a:p>
          <a:p>
            <a:pPr marL="342900" indent="-342900">
              <a:spcAft>
                <a:spcPts val="600"/>
              </a:spcAft>
              <a:buSzPct val="100000"/>
              <a:buChar char="•"/>
            </a:pPr>
            <a:r>
              <a:rPr lang="en-US" sz="1150" dirty="0">
                <a:solidFill>
                  <a:srgbClr val="D8EFE1"/>
                </a:solidFill>
                <a:latin typeface="Calibri" pitchFamily="34" charset="0"/>
                <a:ea typeface="Calibri" pitchFamily="34" charset="-122"/>
                <a:cs typeface="Calibri" pitchFamily="34" charset="-120"/>
              </a:rPr>
              <a:t>Query Folding</a:t>
            </a:r>
            <a:endParaRPr lang="en-US" sz="1150" dirty="0"/>
          </a:p>
        </p:txBody>
      </p:sp>
      <p:sp>
        <p:nvSpPr>
          <p:cNvPr id="16" name="Text 12"/>
          <p:cNvSpPr/>
          <p:nvPr/>
        </p:nvSpPr>
        <p:spPr>
          <a:xfrm>
            <a:off x="5577840" y="3433572"/>
            <a:ext cx="292608" cy="585216"/>
          </a:xfrm>
          <a:prstGeom prst="rect">
            <a:avLst/>
          </a:prstGeom>
          <a:noFill/>
          <a:ln/>
        </p:spPr>
        <p:txBody>
          <a:bodyPr wrap="square" lIns="0" tIns="0" rIns="0" bIns="0" rtlCol="0" anchor="ctr"/>
          <a:lstStyle/>
          <a:p>
            <a:pPr marL="0" indent="0" algn="ctr">
              <a:buNone/>
            </a:pPr>
            <a:r>
              <a:rPr lang="en-US" sz="2800" b="1" dirty="0">
                <a:solidFill>
                  <a:srgbClr val="2E8B57"/>
                </a:solidFill>
                <a:latin typeface="Calibri" pitchFamily="34" charset="0"/>
                <a:ea typeface="Calibri" pitchFamily="34" charset="-122"/>
                <a:cs typeface="Calibri" pitchFamily="34" charset="-120"/>
              </a:rPr>
              <a:t>›</a:t>
            </a:r>
            <a:endParaRPr lang="en-US" sz="2800" dirty="0"/>
          </a:p>
        </p:txBody>
      </p:sp>
      <p:sp>
        <p:nvSpPr>
          <p:cNvPr id="17" name="Shape 13"/>
          <p:cNvSpPr/>
          <p:nvPr/>
        </p:nvSpPr>
        <p:spPr>
          <a:xfrm>
            <a:off x="5852160" y="1965960"/>
            <a:ext cx="2395728" cy="3520440"/>
          </a:xfrm>
          <a:prstGeom prst="roundRect">
            <a:avLst>
              <a:gd name="adj" fmla="val 3053"/>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18" name="Shape 14"/>
          <p:cNvSpPr/>
          <p:nvPr/>
        </p:nvSpPr>
        <p:spPr>
          <a:xfrm>
            <a:off x="6720840" y="2139696"/>
            <a:ext cx="658368" cy="658368"/>
          </a:xfrm>
          <a:prstGeom prst="ellipse">
            <a:avLst/>
          </a:prstGeom>
          <a:solidFill>
            <a:srgbClr val="1B5E3A"/>
          </a:solidFill>
          <a:ln/>
        </p:spPr>
      </p:sp>
      <p:pic>
        <p:nvPicPr>
          <p:cNvPr id="19" name="Image 2" descr="assets/icon_exchange_white.png"/>
          <p:cNvPicPr>
            <a:picLocks noChangeAspect="1"/>
          </p:cNvPicPr>
          <p:nvPr/>
        </p:nvPicPr>
        <p:blipFill>
          <a:blip r:embed="rId5"/>
          <a:stretch>
            <a:fillRect/>
          </a:stretch>
        </p:blipFill>
        <p:spPr>
          <a:xfrm>
            <a:off x="6832763" y="2251619"/>
            <a:ext cx="434523" cy="434523"/>
          </a:xfrm>
          <a:prstGeom prst="rect">
            <a:avLst/>
          </a:prstGeom>
        </p:spPr>
      </p:pic>
      <p:sp>
        <p:nvSpPr>
          <p:cNvPr id="20" name="Text 15"/>
          <p:cNvSpPr/>
          <p:nvPr/>
        </p:nvSpPr>
        <p:spPr>
          <a:xfrm>
            <a:off x="5961888" y="2926080"/>
            <a:ext cx="2176272" cy="502920"/>
          </a:xfrm>
          <a:prstGeom prst="rect">
            <a:avLst/>
          </a:prstGeom>
          <a:noFill/>
          <a:ln/>
        </p:spPr>
        <p:txBody>
          <a:bodyPr wrap="square" lIns="0" tIns="0" rIns="0" bIns="0" rtlCol="0" anchor="t"/>
          <a:lstStyle/>
          <a:p>
            <a:pPr marL="0" indent="0" algn="ctr">
              <a:buNone/>
            </a:pPr>
            <a:r>
              <a:rPr lang="en-US" sz="1450" b="1" dirty="0">
                <a:solidFill>
                  <a:srgbClr val="2E3338"/>
                </a:solidFill>
                <a:latin typeface="Cambria" pitchFamily="34" charset="0"/>
                <a:ea typeface="Cambria" pitchFamily="34" charset="-122"/>
                <a:cs typeface="Cambria" pitchFamily="34" charset="-120"/>
              </a:rPr>
              <a:t>Transformations</a:t>
            </a:r>
            <a:endParaRPr lang="en-US" sz="1450" dirty="0"/>
          </a:p>
        </p:txBody>
      </p:sp>
      <p:sp>
        <p:nvSpPr>
          <p:cNvPr id="21" name="Text 16"/>
          <p:cNvSpPr/>
          <p:nvPr/>
        </p:nvSpPr>
        <p:spPr>
          <a:xfrm>
            <a:off x="6108192" y="3474720"/>
            <a:ext cx="1938528"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Filter Rows</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Merge Columns</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Pivot / Unpivot</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Group By</a:t>
            </a:r>
            <a:endParaRPr lang="en-US" sz="1150" dirty="0"/>
          </a:p>
        </p:txBody>
      </p:sp>
      <p:sp>
        <p:nvSpPr>
          <p:cNvPr id="22" name="Text 17"/>
          <p:cNvSpPr/>
          <p:nvPr/>
        </p:nvSpPr>
        <p:spPr>
          <a:xfrm>
            <a:off x="8229600" y="3433572"/>
            <a:ext cx="292608" cy="585216"/>
          </a:xfrm>
          <a:prstGeom prst="rect">
            <a:avLst/>
          </a:prstGeom>
          <a:noFill/>
          <a:ln/>
        </p:spPr>
        <p:txBody>
          <a:bodyPr wrap="square" lIns="0" tIns="0" rIns="0" bIns="0" rtlCol="0" anchor="ctr"/>
          <a:lstStyle/>
          <a:p>
            <a:pPr marL="0" indent="0" algn="ctr">
              <a:buNone/>
            </a:pPr>
            <a:r>
              <a:rPr lang="en-US" sz="2800" b="1" dirty="0">
                <a:solidFill>
                  <a:srgbClr val="2E8B57"/>
                </a:solidFill>
                <a:latin typeface="Calibri" pitchFamily="34" charset="0"/>
                <a:ea typeface="Calibri" pitchFamily="34" charset="-122"/>
                <a:cs typeface="Calibri" pitchFamily="34" charset="-120"/>
              </a:rPr>
              <a:t>›</a:t>
            </a:r>
            <a:endParaRPr lang="en-US" sz="2800" dirty="0"/>
          </a:p>
        </p:txBody>
      </p:sp>
      <p:sp>
        <p:nvSpPr>
          <p:cNvPr id="23" name="Shape 18"/>
          <p:cNvSpPr/>
          <p:nvPr/>
        </p:nvSpPr>
        <p:spPr>
          <a:xfrm>
            <a:off x="8503920" y="1965960"/>
            <a:ext cx="2395728" cy="3520440"/>
          </a:xfrm>
          <a:prstGeom prst="roundRect">
            <a:avLst>
              <a:gd name="adj" fmla="val 3053"/>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24" name="Shape 19"/>
          <p:cNvSpPr/>
          <p:nvPr/>
        </p:nvSpPr>
        <p:spPr>
          <a:xfrm>
            <a:off x="9372600" y="2139696"/>
            <a:ext cx="658368" cy="658368"/>
          </a:xfrm>
          <a:prstGeom prst="ellipse">
            <a:avLst/>
          </a:prstGeom>
          <a:solidFill>
            <a:srgbClr val="1B5E3A"/>
          </a:solidFill>
          <a:ln/>
        </p:spPr>
      </p:sp>
      <p:pic>
        <p:nvPicPr>
          <p:cNvPr id="25" name="Image 3" descr="assets/icon_cloudupload_white.png"/>
          <p:cNvPicPr>
            <a:picLocks noChangeAspect="1"/>
          </p:cNvPicPr>
          <p:nvPr/>
        </p:nvPicPr>
        <p:blipFill>
          <a:blip r:embed="rId6"/>
          <a:stretch>
            <a:fillRect/>
          </a:stretch>
        </p:blipFill>
        <p:spPr>
          <a:xfrm>
            <a:off x="9484523" y="2251619"/>
            <a:ext cx="434523" cy="434523"/>
          </a:xfrm>
          <a:prstGeom prst="rect">
            <a:avLst/>
          </a:prstGeom>
        </p:spPr>
      </p:pic>
      <p:sp>
        <p:nvSpPr>
          <p:cNvPr id="26" name="Text 20"/>
          <p:cNvSpPr/>
          <p:nvPr/>
        </p:nvSpPr>
        <p:spPr>
          <a:xfrm>
            <a:off x="8613648" y="2926080"/>
            <a:ext cx="2176272" cy="502920"/>
          </a:xfrm>
          <a:prstGeom prst="rect">
            <a:avLst/>
          </a:prstGeom>
          <a:noFill/>
          <a:ln/>
        </p:spPr>
        <p:txBody>
          <a:bodyPr wrap="square" lIns="0" tIns="0" rIns="0" bIns="0" rtlCol="0" anchor="t"/>
          <a:lstStyle/>
          <a:p>
            <a:pPr marL="0" indent="0" algn="ctr">
              <a:buNone/>
            </a:pPr>
            <a:r>
              <a:rPr lang="en-US" sz="1450" b="1" dirty="0">
                <a:solidFill>
                  <a:srgbClr val="2E3338"/>
                </a:solidFill>
                <a:latin typeface="Cambria" pitchFamily="34" charset="0"/>
                <a:ea typeface="Cambria" pitchFamily="34" charset="-122"/>
                <a:cs typeface="Cambria" pitchFamily="34" charset="-120"/>
              </a:rPr>
              <a:t>Load Destination</a:t>
            </a:r>
            <a:endParaRPr lang="en-US" sz="1450" dirty="0"/>
          </a:p>
        </p:txBody>
      </p:sp>
      <p:sp>
        <p:nvSpPr>
          <p:cNvPr id="27" name="Text 21"/>
          <p:cNvSpPr/>
          <p:nvPr/>
        </p:nvSpPr>
        <p:spPr>
          <a:xfrm>
            <a:off x="8759952" y="3474720"/>
            <a:ext cx="1938528" cy="18288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Excel Table</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Power BI Model</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Data Lake</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CSV Export</a:t>
            </a:r>
            <a:endParaRPr lang="en-US" sz="1150" dirty="0"/>
          </a:p>
        </p:txBody>
      </p:sp>
      <p:sp>
        <p:nvSpPr>
          <p:cNvPr id="28" name="Text 22"/>
          <p:cNvSpPr/>
          <p:nvPr/>
        </p:nvSpPr>
        <p:spPr>
          <a:xfrm>
            <a:off x="548640" y="5650992"/>
            <a:ext cx="2395728" cy="685800"/>
          </a:xfrm>
          <a:prstGeom prst="rect">
            <a:avLst/>
          </a:prstGeom>
          <a:noFill/>
          <a:ln/>
        </p:spPr>
        <p:txBody>
          <a:bodyPr wrap="square" lIns="0" tIns="0" rIns="0" bIns="0" rtlCol="0" anchor="t"/>
          <a:lstStyle/>
          <a:p>
            <a:pPr marL="0" indent="0">
              <a:lnSpc>
                <a:spcPct val="110000"/>
              </a:lnSpc>
              <a:buNone/>
            </a:pPr>
            <a:r>
              <a:rPr lang="en-US" sz="1200" b="1" dirty="0">
                <a:solidFill>
                  <a:srgbClr val="1B5E3A"/>
                </a:solidFill>
                <a:latin typeface="Calibri" pitchFamily="34" charset="0"/>
                <a:ea typeface="Calibri" pitchFamily="34" charset="-122"/>
                <a:cs typeface="Calibri" pitchFamily="34" charset="-120"/>
              </a:rPr>
              <a:t>Steps  </a:t>
            </a:r>
            <a:r>
              <a:rPr lang="en-US" sz="1050" dirty="0">
                <a:solidFill>
                  <a:srgbClr val="5B6670"/>
                </a:solidFill>
                <a:latin typeface="Calibri" pitchFamily="34" charset="0"/>
                <a:ea typeface="Calibri" pitchFamily="34" charset="-122"/>
                <a:cs typeface="Calibri" pitchFamily="34" charset="-120"/>
              </a:rPr>
              <a:t>Each transformation is recorded in Applied Steps</a:t>
            </a:r>
            <a:endParaRPr lang="en-US" sz="1200" dirty="0"/>
          </a:p>
        </p:txBody>
      </p:sp>
      <p:sp>
        <p:nvSpPr>
          <p:cNvPr id="29" name="Text 23"/>
          <p:cNvSpPr/>
          <p:nvPr/>
        </p:nvSpPr>
        <p:spPr>
          <a:xfrm>
            <a:off x="3200400" y="5650992"/>
            <a:ext cx="2395728" cy="685800"/>
          </a:xfrm>
          <a:prstGeom prst="rect">
            <a:avLst/>
          </a:prstGeom>
          <a:noFill/>
          <a:ln/>
        </p:spPr>
        <p:txBody>
          <a:bodyPr wrap="square" lIns="0" tIns="0" rIns="0" bIns="0" rtlCol="0" anchor="t"/>
          <a:lstStyle/>
          <a:p>
            <a:pPr marL="0" indent="0">
              <a:lnSpc>
                <a:spcPct val="110000"/>
              </a:lnSpc>
              <a:buNone/>
            </a:pPr>
            <a:r>
              <a:rPr lang="en-US" sz="1200" b="1" dirty="0">
                <a:solidFill>
                  <a:srgbClr val="1B5E3A"/>
                </a:solidFill>
                <a:latin typeface="Calibri" pitchFamily="34" charset="0"/>
                <a:ea typeface="Calibri" pitchFamily="34" charset="-122"/>
                <a:cs typeface="Calibri" pitchFamily="34" charset="-120"/>
              </a:rPr>
              <a:t>M Code  </a:t>
            </a:r>
            <a:r>
              <a:rPr lang="en-US" sz="1050" dirty="0">
                <a:solidFill>
                  <a:srgbClr val="5B6670"/>
                </a:solidFill>
                <a:latin typeface="Calibri" pitchFamily="34" charset="0"/>
                <a:ea typeface="Calibri" pitchFamily="34" charset="-122"/>
                <a:cs typeface="Calibri" pitchFamily="34" charset="-120"/>
              </a:rPr>
              <a:t>Every step generates M formula language behind the scenes</a:t>
            </a:r>
            <a:endParaRPr lang="en-US" sz="1200" dirty="0"/>
          </a:p>
        </p:txBody>
      </p:sp>
      <p:sp>
        <p:nvSpPr>
          <p:cNvPr id="30" name="Text 24"/>
          <p:cNvSpPr/>
          <p:nvPr/>
        </p:nvSpPr>
        <p:spPr>
          <a:xfrm>
            <a:off x="5852160" y="5650992"/>
            <a:ext cx="2395728" cy="685800"/>
          </a:xfrm>
          <a:prstGeom prst="rect">
            <a:avLst/>
          </a:prstGeom>
          <a:noFill/>
          <a:ln/>
        </p:spPr>
        <p:txBody>
          <a:bodyPr wrap="square" lIns="0" tIns="0" rIns="0" bIns="0" rtlCol="0" anchor="t"/>
          <a:lstStyle/>
          <a:p>
            <a:pPr marL="0" indent="0">
              <a:lnSpc>
                <a:spcPct val="110000"/>
              </a:lnSpc>
              <a:buNone/>
            </a:pPr>
            <a:r>
              <a:rPr lang="en-US" sz="1200" b="1" dirty="0">
                <a:solidFill>
                  <a:srgbClr val="1B5E3A"/>
                </a:solidFill>
                <a:latin typeface="Calibri" pitchFamily="34" charset="0"/>
                <a:ea typeface="Calibri" pitchFamily="34" charset="-122"/>
                <a:cs typeface="Calibri" pitchFamily="34" charset="-120"/>
              </a:rPr>
              <a:t>Queries  </a:t>
            </a:r>
            <a:r>
              <a:rPr lang="en-US" sz="1050" dirty="0">
                <a:solidFill>
                  <a:srgbClr val="5B6670"/>
                </a:solidFill>
                <a:latin typeface="Calibri" pitchFamily="34" charset="0"/>
                <a:ea typeface="Calibri" pitchFamily="34" charset="-122"/>
                <a:cs typeface="Calibri" pitchFamily="34" charset="-120"/>
              </a:rPr>
              <a:t>Named data pipelines you can reference and reuse</a:t>
            </a:r>
            <a:endParaRPr lang="en-US" sz="1200" dirty="0"/>
          </a:p>
        </p:txBody>
      </p:sp>
      <p:sp>
        <p:nvSpPr>
          <p:cNvPr id="31" name="Text 25"/>
          <p:cNvSpPr/>
          <p:nvPr/>
        </p:nvSpPr>
        <p:spPr>
          <a:xfrm>
            <a:off x="8503920" y="5650992"/>
            <a:ext cx="2395728" cy="685800"/>
          </a:xfrm>
          <a:prstGeom prst="rect">
            <a:avLst/>
          </a:prstGeom>
          <a:noFill/>
          <a:ln/>
        </p:spPr>
        <p:txBody>
          <a:bodyPr wrap="square" lIns="0" tIns="0" rIns="0" bIns="0" rtlCol="0" anchor="t"/>
          <a:lstStyle/>
          <a:p>
            <a:pPr marL="0" indent="0">
              <a:lnSpc>
                <a:spcPct val="110000"/>
              </a:lnSpc>
              <a:buNone/>
            </a:pPr>
            <a:r>
              <a:rPr lang="en-US" sz="1200" b="1" dirty="0">
                <a:solidFill>
                  <a:srgbClr val="1B5E3A"/>
                </a:solidFill>
                <a:latin typeface="Calibri" pitchFamily="34" charset="0"/>
                <a:ea typeface="Calibri" pitchFamily="34" charset="-122"/>
                <a:cs typeface="Calibri" pitchFamily="34" charset="-120"/>
              </a:rPr>
              <a:t>Folding  </a:t>
            </a:r>
            <a:r>
              <a:rPr lang="en-US" sz="1050" dirty="0">
                <a:solidFill>
                  <a:srgbClr val="5B6670"/>
                </a:solidFill>
                <a:latin typeface="Calibri" pitchFamily="34" charset="0"/>
                <a:ea typeface="Calibri" pitchFamily="34" charset="-122"/>
                <a:cs typeface="Calibri" pitchFamily="34" charset="-120"/>
              </a:rPr>
              <a:t>Pushes transforms to the source for speed</a:t>
            </a:r>
            <a:endParaRPr lang="en-US" sz="1200" dirty="0"/>
          </a:p>
        </p:txBody>
      </p:sp>
      <p:sp>
        <p:nvSpPr>
          <p:cNvPr id="32" name="Text 26"/>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33" name="Text 27"/>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02 / 08</a:t>
            </a:r>
            <a:endParaRPr lang="en-US" sz="900" dirty="0"/>
          </a:p>
        </p:txBody>
      </p:sp>
      <p:sp>
        <p:nvSpPr>
          <p:cNvPr id="37" name="TextBox 36">
            <a:extLst>
              <a:ext uri="{FF2B5EF4-FFF2-40B4-BE49-F238E27FC236}">
                <a16:creationId xmlns:a16="http://schemas.microsoft.com/office/drawing/2014/main" id="{936832F6-46E2-E5CC-8879-1F8B1F431A80}"/>
              </a:ext>
            </a:extLst>
          </p:cNvPr>
          <p:cNvSpPr txBox="1"/>
          <p:nvPr/>
        </p:nvSpPr>
        <p:spPr>
          <a:xfrm>
            <a:off x="4069080" y="2207270"/>
            <a:ext cx="713791" cy="523220"/>
          </a:xfrm>
          <a:prstGeom prst="rect">
            <a:avLst/>
          </a:prstGeom>
          <a:noFill/>
        </p:spPr>
        <p:txBody>
          <a:bodyPr wrap="square">
            <a:spAutoFit/>
          </a:bodyPr>
          <a:lstStyle/>
          <a:p>
            <a:r>
              <a:rPr lang="en-US" sz="2800" dirty="0">
                <a:solidFill>
                  <a:srgbClr val="000000"/>
                </a:solidFill>
              </a:rPr>
              <a:t>⚙️</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03 · CONNECTIVITY</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Data Import Sources</a:t>
            </a:r>
            <a:endParaRPr lang="en-US" sz="3200" dirty="0"/>
          </a:p>
        </p:txBody>
      </p:sp>
      <p:sp>
        <p:nvSpPr>
          <p:cNvPr id="4" name="Text 2"/>
          <p:cNvSpPr/>
          <p:nvPr/>
        </p:nvSpPr>
        <p:spPr>
          <a:xfrm>
            <a:off x="548640" y="1298448"/>
            <a:ext cx="10515600" cy="365760"/>
          </a:xfrm>
          <a:prstGeom prst="rect">
            <a:avLst/>
          </a:prstGeom>
          <a:noFill/>
          <a:ln/>
        </p:spPr>
        <p:txBody>
          <a:bodyPr wrap="square" lIns="0" tIns="0" rIns="0" bIns="0" rtlCol="0" anchor="ctr"/>
          <a:lstStyle/>
          <a:p>
            <a:pPr marL="0" indent="0">
              <a:buNone/>
            </a:pPr>
            <a:r>
              <a:rPr lang="en-US" sz="1300" dirty="0">
                <a:solidFill>
                  <a:srgbClr val="5B6670"/>
                </a:solidFill>
                <a:latin typeface="Calibri" pitchFamily="34" charset="0"/>
                <a:ea typeface="Calibri" pitchFamily="34" charset="-122"/>
                <a:cs typeface="Calibri" pitchFamily="34" charset="-120"/>
              </a:rPr>
              <a:t>Power Query connects to virtually any structured data — files, databases, and cloud services alike.</a:t>
            </a:r>
            <a:endParaRPr lang="en-US" sz="1300" dirty="0"/>
          </a:p>
        </p:txBody>
      </p:sp>
      <p:sp>
        <p:nvSpPr>
          <p:cNvPr id="5" name="Shape 3"/>
          <p:cNvSpPr/>
          <p:nvPr/>
        </p:nvSpPr>
        <p:spPr>
          <a:xfrm>
            <a:off x="548640" y="1828800"/>
            <a:ext cx="3456432" cy="3703320"/>
          </a:xfrm>
          <a:prstGeom prst="roundRect">
            <a:avLst>
              <a:gd name="adj" fmla="val 2381"/>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6" name="Shape 4"/>
          <p:cNvSpPr/>
          <p:nvPr/>
        </p:nvSpPr>
        <p:spPr>
          <a:xfrm>
            <a:off x="832104" y="2093976"/>
            <a:ext cx="566928" cy="566928"/>
          </a:xfrm>
          <a:prstGeom prst="ellipse">
            <a:avLst/>
          </a:prstGeom>
          <a:solidFill>
            <a:srgbClr val="1B5E3A"/>
          </a:solidFill>
          <a:ln/>
        </p:spPr>
      </p:sp>
      <p:pic>
        <p:nvPicPr>
          <p:cNvPr id="7" name="Image 0" descr="assets/icon_excel_white.png"/>
          <p:cNvPicPr>
            <a:picLocks noChangeAspect="1"/>
          </p:cNvPicPr>
          <p:nvPr/>
        </p:nvPicPr>
        <p:blipFill>
          <a:blip r:embed="rId3"/>
          <a:stretch>
            <a:fillRect/>
          </a:stretch>
        </p:blipFill>
        <p:spPr>
          <a:xfrm>
            <a:off x="928482" y="2190354"/>
            <a:ext cx="374172" cy="374172"/>
          </a:xfrm>
          <a:prstGeom prst="rect">
            <a:avLst/>
          </a:prstGeom>
        </p:spPr>
      </p:pic>
      <p:sp>
        <p:nvSpPr>
          <p:cNvPr id="8" name="Text 5"/>
          <p:cNvSpPr/>
          <p:nvPr/>
        </p:nvSpPr>
        <p:spPr>
          <a:xfrm>
            <a:off x="1536192" y="2103120"/>
            <a:ext cx="2267712" cy="54864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File Sources</a:t>
            </a:r>
            <a:endParaRPr lang="en-US" sz="1600" dirty="0"/>
          </a:p>
        </p:txBody>
      </p:sp>
      <p:sp>
        <p:nvSpPr>
          <p:cNvPr id="9" name="Text 6"/>
          <p:cNvSpPr/>
          <p:nvPr/>
        </p:nvSpPr>
        <p:spPr>
          <a:xfrm>
            <a:off x="841248" y="2880360"/>
            <a:ext cx="2907792" cy="242316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Excel Workbook (.xlsx)</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CSV / Text File</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JSON / XML</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PDF Tables</a:t>
            </a:r>
            <a:endParaRPr lang="en-US" sz="1300" dirty="0"/>
          </a:p>
        </p:txBody>
      </p:sp>
      <p:sp>
        <p:nvSpPr>
          <p:cNvPr id="10" name="Shape 7"/>
          <p:cNvSpPr/>
          <p:nvPr/>
        </p:nvSpPr>
        <p:spPr>
          <a:xfrm>
            <a:off x="4251960" y="1828800"/>
            <a:ext cx="3456432" cy="3703320"/>
          </a:xfrm>
          <a:prstGeom prst="roundRect">
            <a:avLst>
              <a:gd name="adj" fmla="val 2381"/>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11" name="Shape 8"/>
          <p:cNvSpPr/>
          <p:nvPr/>
        </p:nvSpPr>
        <p:spPr>
          <a:xfrm>
            <a:off x="4535424" y="2093976"/>
            <a:ext cx="566928" cy="566928"/>
          </a:xfrm>
          <a:prstGeom prst="ellipse">
            <a:avLst/>
          </a:prstGeom>
          <a:solidFill>
            <a:srgbClr val="1B5E3A"/>
          </a:solidFill>
          <a:ln/>
        </p:spPr>
      </p:sp>
      <p:pic>
        <p:nvPicPr>
          <p:cNvPr id="12" name="Image 1" descr="assets/icon_server_white.png"/>
          <p:cNvPicPr>
            <a:picLocks noChangeAspect="1"/>
          </p:cNvPicPr>
          <p:nvPr/>
        </p:nvPicPr>
        <p:blipFill>
          <a:blip r:embed="rId4"/>
          <a:stretch>
            <a:fillRect/>
          </a:stretch>
        </p:blipFill>
        <p:spPr>
          <a:xfrm>
            <a:off x="4631802" y="2190354"/>
            <a:ext cx="374172" cy="374172"/>
          </a:xfrm>
          <a:prstGeom prst="rect">
            <a:avLst/>
          </a:prstGeom>
        </p:spPr>
      </p:pic>
      <p:sp>
        <p:nvSpPr>
          <p:cNvPr id="13" name="Text 9"/>
          <p:cNvSpPr/>
          <p:nvPr/>
        </p:nvSpPr>
        <p:spPr>
          <a:xfrm>
            <a:off x="5239512" y="2103120"/>
            <a:ext cx="2267712" cy="54864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Database Sources</a:t>
            </a:r>
            <a:endParaRPr lang="en-US" sz="1600" dirty="0"/>
          </a:p>
        </p:txBody>
      </p:sp>
      <p:sp>
        <p:nvSpPr>
          <p:cNvPr id="14" name="Text 10"/>
          <p:cNvSpPr/>
          <p:nvPr/>
        </p:nvSpPr>
        <p:spPr>
          <a:xfrm>
            <a:off x="4544568" y="2880360"/>
            <a:ext cx="2907792" cy="242316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SQL Server</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MySQL / PostgreSQL</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Microsoft Access</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Azure SQL Database</a:t>
            </a:r>
            <a:endParaRPr lang="en-US" sz="1300" dirty="0"/>
          </a:p>
        </p:txBody>
      </p:sp>
      <p:sp>
        <p:nvSpPr>
          <p:cNvPr id="15" name="Shape 11"/>
          <p:cNvSpPr/>
          <p:nvPr/>
        </p:nvSpPr>
        <p:spPr>
          <a:xfrm>
            <a:off x="7955280" y="1828800"/>
            <a:ext cx="3456432" cy="3703320"/>
          </a:xfrm>
          <a:prstGeom prst="roundRect">
            <a:avLst>
              <a:gd name="adj" fmla="val 2381"/>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16" name="Shape 12"/>
          <p:cNvSpPr/>
          <p:nvPr/>
        </p:nvSpPr>
        <p:spPr>
          <a:xfrm>
            <a:off x="8238744" y="2093976"/>
            <a:ext cx="566928" cy="566928"/>
          </a:xfrm>
          <a:prstGeom prst="ellipse">
            <a:avLst/>
          </a:prstGeom>
          <a:solidFill>
            <a:srgbClr val="1B5E3A"/>
          </a:solidFill>
          <a:ln/>
        </p:spPr>
      </p:sp>
      <p:pic>
        <p:nvPicPr>
          <p:cNvPr id="17" name="Image 2" descr="assets/icon_cloud_white.png"/>
          <p:cNvPicPr>
            <a:picLocks noChangeAspect="1"/>
          </p:cNvPicPr>
          <p:nvPr/>
        </p:nvPicPr>
        <p:blipFill>
          <a:blip r:embed="rId5"/>
          <a:stretch>
            <a:fillRect/>
          </a:stretch>
        </p:blipFill>
        <p:spPr>
          <a:xfrm>
            <a:off x="8335122" y="2190354"/>
            <a:ext cx="374172" cy="374172"/>
          </a:xfrm>
          <a:prstGeom prst="rect">
            <a:avLst/>
          </a:prstGeom>
        </p:spPr>
      </p:pic>
      <p:sp>
        <p:nvSpPr>
          <p:cNvPr id="18" name="Text 13"/>
          <p:cNvSpPr/>
          <p:nvPr/>
        </p:nvSpPr>
        <p:spPr>
          <a:xfrm>
            <a:off x="8942832" y="2103120"/>
            <a:ext cx="2267712" cy="54864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Online &amp; Cloud</a:t>
            </a:r>
            <a:endParaRPr lang="en-US" sz="1600" dirty="0"/>
          </a:p>
        </p:txBody>
      </p:sp>
      <p:sp>
        <p:nvSpPr>
          <p:cNvPr id="19" name="Text 14"/>
          <p:cNvSpPr/>
          <p:nvPr/>
        </p:nvSpPr>
        <p:spPr>
          <a:xfrm>
            <a:off x="8247888" y="2880360"/>
            <a:ext cx="2907792" cy="242316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SharePoint List</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Web Page (HTML)</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OData Feed</a:t>
            </a:r>
            <a:endParaRPr lang="en-US" sz="1300" dirty="0"/>
          </a:p>
          <a:p>
            <a:pPr marL="342900" indent="-342900">
              <a:spcAft>
                <a:spcPts val="1100"/>
              </a:spcAft>
              <a:buSzPct val="100000"/>
              <a:buChar char="•"/>
            </a:pPr>
            <a:r>
              <a:rPr lang="en-US" sz="1300" dirty="0">
                <a:solidFill>
                  <a:srgbClr val="5B6670"/>
                </a:solidFill>
                <a:latin typeface="Calibri" pitchFamily="34" charset="0"/>
                <a:ea typeface="Calibri" pitchFamily="34" charset="-122"/>
                <a:cs typeface="Calibri" pitchFamily="34" charset="-120"/>
              </a:rPr>
              <a:t>Salesforce Objects</a:t>
            </a:r>
            <a:endParaRPr lang="en-US" sz="1300" dirty="0"/>
          </a:p>
        </p:txBody>
      </p:sp>
      <p:sp>
        <p:nvSpPr>
          <p:cNvPr id="20" name="Shape 15"/>
          <p:cNvSpPr/>
          <p:nvPr/>
        </p:nvSpPr>
        <p:spPr>
          <a:xfrm>
            <a:off x="548640" y="5760720"/>
            <a:ext cx="10863072" cy="530352"/>
          </a:xfrm>
          <a:prstGeom prst="roundRect">
            <a:avLst>
              <a:gd name="adj" fmla="val 13793"/>
            </a:avLst>
          </a:prstGeom>
          <a:solidFill>
            <a:srgbClr val="E8F3EC"/>
          </a:solidFill>
          <a:ln/>
        </p:spPr>
      </p:sp>
      <p:sp>
        <p:nvSpPr>
          <p:cNvPr id="21" name="Text 16"/>
          <p:cNvSpPr/>
          <p:nvPr/>
        </p:nvSpPr>
        <p:spPr>
          <a:xfrm>
            <a:off x="777240" y="5760720"/>
            <a:ext cx="10405872" cy="530352"/>
          </a:xfrm>
          <a:prstGeom prst="rect">
            <a:avLst/>
          </a:prstGeom>
          <a:noFill/>
          <a:ln/>
        </p:spPr>
        <p:txBody>
          <a:bodyPr wrap="square" lIns="0" tIns="0" rIns="0" bIns="0" rtlCol="0" anchor="ctr"/>
          <a:lstStyle/>
          <a:p>
            <a:pPr marL="0" indent="0">
              <a:buNone/>
            </a:pPr>
            <a:r>
              <a:rPr lang="en-US" sz="1150" b="1" dirty="0">
                <a:solidFill>
                  <a:srgbClr val="1B5E3A"/>
                </a:solidFill>
                <a:latin typeface="Calibri" pitchFamily="34" charset="0"/>
                <a:ea typeface="Calibri" pitchFamily="34" charset="-122"/>
                <a:cs typeface="Calibri" pitchFamily="34" charset="-120"/>
              </a:rPr>
              <a:t>Also supported:  </a:t>
            </a:r>
            <a:r>
              <a:rPr lang="en-US" sz="1150" dirty="0">
                <a:solidFill>
                  <a:srgbClr val="2E3338"/>
                </a:solidFill>
                <a:latin typeface="Calibri" pitchFamily="34" charset="0"/>
                <a:ea typeface="Calibri" pitchFamily="34" charset="-122"/>
                <a:cs typeface="Calibri" pitchFamily="34" charset="-120"/>
              </a:rPr>
              <a:t>Folder combine · Google Sheets · Power BI Datasets · Python / R Scripts · ODBC / OLE DB · Azure Blob Storage</a:t>
            </a:r>
            <a:endParaRPr lang="en-US" sz="1150" dirty="0"/>
          </a:p>
        </p:txBody>
      </p:sp>
      <p:sp>
        <p:nvSpPr>
          <p:cNvPr id="22" name="Text 17"/>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23" name="Text 18"/>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03 / 08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04 · THE M LANGUAGE</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M Language Fundamentals</a:t>
            </a:r>
            <a:endParaRPr lang="en-US" sz="3200" dirty="0"/>
          </a:p>
        </p:txBody>
      </p:sp>
      <p:sp>
        <p:nvSpPr>
          <p:cNvPr id="4" name="Text 2"/>
          <p:cNvSpPr/>
          <p:nvPr/>
        </p:nvSpPr>
        <p:spPr>
          <a:xfrm>
            <a:off x="548640" y="1371600"/>
            <a:ext cx="5029200" cy="777240"/>
          </a:xfrm>
          <a:prstGeom prst="rect">
            <a:avLst/>
          </a:prstGeom>
          <a:noFill/>
          <a:ln/>
        </p:spPr>
        <p:txBody>
          <a:bodyPr wrap="square" lIns="0" tIns="0" rIns="0" bIns="0" rtlCol="0" anchor="ctr"/>
          <a:lstStyle/>
          <a:p>
            <a:pPr marL="0" indent="0">
              <a:lnSpc>
                <a:spcPct val="120000"/>
              </a:lnSpc>
              <a:buNone/>
            </a:pPr>
            <a:r>
              <a:rPr lang="en-US" sz="1300" dirty="0">
                <a:solidFill>
                  <a:srgbClr val="5B6670"/>
                </a:solidFill>
                <a:latin typeface="Calibri" pitchFamily="34" charset="0"/>
                <a:ea typeface="Calibri" pitchFamily="34" charset="-122"/>
                <a:cs typeface="Calibri" pitchFamily="34" charset="-120"/>
              </a:rPr>
              <a:t>M (Mashup) is the functional, case-sensitive language powering every step in Power Query. Every click in the editor generates M code behind the scenes.</a:t>
            </a:r>
            <a:endParaRPr lang="en-US" sz="1300" dirty="0"/>
          </a:p>
        </p:txBody>
      </p:sp>
      <p:sp>
        <p:nvSpPr>
          <p:cNvPr id="5" name="Shape 3"/>
          <p:cNvSpPr/>
          <p:nvPr/>
        </p:nvSpPr>
        <p:spPr>
          <a:xfrm>
            <a:off x="548640" y="2240280"/>
            <a:ext cx="5029200" cy="1554480"/>
          </a:xfrm>
          <a:prstGeom prst="roundRect">
            <a:avLst>
              <a:gd name="adj" fmla="val 4706"/>
            </a:avLst>
          </a:prstGeom>
          <a:solidFill>
            <a:srgbClr val="2E3338"/>
          </a:solidFill>
          <a:ln/>
          <a:effectLst>
            <a:outerShdw blurRad="88900" dist="38100" dir="2700000" algn="bl" rotWithShape="0">
              <a:srgbClr val="1B5E3A">
                <a:alpha val="12000"/>
              </a:srgbClr>
            </a:outerShdw>
          </a:effectLst>
        </p:spPr>
      </p:sp>
      <p:sp>
        <p:nvSpPr>
          <p:cNvPr id="6" name="Text 4"/>
          <p:cNvSpPr/>
          <p:nvPr/>
        </p:nvSpPr>
        <p:spPr>
          <a:xfrm>
            <a:off x="777240" y="2359152"/>
            <a:ext cx="4572000" cy="274320"/>
          </a:xfrm>
          <a:prstGeom prst="rect">
            <a:avLst/>
          </a:prstGeom>
          <a:noFill/>
          <a:ln/>
        </p:spPr>
        <p:txBody>
          <a:bodyPr wrap="square" lIns="0" tIns="0" rIns="0" bIns="0" rtlCol="0" anchor="ctr"/>
          <a:lstStyle/>
          <a:p>
            <a:pPr marL="0" indent="0">
              <a:buNone/>
            </a:pPr>
            <a:r>
              <a:rPr lang="en-US" sz="1050" b="1" kern="0" spc="150" dirty="0">
                <a:solidFill>
                  <a:srgbClr val="8FD6AE"/>
                </a:solidFill>
                <a:latin typeface="Calibri" pitchFamily="34" charset="0"/>
                <a:ea typeface="Calibri" pitchFamily="34" charset="-122"/>
                <a:cs typeface="Calibri" pitchFamily="34" charset="-120"/>
              </a:rPr>
              <a:t>LET … IN STRUCTURE</a:t>
            </a:r>
            <a:endParaRPr lang="en-US" sz="1050" dirty="0"/>
          </a:p>
        </p:txBody>
      </p:sp>
      <p:sp>
        <p:nvSpPr>
          <p:cNvPr id="7" name="Text 5"/>
          <p:cNvSpPr/>
          <p:nvPr/>
        </p:nvSpPr>
        <p:spPr>
          <a:xfrm>
            <a:off x="777240" y="2670048"/>
            <a:ext cx="4572000" cy="1051560"/>
          </a:xfrm>
          <a:prstGeom prst="rect">
            <a:avLst/>
          </a:prstGeom>
          <a:noFill/>
          <a:ln/>
        </p:spPr>
        <p:txBody>
          <a:bodyPr wrap="square" lIns="0" tIns="0" rIns="0" bIns="0" rtlCol="0" anchor="ctr"/>
          <a:lstStyle/>
          <a:p>
            <a:pPr marL="0" indent="0">
              <a:lnSpc>
                <a:spcPct val="105000"/>
              </a:lnSpc>
              <a:buNone/>
            </a:pPr>
            <a:r>
              <a:rPr lang="en-US" sz="1300" dirty="0">
                <a:solidFill>
                  <a:srgbClr val="FFFFFF"/>
                </a:solidFill>
                <a:latin typeface="Courier New" pitchFamily="34" charset="0"/>
                <a:ea typeface="Courier New" pitchFamily="34" charset="-122"/>
                <a:cs typeface="Courier New" pitchFamily="34" charset="-120"/>
              </a:rPr>
              <a:t>let</a:t>
            </a:r>
            <a:endParaRPr lang="en-US" sz="1300" dirty="0"/>
          </a:p>
          <a:p>
            <a:pPr marL="0" indent="0">
              <a:lnSpc>
                <a:spcPct val="105000"/>
              </a:lnSpc>
              <a:buNone/>
            </a:pPr>
            <a:r>
              <a:rPr lang="en-US" sz="1300" dirty="0">
                <a:solidFill>
                  <a:srgbClr val="FFFFFF"/>
                </a:solidFill>
                <a:latin typeface="Courier New" pitchFamily="34" charset="0"/>
                <a:ea typeface="Courier New" pitchFamily="34" charset="-122"/>
                <a:cs typeface="Courier New" pitchFamily="34" charset="-120"/>
              </a:rPr>
              <a:t>    Step1 = expression1,</a:t>
            </a:r>
            <a:endParaRPr lang="en-US" sz="1300" dirty="0"/>
          </a:p>
          <a:p>
            <a:pPr marL="0" indent="0">
              <a:lnSpc>
                <a:spcPct val="105000"/>
              </a:lnSpc>
              <a:buNone/>
            </a:pPr>
            <a:r>
              <a:rPr lang="en-US" sz="1300" dirty="0">
                <a:solidFill>
                  <a:srgbClr val="FFFFFF"/>
                </a:solidFill>
                <a:latin typeface="Courier New" pitchFamily="34" charset="0"/>
                <a:ea typeface="Courier New" pitchFamily="34" charset="-122"/>
                <a:cs typeface="Courier New" pitchFamily="34" charset="-120"/>
              </a:rPr>
              <a:t>    Step2 = expression2</a:t>
            </a:r>
            <a:endParaRPr lang="en-US" sz="1300" dirty="0"/>
          </a:p>
          <a:p>
            <a:pPr marL="0" indent="0">
              <a:lnSpc>
                <a:spcPct val="105000"/>
              </a:lnSpc>
              <a:buNone/>
            </a:pPr>
            <a:r>
              <a:rPr lang="en-US" sz="1300" dirty="0">
                <a:solidFill>
                  <a:srgbClr val="FFFFFF"/>
                </a:solidFill>
                <a:latin typeface="Courier New" pitchFamily="34" charset="0"/>
                <a:ea typeface="Courier New" pitchFamily="34" charset="-122"/>
                <a:cs typeface="Courier New" pitchFamily="34" charset="-120"/>
              </a:rPr>
              <a:t>in</a:t>
            </a:r>
            <a:endParaRPr lang="en-US" sz="1300" dirty="0"/>
          </a:p>
          <a:p>
            <a:pPr marL="0" indent="0">
              <a:lnSpc>
                <a:spcPct val="105000"/>
              </a:lnSpc>
              <a:buNone/>
            </a:pPr>
            <a:r>
              <a:rPr lang="en-US" sz="1300" dirty="0">
                <a:solidFill>
                  <a:srgbClr val="FFFFFF"/>
                </a:solidFill>
                <a:latin typeface="Courier New" pitchFamily="34" charset="0"/>
                <a:ea typeface="Courier New" pitchFamily="34" charset="-122"/>
                <a:cs typeface="Courier New" pitchFamily="34" charset="-120"/>
              </a:rPr>
              <a:t>    Step2</a:t>
            </a:r>
            <a:endParaRPr lang="en-US" sz="1300" dirty="0"/>
          </a:p>
        </p:txBody>
      </p:sp>
      <p:sp>
        <p:nvSpPr>
          <p:cNvPr id="8" name="Text 6"/>
          <p:cNvSpPr/>
          <p:nvPr/>
        </p:nvSpPr>
        <p:spPr>
          <a:xfrm>
            <a:off x="548640" y="3977640"/>
            <a:ext cx="5029200" cy="36576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Why Learn M Code</a:t>
            </a:r>
            <a:endParaRPr lang="en-US" sz="1600" dirty="0"/>
          </a:p>
        </p:txBody>
      </p:sp>
      <p:sp>
        <p:nvSpPr>
          <p:cNvPr id="9" name="Text 7"/>
          <p:cNvSpPr/>
          <p:nvPr/>
        </p:nvSpPr>
        <p:spPr>
          <a:xfrm>
            <a:off x="594360" y="4370832"/>
            <a:ext cx="4937760"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5B6670"/>
                </a:solidFill>
                <a:latin typeface="Calibri" pitchFamily="34" charset="0"/>
                <a:ea typeface="Calibri" pitchFamily="34" charset="-122"/>
                <a:cs typeface="Calibri" pitchFamily="34" charset="-120"/>
              </a:rPr>
              <a:t>Write custom transformations beyond the UI</a:t>
            </a:r>
            <a:endParaRPr lang="en-US" sz="1250" dirty="0"/>
          </a:p>
          <a:p>
            <a:pPr marL="342900" indent="-342900">
              <a:spcAft>
                <a:spcPts val="700"/>
              </a:spcAft>
              <a:buSzPct val="100000"/>
              <a:buChar char="•"/>
            </a:pPr>
            <a:r>
              <a:rPr lang="en-US" sz="1250" dirty="0">
                <a:solidFill>
                  <a:srgbClr val="5B6670"/>
                </a:solidFill>
                <a:latin typeface="Calibri" pitchFamily="34" charset="0"/>
                <a:ea typeface="Calibri" pitchFamily="34" charset="-122"/>
                <a:cs typeface="Calibri" pitchFamily="34" charset="-120"/>
              </a:rPr>
              <a:t>Build dynamic, parameter-driven queries</a:t>
            </a:r>
            <a:endParaRPr lang="en-US" sz="1250" dirty="0"/>
          </a:p>
          <a:p>
            <a:pPr marL="342900" indent="-342900">
              <a:spcAft>
                <a:spcPts val="700"/>
              </a:spcAft>
              <a:buSzPct val="100000"/>
              <a:buChar char="•"/>
            </a:pPr>
            <a:r>
              <a:rPr lang="en-US" sz="1250" dirty="0">
                <a:solidFill>
                  <a:srgbClr val="5B6670"/>
                </a:solidFill>
                <a:latin typeface="Calibri" pitchFamily="34" charset="0"/>
                <a:ea typeface="Calibri" pitchFamily="34" charset="-122"/>
                <a:cs typeface="Calibri" pitchFamily="34" charset="-120"/>
              </a:rPr>
              <a:t>Debug and audit complex logic with confidence</a:t>
            </a:r>
            <a:endParaRPr lang="en-US" sz="1250" dirty="0"/>
          </a:p>
          <a:p>
            <a:pPr marL="342900" indent="-342900">
              <a:spcAft>
                <a:spcPts val="700"/>
              </a:spcAft>
              <a:buSzPct val="100000"/>
              <a:buChar char="•"/>
            </a:pPr>
            <a:r>
              <a:rPr lang="en-US" sz="1250" dirty="0">
                <a:solidFill>
                  <a:srgbClr val="5B6670"/>
                </a:solidFill>
                <a:latin typeface="Calibri" pitchFamily="34" charset="0"/>
                <a:ea typeface="Calibri" pitchFamily="34" charset="-122"/>
                <a:cs typeface="Calibri" pitchFamily="34" charset="-120"/>
              </a:rPr>
              <a:t>Implement try…otherwise error handling</a:t>
            </a:r>
            <a:endParaRPr lang="en-US" sz="1250" dirty="0"/>
          </a:p>
        </p:txBody>
      </p:sp>
      <p:sp>
        <p:nvSpPr>
          <p:cNvPr id="10" name="Text 8"/>
          <p:cNvSpPr/>
          <p:nvPr/>
        </p:nvSpPr>
        <p:spPr>
          <a:xfrm>
            <a:off x="5897880" y="1371600"/>
            <a:ext cx="5760720" cy="36576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Essential M Functions</a:t>
            </a:r>
            <a:endParaRPr lang="en-US" sz="1600" dirty="0"/>
          </a:p>
        </p:txBody>
      </p:sp>
      <p:sp>
        <p:nvSpPr>
          <p:cNvPr id="11" name="Shape 9"/>
          <p:cNvSpPr/>
          <p:nvPr/>
        </p:nvSpPr>
        <p:spPr>
          <a:xfrm>
            <a:off x="5897880" y="1828800"/>
            <a:ext cx="5760720" cy="507492"/>
          </a:xfrm>
          <a:prstGeom prst="rect">
            <a:avLst/>
          </a:prstGeom>
          <a:solidFill>
            <a:srgbClr val="F7FAF8"/>
          </a:solidFill>
          <a:ln/>
        </p:spPr>
      </p:sp>
      <p:sp>
        <p:nvSpPr>
          <p:cNvPr id="12" name="Text 10"/>
          <p:cNvSpPr/>
          <p:nvPr/>
        </p:nvSpPr>
        <p:spPr>
          <a:xfrm>
            <a:off x="6080760" y="1828800"/>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Table.SelectRows</a:t>
            </a:r>
            <a:endParaRPr lang="en-US" sz="1200" dirty="0"/>
          </a:p>
        </p:txBody>
      </p:sp>
      <p:sp>
        <p:nvSpPr>
          <p:cNvPr id="13" name="Text 11"/>
          <p:cNvSpPr/>
          <p:nvPr/>
        </p:nvSpPr>
        <p:spPr>
          <a:xfrm>
            <a:off x="8458200" y="1828800"/>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Filter rows by condition</a:t>
            </a:r>
            <a:endParaRPr lang="en-US" sz="1200" dirty="0"/>
          </a:p>
        </p:txBody>
      </p:sp>
      <p:sp>
        <p:nvSpPr>
          <p:cNvPr id="14" name="Text 12"/>
          <p:cNvSpPr/>
          <p:nvPr/>
        </p:nvSpPr>
        <p:spPr>
          <a:xfrm>
            <a:off x="6080760" y="2336292"/>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Table.AddColumn</a:t>
            </a:r>
            <a:endParaRPr lang="en-US" sz="1200" dirty="0"/>
          </a:p>
        </p:txBody>
      </p:sp>
      <p:sp>
        <p:nvSpPr>
          <p:cNvPr id="15" name="Text 13"/>
          <p:cNvSpPr/>
          <p:nvPr/>
        </p:nvSpPr>
        <p:spPr>
          <a:xfrm>
            <a:off x="8458200" y="2336292"/>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Add a computed column</a:t>
            </a:r>
            <a:endParaRPr lang="en-US" sz="1200" dirty="0"/>
          </a:p>
        </p:txBody>
      </p:sp>
      <p:sp>
        <p:nvSpPr>
          <p:cNvPr id="16" name="Shape 14"/>
          <p:cNvSpPr/>
          <p:nvPr/>
        </p:nvSpPr>
        <p:spPr>
          <a:xfrm>
            <a:off x="5897880" y="2843784"/>
            <a:ext cx="5760720" cy="507492"/>
          </a:xfrm>
          <a:prstGeom prst="rect">
            <a:avLst/>
          </a:prstGeom>
          <a:solidFill>
            <a:srgbClr val="F7FAF8"/>
          </a:solidFill>
          <a:ln/>
        </p:spPr>
      </p:sp>
      <p:sp>
        <p:nvSpPr>
          <p:cNvPr id="17" name="Text 15"/>
          <p:cNvSpPr/>
          <p:nvPr/>
        </p:nvSpPr>
        <p:spPr>
          <a:xfrm>
            <a:off x="6080760" y="2843784"/>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Table.Group</a:t>
            </a:r>
            <a:endParaRPr lang="en-US" sz="1200" dirty="0"/>
          </a:p>
        </p:txBody>
      </p:sp>
      <p:sp>
        <p:nvSpPr>
          <p:cNvPr id="18" name="Text 16"/>
          <p:cNvSpPr/>
          <p:nvPr/>
        </p:nvSpPr>
        <p:spPr>
          <a:xfrm>
            <a:off x="8458200" y="2843784"/>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Group &amp; aggregate data</a:t>
            </a:r>
            <a:endParaRPr lang="en-US" sz="1200" dirty="0"/>
          </a:p>
        </p:txBody>
      </p:sp>
      <p:sp>
        <p:nvSpPr>
          <p:cNvPr id="19" name="Text 17"/>
          <p:cNvSpPr/>
          <p:nvPr/>
        </p:nvSpPr>
        <p:spPr>
          <a:xfrm>
            <a:off x="6080760" y="3351276"/>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Table.Pivot</a:t>
            </a:r>
            <a:endParaRPr lang="en-US" sz="1200" dirty="0"/>
          </a:p>
        </p:txBody>
      </p:sp>
      <p:sp>
        <p:nvSpPr>
          <p:cNvPr id="20" name="Text 18"/>
          <p:cNvSpPr/>
          <p:nvPr/>
        </p:nvSpPr>
        <p:spPr>
          <a:xfrm>
            <a:off x="8458200" y="3351276"/>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Pivot values into headers</a:t>
            </a:r>
            <a:endParaRPr lang="en-US" sz="1200" dirty="0"/>
          </a:p>
        </p:txBody>
      </p:sp>
      <p:sp>
        <p:nvSpPr>
          <p:cNvPr id="21" name="Shape 19"/>
          <p:cNvSpPr/>
          <p:nvPr/>
        </p:nvSpPr>
        <p:spPr>
          <a:xfrm>
            <a:off x="5897880" y="3858768"/>
            <a:ext cx="5760720" cy="507492"/>
          </a:xfrm>
          <a:prstGeom prst="rect">
            <a:avLst/>
          </a:prstGeom>
          <a:solidFill>
            <a:srgbClr val="F7FAF8"/>
          </a:solidFill>
          <a:ln/>
        </p:spPr>
      </p:sp>
      <p:sp>
        <p:nvSpPr>
          <p:cNvPr id="22" name="Text 20"/>
          <p:cNvSpPr/>
          <p:nvPr/>
        </p:nvSpPr>
        <p:spPr>
          <a:xfrm>
            <a:off x="6080760" y="3858768"/>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Text.Upper / Trim</a:t>
            </a:r>
            <a:endParaRPr lang="en-US" sz="1200" dirty="0"/>
          </a:p>
        </p:txBody>
      </p:sp>
      <p:sp>
        <p:nvSpPr>
          <p:cNvPr id="23" name="Text 21"/>
          <p:cNvSpPr/>
          <p:nvPr/>
        </p:nvSpPr>
        <p:spPr>
          <a:xfrm>
            <a:off x="8458200" y="3858768"/>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Transform text values</a:t>
            </a:r>
            <a:endParaRPr lang="en-US" sz="1200" dirty="0"/>
          </a:p>
        </p:txBody>
      </p:sp>
      <p:sp>
        <p:nvSpPr>
          <p:cNvPr id="24" name="Text 22"/>
          <p:cNvSpPr/>
          <p:nvPr/>
        </p:nvSpPr>
        <p:spPr>
          <a:xfrm>
            <a:off x="6080760" y="4366260"/>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Date.Year / Month</a:t>
            </a:r>
            <a:endParaRPr lang="en-US" sz="1200" dirty="0"/>
          </a:p>
        </p:txBody>
      </p:sp>
      <p:sp>
        <p:nvSpPr>
          <p:cNvPr id="25" name="Text 23"/>
          <p:cNvSpPr/>
          <p:nvPr/>
        </p:nvSpPr>
        <p:spPr>
          <a:xfrm>
            <a:off x="8458200" y="4366260"/>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Extract date components</a:t>
            </a:r>
            <a:endParaRPr lang="en-US" sz="1200" dirty="0"/>
          </a:p>
        </p:txBody>
      </p:sp>
      <p:sp>
        <p:nvSpPr>
          <p:cNvPr id="26" name="Shape 24"/>
          <p:cNvSpPr/>
          <p:nvPr/>
        </p:nvSpPr>
        <p:spPr>
          <a:xfrm>
            <a:off x="5897880" y="4873752"/>
            <a:ext cx="5760720" cy="507492"/>
          </a:xfrm>
          <a:prstGeom prst="rect">
            <a:avLst/>
          </a:prstGeom>
          <a:solidFill>
            <a:srgbClr val="F7FAF8"/>
          </a:solidFill>
          <a:ln/>
        </p:spPr>
      </p:sp>
      <p:sp>
        <p:nvSpPr>
          <p:cNvPr id="27" name="Text 25"/>
          <p:cNvSpPr/>
          <p:nvPr/>
        </p:nvSpPr>
        <p:spPr>
          <a:xfrm>
            <a:off x="6080760" y="4873752"/>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List.Sum / Average</a:t>
            </a:r>
            <a:endParaRPr lang="en-US" sz="1200" dirty="0"/>
          </a:p>
        </p:txBody>
      </p:sp>
      <p:sp>
        <p:nvSpPr>
          <p:cNvPr id="28" name="Text 26"/>
          <p:cNvSpPr/>
          <p:nvPr/>
        </p:nvSpPr>
        <p:spPr>
          <a:xfrm>
            <a:off x="8458200" y="4873752"/>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Aggregate a list of values</a:t>
            </a:r>
            <a:endParaRPr lang="en-US" sz="1200" dirty="0"/>
          </a:p>
        </p:txBody>
      </p:sp>
      <p:sp>
        <p:nvSpPr>
          <p:cNvPr id="29" name="Text 27"/>
          <p:cNvSpPr/>
          <p:nvPr/>
        </p:nvSpPr>
        <p:spPr>
          <a:xfrm>
            <a:off x="6080760" y="5381244"/>
            <a:ext cx="2286000" cy="507492"/>
          </a:xfrm>
          <a:prstGeom prst="rect">
            <a:avLst/>
          </a:prstGeom>
          <a:noFill/>
          <a:ln/>
        </p:spPr>
        <p:txBody>
          <a:bodyPr wrap="square" lIns="0" tIns="0" rIns="0" bIns="0" rtlCol="0" anchor="ctr"/>
          <a:lstStyle/>
          <a:p>
            <a:pPr marL="0" indent="0">
              <a:buNone/>
            </a:pPr>
            <a:r>
              <a:rPr lang="en-US" sz="1200" b="1" dirty="0">
                <a:solidFill>
                  <a:srgbClr val="1B5E3A"/>
                </a:solidFill>
                <a:latin typeface="Courier New" pitchFamily="34" charset="0"/>
                <a:ea typeface="Courier New" pitchFamily="34" charset="-122"/>
                <a:cs typeface="Courier New" pitchFamily="34" charset="-120"/>
              </a:rPr>
              <a:t>Number.Round</a:t>
            </a:r>
            <a:endParaRPr lang="en-US" sz="1200" dirty="0"/>
          </a:p>
        </p:txBody>
      </p:sp>
      <p:sp>
        <p:nvSpPr>
          <p:cNvPr id="30" name="Text 28"/>
          <p:cNvSpPr/>
          <p:nvPr/>
        </p:nvSpPr>
        <p:spPr>
          <a:xfrm>
            <a:off x="8458200" y="5381244"/>
            <a:ext cx="3017520" cy="507492"/>
          </a:xfrm>
          <a:prstGeom prst="rect">
            <a:avLst/>
          </a:prstGeom>
          <a:noFill/>
          <a:ln/>
        </p:spPr>
        <p:txBody>
          <a:bodyPr wrap="square" lIns="0" tIns="0" rIns="0" bIns="0" rtlCol="0" anchor="ctr"/>
          <a:lstStyle/>
          <a:p>
            <a:pPr marL="0" indent="0">
              <a:buNone/>
            </a:pPr>
            <a:r>
              <a:rPr lang="en-US" sz="1200" dirty="0">
                <a:solidFill>
                  <a:srgbClr val="2E3338"/>
                </a:solidFill>
                <a:latin typeface="Calibri" pitchFamily="34" charset="0"/>
                <a:ea typeface="Calibri" pitchFamily="34" charset="-122"/>
                <a:cs typeface="Calibri" pitchFamily="34" charset="-120"/>
              </a:rPr>
              <a:t>Round numeric values</a:t>
            </a:r>
            <a:endParaRPr lang="en-US" sz="120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32" name="Text 3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04 / 08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05 · TRANSFORMATIONS</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Data Transformation Features</a:t>
            </a:r>
            <a:endParaRPr lang="en-US" sz="3200" dirty="0"/>
          </a:p>
        </p:txBody>
      </p:sp>
      <p:sp>
        <p:nvSpPr>
          <p:cNvPr id="4" name="Text 2"/>
          <p:cNvSpPr/>
          <p:nvPr/>
        </p:nvSpPr>
        <p:spPr>
          <a:xfrm>
            <a:off x="548640" y="1298448"/>
            <a:ext cx="10515600" cy="365760"/>
          </a:xfrm>
          <a:prstGeom prst="rect">
            <a:avLst/>
          </a:prstGeom>
          <a:noFill/>
          <a:ln/>
        </p:spPr>
        <p:txBody>
          <a:bodyPr wrap="square" lIns="0" tIns="0" rIns="0" bIns="0" rtlCol="0" anchor="ctr"/>
          <a:lstStyle/>
          <a:p>
            <a:pPr marL="0" indent="0">
              <a:buNone/>
            </a:pPr>
            <a:r>
              <a:rPr lang="en-US" sz="1300" dirty="0">
                <a:solidFill>
                  <a:srgbClr val="5B6670"/>
                </a:solidFill>
                <a:latin typeface="Calibri" pitchFamily="34" charset="0"/>
                <a:ea typeface="Calibri" pitchFamily="34" charset="-122"/>
                <a:cs typeface="Calibri" pitchFamily="34" charset="-120"/>
              </a:rPr>
              <a:t>Six core operations cover the vast majority of real-world cleaning and reshaping needs.</a:t>
            </a:r>
            <a:endParaRPr lang="en-US" sz="1300" dirty="0"/>
          </a:p>
        </p:txBody>
      </p:sp>
      <p:sp>
        <p:nvSpPr>
          <p:cNvPr id="5" name="Shape 3"/>
          <p:cNvSpPr/>
          <p:nvPr/>
        </p:nvSpPr>
        <p:spPr>
          <a:xfrm>
            <a:off x="548640" y="1874520"/>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6" name="Shape 4"/>
          <p:cNvSpPr/>
          <p:nvPr/>
        </p:nvSpPr>
        <p:spPr>
          <a:xfrm>
            <a:off x="845820" y="2144268"/>
            <a:ext cx="594360" cy="594360"/>
          </a:xfrm>
          <a:prstGeom prst="ellipse">
            <a:avLst/>
          </a:prstGeom>
          <a:solidFill>
            <a:srgbClr val="1B5E3A"/>
          </a:solidFill>
          <a:ln/>
        </p:spPr>
      </p:sp>
      <p:pic>
        <p:nvPicPr>
          <p:cNvPr id="7" name="Image 0" descr="assets/icon_filter_white.png"/>
          <p:cNvPicPr>
            <a:picLocks noChangeAspect="1"/>
          </p:cNvPicPr>
          <p:nvPr/>
        </p:nvPicPr>
        <p:blipFill>
          <a:blip r:embed="rId3"/>
          <a:stretch>
            <a:fillRect/>
          </a:stretch>
        </p:blipFill>
        <p:spPr>
          <a:xfrm>
            <a:off x="946861" y="2245309"/>
            <a:ext cx="392278" cy="392278"/>
          </a:xfrm>
          <a:prstGeom prst="rect">
            <a:avLst/>
          </a:prstGeom>
        </p:spPr>
      </p:pic>
      <p:sp>
        <p:nvSpPr>
          <p:cNvPr id="8" name="Text 5"/>
          <p:cNvSpPr/>
          <p:nvPr/>
        </p:nvSpPr>
        <p:spPr>
          <a:xfrm>
            <a:off x="822960" y="2898648"/>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Filter Rows</a:t>
            </a:r>
            <a:endParaRPr lang="en-US" sz="1450" dirty="0"/>
          </a:p>
        </p:txBody>
      </p:sp>
      <p:sp>
        <p:nvSpPr>
          <p:cNvPr id="9" name="Text 6"/>
          <p:cNvSpPr/>
          <p:nvPr/>
        </p:nvSpPr>
        <p:spPr>
          <a:xfrm>
            <a:off x="822960" y="3227832"/>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Keep only rows matching a condition</a:t>
            </a:r>
            <a:endParaRPr lang="en-US" sz="1150" dirty="0"/>
          </a:p>
        </p:txBody>
      </p:sp>
      <p:sp>
        <p:nvSpPr>
          <p:cNvPr id="10" name="Shape 7"/>
          <p:cNvSpPr/>
          <p:nvPr/>
        </p:nvSpPr>
        <p:spPr>
          <a:xfrm>
            <a:off x="4251960" y="1874520"/>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11" name="Shape 8"/>
          <p:cNvSpPr/>
          <p:nvPr/>
        </p:nvSpPr>
        <p:spPr>
          <a:xfrm>
            <a:off x="4549140" y="2144268"/>
            <a:ext cx="594360" cy="594360"/>
          </a:xfrm>
          <a:prstGeom prst="ellipse">
            <a:avLst/>
          </a:prstGeom>
          <a:solidFill>
            <a:srgbClr val="1B5E3A"/>
          </a:solidFill>
          <a:ln/>
        </p:spPr>
      </p:sp>
      <p:pic>
        <p:nvPicPr>
          <p:cNvPr id="12" name="Image 1" descr="assets/icon_sort_white.png"/>
          <p:cNvPicPr>
            <a:picLocks noChangeAspect="1"/>
          </p:cNvPicPr>
          <p:nvPr/>
        </p:nvPicPr>
        <p:blipFill>
          <a:blip r:embed="rId4"/>
          <a:stretch>
            <a:fillRect/>
          </a:stretch>
        </p:blipFill>
        <p:spPr>
          <a:xfrm>
            <a:off x="4650181" y="2245309"/>
            <a:ext cx="392278" cy="392278"/>
          </a:xfrm>
          <a:prstGeom prst="rect">
            <a:avLst/>
          </a:prstGeom>
        </p:spPr>
      </p:pic>
      <p:sp>
        <p:nvSpPr>
          <p:cNvPr id="13" name="Text 9"/>
          <p:cNvSpPr/>
          <p:nvPr/>
        </p:nvSpPr>
        <p:spPr>
          <a:xfrm>
            <a:off x="4526280" y="2898648"/>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Sort Data</a:t>
            </a:r>
            <a:endParaRPr lang="en-US" sz="1450" dirty="0"/>
          </a:p>
        </p:txBody>
      </p:sp>
      <p:sp>
        <p:nvSpPr>
          <p:cNvPr id="14" name="Text 10"/>
          <p:cNvSpPr/>
          <p:nvPr/>
        </p:nvSpPr>
        <p:spPr>
          <a:xfrm>
            <a:off x="4526280" y="3227832"/>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Order rows A-Z, Z-A, or custom</a:t>
            </a:r>
            <a:endParaRPr lang="en-US" sz="1150" dirty="0"/>
          </a:p>
        </p:txBody>
      </p:sp>
      <p:sp>
        <p:nvSpPr>
          <p:cNvPr id="15" name="Shape 11"/>
          <p:cNvSpPr/>
          <p:nvPr/>
        </p:nvSpPr>
        <p:spPr>
          <a:xfrm>
            <a:off x="7955280" y="1874520"/>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16" name="Shape 12"/>
          <p:cNvSpPr/>
          <p:nvPr/>
        </p:nvSpPr>
        <p:spPr>
          <a:xfrm>
            <a:off x="8252460" y="2144268"/>
            <a:ext cx="594360" cy="594360"/>
          </a:xfrm>
          <a:prstGeom prst="ellipse">
            <a:avLst/>
          </a:prstGeom>
          <a:solidFill>
            <a:srgbClr val="1B5E3A"/>
          </a:solidFill>
          <a:ln/>
        </p:spPr>
      </p:sp>
      <p:pic>
        <p:nvPicPr>
          <p:cNvPr id="17" name="Image 2" descr="assets/icon_dedupe_white.png"/>
          <p:cNvPicPr>
            <a:picLocks noChangeAspect="1"/>
          </p:cNvPicPr>
          <p:nvPr/>
        </p:nvPicPr>
        <p:blipFill>
          <a:blip r:embed="rId5"/>
          <a:stretch>
            <a:fillRect/>
          </a:stretch>
        </p:blipFill>
        <p:spPr>
          <a:xfrm>
            <a:off x="8353501" y="2245309"/>
            <a:ext cx="392278" cy="392278"/>
          </a:xfrm>
          <a:prstGeom prst="rect">
            <a:avLst/>
          </a:prstGeom>
        </p:spPr>
      </p:pic>
      <p:sp>
        <p:nvSpPr>
          <p:cNvPr id="18" name="Text 13"/>
          <p:cNvSpPr/>
          <p:nvPr/>
        </p:nvSpPr>
        <p:spPr>
          <a:xfrm>
            <a:off x="8229600" y="2898648"/>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Remove Duplicates</a:t>
            </a:r>
            <a:endParaRPr lang="en-US" sz="1450" dirty="0"/>
          </a:p>
        </p:txBody>
      </p:sp>
      <p:sp>
        <p:nvSpPr>
          <p:cNvPr id="19" name="Text 14"/>
          <p:cNvSpPr/>
          <p:nvPr/>
        </p:nvSpPr>
        <p:spPr>
          <a:xfrm>
            <a:off x="8229600" y="3227832"/>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Eliminate repeated row values</a:t>
            </a:r>
            <a:endParaRPr lang="en-US" sz="1150" dirty="0"/>
          </a:p>
        </p:txBody>
      </p:sp>
      <p:sp>
        <p:nvSpPr>
          <p:cNvPr id="20" name="Shape 15"/>
          <p:cNvSpPr/>
          <p:nvPr/>
        </p:nvSpPr>
        <p:spPr>
          <a:xfrm>
            <a:off x="548640" y="4087368"/>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21" name="Shape 16"/>
          <p:cNvSpPr/>
          <p:nvPr/>
        </p:nvSpPr>
        <p:spPr>
          <a:xfrm>
            <a:off x="845820" y="4357116"/>
            <a:ext cx="594360" cy="594360"/>
          </a:xfrm>
          <a:prstGeom prst="ellipse">
            <a:avLst/>
          </a:prstGeom>
          <a:solidFill>
            <a:srgbClr val="1B5E3A"/>
          </a:solidFill>
          <a:ln/>
        </p:spPr>
      </p:sp>
      <p:pic>
        <p:nvPicPr>
          <p:cNvPr id="22" name="Image 3" descr="assets/icon_addcol_white.png"/>
          <p:cNvPicPr>
            <a:picLocks noChangeAspect="1"/>
          </p:cNvPicPr>
          <p:nvPr/>
        </p:nvPicPr>
        <p:blipFill>
          <a:blip r:embed="rId6"/>
          <a:stretch>
            <a:fillRect/>
          </a:stretch>
        </p:blipFill>
        <p:spPr>
          <a:xfrm>
            <a:off x="946861" y="4458157"/>
            <a:ext cx="392278" cy="392278"/>
          </a:xfrm>
          <a:prstGeom prst="rect">
            <a:avLst/>
          </a:prstGeom>
        </p:spPr>
      </p:pic>
      <p:sp>
        <p:nvSpPr>
          <p:cNvPr id="23" name="Text 17"/>
          <p:cNvSpPr/>
          <p:nvPr/>
        </p:nvSpPr>
        <p:spPr>
          <a:xfrm>
            <a:off x="822960" y="5111496"/>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Add Custom Columns</a:t>
            </a:r>
            <a:endParaRPr lang="en-US" sz="1450" dirty="0"/>
          </a:p>
        </p:txBody>
      </p:sp>
      <p:sp>
        <p:nvSpPr>
          <p:cNvPr id="24" name="Text 18"/>
          <p:cNvSpPr/>
          <p:nvPr/>
        </p:nvSpPr>
        <p:spPr>
          <a:xfrm>
            <a:off x="822960" y="5440680"/>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Insert computed M expressions</a:t>
            </a:r>
            <a:endParaRPr lang="en-US" sz="1150" dirty="0"/>
          </a:p>
        </p:txBody>
      </p:sp>
      <p:sp>
        <p:nvSpPr>
          <p:cNvPr id="25" name="Shape 19"/>
          <p:cNvSpPr/>
          <p:nvPr/>
        </p:nvSpPr>
        <p:spPr>
          <a:xfrm>
            <a:off x="4251960" y="4087368"/>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26" name="Shape 20"/>
          <p:cNvSpPr/>
          <p:nvPr/>
        </p:nvSpPr>
        <p:spPr>
          <a:xfrm>
            <a:off x="4549140" y="4357116"/>
            <a:ext cx="594360" cy="594360"/>
          </a:xfrm>
          <a:prstGeom prst="ellipse">
            <a:avLst/>
          </a:prstGeom>
          <a:solidFill>
            <a:srgbClr val="1B5E3A"/>
          </a:solidFill>
          <a:ln/>
        </p:spPr>
      </p:sp>
      <p:pic>
        <p:nvPicPr>
          <p:cNvPr id="27" name="Image 4" descr="assets/icon_table_white.png"/>
          <p:cNvPicPr>
            <a:picLocks noChangeAspect="1"/>
          </p:cNvPicPr>
          <p:nvPr/>
        </p:nvPicPr>
        <p:blipFill>
          <a:blip r:embed="rId7"/>
          <a:stretch>
            <a:fillRect/>
          </a:stretch>
        </p:blipFill>
        <p:spPr>
          <a:xfrm>
            <a:off x="4650181" y="4458157"/>
            <a:ext cx="392278" cy="392278"/>
          </a:xfrm>
          <a:prstGeom prst="rect">
            <a:avLst/>
          </a:prstGeom>
        </p:spPr>
      </p:pic>
      <p:sp>
        <p:nvSpPr>
          <p:cNvPr id="28" name="Text 21"/>
          <p:cNvSpPr/>
          <p:nvPr/>
        </p:nvSpPr>
        <p:spPr>
          <a:xfrm>
            <a:off x="4526280" y="5111496"/>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Pivot &amp; Unpivot</a:t>
            </a:r>
            <a:endParaRPr lang="en-US" sz="1450" dirty="0"/>
          </a:p>
        </p:txBody>
      </p:sp>
      <p:sp>
        <p:nvSpPr>
          <p:cNvPr id="29" name="Text 22"/>
          <p:cNvSpPr/>
          <p:nvPr/>
        </p:nvSpPr>
        <p:spPr>
          <a:xfrm>
            <a:off x="4526280" y="5440680"/>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Reshape wide ↔ long formats</a:t>
            </a:r>
            <a:endParaRPr lang="en-US" sz="1150" dirty="0"/>
          </a:p>
        </p:txBody>
      </p:sp>
      <p:sp>
        <p:nvSpPr>
          <p:cNvPr id="30" name="Shape 23"/>
          <p:cNvSpPr/>
          <p:nvPr/>
        </p:nvSpPr>
        <p:spPr>
          <a:xfrm>
            <a:off x="7955280" y="4087368"/>
            <a:ext cx="3456432" cy="1938528"/>
          </a:xfrm>
          <a:prstGeom prst="roundRect">
            <a:avLst>
              <a:gd name="adj" fmla="val 4245"/>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sp>
        <p:nvSpPr>
          <p:cNvPr id="31" name="Shape 24"/>
          <p:cNvSpPr/>
          <p:nvPr/>
        </p:nvSpPr>
        <p:spPr>
          <a:xfrm>
            <a:off x="8252460" y="4357116"/>
            <a:ext cx="594360" cy="594360"/>
          </a:xfrm>
          <a:prstGeom prst="ellipse">
            <a:avLst/>
          </a:prstGeom>
          <a:solidFill>
            <a:srgbClr val="1B5E3A"/>
          </a:solidFill>
          <a:ln/>
        </p:spPr>
      </p:sp>
      <p:pic>
        <p:nvPicPr>
          <p:cNvPr id="32" name="Image 5" descr="assets/icon_groupby_white.png"/>
          <p:cNvPicPr>
            <a:picLocks noChangeAspect="1"/>
          </p:cNvPicPr>
          <p:nvPr/>
        </p:nvPicPr>
        <p:blipFill>
          <a:blip r:embed="rId8"/>
          <a:stretch>
            <a:fillRect/>
          </a:stretch>
        </p:blipFill>
        <p:spPr>
          <a:xfrm>
            <a:off x="8353501" y="4458157"/>
            <a:ext cx="392278" cy="392278"/>
          </a:xfrm>
          <a:prstGeom prst="rect">
            <a:avLst/>
          </a:prstGeom>
        </p:spPr>
      </p:pic>
      <p:sp>
        <p:nvSpPr>
          <p:cNvPr id="33" name="Text 25"/>
          <p:cNvSpPr/>
          <p:nvPr/>
        </p:nvSpPr>
        <p:spPr>
          <a:xfrm>
            <a:off x="8229600" y="5111496"/>
            <a:ext cx="2907792" cy="347472"/>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Group By</a:t>
            </a:r>
            <a:endParaRPr lang="en-US" sz="1450" dirty="0"/>
          </a:p>
        </p:txBody>
      </p:sp>
      <p:sp>
        <p:nvSpPr>
          <p:cNvPr id="34" name="Text 26"/>
          <p:cNvSpPr/>
          <p:nvPr/>
        </p:nvSpPr>
        <p:spPr>
          <a:xfrm>
            <a:off x="8229600" y="5440680"/>
            <a:ext cx="2907792" cy="384048"/>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Aggregate rows by category</a:t>
            </a:r>
            <a:endParaRPr lang="en-US" sz="1150" dirty="0"/>
          </a:p>
        </p:txBody>
      </p:sp>
      <p:sp>
        <p:nvSpPr>
          <p:cNvPr id="35" name="Text 27"/>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36" name="Text 28"/>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05 / 08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06 · COMBINING DATA</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Merge &amp; Append Queries</a:t>
            </a:r>
            <a:endParaRPr lang="en-US" sz="3200" dirty="0"/>
          </a:p>
        </p:txBody>
      </p:sp>
      <p:sp>
        <p:nvSpPr>
          <p:cNvPr id="4" name="Text 2"/>
          <p:cNvSpPr/>
          <p:nvPr/>
        </p:nvSpPr>
        <p:spPr>
          <a:xfrm>
            <a:off x="548640" y="1417320"/>
            <a:ext cx="5989320" cy="365760"/>
          </a:xfrm>
          <a:prstGeom prst="rect">
            <a:avLst/>
          </a:prstGeom>
          <a:noFill/>
          <a:ln/>
        </p:spPr>
        <p:txBody>
          <a:bodyPr wrap="square" lIns="0" tIns="0" rIns="0" bIns="0" rtlCol="0" anchor="ctr"/>
          <a:lstStyle/>
          <a:p>
            <a:pPr marL="0" indent="0">
              <a:buNone/>
            </a:pPr>
            <a:r>
              <a:rPr lang="en-US" sz="1700" b="1" dirty="0">
                <a:solidFill>
                  <a:srgbClr val="2E3338"/>
                </a:solidFill>
                <a:latin typeface="Cambria" pitchFamily="34" charset="0"/>
                <a:ea typeface="Cambria" pitchFamily="34" charset="-122"/>
                <a:cs typeface="Cambria" pitchFamily="34" charset="-120"/>
              </a:rPr>
              <a:t>Merge — Join Types</a:t>
            </a:r>
            <a:endParaRPr lang="en-US" sz="1700" dirty="0"/>
          </a:p>
        </p:txBody>
      </p:sp>
      <p:sp>
        <p:nvSpPr>
          <p:cNvPr id="5" name="Shape 3"/>
          <p:cNvSpPr/>
          <p:nvPr/>
        </p:nvSpPr>
        <p:spPr>
          <a:xfrm>
            <a:off x="548640" y="1874520"/>
            <a:ext cx="2834640" cy="960120"/>
          </a:xfrm>
          <a:prstGeom prst="roundRect">
            <a:avLst>
              <a:gd name="adj" fmla="val 7619"/>
            </a:avLst>
          </a:prstGeom>
          <a:solidFill>
            <a:srgbClr val="E8F3EC"/>
          </a:solidFill>
          <a:ln/>
        </p:spPr>
      </p:sp>
      <p:sp>
        <p:nvSpPr>
          <p:cNvPr id="6" name="Shape 4"/>
          <p:cNvSpPr/>
          <p:nvPr/>
        </p:nvSpPr>
        <p:spPr>
          <a:xfrm>
            <a:off x="758952" y="2153412"/>
            <a:ext cx="402336" cy="402336"/>
          </a:xfrm>
          <a:prstGeom prst="ellipse">
            <a:avLst/>
          </a:prstGeom>
          <a:solidFill>
            <a:srgbClr val="2E8B57">
              <a:alpha val="70000"/>
            </a:srgbClr>
          </a:solidFill>
          <a:ln/>
        </p:spPr>
      </p:sp>
      <p:sp>
        <p:nvSpPr>
          <p:cNvPr id="7" name="Shape 5"/>
          <p:cNvSpPr/>
          <p:nvPr/>
        </p:nvSpPr>
        <p:spPr>
          <a:xfrm>
            <a:off x="941832" y="2153412"/>
            <a:ext cx="402336" cy="402336"/>
          </a:xfrm>
          <a:prstGeom prst="ellipse">
            <a:avLst/>
          </a:prstGeom>
          <a:solidFill>
            <a:srgbClr val="1B5E3A">
              <a:alpha val="70000"/>
            </a:srgbClr>
          </a:solidFill>
          <a:ln/>
        </p:spPr>
      </p:sp>
      <p:sp>
        <p:nvSpPr>
          <p:cNvPr id="8" name="Text 6"/>
          <p:cNvSpPr/>
          <p:nvPr/>
        </p:nvSpPr>
        <p:spPr>
          <a:xfrm>
            <a:off x="1600200" y="1984248"/>
            <a:ext cx="1645920" cy="365760"/>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Inner Join</a:t>
            </a:r>
            <a:endParaRPr lang="en-US" sz="1300" dirty="0"/>
          </a:p>
        </p:txBody>
      </p:sp>
      <p:sp>
        <p:nvSpPr>
          <p:cNvPr id="9" name="Text 7"/>
          <p:cNvSpPr/>
          <p:nvPr/>
        </p:nvSpPr>
        <p:spPr>
          <a:xfrm>
            <a:off x="1600200" y="2350008"/>
            <a:ext cx="1645920" cy="411480"/>
          </a:xfrm>
          <a:prstGeom prst="rect">
            <a:avLst/>
          </a:prstGeom>
          <a:noFill/>
          <a:ln/>
        </p:spPr>
        <p:txBody>
          <a:bodyPr wrap="square" lIns="0" tIns="0" rIns="0" bIns="0" rtlCol="0" anchor="ctr"/>
          <a:lstStyle/>
          <a:p>
            <a:pPr marL="0" indent="0">
              <a:buNone/>
            </a:pPr>
            <a:r>
              <a:rPr lang="en-US" sz="1050" dirty="0">
                <a:solidFill>
                  <a:srgbClr val="5B6670"/>
                </a:solidFill>
                <a:latin typeface="Calibri" pitchFamily="34" charset="0"/>
                <a:ea typeface="Calibri" pitchFamily="34" charset="-122"/>
                <a:cs typeface="Calibri" pitchFamily="34" charset="-120"/>
              </a:rPr>
              <a:t>Only matching rows from both</a:t>
            </a:r>
            <a:endParaRPr lang="en-US" sz="1050" dirty="0"/>
          </a:p>
        </p:txBody>
      </p:sp>
      <p:sp>
        <p:nvSpPr>
          <p:cNvPr id="10" name="Shape 8"/>
          <p:cNvSpPr/>
          <p:nvPr/>
        </p:nvSpPr>
        <p:spPr>
          <a:xfrm>
            <a:off x="3566160" y="1874520"/>
            <a:ext cx="2834640" cy="960120"/>
          </a:xfrm>
          <a:prstGeom prst="roundRect">
            <a:avLst>
              <a:gd name="adj" fmla="val 7619"/>
            </a:avLst>
          </a:prstGeom>
          <a:solidFill>
            <a:srgbClr val="E8F3EC"/>
          </a:solidFill>
          <a:ln/>
        </p:spPr>
      </p:sp>
      <p:sp>
        <p:nvSpPr>
          <p:cNvPr id="11" name="Shape 9"/>
          <p:cNvSpPr/>
          <p:nvPr/>
        </p:nvSpPr>
        <p:spPr>
          <a:xfrm>
            <a:off x="3776472" y="2153412"/>
            <a:ext cx="402336" cy="402336"/>
          </a:xfrm>
          <a:prstGeom prst="ellipse">
            <a:avLst/>
          </a:prstGeom>
          <a:solidFill>
            <a:srgbClr val="2E8B57">
              <a:alpha val="70000"/>
            </a:srgbClr>
          </a:solidFill>
          <a:ln/>
        </p:spPr>
      </p:sp>
      <p:sp>
        <p:nvSpPr>
          <p:cNvPr id="12" name="Shape 10"/>
          <p:cNvSpPr/>
          <p:nvPr/>
        </p:nvSpPr>
        <p:spPr>
          <a:xfrm>
            <a:off x="3959352" y="2153412"/>
            <a:ext cx="402336" cy="402336"/>
          </a:xfrm>
          <a:prstGeom prst="ellipse">
            <a:avLst/>
          </a:prstGeom>
          <a:solidFill>
            <a:srgbClr val="1B5E3A">
              <a:alpha val="70000"/>
            </a:srgbClr>
          </a:solidFill>
          <a:ln/>
        </p:spPr>
      </p:sp>
      <p:sp>
        <p:nvSpPr>
          <p:cNvPr id="13" name="Text 11"/>
          <p:cNvSpPr/>
          <p:nvPr/>
        </p:nvSpPr>
        <p:spPr>
          <a:xfrm>
            <a:off x="4617720" y="1984248"/>
            <a:ext cx="1645920" cy="365760"/>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Left Outer</a:t>
            </a:r>
            <a:endParaRPr lang="en-US" sz="1300" dirty="0"/>
          </a:p>
        </p:txBody>
      </p:sp>
      <p:sp>
        <p:nvSpPr>
          <p:cNvPr id="14" name="Text 12"/>
          <p:cNvSpPr/>
          <p:nvPr/>
        </p:nvSpPr>
        <p:spPr>
          <a:xfrm>
            <a:off x="4617720" y="2350008"/>
            <a:ext cx="1645920" cy="411480"/>
          </a:xfrm>
          <a:prstGeom prst="rect">
            <a:avLst/>
          </a:prstGeom>
          <a:noFill/>
          <a:ln/>
        </p:spPr>
        <p:txBody>
          <a:bodyPr wrap="square" lIns="0" tIns="0" rIns="0" bIns="0" rtlCol="0" anchor="ctr"/>
          <a:lstStyle/>
          <a:p>
            <a:pPr marL="0" indent="0">
              <a:buNone/>
            </a:pPr>
            <a:r>
              <a:rPr lang="en-US" sz="1050" dirty="0">
                <a:solidFill>
                  <a:srgbClr val="5B6670"/>
                </a:solidFill>
                <a:latin typeface="Calibri" pitchFamily="34" charset="0"/>
                <a:ea typeface="Calibri" pitchFamily="34" charset="-122"/>
                <a:cs typeface="Calibri" pitchFamily="34" charset="-120"/>
              </a:rPr>
              <a:t>All left + matches from right</a:t>
            </a:r>
            <a:endParaRPr lang="en-US" sz="1050" dirty="0"/>
          </a:p>
        </p:txBody>
      </p:sp>
      <p:sp>
        <p:nvSpPr>
          <p:cNvPr id="15" name="Shape 13"/>
          <p:cNvSpPr/>
          <p:nvPr/>
        </p:nvSpPr>
        <p:spPr>
          <a:xfrm>
            <a:off x="548640" y="3017520"/>
            <a:ext cx="2834640" cy="960120"/>
          </a:xfrm>
          <a:prstGeom prst="roundRect">
            <a:avLst>
              <a:gd name="adj" fmla="val 7619"/>
            </a:avLst>
          </a:prstGeom>
          <a:solidFill>
            <a:srgbClr val="E8F3EC"/>
          </a:solidFill>
          <a:ln/>
        </p:spPr>
      </p:sp>
      <p:sp>
        <p:nvSpPr>
          <p:cNvPr id="16" name="Shape 14"/>
          <p:cNvSpPr/>
          <p:nvPr/>
        </p:nvSpPr>
        <p:spPr>
          <a:xfrm>
            <a:off x="758952" y="3296412"/>
            <a:ext cx="402336" cy="402336"/>
          </a:xfrm>
          <a:prstGeom prst="ellipse">
            <a:avLst/>
          </a:prstGeom>
          <a:solidFill>
            <a:srgbClr val="2E8B57">
              <a:alpha val="70000"/>
            </a:srgbClr>
          </a:solidFill>
          <a:ln/>
        </p:spPr>
      </p:sp>
      <p:sp>
        <p:nvSpPr>
          <p:cNvPr id="17" name="Shape 15"/>
          <p:cNvSpPr/>
          <p:nvPr/>
        </p:nvSpPr>
        <p:spPr>
          <a:xfrm>
            <a:off x="941832" y="3296412"/>
            <a:ext cx="402336" cy="402336"/>
          </a:xfrm>
          <a:prstGeom prst="ellipse">
            <a:avLst/>
          </a:prstGeom>
          <a:solidFill>
            <a:srgbClr val="1B5E3A">
              <a:alpha val="70000"/>
            </a:srgbClr>
          </a:solidFill>
          <a:ln/>
        </p:spPr>
      </p:sp>
      <p:sp>
        <p:nvSpPr>
          <p:cNvPr id="18" name="Text 16"/>
          <p:cNvSpPr/>
          <p:nvPr/>
        </p:nvSpPr>
        <p:spPr>
          <a:xfrm>
            <a:off x="1600200" y="3127248"/>
            <a:ext cx="1645920" cy="365760"/>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Right Outer</a:t>
            </a:r>
            <a:endParaRPr lang="en-US" sz="1300" dirty="0"/>
          </a:p>
        </p:txBody>
      </p:sp>
      <p:sp>
        <p:nvSpPr>
          <p:cNvPr id="19" name="Text 17"/>
          <p:cNvSpPr/>
          <p:nvPr/>
        </p:nvSpPr>
        <p:spPr>
          <a:xfrm>
            <a:off x="1600200" y="3493008"/>
            <a:ext cx="1645920" cy="411480"/>
          </a:xfrm>
          <a:prstGeom prst="rect">
            <a:avLst/>
          </a:prstGeom>
          <a:noFill/>
          <a:ln/>
        </p:spPr>
        <p:txBody>
          <a:bodyPr wrap="square" lIns="0" tIns="0" rIns="0" bIns="0" rtlCol="0" anchor="ctr"/>
          <a:lstStyle/>
          <a:p>
            <a:pPr marL="0" indent="0">
              <a:buNone/>
            </a:pPr>
            <a:r>
              <a:rPr lang="en-US" sz="1050" dirty="0">
                <a:solidFill>
                  <a:srgbClr val="5B6670"/>
                </a:solidFill>
                <a:latin typeface="Calibri" pitchFamily="34" charset="0"/>
                <a:ea typeface="Calibri" pitchFamily="34" charset="-122"/>
                <a:cs typeface="Calibri" pitchFamily="34" charset="-120"/>
              </a:rPr>
              <a:t>All right + matches from left</a:t>
            </a:r>
            <a:endParaRPr lang="en-US" sz="1050" dirty="0"/>
          </a:p>
        </p:txBody>
      </p:sp>
      <p:sp>
        <p:nvSpPr>
          <p:cNvPr id="20" name="Shape 18"/>
          <p:cNvSpPr/>
          <p:nvPr/>
        </p:nvSpPr>
        <p:spPr>
          <a:xfrm>
            <a:off x="3566160" y="3017520"/>
            <a:ext cx="2834640" cy="960120"/>
          </a:xfrm>
          <a:prstGeom prst="roundRect">
            <a:avLst>
              <a:gd name="adj" fmla="val 7619"/>
            </a:avLst>
          </a:prstGeom>
          <a:solidFill>
            <a:srgbClr val="E8F3EC"/>
          </a:solidFill>
          <a:ln/>
        </p:spPr>
      </p:sp>
      <p:sp>
        <p:nvSpPr>
          <p:cNvPr id="21" name="Shape 19"/>
          <p:cNvSpPr/>
          <p:nvPr/>
        </p:nvSpPr>
        <p:spPr>
          <a:xfrm>
            <a:off x="3776472" y="3296412"/>
            <a:ext cx="402336" cy="402336"/>
          </a:xfrm>
          <a:prstGeom prst="ellipse">
            <a:avLst/>
          </a:prstGeom>
          <a:solidFill>
            <a:srgbClr val="2E8B57">
              <a:alpha val="70000"/>
            </a:srgbClr>
          </a:solidFill>
          <a:ln/>
        </p:spPr>
      </p:sp>
      <p:sp>
        <p:nvSpPr>
          <p:cNvPr id="22" name="Shape 20"/>
          <p:cNvSpPr/>
          <p:nvPr/>
        </p:nvSpPr>
        <p:spPr>
          <a:xfrm>
            <a:off x="3959352" y="3296412"/>
            <a:ext cx="402336" cy="402336"/>
          </a:xfrm>
          <a:prstGeom prst="ellipse">
            <a:avLst/>
          </a:prstGeom>
          <a:solidFill>
            <a:srgbClr val="1B5E3A">
              <a:alpha val="70000"/>
            </a:srgbClr>
          </a:solidFill>
          <a:ln/>
        </p:spPr>
      </p:sp>
      <p:sp>
        <p:nvSpPr>
          <p:cNvPr id="23" name="Text 21"/>
          <p:cNvSpPr/>
          <p:nvPr/>
        </p:nvSpPr>
        <p:spPr>
          <a:xfrm>
            <a:off x="4617720" y="3127248"/>
            <a:ext cx="1645920" cy="365760"/>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Full Outer</a:t>
            </a:r>
            <a:endParaRPr lang="en-US" sz="1300" dirty="0"/>
          </a:p>
        </p:txBody>
      </p:sp>
      <p:sp>
        <p:nvSpPr>
          <p:cNvPr id="24" name="Text 22"/>
          <p:cNvSpPr/>
          <p:nvPr/>
        </p:nvSpPr>
        <p:spPr>
          <a:xfrm>
            <a:off x="4617720" y="3493008"/>
            <a:ext cx="1645920" cy="411480"/>
          </a:xfrm>
          <a:prstGeom prst="rect">
            <a:avLst/>
          </a:prstGeom>
          <a:noFill/>
          <a:ln/>
        </p:spPr>
        <p:txBody>
          <a:bodyPr wrap="square" lIns="0" tIns="0" rIns="0" bIns="0" rtlCol="0" anchor="ctr"/>
          <a:lstStyle/>
          <a:p>
            <a:pPr marL="0" indent="0">
              <a:buNone/>
            </a:pPr>
            <a:r>
              <a:rPr lang="en-US" sz="1050" dirty="0">
                <a:solidFill>
                  <a:srgbClr val="5B6670"/>
                </a:solidFill>
                <a:latin typeface="Calibri" pitchFamily="34" charset="0"/>
                <a:ea typeface="Calibri" pitchFamily="34" charset="-122"/>
                <a:cs typeface="Calibri" pitchFamily="34" charset="-120"/>
              </a:rPr>
              <a:t>All rows from both tables</a:t>
            </a:r>
            <a:endParaRPr lang="en-US" sz="1050" dirty="0"/>
          </a:p>
        </p:txBody>
      </p:sp>
      <p:sp>
        <p:nvSpPr>
          <p:cNvPr id="25" name="Text 23"/>
          <p:cNvSpPr/>
          <p:nvPr/>
        </p:nvSpPr>
        <p:spPr>
          <a:xfrm>
            <a:off x="548640" y="4069080"/>
            <a:ext cx="5989320" cy="502920"/>
          </a:xfrm>
          <a:prstGeom prst="rect">
            <a:avLst/>
          </a:prstGeom>
          <a:noFill/>
          <a:ln/>
        </p:spPr>
        <p:txBody>
          <a:bodyPr wrap="square" lIns="0" tIns="0" rIns="0" bIns="0" rtlCol="0" anchor="t"/>
          <a:lstStyle/>
          <a:p>
            <a:pPr marL="0" indent="0">
              <a:lnSpc>
                <a:spcPct val="115000"/>
              </a:lnSpc>
              <a:buNone/>
            </a:pPr>
            <a:r>
              <a:rPr lang="en-US" sz="1200" b="1" dirty="0">
                <a:solidFill>
                  <a:srgbClr val="1B5E3A"/>
                </a:solidFill>
                <a:latin typeface="Calibri" pitchFamily="34" charset="0"/>
                <a:ea typeface="Calibri" pitchFamily="34" charset="-122"/>
                <a:cs typeface="Calibri" pitchFamily="34" charset="-120"/>
              </a:rPr>
              <a:t>Anti Joins  </a:t>
            </a:r>
            <a:r>
              <a:rPr lang="en-US" sz="1150" dirty="0">
                <a:solidFill>
                  <a:srgbClr val="5B6670"/>
                </a:solidFill>
                <a:latin typeface="Calibri" pitchFamily="34" charset="0"/>
                <a:ea typeface="Calibri" pitchFamily="34" charset="-122"/>
                <a:cs typeface="Calibri" pitchFamily="34" charset="-120"/>
              </a:rPr>
              <a:t>— Left Anti and Right Anti return only the rows that have no match in the other table, useful for finding gaps or exceptions.</a:t>
            </a:r>
            <a:endParaRPr lang="en-US" sz="1200" dirty="0"/>
          </a:p>
        </p:txBody>
      </p:sp>
      <p:sp>
        <p:nvSpPr>
          <p:cNvPr id="26" name="Text 24"/>
          <p:cNvSpPr/>
          <p:nvPr/>
        </p:nvSpPr>
        <p:spPr>
          <a:xfrm>
            <a:off x="6812280" y="1417320"/>
            <a:ext cx="4846320" cy="365760"/>
          </a:xfrm>
          <a:prstGeom prst="rect">
            <a:avLst/>
          </a:prstGeom>
          <a:noFill/>
          <a:ln/>
        </p:spPr>
        <p:txBody>
          <a:bodyPr wrap="square" lIns="0" tIns="0" rIns="0" bIns="0" rtlCol="0" anchor="ctr"/>
          <a:lstStyle/>
          <a:p>
            <a:pPr marL="0" indent="0">
              <a:buNone/>
            </a:pPr>
            <a:r>
              <a:rPr lang="en-US" sz="1700" b="1" dirty="0">
                <a:solidFill>
                  <a:srgbClr val="2E3338"/>
                </a:solidFill>
                <a:latin typeface="Cambria" pitchFamily="34" charset="0"/>
                <a:ea typeface="Cambria" pitchFamily="34" charset="-122"/>
                <a:cs typeface="Cambria" pitchFamily="34" charset="-120"/>
              </a:rPr>
              <a:t>Append — Stacking Queries</a:t>
            </a:r>
            <a:endParaRPr lang="en-US" sz="1700" dirty="0"/>
          </a:p>
        </p:txBody>
      </p:sp>
      <p:sp>
        <p:nvSpPr>
          <p:cNvPr id="27" name="Text 25"/>
          <p:cNvSpPr/>
          <p:nvPr/>
        </p:nvSpPr>
        <p:spPr>
          <a:xfrm>
            <a:off x="6812280" y="1801368"/>
            <a:ext cx="4846320" cy="365760"/>
          </a:xfrm>
          <a:prstGeom prst="rect">
            <a:avLst/>
          </a:prstGeom>
          <a:noFill/>
          <a:ln/>
        </p:spPr>
        <p:txBody>
          <a:bodyPr wrap="square" lIns="0" tIns="0" rIns="0" bIns="0" rtlCol="0" anchor="ctr"/>
          <a:lstStyle/>
          <a:p>
            <a:pPr marL="0" indent="0">
              <a:buNone/>
            </a:pPr>
            <a:r>
              <a:rPr lang="en-US" sz="1150" dirty="0">
                <a:solidFill>
                  <a:srgbClr val="5B6670"/>
                </a:solidFill>
                <a:latin typeface="Calibri" pitchFamily="34" charset="0"/>
                <a:ea typeface="Calibri" pitchFamily="34" charset="-122"/>
                <a:cs typeface="Calibri" pitchFamily="34" charset="-120"/>
              </a:rPr>
              <a:t>Like SQL UNION ALL — stacks tables vertically, matching columns by name.</a:t>
            </a:r>
            <a:endParaRPr lang="en-US" sz="1150" dirty="0"/>
          </a:p>
        </p:txBody>
      </p:sp>
      <p:sp>
        <p:nvSpPr>
          <p:cNvPr id="28" name="Shape 26"/>
          <p:cNvSpPr/>
          <p:nvPr/>
        </p:nvSpPr>
        <p:spPr>
          <a:xfrm>
            <a:off x="6812280" y="2286000"/>
            <a:ext cx="2148840" cy="777240"/>
          </a:xfrm>
          <a:prstGeom prst="roundRect">
            <a:avLst>
              <a:gd name="adj" fmla="val 7059"/>
            </a:avLst>
          </a:prstGeom>
          <a:solidFill>
            <a:srgbClr val="F7FAF8"/>
          </a:solidFill>
          <a:ln w="12700">
            <a:solidFill>
              <a:srgbClr val="2E8B57"/>
            </a:solidFill>
            <a:prstDash val="solid"/>
          </a:ln>
        </p:spPr>
      </p:sp>
      <p:sp>
        <p:nvSpPr>
          <p:cNvPr id="29" name="Text 27"/>
          <p:cNvSpPr/>
          <p:nvPr/>
        </p:nvSpPr>
        <p:spPr>
          <a:xfrm>
            <a:off x="6812280" y="2286000"/>
            <a:ext cx="2148840" cy="777240"/>
          </a:xfrm>
          <a:prstGeom prst="rect">
            <a:avLst/>
          </a:prstGeom>
          <a:noFill/>
          <a:ln/>
        </p:spPr>
        <p:txBody>
          <a:bodyPr wrap="square" lIns="0" tIns="0" rIns="0" bIns="0" rtlCol="0" anchor="ctr"/>
          <a:lstStyle/>
          <a:p>
            <a:pPr marL="0" indent="0" algn="ctr">
              <a:buNone/>
            </a:pPr>
            <a:r>
              <a:rPr lang="en-US" sz="1100" b="1" dirty="0">
                <a:solidFill>
                  <a:srgbClr val="2E3338"/>
                </a:solidFill>
                <a:latin typeface="Calibri" pitchFamily="34" charset="0"/>
                <a:ea typeface="Calibri" pitchFamily="34" charset="-122"/>
                <a:cs typeface="Calibri" pitchFamily="34" charset="-120"/>
              </a:rPr>
              <a:t>Query A (Jan)</a:t>
            </a:r>
            <a:endParaRPr lang="en-US" sz="1100" dirty="0"/>
          </a:p>
          <a:p>
            <a:pPr marL="0" indent="0" algn="ctr">
              <a:buNone/>
            </a:pPr>
            <a:r>
              <a:rPr lang="en-US" sz="1100" b="1" dirty="0">
                <a:solidFill>
                  <a:srgbClr val="2E3338"/>
                </a:solidFill>
                <a:latin typeface="Calibri" pitchFamily="34" charset="0"/>
                <a:ea typeface="Calibri" pitchFamily="34" charset="-122"/>
                <a:cs typeface="Calibri" pitchFamily="34" charset="-120"/>
              </a:rPr>
              <a:t>2 rows</a:t>
            </a:r>
            <a:endParaRPr lang="en-US" sz="1100" dirty="0"/>
          </a:p>
        </p:txBody>
      </p:sp>
      <p:sp>
        <p:nvSpPr>
          <p:cNvPr id="30" name="Shape 28"/>
          <p:cNvSpPr/>
          <p:nvPr/>
        </p:nvSpPr>
        <p:spPr>
          <a:xfrm>
            <a:off x="6812280" y="3200400"/>
            <a:ext cx="2148840" cy="777240"/>
          </a:xfrm>
          <a:prstGeom prst="roundRect">
            <a:avLst>
              <a:gd name="adj" fmla="val 7059"/>
            </a:avLst>
          </a:prstGeom>
          <a:solidFill>
            <a:srgbClr val="F7FAF8"/>
          </a:solidFill>
          <a:ln w="12700">
            <a:solidFill>
              <a:srgbClr val="2E8B57"/>
            </a:solidFill>
            <a:prstDash val="solid"/>
          </a:ln>
        </p:spPr>
      </p:sp>
      <p:sp>
        <p:nvSpPr>
          <p:cNvPr id="31" name="Text 29"/>
          <p:cNvSpPr/>
          <p:nvPr/>
        </p:nvSpPr>
        <p:spPr>
          <a:xfrm>
            <a:off x="6812280" y="3200400"/>
            <a:ext cx="2148840" cy="777240"/>
          </a:xfrm>
          <a:prstGeom prst="rect">
            <a:avLst/>
          </a:prstGeom>
          <a:noFill/>
          <a:ln/>
        </p:spPr>
        <p:txBody>
          <a:bodyPr wrap="square" lIns="0" tIns="0" rIns="0" bIns="0" rtlCol="0" anchor="ctr"/>
          <a:lstStyle/>
          <a:p>
            <a:pPr marL="0" indent="0" algn="ctr">
              <a:buNone/>
            </a:pPr>
            <a:r>
              <a:rPr lang="en-US" sz="1100" b="1" dirty="0">
                <a:solidFill>
                  <a:srgbClr val="2E3338"/>
                </a:solidFill>
                <a:latin typeface="Calibri" pitchFamily="34" charset="0"/>
                <a:ea typeface="Calibri" pitchFamily="34" charset="-122"/>
                <a:cs typeface="Calibri" pitchFamily="34" charset="-120"/>
              </a:rPr>
              <a:t>Query B (Feb)</a:t>
            </a:r>
            <a:endParaRPr lang="en-US" sz="1100" dirty="0"/>
          </a:p>
          <a:p>
            <a:pPr marL="0" indent="0" algn="ctr">
              <a:buNone/>
            </a:pPr>
            <a:r>
              <a:rPr lang="en-US" sz="1100" b="1" dirty="0">
                <a:solidFill>
                  <a:srgbClr val="2E3338"/>
                </a:solidFill>
                <a:latin typeface="Calibri" pitchFamily="34" charset="0"/>
                <a:ea typeface="Calibri" pitchFamily="34" charset="-122"/>
                <a:cs typeface="Calibri" pitchFamily="34" charset="-120"/>
              </a:rPr>
              <a:t>2 rows</a:t>
            </a:r>
            <a:endParaRPr lang="en-US" sz="1100" dirty="0"/>
          </a:p>
        </p:txBody>
      </p:sp>
      <p:sp>
        <p:nvSpPr>
          <p:cNvPr id="32" name="Text 30"/>
          <p:cNvSpPr/>
          <p:nvPr/>
        </p:nvSpPr>
        <p:spPr>
          <a:xfrm>
            <a:off x="9034272" y="2697480"/>
            <a:ext cx="457200" cy="914400"/>
          </a:xfrm>
          <a:prstGeom prst="rect">
            <a:avLst/>
          </a:prstGeom>
          <a:noFill/>
          <a:ln/>
        </p:spPr>
        <p:txBody>
          <a:bodyPr wrap="square" lIns="0" tIns="0" rIns="0" bIns="0" rtlCol="0" anchor="ctr"/>
          <a:lstStyle/>
          <a:p>
            <a:pPr marL="0" indent="0" algn="ctr">
              <a:buNone/>
            </a:pPr>
            <a:r>
              <a:rPr lang="en-US" sz="2200" dirty="0">
                <a:solidFill>
                  <a:srgbClr val="1B5E3A"/>
                </a:solidFill>
                <a:latin typeface="Calibri" pitchFamily="34" charset="0"/>
                <a:ea typeface="Calibri" pitchFamily="34" charset="-122"/>
                <a:cs typeface="Calibri" pitchFamily="34" charset="-120"/>
              </a:rPr>
              <a:t>⬇</a:t>
            </a:r>
            <a:endParaRPr lang="en-US" sz="2200" dirty="0"/>
          </a:p>
        </p:txBody>
      </p:sp>
      <p:sp>
        <p:nvSpPr>
          <p:cNvPr id="33" name="Shape 31"/>
          <p:cNvSpPr/>
          <p:nvPr/>
        </p:nvSpPr>
        <p:spPr>
          <a:xfrm>
            <a:off x="9509760" y="2606040"/>
            <a:ext cx="2148840" cy="1005840"/>
          </a:xfrm>
          <a:prstGeom prst="roundRect">
            <a:avLst>
              <a:gd name="adj" fmla="val 5455"/>
            </a:avLst>
          </a:prstGeom>
          <a:solidFill>
            <a:srgbClr val="1B5E3A"/>
          </a:solidFill>
          <a:ln/>
          <a:effectLst>
            <a:outerShdw blurRad="88900" dist="38100" dir="2700000" algn="bl" rotWithShape="0">
              <a:srgbClr val="1B5E3A">
                <a:alpha val="12000"/>
              </a:srgbClr>
            </a:outerShdw>
          </a:effectLst>
        </p:spPr>
      </p:sp>
      <p:sp>
        <p:nvSpPr>
          <p:cNvPr id="34" name="Text 32"/>
          <p:cNvSpPr/>
          <p:nvPr/>
        </p:nvSpPr>
        <p:spPr>
          <a:xfrm>
            <a:off x="9509760" y="2606040"/>
            <a:ext cx="2148840" cy="10058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Appended</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4 rows total</a:t>
            </a:r>
            <a:endParaRPr lang="en-US" sz="1150" dirty="0"/>
          </a:p>
        </p:txBody>
      </p:sp>
      <p:sp>
        <p:nvSpPr>
          <p:cNvPr id="35" name="Text 33"/>
          <p:cNvSpPr/>
          <p:nvPr/>
        </p:nvSpPr>
        <p:spPr>
          <a:xfrm>
            <a:off x="6812280" y="4343400"/>
            <a:ext cx="4846320" cy="320040"/>
          </a:xfrm>
          <a:prstGeom prst="rect">
            <a:avLst/>
          </a:prstGeom>
          <a:noFill/>
          <a:ln/>
        </p:spPr>
        <p:txBody>
          <a:bodyPr wrap="square" lIns="0" tIns="0" rIns="0" bIns="0" rtlCol="0" anchor="ctr"/>
          <a:lstStyle/>
          <a:p>
            <a:pPr marL="0" indent="0">
              <a:buNone/>
            </a:pPr>
            <a:r>
              <a:rPr lang="en-US" sz="1450" b="1" dirty="0">
                <a:solidFill>
                  <a:srgbClr val="2E3338"/>
                </a:solidFill>
                <a:latin typeface="Cambria" pitchFamily="34" charset="0"/>
                <a:ea typeface="Cambria" pitchFamily="34" charset="-122"/>
                <a:cs typeface="Cambria" pitchFamily="34" charset="-120"/>
              </a:rPr>
              <a:t>Business Use Cases</a:t>
            </a:r>
            <a:endParaRPr lang="en-US" sz="1450" dirty="0"/>
          </a:p>
        </p:txBody>
      </p:sp>
      <p:sp>
        <p:nvSpPr>
          <p:cNvPr id="36" name="Text 34"/>
          <p:cNvSpPr/>
          <p:nvPr/>
        </p:nvSpPr>
        <p:spPr>
          <a:xfrm>
            <a:off x="6858000" y="4709160"/>
            <a:ext cx="4846320" cy="731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Merge: enrich Orders with Customer details</a:t>
            </a:r>
            <a:endParaRPr lang="en-US" sz="1150" dirty="0"/>
          </a:p>
          <a:p>
            <a:pPr marL="342900" indent="-342900">
              <a:spcAft>
                <a:spcPts val="600"/>
              </a:spcAft>
              <a:buSzPct val="100000"/>
              <a:buChar char="•"/>
            </a:pPr>
            <a:r>
              <a:rPr lang="en-US" sz="1150" dirty="0">
                <a:solidFill>
                  <a:srgbClr val="5B6670"/>
                </a:solidFill>
                <a:latin typeface="Calibri" pitchFamily="34" charset="0"/>
                <a:ea typeface="Calibri" pitchFamily="34" charset="-122"/>
                <a:cs typeface="Calibri" pitchFamily="34" charset="-120"/>
              </a:rPr>
              <a:t>Append: combine monthly sales files into one</a:t>
            </a:r>
            <a:endParaRPr lang="en-US" sz="1150" dirty="0"/>
          </a:p>
        </p:txBody>
      </p:sp>
      <p:sp>
        <p:nvSpPr>
          <p:cNvPr id="37" name="Text 35"/>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38" name="Text 36"/>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06 / 08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292608"/>
          </a:xfrm>
          <a:prstGeom prst="rect">
            <a:avLst/>
          </a:prstGeom>
          <a:noFill/>
          <a:ln/>
        </p:spPr>
        <p:txBody>
          <a:bodyPr wrap="square" lIns="0" tIns="0" rIns="0" bIns="0" rtlCol="0" anchor="ctr"/>
          <a:lstStyle/>
          <a:p>
            <a:pPr marL="0" indent="0">
              <a:buNone/>
            </a:pPr>
            <a:r>
              <a:rPr lang="en-US" sz="1200" b="1" kern="0" spc="200" dirty="0">
                <a:solidFill>
                  <a:srgbClr val="2E8B57"/>
                </a:solidFill>
                <a:latin typeface="Calibri" pitchFamily="34" charset="0"/>
                <a:ea typeface="Calibri" pitchFamily="34" charset="-122"/>
                <a:cs typeface="Calibri" pitchFamily="34" charset="-120"/>
              </a:rPr>
              <a:t>07 · PERFORMANCE</a:t>
            </a:r>
            <a:endParaRPr lang="en-US" sz="1200" dirty="0"/>
          </a:p>
        </p:txBody>
      </p:sp>
      <p:sp>
        <p:nvSpPr>
          <p:cNvPr id="3" name="Text 1"/>
          <p:cNvSpPr/>
          <p:nvPr/>
        </p:nvSpPr>
        <p:spPr>
          <a:xfrm>
            <a:off x="548640" y="621792"/>
            <a:ext cx="10515600" cy="658368"/>
          </a:xfrm>
          <a:prstGeom prst="rect">
            <a:avLst/>
          </a:prstGeom>
          <a:noFill/>
          <a:ln/>
        </p:spPr>
        <p:txBody>
          <a:bodyPr wrap="square" lIns="0" tIns="0" rIns="0" bIns="0" rtlCol="0" anchor="ctr"/>
          <a:lstStyle/>
          <a:p>
            <a:pPr marL="0" indent="0">
              <a:buNone/>
            </a:pPr>
            <a:r>
              <a:rPr lang="en-US" sz="3200" b="1" dirty="0">
                <a:solidFill>
                  <a:srgbClr val="2E3338"/>
                </a:solidFill>
                <a:latin typeface="Cambria" pitchFamily="34" charset="0"/>
                <a:ea typeface="Cambria" pitchFamily="34" charset="-122"/>
                <a:cs typeface="Cambria" pitchFamily="34" charset="-120"/>
              </a:rPr>
              <a:t>Query Folding &amp; Best Practices</a:t>
            </a:r>
            <a:endParaRPr lang="en-US" sz="3200" dirty="0"/>
          </a:p>
        </p:txBody>
      </p:sp>
      <p:sp>
        <p:nvSpPr>
          <p:cNvPr id="4" name="Shape 2"/>
          <p:cNvSpPr/>
          <p:nvPr/>
        </p:nvSpPr>
        <p:spPr>
          <a:xfrm>
            <a:off x="548640" y="1417320"/>
            <a:ext cx="5074920" cy="2331720"/>
          </a:xfrm>
          <a:prstGeom prst="roundRect">
            <a:avLst>
              <a:gd name="adj" fmla="val 3529"/>
            </a:avLst>
          </a:prstGeom>
          <a:solidFill>
            <a:srgbClr val="F7FAF8"/>
          </a:solidFill>
          <a:ln w="12700">
            <a:solidFill>
              <a:srgbClr val="E1E8E3"/>
            </a:solidFill>
            <a:prstDash val="solid"/>
          </a:ln>
        </p:spPr>
      </p:sp>
      <p:sp>
        <p:nvSpPr>
          <p:cNvPr id="5" name="Text 3"/>
          <p:cNvSpPr/>
          <p:nvPr/>
        </p:nvSpPr>
        <p:spPr>
          <a:xfrm>
            <a:off x="777240" y="1581912"/>
            <a:ext cx="4617720" cy="292608"/>
          </a:xfrm>
          <a:prstGeom prst="rect">
            <a:avLst/>
          </a:prstGeom>
          <a:noFill/>
          <a:ln/>
        </p:spPr>
        <p:txBody>
          <a:bodyPr wrap="square" lIns="0" tIns="0" rIns="0" bIns="0" rtlCol="0" anchor="ctr"/>
          <a:lstStyle/>
          <a:p>
            <a:pPr marL="0" indent="0">
              <a:buNone/>
            </a:pPr>
            <a:r>
              <a:rPr lang="en-US" sz="1100" b="1" kern="0" spc="150" dirty="0">
                <a:solidFill>
                  <a:srgbClr val="5B6670"/>
                </a:solidFill>
                <a:latin typeface="Calibri" pitchFamily="34" charset="0"/>
                <a:ea typeface="Calibri" pitchFamily="34" charset="-122"/>
                <a:cs typeface="Calibri" pitchFamily="34" charset="-120"/>
              </a:rPr>
              <a:t>WITHOUT FOLDING</a:t>
            </a:r>
            <a:endParaRPr lang="en-US" sz="1100" dirty="0"/>
          </a:p>
        </p:txBody>
      </p:sp>
      <p:sp>
        <p:nvSpPr>
          <p:cNvPr id="6" name="Text 4"/>
          <p:cNvSpPr/>
          <p:nvPr/>
        </p:nvSpPr>
        <p:spPr>
          <a:xfrm>
            <a:off x="868680" y="1947672"/>
            <a:ext cx="443484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E3338"/>
                </a:solidFill>
                <a:latin typeface="Calibri" pitchFamily="34" charset="0"/>
                <a:ea typeface="Calibri" pitchFamily="34" charset="-122"/>
                <a:cs typeface="Calibri" pitchFamily="34" charset="-120"/>
              </a:rPr>
              <a:t>All rows fetched from the database</a:t>
            </a:r>
            <a:endParaRPr lang="en-US" sz="1250" dirty="0"/>
          </a:p>
          <a:p>
            <a:pPr marL="342900" indent="-342900">
              <a:spcAft>
                <a:spcPts val="800"/>
              </a:spcAft>
              <a:buSzPct val="100000"/>
              <a:buChar char="•"/>
            </a:pPr>
            <a:r>
              <a:rPr lang="en-US" sz="1250" dirty="0">
                <a:solidFill>
                  <a:srgbClr val="2E3338"/>
                </a:solidFill>
                <a:latin typeface="Calibri" pitchFamily="34" charset="0"/>
                <a:ea typeface="Calibri" pitchFamily="34" charset="-122"/>
                <a:cs typeface="Calibri" pitchFamily="34" charset="-120"/>
              </a:rPr>
              <a:t>All rows loaded into RAM</a:t>
            </a:r>
            <a:endParaRPr lang="en-US" sz="1250" dirty="0"/>
          </a:p>
          <a:p>
            <a:pPr marL="342900" indent="-342900">
              <a:spcAft>
                <a:spcPts val="800"/>
              </a:spcAft>
              <a:buSzPct val="100000"/>
              <a:buChar char="•"/>
            </a:pPr>
            <a:r>
              <a:rPr lang="en-US" sz="1250" dirty="0">
                <a:solidFill>
                  <a:srgbClr val="2E3338"/>
                </a:solidFill>
                <a:latin typeface="Calibri" pitchFamily="34" charset="0"/>
                <a:ea typeface="Calibri" pitchFamily="34" charset="-122"/>
                <a:cs typeface="Calibri" pitchFamily="34" charset="-120"/>
              </a:rPr>
              <a:t>PQ filters &amp; aggregates in memory</a:t>
            </a:r>
            <a:endParaRPr lang="en-US" sz="1250" dirty="0"/>
          </a:p>
          <a:p>
            <a:pPr marL="342900" indent="-342900">
              <a:spcAft>
                <a:spcPts val="800"/>
              </a:spcAft>
              <a:buSzPct val="100000"/>
              <a:buChar char="•"/>
            </a:pPr>
            <a:r>
              <a:rPr lang="en-US" sz="1250" dirty="0">
                <a:solidFill>
                  <a:srgbClr val="2E3338"/>
                </a:solidFill>
                <a:latin typeface="Calibri" pitchFamily="34" charset="0"/>
                <a:ea typeface="Calibri" pitchFamily="34" charset="-122"/>
                <a:cs typeface="Calibri" pitchFamily="34" charset="-120"/>
              </a:rPr>
              <a:t>Slow for millions of rows</a:t>
            </a:r>
            <a:endParaRPr lang="en-US" sz="1250" dirty="0"/>
          </a:p>
        </p:txBody>
      </p:sp>
      <p:sp>
        <p:nvSpPr>
          <p:cNvPr id="7" name="Shape 5"/>
          <p:cNvSpPr/>
          <p:nvPr/>
        </p:nvSpPr>
        <p:spPr>
          <a:xfrm>
            <a:off x="5989320" y="1417320"/>
            <a:ext cx="5074920" cy="2331720"/>
          </a:xfrm>
          <a:prstGeom prst="roundRect">
            <a:avLst>
              <a:gd name="adj" fmla="val 3529"/>
            </a:avLst>
          </a:prstGeom>
          <a:solidFill>
            <a:srgbClr val="1B5E3A"/>
          </a:solidFill>
          <a:ln/>
          <a:effectLst>
            <a:outerShdw blurRad="88900" dist="38100" dir="2700000" algn="bl" rotWithShape="0">
              <a:srgbClr val="1B5E3A">
                <a:alpha val="12000"/>
              </a:srgbClr>
            </a:outerShdw>
          </a:effectLst>
        </p:spPr>
      </p:sp>
      <p:sp>
        <p:nvSpPr>
          <p:cNvPr id="8" name="Text 6"/>
          <p:cNvSpPr/>
          <p:nvPr/>
        </p:nvSpPr>
        <p:spPr>
          <a:xfrm>
            <a:off x="6217920" y="1581912"/>
            <a:ext cx="4617720" cy="292608"/>
          </a:xfrm>
          <a:prstGeom prst="rect">
            <a:avLst/>
          </a:prstGeom>
          <a:noFill/>
          <a:ln/>
        </p:spPr>
        <p:txBody>
          <a:bodyPr wrap="square" lIns="0" tIns="0" rIns="0" bIns="0" rtlCol="0" anchor="ctr"/>
          <a:lstStyle/>
          <a:p>
            <a:pPr marL="0" indent="0">
              <a:buNone/>
            </a:pPr>
            <a:r>
              <a:rPr lang="en-US" sz="1100" b="1" kern="0" spc="150" dirty="0">
                <a:solidFill>
                  <a:srgbClr val="8FD6AE"/>
                </a:solidFill>
                <a:latin typeface="Calibri" pitchFamily="34" charset="0"/>
                <a:ea typeface="Calibri" pitchFamily="34" charset="-122"/>
                <a:cs typeface="Calibri" pitchFamily="34" charset="-120"/>
              </a:rPr>
              <a:t>WITH QUERY FOLDING</a:t>
            </a:r>
            <a:endParaRPr lang="en-US" sz="1100" dirty="0"/>
          </a:p>
        </p:txBody>
      </p:sp>
      <p:sp>
        <p:nvSpPr>
          <p:cNvPr id="9" name="Text 7"/>
          <p:cNvSpPr/>
          <p:nvPr/>
        </p:nvSpPr>
        <p:spPr>
          <a:xfrm>
            <a:off x="6309360" y="1947672"/>
            <a:ext cx="443484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PQ translates steps into native SQL</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Database executes the SQL query</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Only relevant rows are returned</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Fast — the database optimizes it</a:t>
            </a:r>
            <a:endParaRPr lang="en-US" sz="1250" dirty="0"/>
          </a:p>
        </p:txBody>
      </p:sp>
      <p:sp>
        <p:nvSpPr>
          <p:cNvPr id="10" name="Text 8"/>
          <p:cNvSpPr/>
          <p:nvPr/>
        </p:nvSpPr>
        <p:spPr>
          <a:xfrm>
            <a:off x="548640" y="3858768"/>
            <a:ext cx="10515600" cy="365760"/>
          </a:xfrm>
          <a:prstGeom prst="rect">
            <a:avLst/>
          </a:prstGeom>
          <a:noFill/>
          <a:ln/>
        </p:spPr>
        <p:txBody>
          <a:bodyPr wrap="square" lIns="0" tIns="0" rIns="0" bIns="0" rtlCol="0" anchor="ctr"/>
          <a:lstStyle/>
          <a:p>
            <a:pPr marL="0" indent="0">
              <a:buNone/>
            </a:pPr>
            <a:r>
              <a:rPr lang="en-US" sz="1150" i="1" dirty="0">
                <a:solidFill>
                  <a:srgbClr val="5B6670"/>
                </a:solidFill>
                <a:latin typeface="Calibri" pitchFamily="34" charset="0"/>
                <a:ea typeface="Calibri" pitchFamily="34" charset="-122"/>
                <a:cs typeface="Calibri" pitchFamily="34" charset="-120"/>
              </a:rPr>
              <a:t>Query Folding pushes your transformation steps back to the source's native query language (e.g. SQL) instead of processing everything locally.</a:t>
            </a:r>
            <a:endParaRPr lang="en-US" sz="1150" dirty="0"/>
          </a:p>
        </p:txBody>
      </p:sp>
      <p:sp>
        <p:nvSpPr>
          <p:cNvPr id="11" name="Text 9"/>
          <p:cNvSpPr/>
          <p:nvPr/>
        </p:nvSpPr>
        <p:spPr>
          <a:xfrm>
            <a:off x="548640" y="4160520"/>
            <a:ext cx="3657600" cy="320040"/>
          </a:xfrm>
          <a:prstGeom prst="rect">
            <a:avLst/>
          </a:prstGeom>
          <a:noFill/>
          <a:ln/>
        </p:spPr>
        <p:txBody>
          <a:bodyPr wrap="square" lIns="0" tIns="0" rIns="0" bIns="0" rtlCol="0" anchor="ctr"/>
          <a:lstStyle/>
          <a:p>
            <a:pPr marL="0" indent="0">
              <a:buNone/>
            </a:pPr>
            <a:r>
              <a:rPr lang="en-US" sz="1600" b="1" dirty="0">
                <a:solidFill>
                  <a:srgbClr val="2E3338"/>
                </a:solidFill>
                <a:latin typeface="Cambria" pitchFamily="34" charset="0"/>
                <a:ea typeface="Cambria" pitchFamily="34" charset="-122"/>
                <a:cs typeface="Cambria" pitchFamily="34" charset="-120"/>
              </a:rPr>
              <a:t>Best Practices</a:t>
            </a:r>
            <a:endParaRPr lang="en-US" sz="1600" dirty="0"/>
          </a:p>
        </p:txBody>
      </p:sp>
      <p:sp>
        <p:nvSpPr>
          <p:cNvPr id="12" name="Shape 10"/>
          <p:cNvSpPr/>
          <p:nvPr/>
        </p:nvSpPr>
        <p:spPr>
          <a:xfrm>
            <a:off x="548640" y="4572000"/>
            <a:ext cx="2596896" cy="1463040"/>
          </a:xfrm>
          <a:prstGeom prst="roundRect">
            <a:avLst>
              <a:gd name="adj" fmla="val 5000"/>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pic>
        <p:nvPicPr>
          <p:cNvPr id="13" name="Image 0" descr="assets/icon_filter_green.png"/>
          <p:cNvPicPr>
            <a:picLocks noChangeAspect="1"/>
          </p:cNvPicPr>
          <p:nvPr/>
        </p:nvPicPr>
        <p:blipFill>
          <a:blip r:embed="rId3"/>
          <a:stretch>
            <a:fillRect/>
          </a:stretch>
        </p:blipFill>
        <p:spPr>
          <a:xfrm>
            <a:off x="749808" y="4754880"/>
            <a:ext cx="365760" cy="365760"/>
          </a:xfrm>
          <a:prstGeom prst="rect">
            <a:avLst/>
          </a:prstGeom>
        </p:spPr>
      </p:pic>
      <p:sp>
        <p:nvSpPr>
          <p:cNvPr id="14" name="Text 11"/>
          <p:cNvSpPr/>
          <p:nvPr/>
        </p:nvSpPr>
        <p:spPr>
          <a:xfrm>
            <a:off x="749808" y="5193792"/>
            <a:ext cx="2231136" cy="292608"/>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Filter Early</a:t>
            </a:r>
            <a:endParaRPr lang="en-US" sz="1300" dirty="0"/>
          </a:p>
        </p:txBody>
      </p:sp>
      <p:sp>
        <p:nvSpPr>
          <p:cNvPr id="15" name="Text 12"/>
          <p:cNvSpPr/>
          <p:nvPr/>
        </p:nvSpPr>
        <p:spPr>
          <a:xfrm>
            <a:off x="749808" y="5486400"/>
            <a:ext cx="2231136" cy="502920"/>
          </a:xfrm>
          <a:prstGeom prst="rect">
            <a:avLst/>
          </a:prstGeom>
          <a:noFill/>
          <a:ln/>
        </p:spPr>
        <p:txBody>
          <a:bodyPr wrap="square" lIns="0" tIns="0" rIns="0" bIns="0" rtlCol="0" anchor="ctr"/>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Apply row filters as the first step</a:t>
            </a:r>
            <a:endParaRPr lang="en-US" sz="1050" dirty="0"/>
          </a:p>
        </p:txBody>
      </p:sp>
      <p:sp>
        <p:nvSpPr>
          <p:cNvPr id="16" name="Shape 13"/>
          <p:cNvSpPr/>
          <p:nvPr/>
        </p:nvSpPr>
        <p:spPr>
          <a:xfrm>
            <a:off x="3346704" y="4572000"/>
            <a:ext cx="2596896" cy="1463040"/>
          </a:xfrm>
          <a:prstGeom prst="roundRect">
            <a:avLst>
              <a:gd name="adj" fmla="val 5000"/>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pic>
        <p:nvPicPr>
          <p:cNvPr id="17" name="Image 1" descr="assets/icon_addcol_green.png"/>
          <p:cNvPicPr>
            <a:picLocks noChangeAspect="1"/>
          </p:cNvPicPr>
          <p:nvPr/>
        </p:nvPicPr>
        <p:blipFill>
          <a:blip r:embed="rId4"/>
          <a:stretch>
            <a:fillRect/>
          </a:stretch>
        </p:blipFill>
        <p:spPr>
          <a:xfrm>
            <a:off x="3547872" y="4754880"/>
            <a:ext cx="365760" cy="365760"/>
          </a:xfrm>
          <a:prstGeom prst="rect">
            <a:avLst/>
          </a:prstGeom>
        </p:spPr>
      </p:pic>
      <p:sp>
        <p:nvSpPr>
          <p:cNvPr id="18" name="Text 14"/>
          <p:cNvSpPr/>
          <p:nvPr/>
        </p:nvSpPr>
        <p:spPr>
          <a:xfrm>
            <a:off x="3547872" y="5193792"/>
            <a:ext cx="2231136" cy="292608"/>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Use Parameters</a:t>
            </a:r>
            <a:endParaRPr lang="en-US" sz="1300" dirty="0"/>
          </a:p>
        </p:txBody>
      </p:sp>
      <p:sp>
        <p:nvSpPr>
          <p:cNvPr id="19" name="Text 15"/>
          <p:cNvSpPr/>
          <p:nvPr/>
        </p:nvSpPr>
        <p:spPr>
          <a:xfrm>
            <a:off x="3547872" y="5486400"/>
            <a:ext cx="2231136" cy="502920"/>
          </a:xfrm>
          <a:prstGeom prst="rect">
            <a:avLst/>
          </a:prstGeom>
          <a:noFill/>
          <a:ln/>
        </p:spPr>
        <p:txBody>
          <a:bodyPr wrap="square" lIns="0" tIns="0" rIns="0" bIns="0" rtlCol="0" anchor="ctr"/>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For file paths, dates &amp; server names</a:t>
            </a:r>
            <a:endParaRPr lang="en-US" sz="1050" dirty="0"/>
          </a:p>
        </p:txBody>
      </p:sp>
      <p:sp>
        <p:nvSpPr>
          <p:cNvPr id="20" name="Shape 16"/>
          <p:cNvSpPr/>
          <p:nvPr/>
        </p:nvSpPr>
        <p:spPr>
          <a:xfrm>
            <a:off x="6144768" y="4572000"/>
            <a:ext cx="2596896" cy="1463040"/>
          </a:xfrm>
          <a:prstGeom prst="roundRect">
            <a:avLst>
              <a:gd name="adj" fmla="val 5000"/>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pic>
        <p:nvPicPr>
          <p:cNvPr id="21" name="Image 2" descr="assets/icon_steps_green.png"/>
          <p:cNvPicPr>
            <a:picLocks noChangeAspect="1"/>
          </p:cNvPicPr>
          <p:nvPr/>
        </p:nvPicPr>
        <p:blipFill>
          <a:blip r:embed="rId5"/>
          <a:stretch>
            <a:fillRect/>
          </a:stretch>
        </p:blipFill>
        <p:spPr>
          <a:xfrm>
            <a:off x="6345936" y="4754880"/>
            <a:ext cx="365760" cy="365760"/>
          </a:xfrm>
          <a:prstGeom prst="rect">
            <a:avLst/>
          </a:prstGeom>
        </p:spPr>
      </p:pic>
      <p:sp>
        <p:nvSpPr>
          <p:cNvPr id="22" name="Text 17"/>
          <p:cNvSpPr/>
          <p:nvPr/>
        </p:nvSpPr>
        <p:spPr>
          <a:xfrm>
            <a:off x="6345936" y="5193792"/>
            <a:ext cx="2231136" cy="292608"/>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Rename Steps</a:t>
            </a:r>
            <a:endParaRPr lang="en-US" sz="1300" dirty="0"/>
          </a:p>
        </p:txBody>
      </p:sp>
      <p:sp>
        <p:nvSpPr>
          <p:cNvPr id="23" name="Text 18"/>
          <p:cNvSpPr/>
          <p:nvPr/>
        </p:nvSpPr>
        <p:spPr>
          <a:xfrm>
            <a:off x="6345936" y="5486400"/>
            <a:ext cx="2231136" cy="502920"/>
          </a:xfrm>
          <a:prstGeom prst="rect">
            <a:avLst/>
          </a:prstGeom>
          <a:noFill/>
          <a:ln/>
        </p:spPr>
        <p:txBody>
          <a:bodyPr wrap="square" lIns="0" tIns="0" rIns="0" bIns="0" rtlCol="0" anchor="ctr"/>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Give Applied Steps meaningful names</a:t>
            </a:r>
            <a:endParaRPr lang="en-US" sz="1050" dirty="0"/>
          </a:p>
        </p:txBody>
      </p:sp>
      <p:sp>
        <p:nvSpPr>
          <p:cNvPr id="24" name="Shape 19"/>
          <p:cNvSpPr/>
          <p:nvPr/>
        </p:nvSpPr>
        <p:spPr>
          <a:xfrm>
            <a:off x="8942832" y="4572000"/>
            <a:ext cx="2596896" cy="1463040"/>
          </a:xfrm>
          <a:prstGeom prst="roundRect">
            <a:avLst>
              <a:gd name="adj" fmla="val 5000"/>
            </a:avLst>
          </a:prstGeom>
          <a:solidFill>
            <a:srgbClr val="F7FAF8"/>
          </a:solidFill>
          <a:ln w="12700">
            <a:solidFill>
              <a:srgbClr val="E1E8E3"/>
            </a:solidFill>
            <a:prstDash val="solid"/>
          </a:ln>
          <a:effectLst>
            <a:outerShdw blurRad="88900" dist="38100" dir="2700000" algn="bl" rotWithShape="0">
              <a:srgbClr val="1B5E3A">
                <a:alpha val="12000"/>
              </a:srgbClr>
            </a:outerShdw>
          </a:effectLst>
        </p:spPr>
      </p:sp>
      <p:pic>
        <p:nvPicPr>
          <p:cNvPr id="25" name="Image 3" descr="assets/icon_server_green.png"/>
          <p:cNvPicPr>
            <a:picLocks noChangeAspect="1"/>
          </p:cNvPicPr>
          <p:nvPr/>
        </p:nvPicPr>
        <p:blipFill>
          <a:blip r:embed="rId6"/>
          <a:stretch>
            <a:fillRect/>
          </a:stretch>
        </p:blipFill>
        <p:spPr>
          <a:xfrm>
            <a:off x="9144000" y="4754880"/>
            <a:ext cx="365760" cy="365760"/>
          </a:xfrm>
          <a:prstGeom prst="rect">
            <a:avLst/>
          </a:prstGeom>
        </p:spPr>
      </p:pic>
      <p:sp>
        <p:nvSpPr>
          <p:cNvPr id="26" name="Text 20"/>
          <p:cNvSpPr/>
          <p:nvPr/>
        </p:nvSpPr>
        <p:spPr>
          <a:xfrm>
            <a:off x="9144000" y="5193792"/>
            <a:ext cx="2231136" cy="292608"/>
          </a:xfrm>
          <a:prstGeom prst="rect">
            <a:avLst/>
          </a:prstGeom>
          <a:noFill/>
          <a:ln/>
        </p:spPr>
        <p:txBody>
          <a:bodyPr wrap="square" lIns="0" tIns="0" rIns="0" bIns="0" rtlCol="0" anchor="ctr"/>
          <a:lstStyle/>
          <a:p>
            <a:pPr marL="0" indent="0">
              <a:buNone/>
            </a:pPr>
            <a:r>
              <a:rPr lang="en-US" sz="1300" b="1" dirty="0">
                <a:solidFill>
                  <a:srgbClr val="1B5E3A"/>
                </a:solidFill>
                <a:latin typeface="Calibri" pitchFamily="34" charset="0"/>
                <a:ea typeface="Calibri" pitchFamily="34" charset="-122"/>
                <a:cs typeface="Calibri" pitchFamily="34" charset="-120"/>
              </a:rPr>
              <a:t>Native Connectors</a:t>
            </a:r>
            <a:endParaRPr lang="en-US" sz="1300" dirty="0"/>
          </a:p>
        </p:txBody>
      </p:sp>
      <p:sp>
        <p:nvSpPr>
          <p:cNvPr id="27" name="Text 21"/>
          <p:cNvSpPr/>
          <p:nvPr/>
        </p:nvSpPr>
        <p:spPr>
          <a:xfrm>
            <a:off x="9144000" y="5486400"/>
            <a:ext cx="2231136" cy="502920"/>
          </a:xfrm>
          <a:prstGeom prst="rect">
            <a:avLst/>
          </a:prstGeom>
          <a:noFill/>
          <a:ln/>
        </p:spPr>
        <p:txBody>
          <a:bodyPr wrap="square" lIns="0" tIns="0" rIns="0" bIns="0" rtlCol="0" anchor="ctr"/>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Prefer over ODBC for better folding</a:t>
            </a:r>
            <a:endParaRPr lang="en-US" sz="1050" dirty="0"/>
          </a:p>
        </p:txBody>
      </p:sp>
      <p:sp>
        <p:nvSpPr>
          <p:cNvPr id="28" name="Text 22"/>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a:p>
            <a:pPr marL="0" indent="0" algn="l">
              <a:buNone/>
            </a:pPr>
            <a:endParaRPr lang="en-US" sz="900" dirty="0"/>
          </a:p>
        </p:txBody>
      </p:sp>
      <p:sp>
        <p:nvSpPr>
          <p:cNvPr id="29" name="Text 23"/>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07 / 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E3338"/>
        </a:solidFill>
        <a:effectLst/>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2E8B57">
              <a:alpha val="15000"/>
            </a:srgbClr>
          </a:solidFill>
          <a:ln/>
        </p:spPr>
      </p:sp>
      <p:sp>
        <p:nvSpPr>
          <p:cNvPr id="3" name="Shape 1"/>
          <p:cNvSpPr/>
          <p:nvPr/>
        </p:nvSpPr>
        <p:spPr>
          <a:xfrm>
            <a:off x="9875520" y="-1645920"/>
            <a:ext cx="4572000" cy="4572000"/>
          </a:xfrm>
          <a:prstGeom prst="ellipse">
            <a:avLst/>
          </a:prstGeom>
          <a:solidFill>
            <a:srgbClr val="2E8B57">
              <a:alpha val="12000"/>
            </a:srgbClr>
          </a:solidFill>
          <a:ln/>
        </p:spPr>
      </p:sp>
      <p:sp>
        <p:nvSpPr>
          <p:cNvPr id="4" name="Text 2"/>
          <p:cNvSpPr/>
          <p:nvPr/>
        </p:nvSpPr>
        <p:spPr>
          <a:xfrm>
            <a:off x="548640" y="457200"/>
            <a:ext cx="5486400" cy="292608"/>
          </a:xfrm>
          <a:prstGeom prst="rect">
            <a:avLst/>
          </a:prstGeom>
          <a:noFill/>
          <a:ln/>
        </p:spPr>
        <p:txBody>
          <a:bodyPr wrap="square" lIns="0" tIns="0" rIns="0" bIns="0" rtlCol="0" anchor="ctr"/>
          <a:lstStyle/>
          <a:p>
            <a:pPr marL="0" indent="0">
              <a:buNone/>
            </a:pPr>
            <a:r>
              <a:rPr lang="en-US" sz="1200" b="1" kern="0" spc="200" dirty="0">
                <a:solidFill>
                  <a:srgbClr val="8FD6AE"/>
                </a:solidFill>
                <a:latin typeface="Calibri" pitchFamily="34" charset="0"/>
                <a:ea typeface="Calibri" pitchFamily="34" charset="-122"/>
                <a:cs typeface="Calibri" pitchFamily="34" charset="-120"/>
              </a:rPr>
              <a:t>08 · CONCLUSION</a:t>
            </a:r>
            <a:endParaRPr lang="en-US" sz="1200" dirty="0"/>
          </a:p>
        </p:txBody>
      </p:sp>
      <p:sp>
        <p:nvSpPr>
          <p:cNvPr id="5" name="Text 3"/>
          <p:cNvSpPr/>
          <p:nvPr/>
        </p:nvSpPr>
        <p:spPr>
          <a:xfrm>
            <a:off x="548640" y="749808"/>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Key Takeaways &amp; Business Applications</a:t>
            </a:r>
            <a:endParaRPr lang="en-US" sz="2800" dirty="0"/>
          </a:p>
        </p:txBody>
      </p:sp>
      <p:sp>
        <p:nvSpPr>
          <p:cNvPr id="6" name="Text 4"/>
          <p:cNvSpPr/>
          <p:nvPr/>
        </p:nvSpPr>
        <p:spPr>
          <a:xfrm>
            <a:off x="548640" y="1600200"/>
            <a:ext cx="5120640" cy="365760"/>
          </a:xfrm>
          <a:prstGeom prst="rect">
            <a:avLst/>
          </a:prstGeom>
          <a:noFill/>
          <a:ln/>
        </p:spPr>
        <p:txBody>
          <a:bodyPr wrap="square" lIns="0" tIns="0" rIns="0" bIns="0" rtlCol="0" anchor="ctr"/>
          <a:lstStyle/>
          <a:p>
            <a:pPr marL="0" indent="0">
              <a:buNone/>
            </a:pPr>
            <a:r>
              <a:rPr lang="en-US" sz="1600" b="1" dirty="0">
                <a:solidFill>
                  <a:srgbClr val="8FD6AE"/>
                </a:solidFill>
                <a:latin typeface="Cambria" pitchFamily="34" charset="0"/>
                <a:ea typeface="Cambria" pitchFamily="34" charset="-122"/>
                <a:cs typeface="Cambria" pitchFamily="34" charset="-120"/>
              </a:rPr>
              <a:t>Key Takeaways</a:t>
            </a:r>
            <a:endParaRPr lang="en-US" sz="1600" dirty="0"/>
          </a:p>
        </p:txBody>
      </p:sp>
      <p:sp>
        <p:nvSpPr>
          <p:cNvPr id="7" name="Text 5"/>
          <p:cNvSpPr/>
          <p:nvPr/>
        </p:nvSpPr>
        <p:spPr>
          <a:xfrm>
            <a:off x="594360" y="1973580"/>
            <a:ext cx="5029200" cy="18288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9F4ED"/>
                </a:solidFill>
                <a:latin typeface="Calibri" pitchFamily="34" charset="0"/>
                <a:ea typeface="Calibri" pitchFamily="34" charset="-122"/>
                <a:cs typeface="Calibri" pitchFamily="34" charset="-120"/>
              </a:rPr>
              <a:t>Connects, cleans &amp; reshapes data with no-code steps</a:t>
            </a:r>
            <a:endParaRPr lang="en-US" sz="1300" dirty="0"/>
          </a:p>
          <a:p>
            <a:pPr marL="342900" indent="-342900">
              <a:spcAft>
                <a:spcPts val="1000"/>
              </a:spcAft>
              <a:buSzPct val="100000"/>
              <a:buChar char="✓"/>
            </a:pPr>
            <a:r>
              <a:rPr lang="en-US" sz="1300" dirty="0">
                <a:solidFill>
                  <a:srgbClr val="E9F4ED"/>
                </a:solidFill>
                <a:latin typeface="Calibri" pitchFamily="34" charset="0"/>
                <a:ea typeface="Calibri" pitchFamily="34" charset="-122"/>
                <a:cs typeface="Calibri" pitchFamily="34" charset="-120"/>
              </a:rPr>
              <a:t>M language unlocks custom, dynamic transformations</a:t>
            </a:r>
            <a:endParaRPr lang="en-US" sz="1300" dirty="0"/>
          </a:p>
          <a:p>
            <a:pPr marL="342900" indent="-342900">
              <a:spcAft>
                <a:spcPts val="1000"/>
              </a:spcAft>
              <a:buSzPct val="100000"/>
              <a:buChar char="✓"/>
            </a:pPr>
            <a:r>
              <a:rPr lang="en-US" sz="1300" dirty="0">
                <a:solidFill>
                  <a:srgbClr val="E9F4ED"/>
                </a:solidFill>
                <a:latin typeface="Calibri" pitchFamily="34" charset="0"/>
                <a:ea typeface="Calibri" pitchFamily="34" charset="-122"/>
                <a:cs typeface="Calibri" pitchFamily="34" charset="-120"/>
              </a:rPr>
              <a:t>Merge &amp; Append combine data from multiple sources</a:t>
            </a:r>
            <a:endParaRPr lang="en-US" sz="1300" dirty="0"/>
          </a:p>
          <a:p>
            <a:pPr marL="342900" indent="-342900">
              <a:spcAft>
                <a:spcPts val="1000"/>
              </a:spcAft>
              <a:buSzPct val="100000"/>
              <a:buChar char="✓"/>
            </a:pPr>
            <a:r>
              <a:rPr lang="en-US" sz="1300" dirty="0">
                <a:solidFill>
                  <a:srgbClr val="E9F4ED"/>
                </a:solidFill>
                <a:latin typeface="Calibri" pitchFamily="34" charset="0"/>
                <a:ea typeface="Calibri" pitchFamily="34" charset="-122"/>
                <a:cs typeface="Calibri" pitchFamily="34" charset="-120"/>
              </a:rPr>
              <a:t>Query Folding keeps large datasets fast at the source</a:t>
            </a:r>
            <a:endParaRPr lang="en-US" sz="1300" dirty="0"/>
          </a:p>
        </p:txBody>
      </p:sp>
      <p:sp>
        <p:nvSpPr>
          <p:cNvPr id="8" name="Text 6"/>
          <p:cNvSpPr/>
          <p:nvPr/>
        </p:nvSpPr>
        <p:spPr>
          <a:xfrm>
            <a:off x="6126480" y="1600200"/>
            <a:ext cx="5120640" cy="365760"/>
          </a:xfrm>
          <a:prstGeom prst="rect">
            <a:avLst/>
          </a:prstGeom>
          <a:noFill/>
          <a:ln/>
        </p:spPr>
        <p:txBody>
          <a:bodyPr wrap="square" lIns="0" tIns="0" rIns="0" bIns="0" rtlCol="0" anchor="ctr"/>
          <a:lstStyle/>
          <a:p>
            <a:pPr marL="0" indent="0">
              <a:buNone/>
            </a:pPr>
            <a:r>
              <a:rPr lang="en-US" sz="1600" b="1" dirty="0">
                <a:solidFill>
                  <a:srgbClr val="8FD6AE"/>
                </a:solidFill>
                <a:latin typeface="Cambria" pitchFamily="34" charset="0"/>
                <a:ea typeface="Cambria" pitchFamily="34" charset="-122"/>
                <a:cs typeface="Cambria" pitchFamily="34" charset="-120"/>
              </a:rPr>
              <a:t>Real-World Applications</a:t>
            </a:r>
            <a:endParaRPr lang="en-US" sz="1600" dirty="0"/>
          </a:p>
        </p:txBody>
      </p:sp>
      <p:sp>
        <p:nvSpPr>
          <p:cNvPr id="9" name="Shape 7"/>
          <p:cNvSpPr/>
          <p:nvPr/>
        </p:nvSpPr>
        <p:spPr>
          <a:xfrm>
            <a:off x="6126480" y="2011680"/>
            <a:ext cx="2450592" cy="868680"/>
          </a:xfrm>
          <a:prstGeom prst="roundRect">
            <a:avLst>
              <a:gd name="adj" fmla="val 8421"/>
            </a:avLst>
          </a:prstGeom>
          <a:solidFill>
            <a:srgbClr val="FFFFFF">
              <a:alpha val="8000"/>
            </a:srgbClr>
          </a:solidFill>
          <a:ln w="9525">
            <a:solidFill>
              <a:srgbClr val="FFFFFF">
                <a:alpha val="35000"/>
              </a:srgbClr>
            </a:solidFill>
            <a:prstDash val="solid"/>
          </a:ln>
        </p:spPr>
      </p:sp>
      <p:pic>
        <p:nvPicPr>
          <p:cNvPr id="10" name="Image 0" descr="assets/icon_sales_white.png"/>
          <p:cNvPicPr>
            <a:picLocks noChangeAspect="1"/>
          </p:cNvPicPr>
          <p:nvPr/>
        </p:nvPicPr>
        <p:blipFill>
          <a:blip r:embed="rId3"/>
          <a:stretch>
            <a:fillRect/>
          </a:stretch>
        </p:blipFill>
        <p:spPr>
          <a:xfrm>
            <a:off x="6309360" y="2263140"/>
            <a:ext cx="365760" cy="365760"/>
          </a:xfrm>
          <a:prstGeom prst="rect">
            <a:avLst/>
          </a:prstGeom>
        </p:spPr>
      </p:pic>
      <p:sp>
        <p:nvSpPr>
          <p:cNvPr id="11" name="Text 8"/>
          <p:cNvSpPr/>
          <p:nvPr/>
        </p:nvSpPr>
        <p:spPr>
          <a:xfrm>
            <a:off x="6766560" y="2011680"/>
            <a:ext cx="1673352"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Sales Analysis</a:t>
            </a:r>
            <a:endParaRPr lang="en-US" sz="1250" dirty="0"/>
          </a:p>
        </p:txBody>
      </p:sp>
      <p:sp>
        <p:nvSpPr>
          <p:cNvPr id="12" name="Shape 9"/>
          <p:cNvSpPr/>
          <p:nvPr/>
        </p:nvSpPr>
        <p:spPr>
          <a:xfrm>
            <a:off x="8741664" y="2011680"/>
            <a:ext cx="2450592" cy="868680"/>
          </a:xfrm>
          <a:prstGeom prst="roundRect">
            <a:avLst>
              <a:gd name="adj" fmla="val 8421"/>
            </a:avLst>
          </a:prstGeom>
          <a:solidFill>
            <a:srgbClr val="FFFFFF">
              <a:alpha val="8000"/>
            </a:srgbClr>
          </a:solidFill>
          <a:ln w="9525">
            <a:solidFill>
              <a:srgbClr val="FFFFFF">
                <a:alpha val="35000"/>
              </a:srgbClr>
            </a:solidFill>
            <a:prstDash val="solid"/>
          </a:ln>
        </p:spPr>
      </p:sp>
      <p:pic>
        <p:nvPicPr>
          <p:cNvPr id="13" name="Image 1" descr="assets/icon_finance_white.png"/>
          <p:cNvPicPr>
            <a:picLocks noChangeAspect="1"/>
          </p:cNvPicPr>
          <p:nvPr/>
        </p:nvPicPr>
        <p:blipFill>
          <a:blip r:embed="rId4"/>
          <a:stretch>
            <a:fillRect/>
          </a:stretch>
        </p:blipFill>
        <p:spPr>
          <a:xfrm>
            <a:off x="8924544" y="2263140"/>
            <a:ext cx="365760" cy="365760"/>
          </a:xfrm>
          <a:prstGeom prst="rect">
            <a:avLst/>
          </a:prstGeom>
        </p:spPr>
      </p:pic>
      <p:sp>
        <p:nvSpPr>
          <p:cNvPr id="14" name="Text 10"/>
          <p:cNvSpPr/>
          <p:nvPr/>
        </p:nvSpPr>
        <p:spPr>
          <a:xfrm>
            <a:off x="9381744" y="2011680"/>
            <a:ext cx="1673352"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Financial Reporting</a:t>
            </a:r>
            <a:endParaRPr lang="en-US" sz="1250" dirty="0"/>
          </a:p>
        </p:txBody>
      </p:sp>
      <p:sp>
        <p:nvSpPr>
          <p:cNvPr id="15" name="Shape 11"/>
          <p:cNvSpPr/>
          <p:nvPr/>
        </p:nvSpPr>
        <p:spPr>
          <a:xfrm>
            <a:off x="6126480" y="3044952"/>
            <a:ext cx="2450592" cy="868680"/>
          </a:xfrm>
          <a:prstGeom prst="roundRect">
            <a:avLst>
              <a:gd name="adj" fmla="val 8421"/>
            </a:avLst>
          </a:prstGeom>
          <a:solidFill>
            <a:srgbClr val="FFFFFF">
              <a:alpha val="8000"/>
            </a:srgbClr>
          </a:solidFill>
          <a:ln w="9525">
            <a:solidFill>
              <a:srgbClr val="FFFFFF">
                <a:alpha val="35000"/>
              </a:srgbClr>
            </a:solidFill>
            <a:prstDash val="solid"/>
          </a:ln>
        </p:spPr>
      </p:sp>
      <p:pic>
        <p:nvPicPr>
          <p:cNvPr id="16" name="Image 2" descr="assets/icon_inventory_white.png"/>
          <p:cNvPicPr>
            <a:picLocks noChangeAspect="1"/>
          </p:cNvPicPr>
          <p:nvPr/>
        </p:nvPicPr>
        <p:blipFill>
          <a:blip r:embed="rId5"/>
          <a:stretch>
            <a:fillRect/>
          </a:stretch>
        </p:blipFill>
        <p:spPr>
          <a:xfrm>
            <a:off x="6309360" y="3296412"/>
            <a:ext cx="365760" cy="365760"/>
          </a:xfrm>
          <a:prstGeom prst="rect">
            <a:avLst/>
          </a:prstGeom>
        </p:spPr>
      </p:pic>
      <p:sp>
        <p:nvSpPr>
          <p:cNvPr id="17" name="Text 12"/>
          <p:cNvSpPr/>
          <p:nvPr/>
        </p:nvSpPr>
        <p:spPr>
          <a:xfrm>
            <a:off x="6766560" y="3044952"/>
            <a:ext cx="1673352"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Inventory Management</a:t>
            </a:r>
            <a:endParaRPr lang="en-US" sz="1250" dirty="0"/>
          </a:p>
        </p:txBody>
      </p:sp>
      <p:sp>
        <p:nvSpPr>
          <p:cNvPr id="18" name="Shape 13"/>
          <p:cNvSpPr/>
          <p:nvPr/>
        </p:nvSpPr>
        <p:spPr>
          <a:xfrm>
            <a:off x="8741664" y="3044952"/>
            <a:ext cx="2450592" cy="868680"/>
          </a:xfrm>
          <a:prstGeom prst="roundRect">
            <a:avLst>
              <a:gd name="adj" fmla="val 8421"/>
            </a:avLst>
          </a:prstGeom>
          <a:solidFill>
            <a:srgbClr val="FFFFFF">
              <a:alpha val="8000"/>
            </a:srgbClr>
          </a:solidFill>
          <a:ln w="9525">
            <a:solidFill>
              <a:srgbClr val="FFFFFF">
                <a:alpha val="35000"/>
              </a:srgbClr>
            </a:solidFill>
            <a:prstDash val="solid"/>
          </a:ln>
        </p:spPr>
      </p:sp>
      <p:pic>
        <p:nvPicPr>
          <p:cNvPr id="19" name="Image 3" descr="assets/icon_customers_white.png"/>
          <p:cNvPicPr>
            <a:picLocks noChangeAspect="1"/>
          </p:cNvPicPr>
          <p:nvPr/>
        </p:nvPicPr>
        <p:blipFill>
          <a:blip r:embed="rId6"/>
          <a:stretch>
            <a:fillRect/>
          </a:stretch>
        </p:blipFill>
        <p:spPr>
          <a:xfrm>
            <a:off x="8924544" y="3296412"/>
            <a:ext cx="365760" cy="365760"/>
          </a:xfrm>
          <a:prstGeom prst="rect">
            <a:avLst/>
          </a:prstGeom>
        </p:spPr>
      </p:pic>
      <p:sp>
        <p:nvSpPr>
          <p:cNvPr id="20" name="Text 14"/>
          <p:cNvSpPr/>
          <p:nvPr/>
        </p:nvSpPr>
        <p:spPr>
          <a:xfrm>
            <a:off x="9381744" y="3044952"/>
            <a:ext cx="1673352" cy="8686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Customer Analytics</a:t>
            </a:r>
            <a:endParaRPr lang="en-US" sz="1250" dirty="0"/>
          </a:p>
        </p:txBody>
      </p:sp>
      <p:sp>
        <p:nvSpPr>
          <p:cNvPr id="21" name="Shape 15"/>
          <p:cNvSpPr/>
          <p:nvPr/>
        </p:nvSpPr>
        <p:spPr>
          <a:xfrm>
            <a:off x="548640" y="4251960"/>
            <a:ext cx="11091672" cy="1783080"/>
          </a:xfrm>
          <a:prstGeom prst="roundRect">
            <a:avLst>
              <a:gd name="adj" fmla="val 5128"/>
            </a:avLst>
          </a:prstGeom>
          <a:solidFill>
            <a:srgbClr val="1B5E3A"/>
          </a:solidFill>
          <a:ln/>
          <a:effectLst>
            <a:outerShdw blurRad="88900" dist="38100" dir="2700000" algn="bl" rotWithShape="0">
              <a:srgbClr val="1B5E3A">
                <a:alpha val="12000"/>
              </a:srgbClr>
            </a:outerShdw>
          </a:effectLst>
        </p:spPr>
      </p:sp>
      <p:sp>
        <p:nvSpPr>
          <p:cNvPr id="22" name="Text 16"/>
          <p:cNvSpPr/>
          <p:nvPr/>
        </p:nvSpPr>
        <p:spPr>
          <a:xfrm>
            <a:off x="822960" y="4480560"/>
            <a:ext cx="6400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3" name="Text 17"/>
          <p:cNvSpPr/>
          <p:nvPr/>
        </p:nvSpPr>
        <p:spPr>
          <a:xfrm>
            <a:off x="822960" y="5074920"/>
            <a:ext cx="6400800" cy="365760"/>
          </a:xfrm>
          <a:prstGeom prst="rect">
            <a:avLst/>
          </a:prstGeom>
          <a:noFill/>
          <a:ln/>
        </p:spPr>
        <p:txBody>
          <a:bodyPr wrap="square" lIns="0" tIns="0" rIns="0" bIns="0" rtlCol="0" anchor="ctr"/>
          <a:lstStyle/>
          <a:p>
            <a:pPr marL="0" indent="0">
              <a:buNone/>
            </a:pPr>
            <a:endParaRPr lang="en-US" sz="1400" dirty="0"/>
          </a:p>
        </p:txBody>
      </p:sp>
      <p:sp>
        <p:nvSpPr>
          <p:cNvPr id="24" name="Shape 18"/>
          <p:cNvSpPr/>
          <p:nvPr/>
        </p:nvSpPr>
        <p:spPr>
          <a:xfrm>
            <a:off x="10241280" y="4681728"/>
            <a:ext cx="914400" cy="914400"/>
          </a:xfrm>
          <a:prstGeom prst="ellipse">
            <a:avLst/>
          </a:prstGeom>
          <a:solidFill>
            <a:srgbClr val="2E8B57"/>
          </a:solidFill>
          <a:ln/>
        </p:spPr>
      </p:sp>
      <p:pic>
        <p:nvPicPr>
          <p:cNvPr id="25" name="Image 4" descr="assets/icon_check_white.png"/>
          <p:cNvPicPr>
            <a:picLocks noChangeAspect="1"/>
          </p:cNvPicPr>
          <p:nvPr/>
        </p:nvPicPr>
        <p:blipFill>
          <a:blip r:embed="rId7"/>
          <a:stretch>
            <a:fillRect/>
          </a:stretch>
        </p:blipFill>
        <p:spPr>
          <a:xfrm>
            <a:off x="10396728" y="4837176"/>
            <a:ext cx="603504" cy="603504"/>
          </a:xfrm>
          <a:prstGeom prst="rect">
            <a:avLst/>
          </a:prstGeom>
        </p:spPr>
      </p:pic>
      <p:sp>
        <p:nvSpPr>
          <p:cNvPr id="26" name="Text 19"/>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900" dirty="0"/>
          </a:p>
        </p:txBody>
      </p:sp>
      <p:sp>
        <p:nvSpPr>
          <p:cNvPr id="27" name="Text 20"/>
          <p:cNvSpPr/>
          <p:nvPr/>
        </p:nvSpPr>
        <p:spPr>
          <a:xfrm>
            <a:off x="10820095" y="6473952"/>
            <a:ext cx="914400" cy="274320"/>
          </a:xfrm>
          <a:prstGeom prst="rect">
            <a:avLst/>
          </a:prstGeom>
          <a:noFill/>
          <a:ln/>
        </p:spPr>
        <p:txBody>
          <a:bodyPr wrap="square" lIns="0" tIns="0" rIns="0" bIns="0" rtlCol="0" anchor="ctr"/>
          <a:lstStyle/>
          <a:p>
            <a:pPr marL="0" indent="0" algn="r">
              <a:buNone/>
            </a:pPr>
            <a:r>
              <a:rPr lang="en-US" sz="900" dirty="0">
                <a:solidFill>
                  <a:srgbClr val="AFC9BA"/>
                </a:solidFill>
                <a:latin typeface="Calibri" pitchFamily="34" charset="0"/>
                <a:ea typeface="Calibri" pitchFamily="34" charset="-122"/>
                <a:cs typeface="Calibri" pitchFamily="34" charset="-120"/>
              </a:rPr>
              <a:t>08 / 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1760</Words>
  <Application>Microsoft Office PowerPoint</Application>
  <PresentationFormat>Widescreen</PresentationFormat>
  <Paragraphs>187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Query - The Complete Practical Guide</dc:title>
  <dc:subject>PptxGenJS Presentation</dc:subject>
  <dc:creator>Power Query Guide</dc:creator>
  <cp:lastModifiedBy>visxnugosali123@gmail.com</cp:lastModifiedBy>
  <cp:revision>2</cp:revision>
  <dcterms:created xsi:type="dcterms:W3CDTF">2026-06-20T08:28:39Z</dcterms:created>
  <dcterms:modified xsi:type="dcterms:W3CDTF">2026-06-20T09:28:58Z</dcterms:modified>
</cp:coreProperties>
</file>