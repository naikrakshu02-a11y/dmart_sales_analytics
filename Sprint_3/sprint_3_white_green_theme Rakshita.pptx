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8C911-1401-4376-ACDD-749B038867AE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64221-8547-4C44-BC8B-F148100634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9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64221-8547-4C44-BC8B-F1481006341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7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0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61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21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10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72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7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13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97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7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2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330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154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44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119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24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908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75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385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95580" cy="5156200"/>
            <a:chOff x="-6350" y="-6350"/>
            <a:chExt cx="19558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8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80" y="51435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0" y="5143500"/>
                  </a:moveTo>
                  <a:lnTo>
                    <a:pt x="182880" y="5143500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851650" y="-6350"/>
            <a:ext cx="2298700" cy="5156200"/>
            <a:chOff x="6851650" y="-6350"/>
            <a:chExt cx="2298700" cy="5156200"/>
          </a:xfrm>
        </p:grpSpPr>
        <p:sp>
          <p:nvSpPr>
            <p:cNvPr id="6" name="object 6"/>
            <p:cNvSpPr/>
            <p:nvPr/>
          </p:nvSpPr>
          <p:spPr>
            <a:xfrm>
              <a:off x="6858000" y="0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2286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286000" y="51435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0"/>
              <a:ext cx="2286000" cy="5143500"/>
            </a:xfrm>
            <a:custGeom>
              <a:avLst/>
              <a:gdLst/>
              <a:ahLst/>
              <a:cxnLst/>
              <a:rect l="l" t="t" r="r" b="b"/>
              <a:pathLst>
                <a:path w="2286000" h="5143500">
                  <a:moveTo>
                    <a:pt x="0" y="5143500"/>
                  </a:moveTo>
                  <a:lnTo>
                    <a:pt x="2286000" y="514350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F1F8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0" y="0"/>
              <a:ext cx="36830" cy="5143500"/>
            </a:xfrm>
            <a:custGeom>
              <a:avLst/>
              <a:gdLst/>
              <a:ahLst/>
              <a:cxnLst/>
              <a:rect l="l" t="t" r="r" b="b"/>
              <a:pathLst>
                <a:path w="36829" h="5143500">
                  <a:moveTo>
                    <a:pt x="3657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6575" y="5143500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E3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0" y="0"/>
              <a:ext cx="36830" cy="5143500"/>
            </a:xfrm>
            <a:custGeom>
              <a:avLst/>
              <a:gdLst/>
              <a:ahLst/>
              <a:cxnLst/>
              <a:rect l="l" t="t" r="r" b="b"/>
              <a:pathLst>
                <a:path w="36829" h="5143500">
                  <a:moveTo>
                    <a:pt x="0" y="5143500"/>
                  </a:moveTo>
                  <a:lnTo>
                    <a:pt x="36575" y="5143500"/>
                  </a:lnTo>
                  <a:lnTo>
                    <a:pt x="36575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699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32320" y="457200"/>
              <a:ext cx="1737360" cy="685800"/>
            </a:xfrm>
            <a:custGeom>
              <a:avLst/>
              <a:gdLst/>
              <a:ahLst/>
              <a:cxnLst/>
              <a:rect l="l" t="t" r="r" b="b"/>
              <a:pathLst>
                <a:path w="1737359" h="685800">
                  <a:moveTo>
                    <a:pt x="173736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737360" y="685800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2988" y="467868"/>
              <a:ext cx="21335" cy="2438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" y="3682"/>
            <a:ext cx="210677" cy="1460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133081" y="457962"/>
            <a:ext cx="1736089" cy="684530"/>
          </a:xfrm>
          <a:custGeom>
            <a:avLst/>
            <a:gdLst/>
            <a:ahLst/>
            <a:cxnLst/>
            <a:rect l="l" t="t" r="r" b="b"/>
            <a:pathLst>
              <a:path w="1736090" h="684530">
                <a:moveTo>
                  <a:pt x="0" y="0"/>
                </a:moveTo>
                <a:lnTo>
                  <a:pt x="1735836" y="0"/>
                </a:lnTo>
              </a:path>
              <a:path w="1736090" h="684530">
                <a:moveTo>
                  <a:pt x="0" y="0"/>
                </a:moveTo>
                <a:lnTo>
                  <a:pt x="0" y="684276"/>
                </a:lnTo>
              </a:path>
              <a:path w="1736090" h="684530">
                <a:moveTo>
                  <a:pt x="0" y="684276"/>
                </a:moveTo>
                <a:lnTo>
                  <a:pt x="1735836" y="684276"/>
                </a:lnTo>
              </a:path>
              <a:path w="1736090" h="684530">
                <a:moveTo>
                  <a:pt x="1735836" y="684276"/>
                </a:moveTo>
                <a:lnTo>
                  <a:pt x="17358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44500" y="593131"/>
            <a:ext cx="456501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25"/>
              </a:lnSpc>
              <a:spcBef>
                <a:spcPts val="95"/>
              </a:spcBef>
            </a:pPr>
            <a:r>
              <a:rPr sz="3400" spc="215" dirty="0">
                <a:solidFill>
                  <a:srgbClr val="00B050"/>
                </a:solidFill>
              </a:rPr>
              <a:t>SALES</a:t>
            </a:r>
            <a:r>
              <a:rPr lang="en-US" sz="3400" spc="605" dirty="0">
                <a:solidFill>
                  <a:srgbClr val="00B050"/>
                </a:solidFill>
              </a:rPr>
              <a:t> </a:t>
            </a:r>
            <a:r>
              <a:rPr sz="3400" spc="240" dirty="0">
                <a:solidFill>
                  <a:srgbClr val="00B050"/>
                </a:solidFill>
              </a:rPr>
              <a:t>PERFORMANCE</a:t>
            </a:r>
            <a:endParaRPr sz="3400" dirty="0">
              <a:solidFill>
                <a:srgbClr val="00B050"/>
              </a:solidFill>
            </a:endParaRPr>
          </a:p>
          <a:p>
            <a:pPr marL="12700">
              <a:lnSpc>
                <a:spcPts val="6565"/>
              </a:lnSpc>
            </a:pPr>
            <a:r>
              <a:rPr sz="5600" spc="145" dirty="0"/>
              <a:t>REPORT</a:t>
            </a:r>
            <a:endParaRPr sz="5600" dirty="0"/>
          </a:p>
        </p:txBody>
      </p:sp>
      <p:sp>
        <p:nvSpPr>
          <p:cNvPr id="15" name="object 15"/>
          <p:cNvSpPr txBox="1"/>
          <p:nvPr/>
        </p:nvSpPr>
        <p:spPr>
          <a:xfrm>
            <a:off x="444500" y="2366594"/>
            <a:ext cx="34715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Six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Cities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·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Five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Categories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·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FY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Sales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Period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" y="2788920"/>
            <a:ext cx="6217920" cy="0"/>
          </a:xfrm>
          <a:custGeom>
            <a:avLst/>
            <a:gdLst/>
            <a:ahLst/>
            <a:cxnLst/>
            <a:rect l="l" t="t" r="r" b="b"/>
            <a:pathLst>
              <a:path w="6217920">
                <a:moveTo>
                  <a:pt x="0" y="0"/>
                </a:moveTo>
                <a:lnTo>
                  <a:pt x="6217920" y="0"/>
                </a:lnTo>
              </a:path>
            </a:pathLst>
          </a:custGeom>
          <a:ln w="12700">
            <a:solidFill>
              <a:srgbClr val="E3F2E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7200" y="2926079"/>
            <a:ext cx="1463040" cy="610424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Calibri"/>
                <a:cs typeface="Calibri"/>
              </a:rPr>
              <a:t>15,345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latin typeface="Calibri"/>
                <a:cs typeface="Calibri"/>
              </a:rPr>
              <a:t>Total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Units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7400" y="2926079"/>
            <a:ext cx="1463040" cy="610424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844"/>
              </a:spcBef>
            </a:pPr>
            <a:r>
              <a:rPr sz="900" spc="-10" dirty="0">
                <a:latin typeface="Calibri"/>
                <a:cs typeface="Calibri"/>
              </a:rPr>
              <a:t>Cities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7600" y="2926079"/>
            <a:ext cx="1463040" cy="610424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latin typeface="Calibri"/>
                <a:cs typeface="Calibri"/>
              </a:rPr>
              <a:t>5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spc="-10" dirty="0">
                <a:latin typeface="Calibri"/>
                <a:cs typeface="Calibri"/>
              </a:rPr>
              <a:t>Categories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2052" y="2926079"/>
            <a:ext cx="1463040" cy="610424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000" b="1" spc="-20" dirty="0">
                <a:latin typeface="Calibri"/>
                <a:cs typeface="Calibri"/>
              </a:rPr>
              <a:t>~20%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latin typeface="Calibri"/>
                <a:cs typeface="Calibri"/>
              </a:rPr>
              <a:t>Avg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Share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83348" y="1504315"/>
            <a:ext cx="768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F6353"/>
                </a:solidFill>
                <a:latin typeface="Calibri"/>
                <a:cs typeface="Calibri"/>
              </a:rPr>
              <a:t>Report</a:t>
            </a:r>
            <a:r>
              <a:rPr sz="1000" b="1" spc="-4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F6353"/>
                </a:solidFill>
                <a:latin typeface="Calibri"/>
                <a:cs typeface="Calibri"/>
              </a:rPr>
              <a:t>Covers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6242" y="1822450"/>
            <a:ext cx="122427" cy="12242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94042" y="1815211"/>
            <a:ext cx="82359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6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Indian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Cities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2325370"/>
            <a:ext cx="122427" cy="12242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194042" y="2318131"/>
            <a:ext cx="1209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5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Product</a:t>
            </a:r>
            <a:r>
              <a:rPr sz="11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Categories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2828289"/>
            <a:ext cx="122427" cy="12242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194042" y="2821305"/>
            <a:ext cx="9531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30 Data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Records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242" y="3331209"/>
            <a:ext cx="122427" cy="12242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194042" y="3324225"/>
            <a:ext cx="920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$2.9M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Revenue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6242" y="3834129"/>
            <a:ext cx="122427" cy="12242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194042" y="3827475"/>
            <a:ext cx="1047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FY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Period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Analysis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782E04B1-9E80-F6F2-880E-4B48A3DBB9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9971" y="661411"/>
            <a:ext cx="1479529" cy="3410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49850"/>
            <a:chOff x="-6350" y="-6350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960119"/>
              <a:ext cx="9144000" cy="4183379"/>
            </a:xfrm>
            <a:custGeom>
              <a:avLst/>
              <a:gdLst/>
              <a:ahLst/>
              <a:cxnLst/>
              <a:rect l="l" t="t" r="r" b="b"/>
              <a:pathLst>
                <a:path w="9144000" h="4183379">
                  <a:moveTo>
                    <a:pt x="0" y="4183379"/>
                  </a:moveTo>
                  <a:lnTo>
                    <a:pt x="9144000" y="41833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8337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9144000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9144000" y="9601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0" y="960120"/>
                  </a:moveTo>
                  <a:lnTo>
                    <a:pt x="9144000" y="9601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60120"/>
                  </a:lnTo>
                  <a:close/>
                </a:path>
              </a:pathLst>
            </a:custGeom>
            <a:ln w="12700">
              <a:solidFill>
                <a:srgbClr val="1B5E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31" y="182879"/>
              <a:ext cx="548640" cy="54863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66802" y="51846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ABOUT</a:t>
            </a:r>
            <a:r>
              <a:rPr spc="15" dirty="0"/>
              <a:t> </a:t>
            </a:r>
            <a:r>
              <a:rPr spc="-20" dirty="0"/>
              <a:t>D-MART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530" y="3682"/>
            <a:ext cx="9323070" cy="2243455"/>
            <a:chOff x="2530" y="3682"/>
            <a:chExt cx="9323070" cy="224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0" y="3682"/>
              <a:ext cx="210677" cy="146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18682" y="1692465"/>
              <a:ext cx="2559050" cy="0"/>
            </a:xfrm>
            <a:custGeom>
              <a:avLst/>
              <a:gdLst/>
              <a:ahLst/>
              <a:cxnLst/>
              <a:rect l="l" t="t" r="r" b="b"/>
              <a:pathLst>
                <a:path w="2559050">
                  <a:moveTo>
                    <a:pt x="0" y="0"/>
                  </a:moveTo>
                  <a:lnTo>
                    <a:pt x="2558795" y="0"/>
                  </a:lnTo>
                </a:path>
              </a:pathLst>
            </a:custGeom>
            <a:ln w="10956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911" y="1142999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5" h="1097280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760" y="1142999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60" h="1097280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699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760" y="1142999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80">
                  <a:moveTo>
                    <a:pt x="73152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2" y="109728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60" y="1142999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80">
                  <a:moveTo>
                    <a:pt x="0" y="1097280"/>
                  </a:moveTo>
                  <a:lnTo>
                    <a:pt x="73152" y="1097280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388E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5759" y="1253998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388E3C"/>
                </a:solidFill>
                <a:latin typeface="Calibri"/>
                <a:cs typeface="Calibri"/>
              </a:rPr>
              <a:t>Founded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3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2002,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by</a:t>
            </a:r>
            <a:r>
              <a:rPr sz="12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Radhakishan</a:t>
            </a:r>
            <a:r>
              <a:rPr sz="12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Damani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48529" y="1136650"/>
            <a:ext cx="4036060" cy="1109980"/>
            <a:chOff x="4748529" y="1136650"/>
            <a:chExt cx="4036060" cy="1109980"/>
          </a:xfrm>
        </p:grpSpPr>
        <p:sp>
          <p:nvSpPr>
            <p:cNvPr id="17" name="object 17"/>
            <p:cNvSpPr/>
            <p:nvPr/>
          </p:nvSpPr>
          <p:spPr>
            <a:xfrm>
              <a:off x="4828031" y="11430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4" h="1097280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54879" y="11430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59" h="1097280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54879" y="11430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80">
                  <a:moveTo>
                    <a:pt x="73151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1" y="10972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4879" y="11430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80">
                  <a:moveTo>
                    <a:pt x="0" y="1097280"/>
                  </a:moveTo>
                  <a:lnTo>
                    <a:pt x="73151" y="109728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925695" y="1253998"/>
            <a:ext cx="4508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66BB6A"/>
                </a:solidFill>
                <a:latin typeface="Calibri"/>
                <a:cs typeface="Calibri"/>
              </a:rPr>
              <a:t>Stores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5695" y="1716151"/>
            <a:ext cx="1304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370+</a:t>
            </a:r>
            <a:r>
              <a:rPr sz="1200" spc="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hypermarket</a:t>
            </a:r>
            <a:r>
              <a:rPr sz="12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B5E20"/>
                </a:solidFill>
                <a:latin typeface="Calibri"/>
                <a:cs typeface="Calibri"/>
              </a:rPr>
              <a:t>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18682" y="1149350"/>
            <a:ext cx="2553335" cy="10845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ores</a:t>
            </a:r>
            <a:r>
              <a:rPr sz="12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across</a:t>
            </a:r>
            <a:r>
              <a:rPr sz="12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India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9409" y="2508250"/>
            <a:ext cx="4036060" cy="1109980"/>
            <a:chOff x="359409" y="2508250"/>
            <a:chExt cx="4036060" cy="1109980"/>
          </a:xfrm>
        </p:grpSpPr>
        <p:sp>
          <p:nvSpPr>
            <p:cNvPr id="25" name="object 25"/>
            <p:cNvSpPr/>
            <p:nvPr/>
          </p:nvSpPr>
          <p:spPr>
            <a:xfrm>
              <a:off x="438911" y="25146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5" h="1097279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25146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60" h="1097279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699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575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79">
                  <a:moveTo>
                    <a:pt x="73152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2" y="109728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5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59" h="1097279">
                  <a:moveTo>
                    <a:pt x="0" y="1097280"/>
                  </a:moveTo>
                  <a:lnTo>
                    <a:pt x="73152" y="1097280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0089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5759" y="2626232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0897B"/>
                </a:solidFill>
                <a:latin typeface="Calibri"/>
                <a:cs typeface="Calibri"/>
              </a:rPr>
              <a:t>Sectors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Grocery,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Personal</a:t>
            </a:r>
            <a:r>
              <a:rPr sz="12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Care,</a:t>
            </a:r>
            <a:r>
              <a:rPr sz="12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Home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Care,</a:t>
            </a:r>
            <a:r>
              <a:rPr sz="12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Electronics,</a:t>
            </a:r>
            <a:r>
              <a:rPr sz="12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Clothing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48529" y="2508250"/>
            <a:ext cx="4036060" cy="1109980"/>
            <a:chOff x="4748529" y="2508250"/>
            <a:chExt cx="4036060" cy="1109980"/>
          </a:xfrm>
        </p:grpSpPr>
        <p:sp>
          <p:nvSpPr>
            <p:cNvPr id="31" name="object 31"/>
            <p:cNvSpPr/>
            <p:nvPr/>
          </p:nvSpPr>
          <p:spPr>
            <a:xfrm>
              <a:off x="4828031" y="2514600"/>
              <a:ext cx="3950335" cy="1097280"/>
            </a:xfrm>
            <a:custGeom>
              <a:avLst/>
              <a:gdLst/>
              <a:ahLst/>
              <a:cxnLst/>
              <a:rect l="l" t="t" r="r" b="b"/>
              <a:pathLst>
                <a:path w="3950334" h="1097279">
                  <a:moveTo>
                    <a:pt x="0" y="1097280"/>
                  </a:moveTo>
                  <a:lnTo>
                    <a:pt x="3950208" y="1097280"/>
                  </a:lnTo>
                  <a:lnTo>
                    <a:pt x="3950208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54879" y="2514600"/>
              <a:ext cx="4023360" cy="1097280"/>
            </a:xfrm>
            <a:custGeom>
              <a:avLst/>
              <a:gdLst/>
              <a:ahLst/>
              <a:cxnLst/>
              <a:rect l="l" t="t" r="r" b="b"/>
              <a:pathLst>
                <a:path w="4023359" h="1097279">
                  <a:moveTo>
                    <a:pt x="0" y="1097280"/>
                  </a:moveTo>
                  <a:lnTo>
                    <a:pt x="4023360" y="109728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487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79">
                  <a:moveTo>
                    <a:pt x="73151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73151" y="10972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54879" y="2514600"/>
              <a:ext cx="73660" cy="1097280"/>
            </a:xfrm>
            <a:custGeom>
              <a:avLst/>
              <a:gdLst/>
              <a:ahLst/>
              <a:cxnLst/>
              <a:rect l="l" t="t" r="r" b="b"/>
              <a:pathLst>
                <a:path w="73660" h="1097279">
                  <a:moveTo>
                    <a:pt x="0" y="1097280"/>
                  </a:moveTo>
                  <a:lnTo>
                    <a:pt x="73151" y="109728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80"/>
                  </a:lnTo>
                  <a:close/>
                </a:path>
              </a:pathLst>
            </a:custGeom>
            <a:ln w="12700">
              <a:solidFill>
                <a:srgbClr val="2E7D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54879" y="2626232"/>
            <a:ext cx="4017010" cy="67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E7D32"/>
                </a:solidFill>
                <a:latin typeface="Calibri"/>
                <a:cs typeface="Calibri"/>
              </a:rPr>
              <a:t>Focus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00">
              <a:latin typeface="Calibri"/>
              <a:cs typeface="Calibri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1B5E20"/>
                </a:solidFill>
                <a:latin typeface="Calibri"/>
                <a:cs typeface="Calibri"/>
              </a:rPr>
              <a:t>Everyday</a:t>
            </a:r>
            <a:r>
              <a:rPr sz="1200" spc="-5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Low</a:t>
            </a:r>
            <a:r>
              <a:rPr sz="12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Prices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(EDLP)</a:t>
            </a:r>
            <a:r>
              <a:rPr sz="12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5E20"/>
                </a:solidFill>
                <a:latin typeface="Calibri"/>
                <a:cs typeface="Calibri"/>
              </a:rPr>
              <a:t>retail</a:t>
            </a:r>
            <a:r>
              <a:rPr sz="12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B5E20"/>
                </a:solidFill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799" y="627841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4671" y="522870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CATEGORY</a:t>
            </a:r>
            <a:r>
              <a:rPr spc="-65" dirty="0"/>
              <a:t> </a:t>
            </a:r>
            <a:r>
              <a:rPr dirty="0"/>
              <a:t>MARKET</a:t>
            </a:r>
            <a:r>
              <a:rPr spc="-80" dirty="0"/>
              <a:t> </a:t>
            </a:r>
            <a:r>
              <a:rPr spc="-10" dirty="0"/>
              <a:t>SHARE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9821" y="1689648"/>
            <a:ext cx="4663440" cy="2904490"/>
            <a:chOff x="872553" y="1193927"/>
            <a:chExt cx="4663440" cy="2904490"/>
          </a:xfrm>
        </p:grpSpPr>
        <p:sp>
          <p:nvSpPr>
            <p:cNvPr id="5" name="object 5"/>
            <p:cNvSpPr/>
            <p:nvPr/>
          </p:nvSpPr>
          <p:spPr>
            <a:xfrm>
              <a:off x="918552" y="1200277"/>
              <a:ext cx="4611370" cy="2376805"/>
            </a:xfrm>
            <a:custGeom>
              <a:avLst/>
              <a:gdLst/>
              <a:ahLst/>
              <a:cxnLst/>
              <a:rect l="l" t="t" r="r" b="b"/>
              <a:pathLst>
                <a:path w="4611370" h="2376804">
                  <a:moveTo>
                    <a:pt x="2489949" y="2376551"/>
                  </a:moveTo>
                  <a:lnTo>
                    <a:pt x="3043339" y="2376551"/>
                  </a:lnTo>
                </a:path>
                <a:path w="4611370" h="2376804">
                  <a:moveTo>
                    <a:pt x="3412223" y="2376551"/>
                  </a:moveTo>
                  <a:lnTo>
                    <a:pt x="3965486" y="2376551"/>
                  </a:lnTo>
                </a:path>
                <a:path w="4611370" h="2376804">
                  <a:moveTo>
                    <a:pt x="645541" y="2376551"/>
                  </a:moveTo>
                  <a:lnTo>
                    <a:pt x="1198918" y="2376551"/>
                  </a:lnTo>
                </a:path>
                <a:path w="4611370" h="2376804">
                  <a:moveTo>
                    <a:pt x="0" y="2376551"/>
                  </a:moveTo>
                  <a:lnTo>
                    <a:pt x="276656" y="2376551"/>
                  </a:lnTo>
                </a:path>
                <a:path w="4611370" h="2376804">
                  <a:moveTo>
                    <a:pt x="4334370" y="2376551"/>
                  </a:moveTo>
                  <a:lnTo>
                    <a:pt x="4611027" y="2376551"/>
                  </a:lnTo>
                </a:path>
                <a:path w="4611370" h="2376804">
                  <a:moveTo>
                    <a:pt x="1567802" y="2376551"/>
                  </a:moveTo>
                  <a:lnTo>
                    <a:pt x="2121065" y="2376551"/>
                  </a:lnTo>
                </a:path>
                <a:path w="4611370" h="2376804">
                  <a:moveTo>
                    <a:pt x="4334370" y="1901063"/>
                  </a:moveTo>
                  <a:lnTo>
                    <a:pt x="4611027" y="1901063"/>
                  </a:lnTo>
                </a:path>
                <a:path w="4611370" h="2376804">
                  <a:moveTo>
                    <a:pt x="3412223" y="1901063"/>
                  </a:moveTo>
                  <a:lnTo>
                    <a:pt x="3965486" y="1901063"/>
                  </a:lnTo>
                </a:path>
                <a:path w="4611370" h="2376804">
                  <a:moveTo>
                    <a:pt x="1567802" y="1901063"/>
                  </a:moveTo>
                  <a:lnTo>
                    <a:pt x="2121065" y="1901063"/>
                  </a:lnTo>
                </a:path>
                <a:path w="4611370" h="2376804">
                  <a:moveTo>
                    <a:pt x="645541" y="1901063"/>
                  </a:moveTo>
                  <a:lnTo>
                    <a:pt x="1198918" y="1901063"/>
                  </a:lnTo>
                </a:path>
                <a:path w="4611370" h="2376804">
                  <a:moveTo>
                    <a:pt x="0" y="1901063"/>
                  </a:moveTo>
                  <a:lnTo>
                    <a:pt x="276656" y="1901063"/>
                  </a:lnTo>
                </a:path>
                <a:path w="4611370" h="2376804">
                  <a:moveTo>
                    <a:pt x="2489949" y="1901063"/>
                  </a:moveTo>
                  <a:lnTo>
                    <a:pt x="3043339" y="1901063"/>
                  </a:lnTo>
                </a:path>
                <a:path w="4611370" h="2376804">
                  <a:moveTo>
                    <a:pt x="0" y="1425575"/>
                  </a:moveTo>
                  <a:lnTo>
                    <a:pt x="276656" y="1425575"/>
                  </a:lnTo>
                </a:path>
                <a:path w="4611370" h="2376804">
                  <a:moveTo>
                    <a:pt x="1567802" y="1425575"/>
                  </a:moveTo>
                  <a:lnTo>
                    <a:pt x="2121065" y="1425575"/>
                  </a:lnTo>
                </a:path>
                <a:path w="4611370" h="2376804">
                  <a:moveTo>
                    <a:pt x="645541" y="1425575"/>
                  </a:moveTo>
                  <a:lnTo>
                    <a:pt x="1198918" y="1425575"/>
                  </a:lnTo>
                </a:path>
                <a:path w="4611370" h="2376804">
                  <a:moveTo>
                    <a:pt x="2489949" y="1425575"/>
                  </a:moveTo>
                  <a:lnTo>
                    <a:pt x="4611027" y="1425575"/>
                  </a:lnTo>
                </a:path>
                <a:path w="4611370" h="2376804">
                  <a:moveTo>
                    <a:pt x="0" y="950087"/>
                  </a:moveTo>
                  <a:lnTo>
                    <a:pt x="276656" y="950087"/>
                  </a:lnTo>
                </a:path>
                <a:path w="4611370" h="2376804">
                  <a:moveTo>
                    <a:pt x="645541" y="950087"/>
                  </a:moveTo>
                  <a:lnTo>
                    <a:pt x="1198918" y="950087"/>
                  </a:lnTo>
                </a:path>
                <a:path w="4611370" h="2376804">
                  <a:moveTo>
                    <a:pt x="1567802" y="950087"/>
                  </a:moveTo>
                  <a:lnTo>
                    <a:pt x="4611027" y="950087"/>
                  </a:lnTo>
                </a:path>
                <a:path w="4611370" h="2376804">
                  <a:moveTo>
                    <a:pt x="0" y="474599"/>
                  </a:moveTo>
                  <a:lnTo>
                    <a:pt x="4611027" y="474599"/>
                  </a:lnTo>
                </a:path>
                <a:path w="4611370" h="2376804">
                  <a:moveTo>
                    <a:pt x="0" y="0"/>
                  </a:moveTo>
                  <a:lnTo>
                    <a:pt x="4611027" y="0"/>
                  </a:lnTo>
                </a:path>
              </a:pathLst>
            </a:custGeom>
            <a:ln w="635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195209" y="2008136"/>
              <a:ext cx="368935" cy="2044064"/>
            </a:xfrm>
            <a:custGeom>
              <a:avLst/>
              <a:gdLst/>
              <a:ahLst/>
              <a:cxnLst/>
              <a:rect l="l" t="t" r="r" b="b"/>
              <a:pathLst>
                <a:path w="368934" h="2044064">
                  <a:moveTo>
                    <a:pt x="368884" y="0"/>
                  </a:moveTo>
                  <a:lnTo>
                    <a:pt x="0" y="0"/>
                  </a:lnTo>
                  <a:lnTo>
                    <a:pt x="0" y="2043683"/>
                  </a:lnTo>
                  <a:lnTo>
                    <a:pt x="368884" y="204368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17471" y="2008136"/>
              <a:ext cx="368935" cy="2044064"/>
            </a:xfrm>
            <a:custGeom>
              <a:avLst/>
              <a:gdLst/>
              <a:ahLst/>
              <a:cxnLst/>
              <a:rect l="l" t="t" r="r" b="b"/>
              <a:pathLst>
                <a:path w="368935" h="2044064">
                  <a:moveTo>
                    <a:pt x="368884" y="0"/>
                  </a:moveTo>
                  <a:lnTo>
                    <a:pt x="0" y="0"/>
                  </a:lnTo>
                  <a:lnTo>
                    <a:pt x="0" y="2043683"/>
                  </a:lnTo>
                  <a:lnTo>
                    <a:pt x="368884" y="204368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3039617" y="2264803"/>
              <a:ext cx="368935" cy="1787525"/>
            </a:xfrm>
            <a:custGeom>
              <a:avLst/>
              <a:gdLst/>
              <a:ahLst/>
              <a:cxnLst/>
              <a:rect l="l" t="t" r="r" b="b"/>
              <a:pathLst>
                <a:path w="368935" h="1787525">
                  <a:moveTo>
                    <a:pt x="368884" y="0"/>
                  </a:moveTo>
                  <a:lnTo>
                    <a:pt x="0" y="0"/>
                  </a:lnTo>
                  <a:lnTo>
                    <a:pt x="0" y="1787017"/>
                  </a:lnTo>
                  <a:lnTo>
                    <a:pt x="368884" y="1787017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1892" y="2863646"/>
              <a:ext cx="368935" cy="1188720"/>
            </a:xfrm>
            <a:custGeom>
              <a:avLst/>
              <a:gdLst/>
              <a:ahLst/>
              <a:cxnLst/>
              <a:rect l="l" t="t" r="r" b="b"/>
              <a:pathLst>
                <a:path w="368935" h="1188720">
                  <a:moveTo>
                    <a:pt x="368884" y="0"/>
                  </a:moveTo>
                  <a:lnTo>
                    <a:pt x="0" y="0"/>
                  </a:lnTo>
                  <a:lnTo>
                    <a:pt x="0" y="1188173"/>
                  </a:lnTo>
                  <a:lnTo>
                    <a:pt x="368884" y="118817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4038" y="3082277"/>
              <a:ext cx="368935" cy="969644"/>
            </a:xfrm>
            <a:custGeom>
              <a:avLst/>
              <a:gdLst/>
              <a:ahLst/>
              <a:cxnLst/>
              <a:rect l="l" t="t" r="r" b="b"/>
              <a:pathLst>
                <a:path w="368935" h="969645">
                  <a:moveTo>
                    <a:pt x="368884" y="0"/>
                  </a:moveTo>
                  <a:lnTo>
                    <a:pt x="0" y="0"/>
                  </a:lnTo>
                  <a:lnTo>
                    <a:pt x="0" y="969543"/>
                  </a:lnTo>
                  <a:lnTo>
                    <a:pt x="368884" y="969543"/>
                  </a:lnTo>
                  <a:lnTo>
                    <a:pt x="368884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2553" y="1200150"/>
              <a:ext cx="4657090" cy="2898140"/>
            </a:xfrm>
            <a:custGeom>
              <a:avLst/>
              <a:gdLst/>
              <a:ahLst/>
              <a:cxnLst/>
              <a:rect l="l" t="t" r="r" b="b"/>
              <a:pathLst>
                <a:path w="4657090" h="2898140">
                  <a:moveTo>
                    <a:pt x="45999" y="2851670"/>
                  </a:moveTo>
                  <a:lnTo>
                    <a:pt x="45999" y="0"/>
                  </a:lnTo>
                </a:path>
                <a:path w="4657090" h="2898140">
                  <a:moveTo>
                    <a:pt x="0" y="2851670"/>
                  </a:moveTo>
                  <a:lnTo>
                    <a:pt x="45999" y="2851670"/>
                  </a:lnTo>
                </a:path>
                <a:path w="4657090" h="2898140">
                  <a:moveTo>
                    <a:pt x="0" y="2376678"/>
                  </a:moveTo>
                  <a:lnTo>
                    <a:pt x="45999" y="2376678"/>
                  </a:lnTo>
                </a:path>
                <a:path w="4657090" h="2898140">
                  <a:moveTo>
                    <a:pt x="0" y="1901189"/>
                  </a:moveTo>
                  <a:lnTo>
                    <a:pt x="45999" y="1901189"/>
                  </a:lnTo>
                </a:path>
                <a:path w="4657090" h="2898140">
                  <a:moveTo>
                    <a:pt x="0" y="1425702"/>
                  </a:moveTo>
                  <a:lnTo>
                    <a:pt x="45999" y="1425702"/>
                  </a:lnTo>
                </a:path>
                <a:path w="4657090" h="2898140">
                  <a:moveTo>
                    <a:pt x="0" y="950213"/>
                  </a:moveTo>
                  <a:lnTo>
                    <a:pt x="45999" y="950213"/>
                  </a:lnTo>
                </a:path>
                <a:path w="4657090" h="2898140">
                  <a:moveTo>
                    <a:pt x="0" y="474725"/>
                  </a:moveTo>
                  <a:lnTo>
                    <a:pt x="45999" y="474725"/>
                  </a:lnTo>
                </a:path>
                <a:path w="4657090" h="2898140">
                  <a:moveTo>
                    <a:pt x="0" y="126"/>
                  </a:moveTo>
                  <a:lnTo>
                    <a:pt x="45999" y="126"/>
                  </a:lnTo>
                </a:path>
                <a:path w="4657090" h="2898140">
                  <a:moveTo>
                    <a:pt x="45999" y="2851670"/>
                  </a:moveTo>
                  <a:lnTo>
                    <a:pt x="4657026" y="2851683"/>
                  </a:lnTo>
                </a:path>
                <a:path w="4657090" h="2898140">
                  <a:moveTo>
                    <a:pt x="45999" y="2851670"/>
                  </a:moveTo>
                  <a:lnTo>
                    <a:pt x="45999" y="2897670"/>
                  </a:lnTo>
                </a:path>
                <a:path w="4657090" h="2898140">
                  <a:moveTo>
                    <a:pt x="968438" y="2851670"/>
                  </a:moveTo>
                  <a:lnTo>
                    <a:pt x="968438" y="2897670"/>
                  </a:lnTo>
                </a:path>
                <a:path w="4657090" h="2898140">
                  <a:moveTo>
                    <a:pt x="1890458" y="2851670"/>
                  </a:moveTo>
                  <a:lnTo>
                    <a:pt x="1890458" y="2897670"/>
                  </a:lnTo>
                </a:path>
                <a:path w="4657090" h="2898140">
                  <a:moveTo>
                    <a:pt x="2812478" y="2851670"/>
                  </a:moveTo>
                  <a:lnTo>
                    <a:pt x="2812478" y="2897670"/>
                  </a:lnTo>
                </a:path>
                <a:path w="4657090" h="2898140">
                  <a:moveTo>
                    <a:pt x="3734498" y="2851670"/>
                  </a:moveTo>
                  <a:lnTo>
                    <a:pt x="3734498" y="2897670"/>
                  </a:lnTo>
                </a:path>
                <a:path w="4657090" h="2898140">
                  <a:moveTo>
                    <a:pt x="4657026" y="2851670"/>
                  </a:moveTo>
                  <a:lnTo>
                    <a:pt x="4657026" y="289767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81961" y="2296798"/>
            <a:ext cx="3689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000" spc="-10" dirty="0">
                <a:solidFill>
                  <a:srgbClr val="1B5E20"/>
                </a:solidFill>
                <a:latin typeface="Arial MT"/>
                <a:cs typeface="Arial MT"/>
              </a:rPr>
              <a:t>3,115</a:t>
            </a:r>
            <a:endParaRPr lang="en-IN" sz="1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5673" y="2571750"/>
            <a:ext cx="340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B5E20"/>
                </a:solidFill>
                <a:latin typeface="Arial MT"/>
                <a:cs typeface="Arial MT"/>
              </a:rPr>
              <a:t>3,088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94316" y="3144941"/>
            <a:ext cx="340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B5E20"/>
                </a:solidFill>
                <a:latin typeface="Arial MT"/>
                <a:cs typeface="Arial MT"/>
              </a:rPr>
              <a:t>3,025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1293" y="3371404"/>
            <a:ext cx="340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B5E20"/>
                </a:solidFill>
                <a:latin typeface="Arial MT"/>
                <a:cs typeface="Arial MT"/>
              </a:rPr>
              <a:t>3,002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4874" y="3040801"/>
            <a:ext cx="364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3050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874" y="2541271"/>
            <a:ext cx="364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3100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9703" y="1596547"/>
            <a:ext cx="36449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3200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3150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5126" y="4594138"/>
            <a:ext cx="80518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Home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Care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2875" y="4554384"/>
            <a:ext cx="627380" cy="368371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47955" marR="5080" indent="-135890">
              <a:lnSpc>
                <a:spcPts val="1380"/>
              </a:lnSpc>
              <a:spcBef>
                <a:spcPts val="195"/>
              </a:spcBef>
            </a:pPr>
            <a:r>
              <a:rPr sz="1000" spc="-10" dirty="0">
                <a:latin typeface="Arial MT"/>
                <a:cs typeface="Arial MT"/>
              </a:rPr>
              <a:t>Personal </a:t>
            </a:r>
            <a:r>
              <a:rPr sz="1000" spc="-20" dirty="0">
                <a:latin typeface="Arial MT"/>
                <a:cs typeface="Arial MT"/>
              </a:rPr>
              <a:t>Care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6170" y="4555925"/>
            <a:ext cx="5676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Grocery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3807" y="4555925"/>
            <a:ext cx="58420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Clothing</a:t>
            </a:r>
            <a:endParaRPr sz="1000" dirty="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357868"/>
              </p:ext>
            </p:extLst>
          </p:nvPr>
        </p:nvGraphicFramePr>
        <p:xfrm>
          <a:off x="5940425" y="1885950"/>
          <a:ext cx="2834638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lang="en-IN" sz="10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Line</a:t>
                      </a:r>
                      <a:endParaRPr lang="en-IN" sz="10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0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Units</a:t>
                      </a:r>
                      <a:endParaRPr lang="en-IN" sz="1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r>
                        <a:rPr lang="en-IN"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lang="en-IN" sz="10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Electronics</a:t>
                      </a:r>
                      <a:endParaRPr lang="en-IN"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3,115</a:t>
                      </a:r>
                      <a:endParaRPr lang="en-IN"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20.29%</a:t>
                      </a:r>
                      <a:endParaRPr lang="en-IN"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>
                          <a:latin typeface="Calibri"/>
                          <a:cs typeface="Calibri"/>
                        </a:rPr>
                        <a:t>Home</a:t>
                      </a:r>
                      <a:r>
                        <a:rPr lang="en-IN" sz="1100" spc="-20">
                          <a:latin typeface="Calibri"/>
                          <a:cs typeface="Calibri"/>
                        </a:rPr>
                        <a:t> Care</a:t>
                      </a:r>
                      <a:endParaRPr lang="en-IN"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3,115</a:t>
                      </a:r>
                      <a:endParaRPr lang="en-IN"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20.29%</a:t>
                      </a:r>
                      <a:endParaRPr lang="en-IN"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>
                          <a:latin typeface="Calibri"/>
                          <a:cs typeface="Calibri"/>
                        </a:rPr>
                        <a:t>Personal</a:t>
                      </a:r>
                      <a:r>
                        <a:rPr lang="en-IN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100" spc="-20">
                          <a:latin typeface="Calibri"/>
                          <a:cs typeface="Calibri"/>
                        </a:rPr>
                        <a:t>Care</a:t>
                      </a:r>
                      <a:endParaRPr lang="en-IN"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3,088</a:t>
                      </a:r>
                      <a:endParaRPr lang="en-IN"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20.12%</a:t>
                      </a:r>
                      <a:endParaRPr lang="en-IN"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Grocery</a:t>
                      </a:r>
                      <a:endParaRPr lang="en-IN"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3,025</a:t>
                      </a:r>
                      <a:endParaRPr lang="en-IN"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19.71%</a:t>
                      </a:r>
                      <a:endParaRPr lang="en-IN"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Clothing</a:t>
                      </a:r>
                      <a:endParaRPr lang="en-IN" sz="11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 spc="-10">
                          <a:latin typeface="Calibri"/>
                          <a:cs typeface="Calibri"/>
                        </a:rPr>
                        <a:t>3,002</a:t>
                      </a:r>
                      <a:endParaRPr lang="en-IN" sz="11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19.56%</a:t>
                      </a:r>
                      <a:endParaRPr lang="en-IN"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object 12">
            <a:extLst>
              <a:ext uri="{FF2B5EF4-FFF2-40B4-BE49-F238E27FC236}">
                <a16:creationId xmlns:a16="http://schemas.microsoft.com/office/drawing/2014/main" id="{75FE3994-5AB7-2625-79DB-43F9E5D5665A}"/>
              </a:ext>
            </a:extLst>
          </p:cNvPr>
          <p:cNvSpPr txBox="1"/>
          <p:nvPr/>
        </p:nvSpPr>
        <p:spPr>
          <a:xfrm>
            <a:off x="1067166" y="2280442"/>
            <a:ext cx="340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1B5E20"/>
                </a:solidFill>
                <a:latin typeface="Arial MT"/>
                <a:cs typeface="Arial MT"/>
              </a:rPr>
              <a:t>3,115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AF22C0-B7C6-4D80-E372-CAC61068E40D}"/>
              </a:ext>
            </a:extLst>
          </p:cNvPr>
          <p:cNvSpPr txBox="1"/>
          <p:nvPr/>
        </p:nvSpPr>
        <p:spPr>
          <a:xfrm>
            <a:off x="944905" y="4554384"/>
            <a:ext cx="886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00" spc="-10" dirty="0">
                <a:latin typeface="Arial MT"/>
                <a:cs typeface="Arial MT"/>
              </a:rPr>
              <a:t>Electronics</a:t>
            </a:r>
            <a:endParaRPr lang="en-IN" sz="1000" dirty="0">
              <a:latin typeface="Arial MT"/>
              <a:cs typeface="Arial M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2FEDE2-E430-99A7-F13B-72834A1C60CD}"/>
              </a:ext>
            </a:extLst>
          </p:cNvPr>
          <p:cNvSpPr txBox="1"/>
          <p:nvPr/>
        </p:nvSpPr>
        <p:spPr>
          <a:xfrm>
            <a:off x="225336" y="3474145"/>
            <a:ext cx="7792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100" spc="-20" dirty="0">
                <a:solidFill>
                  <a:srgbClr val="4F6353"/>
                </a:solidFill>
                <a:latin typeface="Arial MT"/>
                <a:cs typeface="Arial MT"/>
              </a:rPr>
              <a:t>3000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lang="en-IN"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1100" spc="-20" dirty="0">
                <a:solidFill>
                  <a:srgbClr val="4F6353"/>
                </a:solidFill>
                <a:latin typeface="Arial MT"/>
                <a:cs typeface="Arial MT"/>
              </a:rPr>
              <a:t>2950</a:t>
            </a:r>
            <a:endParaRPr lang="en-IN"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lang="en-IN"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IN" sz="1100" spc="-20" dirty="0">
                <a:solidFill>
                  <a:srgbClr val="4F6353"/>
                </a:solidFill>
                <a:latin typeface="Arial MT"/>
                <a:cs typeface="Arial MT"/>
              </a:rPr>
              <a:t>2900</a:t>
            </a:r>
            <a:endParaRPr lang="en-IN" sz="1100" dirty="0">
              <a:latin typeface="Arial MT"/>
              <a:cs typeface="Arial M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B47038-83C8-0E8F-211D-A9A89C5B9E4F}"/>
              </a:ext>
            </a:extLst>
          </p:cNvPr>
          <p:cNvSpPr txBox="1"/>
          <p:nvPr/>
        </p:nvSpPr>
        <p:spPr>
          <a:xfrm>
            <a:off x="5898527" y="4313588"/>
            <a:ext cx="28346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spc="-60" dirty="0">
                <a:latin typeface="Segoe UI Symbol"/>
                <a:cs typeface="Segoe UI Symbol"/>
              </a:rPr>
              <a:t>★</a:t>
            </a:r>
            <a:r>
              <a:rPr lang="en-US" sz="1100" spc="-50" dirty="0">
                <a:latin typeface="Segoe UI Symbol"/>
                <a:cs typeface="Segoe UI Symbol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Electronics</a:t>
            </a:r>
            <a:r>
              <a:rPr lang="en-US" sz="1100" i="1" spc="-6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&amp;</a:t>
            </a:r>
            <a:r>
              <a:rPr lang="en-US" sz="1100" i="1" spc="-1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Home</a:t>
            </a:r>
            <a:r>
              <a:rPr lang="en-US" sz="1100" i="1" spc="-25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Care</a:t>
            </a:r>
            <a:r>
              <a:rPr lang="en-US" sz="1100" i="1" spc="-1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lead</a:t>
            </a:r>
            <a:r>
              <a:rPr lang="en-US" sz="1100" i="1" spc="-2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with</a:t>
            </a:r>
            <a:r>
              <a:rPr lang="en-US" sz="1100" i="1" spc="-1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equal</a:t>
            </a:r>
            <a:r>
              <a:rPr lang="en-US" sz="1100" i="1" spc="-3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top</a:t>
            </a:r>
            <a:r>
              <a:rPr lang="en-US" sz="1100" i="1" spc="-2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share</a:t>
            </a:r>
            <a:r>
              <a:rPr lang="en-US" sz="1100" i="1" spc="445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Arial"/>
                <a:cs typeface="Arial"/>
              </a:rPr>
              <a:t>▼</a:t>
            </a:r>
            <a:r>
              <a:rPr lang="en-US" sz="1100" i="1" spc="-60" dirty="0">
                <a:latin typeface="Arial"/>
                <a:cs typeface="Arial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Clothing</a:t>
            </a:r>
            <a:r>
              <a:rPr lang="en-US" sz="1100" i="1" spc="-15" dirty="0">
                <a:latin typeface="Calibri"/>
                <a:cs typeface="Calibri"/>
              </a:rPr>
              <a:t> </a:t>
            </a:r>
            <a:r>
              <a:rPr lang="en-US" sz="1100" i="1" spc="-10" dirty="0">
                <a:latin typeface="Calibri"/>
                <a:cs typeface="Calibri"/>
              </a:rPr>
              <a:t>marginally</a:t>
            </a:r>
            <a:r>
              <a:rPr lang="en-US" sz="1100" i="1" spc="-40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trails</a:t>
            </a:r>
            <a:r>
              <a:rPr lang="en-US" sz="1100" i="1" spc="-25" dirty="0">
                <a:latin typeface="Calibri"/>
                <a:cs typeface="Calibri"/>
              </a:rPr>
              <a:t> </a:t>
            </a:r>
            <a:r>
              <a:rPr lang="en-US" sz="1100" i="1" dirty="0">
                <a:latin typeface="Calibri"/>
                <a:cs typeface="Calibri"/>
              </a:rPr>
              <a:t>at</a:t>
            </a:r>
            <a:r>
              <a:rPr lang="en-US" sz="1100" i="1" spc="-10" dirty="0">
                <a:latin typeface="Calibri"/>
                <a:cs typeface="Calibri"/>
              </a:rPr>
              <a:t> 19.56%</a:t>
            </a:r>
            <a:endParaRPr lang="en-US"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08" y="615781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5800" y="542433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GEOGRAPHIC</a:t>
            </a:r>
            <a:r>
              <a:rPr spc="-75" dirty="0"/>
              <a:t> </a:t>
            </a:r>
            <a:r>
              <a:rPr spc="-10" dirty="0"/>
              <a:t>HIGHLIGHTS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4671" y="1727083"/>
            <a:ext cx="3944620" cy="396875"/>
          </a:xfrm>
          <a:prstGeom prst="rect">
            <a:avLst/>
          </a:prstGeom>
          <a:solidFill>
            <a:srgbClr val="16A249"/>
          </a:solidFill>
          <a:ln w="3175">
            <a:solidFill>
              <a:srgbClr val="16A249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63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▲</a:t>
            </a:r>
            <a:r>
              <a:rPr sz="1300" b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PERFORMERS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3519" y="2148874"/>
            <a:ext cx="3931920" cy="805180"/>
            <a:chOff x="274320" y="1536191"/>
            <a:chExt cx="3931920" cy="805180"/>
          </a:xfrm>
        </p:grpSpPr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60" y="1609676"/>
              <a:ext cx="223446" cy="2234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4320" y="153619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80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519" y="2175914"/>
            <a:ext cx="3931920" cy="805180"/>
          </a:xfrm>
          <a:prstGeom prst="rect">
            <a:avLst/>
          </a:prstGeom>
          <a:ln w="12700">
            <a:solidFill>
              <a:srgbClr val="D1F9E4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65"/>
              </a:spcBef>
            </a:pPr>
            <a:r>
              <a:rPr sz="1400" b="1" spc="-10" dirty="0">
                <a:solidFill>
                  <a:srgbClr val="16A249"/>
                </a:solidFill>
                <a:latin typeface="Calibri"/>
                <a:cs typeface="Calibri"/>
              </a:rPr>
              <a:t>Bangalore</a:t>
            </a:r>
            <a:endParaRPr sz="1400" dirty="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559</a:t>
            </a:r>
            <a:r>
              <a:rPr sz="1100" spc="-2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5059" y="3055628"/>
            <a:ext cx="3931920" cy="805180"/>
          </a:xfrm>
          <a:custGeom>
            <a:avLst/>
            <a:gdLst/>
            <a:ahLst/>
            <a:cxnLst/>
            <a:rect l="l" t="t" r="r" b="b"/>
            <a:pathLst>
              <a:path w="3931920" h="805179">
                <a:moveTo>
                  <a:pt x="3931920" y="0"/>
                </a:moveTo>
                <a:lnTo>
                  <a:pt x="0" y="0"/>
                </a:lnTo>
                <a:lnTo>
                  <a:pt x="0" y="804671"/>
                </a:lnTo>
                <a:lnTo>
                  <a:pt x="3931920" y="804671"/>
                </a:lnTo>
                <a:lnTo>
                  <a:pt x="3931920" y="0"/>
                </a:lnTo>
                <a:close/>
              </a:path>
            </a:pathLst>
          </a:custGeom>
          <a:solidFill>
            <a:srgbClr val="EFFF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94671" y="3059714"/>
            <a:ext cx="3931920" cy="805180"/>
          </a:xfrm>
          <a:prstGeom prst="rect">
            <a:avLst/>
          </a:prstGeom>
          <a:ln w="12700">
            <a:solidFill>
              <a:srgbClr val="D1F9E4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16A249"/>
                </a:solidFill>
                <a:latin typeface="Calibri"/>
                <a:cs typeface="Calibri"/>
              </a:rPr>
              <a:t>Mumbai</a:t>
            </a:r>
            <a:endParaRPr sz="1400" dirty="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Personal</a:t>
            </a:r>
            <a:r>
              <a:rPr sz="1100" spc="-4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549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9" y="4013963"/>
            <a:ext cx="3931920" cy="805180"/>
            <a:chOff x="274320" y="3456432"/>
            <a:chExt cx="3931920" cy="805180"/>
          </a:xfrm>
        </p:grpSpPr>
        <p:pic>
          <p:nvPicPr>
            <p:cNvPr id="14" name="object 1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60" y="3529916"/>
              <a:ext cx="223446" cy="2234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4320" y="3456432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3519" y="4013963"/>
            <a:ext cx="3931920" cy="805180"/>
          </a:xfrm>
          <a:prstGeom prst="rect">
            <a:avLst/>
          </a:prstGeom>
          <a:ln w="12700">
            <a:solidFill>
              <a:srgbClr val="D1F9E4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70"/>
              </a:spcBef>
            </a:pPr>
            <a:r>
              <a:rPr sz="1400" b="1" spc="-20" dirty="0">
                <a:solidFill>
                  <a:srgbClr val="16A249"/>
                </a:solidFill>
                <a:latin typeface="Calibri"/>
                <a:cs typeface="Calibri"/>
              </a:rPr>
              <a:t>Pune</a:t>
            </a:r>
            <a:endParaRPr sz="1400" dirty="0">
              <a:latin typeface="Calibri"/>
              <a:cs typeface="Calibri"/>
            </a:endParaRPr>
          </a:p>
          <a:p>
            <a:pPr marL="38354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Home</a:t>
            </a:r>
            <a:r>
              <a:rPr sz="1100" spc="-2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549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95800" y="1518411"/>
            <a:ext cx="0" cy="3566160"/>
          </a:xfrm>
          <a:custGeom>
            <a:avLst/>
            <a:gdLst/>
            <a:ahLst/>
            <a:cxnLst/>
            <a:rect l="l" t="t" r="r" b="b"/>
            <a:pathLst>
              <a:path h="3566160">
                <a:moveTo>
                  <a:pt x="0" y="0"/>
                </a:moveTo>
                <a:lnTo>
                  <a:pt x="0" y="3566160"/>
                </a:lnTo>
              </a:path>
            </a:pathLst>
          </a:custGeom>
          <a:ln w="19050">
            <a:solidFill>
              <a:srgbClr val="E3F2E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92114" y="1779039"/>
            <a:ext cx="3944620" cy="396875"/>
          </a:xfrm>
          <a:prstGeom prst="rect">
            <a:avLst/>
          </a:prstGeom>
          <a:solidFill>
            <a:srgbClr val="DC2525"/>
          </a:solidFill>
          <a:ln w="3175">
            <a:solidFill>
              <a:srgbClr val="DC2525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63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▼</a:t>
            </a:r>
            <a:r>
              <a:rPr sz="1300" b="1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UNDERPERFORMING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98464" y="2169160"/>
            <a:ext cx="3931920" cy="805180"/>
            <a:chOff x="4937759" y="1536191"/>
            <a:chExt cx="3931920" cy="805180"/>
          </a:xfrm>
        </p:grpSpPr>
        <p:pic>
          <p:nvPicPr>
            <p:cNvPr id="20" name="object 2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100" y="1609676"/>
              <a:ext cx="223446" cy="2234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37759" y="1536191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80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98464" y="2185790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65"/>
              </a:spcBef>
            </a:pPr>
            <a:r>
              <a:rPr sz="1400" b="1" spc="-20" dirty="0">
                <a:solidFill>
                  <a:srgbClr val="DC2525"/>
                </a:solidFill>
                <a:latin typeface="Calibri"/>
                <a:cs typeface="Calibri"/>
              </a:rPr>
              <a:t>Pune</a:t>
            </a:r>
            <a:endParaRPr sz="1400" dirty="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481</a:t>
            </a:r>
            <a:r>
              <a:rPr sz="1100" spc="-2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98464" y="3123179"/>
            <a:ext cx="3931920" cy="805180"/>
          </a:xfrm>
          <a:custGeom>
            <a:avLst/>
            <a:gdLst/>
            <a:ahLst/>
            <a:cxnLst/>
            <a:rect l="l" t="t" r="r" b="b"/>
            <a:pathLst>
              <a:path w="3931920" h="805179">
                <a:moveTo>
                  <a:pt x="3931920" y="0"/>
                </a:moveTo>
                <a:lnTo>
                  <a:pt x="0" y="0"/>
                </a:lnTo>
                <a:lnTo>
                  <a:pt x="0" y="804671"/>
                </a:lnTo>
                <a:lnTo>
                  <a:pt x="3931920" y="804671"/>
                </a:lnTo>
                <a:lnTo>
                  <a:pt x="3931920" y="0"/>
                </a:lnTo>
                <a:close/>
              </a:path>
            </a:pathLst>
          </a:custGeom>
          <a:solidFill>
            <a:srgbClr val="FFF5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4918909" y="3136383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DC2525"/>
                </a:solidFill>
                <a:latin typeface="Calibri"/>
                <a:cs typeface="Calibri"/>
              </a:rPr>
              <a:t>Delhi</a:t>
            </a:r>
            <a:endParaRPr sz="1400" dirty="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55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Clothing</a:t>
            </a:r>
            <a:r>
              <a:rPr sz="1100" spc="-5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469</a:t>
            </a:r>
            <a:r>
              <a:rPr sz="1100" spc="-1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85455" y="4013963"/>
            <a:ext cx="3931920" cy="805180"/>
            <a:chOff x="4937759" y="3456432"/>
            <a:chExt cx="3931920" cy="805180"/>
          </a:xfrm>
        </p:grpSpPr>
        <p:pic>
          <p:nvPicPr>
            <p:cNvPr id="28" name="object 2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100" y="3529916"/>
              <a:ext cx="223446" cy="2234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37759" y="3456432"/>
              <a:ext cx="3931920" cy="805180"/>
            </a:xfrm>
            <a:custGeom>
              <a:avLst/>
              <a:gdLst/>
              <a:ahLst/>
              <a:cxnLst/>
              <a:rect l="l" t="t" r="r" b="b"/>
              <a:pathLst>
                <a:path w="3931920" h="805179">
                  <a:moveTo>
                    <a:pt x="393192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3931920" y="804672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98464" y="4047223"/>
            <a:ext cx="3931920" cy="805180"/>
          </a:xfrm>
          <a:prstGeom prst="rect">
            <a:avLst/>
          </a:prstGeom>
          <a:ln w="12700">
            <a:solidFill>
              <a:srgbClr val="FDD6D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370"/>
              </a:spcBef>
            </a:pPr>
            <a:r>
              <a:rPr sz="1400" b="1" spc="-10" dirty="0">
                <a:solidFill>
                  <a:srgbClr val="DC2525"/>
                </a:solidFill>
                <a:latin typeface="Calibri"/>
                <a:cs typeface="Calibri"/>
              </a:rPr>
              <a:t>Chennai</a:t>
            </a:r>
            <a:endParaRPr sz="1400" dirty="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Home</a:t>
            </a:r>
            <a:r>
              <a:rPr sz="1100" spc="-2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Care</a:t>
            </a:r>
            <a:r>
              <a:rPr sz="1100" spc="-1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·</a:t>
            </a:r>
            <a:r>
              <a:rPr sz="1100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F6353"/>
                </a:solidFill>
                <a:latin typeface="Calibri"/>
                <a:cs typeface="Calibri"/>
              </a:rPr>
              <a:t>478 </a:t>
            </a:r>
            <a:r>
              <a:rPr sz="1100" spc="-10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31" name="object 10" descr="preencoded.png">
            <a:extLst>
              <a:ext uri="{FF2B5EF4-FFF2-40B4-BE49-F238E27FC236}">
                <a16:creationId xmlns:a16="http://schemas.microsoft.com/office/drawing/2014/main" id="{B89FB590-5751-62B4-7AA2-829E99B8C84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905" y="3123380"/>
            <a:ext cx="223446" cy="223446"/>
          </a:xfrm>
          <a:prstGeom prst="rect">
            <a:avLst/>
          </a:prstGeom>
        </p:spPr>
      </p:pic>
      <p:pic>
        <p:nvPicPr>
          <p:cNvPr id="32" name="object 24" descr="preencoded.png">
            <a:extLst>
              <a:ext uri="{FF2B5EF4-FFF2-40B4-BE49-F238E27FC236}">
                <a16:creationId xmlns:a16="http://schemas.microsoft.com/office/drawing/2014/main" id="{2338AE5C-3711-FCB0-58BC-DAEE97DFF61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8082" y="3189768"/>
            <a:ext cx="223446" cy="223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49850"/>
            <a:chOff x="-6350" y="-6350"/>
            <a:chExt cx="9156700" cy="5149850"/>
          </a:xfrm>
        </p:grpSpPr>
        <p:sp>
          <p:nvSpPr>
            <p:cNvPr id="3" name="object 3"/>
            <p:cNvSpPr/>
            <p:nvPr/>
          </p:nvSpPr>
          <p:spPr>
            <a:xfrm>
              <a:off x="0" y="960119"/>
              <a:ext cx="9144000" cy="4183379"/>
            </a:xfrm>
            <a:custGeom>
              <a:avLst/>
              <a:gdLst/>
              <a:ahLst/>
              <a:cxnLst/>
              <a:rect l="l" t="t" r="r" b="b"/>
              <a:pathLst>
                <a:path w="9144000" h="4183379">
                  <a:moveTo>
                    <a:pt x="0" y="4183379"/>
                  </a:moveTo>
                  <a:lnTo>
                    <a:pt x="9144000" y="41833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8337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9144000" y="0"/>
                  </a:moveTo>
                  <a:lnTo>
                    <a:pt x="0" y="0"/>
                  </a:lnTo>
                  <a:lnTo>
                    <a:pt x="0" y="960120"/>
                  </a:lnTo>
                  <a:lnTo>
                    <a:pt x="9144000" y="9601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960119"/>
            </a:xfrm>
            <a:custGeom>
              <a:avLst/>
              <a:gdLst/>
              <a:ahLst/>
              <a:cxnLst/>
              <a:rect l="l" t="t" r="r" b="b"/>
              <a:pathLst>
                <a:path w="9144000" h="960119">
                  <a:moveTo>
                    <a:pt x="0" y="960120"/>
                  </a:moveTo>
                  <a:lnTo>
                    <a:pt x="9144000" y="9601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60120"/>
                  </a:lnTo>
                  <a:close/>
                </a:path>
              </a:pathLst>
            </a:custGeom>
            <a:ln w="12700">
              <a:solidFill>
                <a:srgbClr val="1B5E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31" y="182879"/>
              <a:ext cx="548640" cy="54863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21795" y="4207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</a:t>
            </a:r>
            <a:r>
              <a:rPr spc="-60" dirty="0"/>
              <a:t> </a:t>
            </a:r>
            <a:r>
              <a:rPr dirty="0"/>
              <a:t>×</a:t>
            </a:r>
            <a:r>
              <a:rPr spc="-45" dirty="0"/>
              <a:t> </a:t>
            </a:r>
            <a:r>
              <a:rPr spc="-30" dirty="0"/>
              <a:t>CATEGORY</a:t>
            </a:r>
            <a:r>
              <a:rPr spc="-45" dirty="0"/>
              <a:t> </a:t>
            </a:r>
            <a:r>
              <a:rPr spc="-10" dirty="0"/>
              <a:t>PERFORMANCE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65759" y="1051560"/>
            <a:ext cx="8412480" cy="3520440"/>
            <a:chOff x="365759" y="1051560"/>
            <a:chExt cx="8412480" cy="3520440"/>
          </a:xfrm>
        </p:grpSpPr>
        <p:sp>
          <p:nvSpPr>
            <p:cNvPr id="9" name="object 9"/>
            <p:cNvSpPr/>
            <p:nvPr/>
          </p:nvSpPr>
          <p:spPr>
            <a:xfrm>
              <a:off x="365759" y="1051560"/>
              <a:ext cx="8412480" cy="3520440"/>
            </a:xfrm>
            <a:custGeom>
              <a:avLst/>
              <a:gdLst/>
              <a:ahLst/>
              <a:cxnLst/>
              <a:rect l="l" t="t" r="r" b="b"/>
              <a:pathLst>
                <a:path w="8412480" h="3520440">
                  <a:moveTo>
                    <a:pt x="8285480" y="0"/>
                  </a:moveTo>
                  <a:lnTo>
                    <a:pt x="126974" y="0"/>
                  </a:lnTo>
                  <a:lnTo>
                    <a:pt x="77548" y="9985"/>
                  </a:lnTo>
                  <a:lnTo>
                    <a:pt x="37188" y="37211"/>
                  </a:lnTo>
                  <a:lnTo>
                    <a:pt x="9977" y="77581"/>
                  </a:lnTo>
                  <a:lnTo>
                    <a:pt x="0" y="127000"/>
                  </a:lnTo>
                  <a:lnTo>
                    <a:pt x="0" y="3393465"/>
                  </a:lnTo>
                  <a:lnTo>
                    <a:pt x="9977" y="3442885"/>
                  </a:lnTo>
                  <a:lnTo>
                    <a:pt x="37188" y="3483246"/>
                  </a:lnTo>
                  <a:lnTo>
                    <a:pt x="77548" y="3510460"/>
                  </a:lnTo>
                  <a:lnTo>
                    <a:pt x="126974" y="3520440"/>
                  </a:lnTo>
                  <a:lnTo>
                    <a:pt x="8285480" y="3520440"/>
                  </a:lnTo>
                  <a:lnTo>
                    <a:pt x="8334898" y="3510460"/>
                  </a:lnTo>
                  <a:lnTo>
                    <a:pt x="8375269" y="3483246"/>
                  </a:lnTo>
                  <a:lnTo>
                    <a:pt x="8402494" y="3442885"/>
                  </a:lnTo>
                  <a:lnTo>
                    <a:pt x="8412480" y="3393465"/>
                  </a:lnTo>
                  <a:lnTo>
                    <a:pt x="8412480" y="127000"/>
                  </a:lnTo>
                  <a:lnTo>
                    <a:pt x="8402494" y="77581"/>
                  </a:lnTo>
                  <a:lnTo>
                    <a:pt x="8375269" y="37211"/>
                  </a:lnTo>
                  <a:lnTo>
                    <a:pt x="8334898" y="9985"/>
                  </a:lnTo>
                  <a:lnTo>
                    <a:pt x="8285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3780" y="1409573"/>
              <a:ext cx="7804784" cy="2092960"/>
            </a:xfrm>
            <a:custGeom>
              <a:avLst/>
              <a:gdLst/>
              <a:ahLst/>
              <a:cxnLst/>
              <a:rect l="l" t="t" r="r" b="b"/>
              <a:pathLst>
                <a:path w="7804784" h="2092960">
                  <a:moveTo>
                    <a:pt x="0" y="2092578"/>
                  </a:moveTo>
                  <a:lnTo>
                    <a:pt x="216255" y="2092578"/>
                  </a:lnTo>
                </a:path>
                <a:path w="7804784" h="2092960">
                  <a:moveTo>
                    <a:pt x="1083411" y="2092578"/>
                  </a:moveTo>
                  <a:lnTo>
                    <a:pt x="1517751" y="2092578"/>
                  </a:lnTo>
                </a:path>
                <a:path w="7804784" h="2092960">
                  <a:moveTo>
                    <a:pt x="2384907" y="2092578"/>
                  </a:moveTo>
                  <a:lnTo>
                    <a:pt x="2817723" y="2092578"/>
                  </a:lnTo>
                </a:path>
                <a:path w="7804784" h="2092960">
                  <a:moveTo>
                    <a:pt x="3684879" y="2092578"/>
                  </a:moveTo>
                  <a:lnTo>
                    <a:pt x="4119219" y="2092578"/>
                  </a:lnTo>
                </a:path>
                <a:path w="7804784" h="2092960">
                  <a:moveTo>
                    <a:pt x="4986375" y="2092578"/>
                  </a:moveTo>
                  <a:lnTo>
                    <a:pt x="5420715" y="2092578"/>
                  </a:lnTo>
                </a:path>
                <a:path w="7804784" h="2092960">
                  <a:moveTo>
                    <a:pt x="6287871" y="2092578"/>
                  </a:moveTo>
                  <a:lnTo>
                    <a:pt x="6720687" y="2092578"/>
                  </a:lnTo>
                </a:path>
                <a:path w="7804784" h="2092960">
                  <a:moveTo>
                    <a:pt x="7587843" y="2092578"/>
                  </a:moveTo>
                  <a:lnTo>
                    <a:pt x="7804759" y="2092578"/>
                  </a:lnTo>
                </a:path>
                <a:path w="7804784" h="2092960">
                  <a:moveTo>
                    <a:pt x="0" y="1675002"/>
                  </a:moveTo>
                  <a:lnTo>
                    <a:pt x="216255" y="1675002"/>
                  </a:lnTo>
                </a:path>
                <a:path w="7804784" h="2092960">
                  <a:moveTo>
                    <a:pt x="1083411" y="1675002"/>
                  </a:moveTo>
                  <a:lnTo>
                    <a:pt x="1517751" y="1675002"/>
                  </a:lnTo>
                </a:path>
                <a:path w="7804784" h="2092960">
                  <a:moveTo>
                    <a:pt x="2384907" y="1675002"/>
                  </a:moveTo>
                  <a:lnTo>
                    <a:pt x="2817723" y="1675002"/>
                  </a:lnTo>
                </a:path>
                <a:path w="7804784" h="2092960">
                  <a:moveTo>
                    <a:pt x="3684879" y="1675002"/>
                  </a:moveTo>
                  <a:lnTo>
                    <a:pt x="4119219" y="1675002"/>
                  </a:lnTo>
                </a:path>
                <a:path w="7804784" h="2092960">
                  <a:moveTo>
                    <a:pt x="4696815" y="1675002"/>
                  </a:moveTo>
                  <a:lnTo>
                    <a:pt x="5708751" y="1675002"/>
                  </a:lnTo>
                </a:path>
                <a:path w="7804784" h="2092960">
                  <a:moveTo>
                    <a:pt x="6287871" y="1675002"/>
                  </a:moveTo>
                  <a:lnTo>
                    <a:pt x="6720687" y="1675002"/>
                  </a:lnTo>
                </a:path>
                <a:path w="7804784" h="2092960">
                  <a:moveTo>
                    <a:pt x="7587843" y="1675002"/>
                  </a:moveTo>
                  <a:lnTo>
                    <a:pt x="7804759" y="1675002"/>
                  </a:lnTo>
                </a:path>
                <a:path w="7804784" h="2092960">
                  <a:moveTo>
                    <a:pt x="0" y="1255902"/>
                  </a:moveTo>
                  <a:lnTo>
                    <a:pt x="216255" y="1255902"/>
                  </a:lnTo>
                </a:path>
                <a:path w="7804784" h="2092960">
                  <a:moveTo>
                    <a:pt x="505815" y="1255902"/>
                  </a:moveTo>
                  <a:lnTo>
                    <a:pt x="795375" y="1255902"/>
                  </a:lnTo>
                </a:path>
                <a:path w="7804784" h="2092960">
                  <a:moveTo>
                    <a:pt x="1083411" y="1255902"/>
                  </a:moveTo>
                  <a:lnTo>
                    <a:pt x="1517751" y="1255902"/>
                  </a:lnTo>
                </a:path>
                <a:path w="7804784" h="2092960">
                  <a:moveTo>
                    <a:pt x="2384907" y="1255902"/>
                  </a:moveTo>
                  <a:lnTo>
                    <a:pt x="2817723" y="1255902"/>
                  </a:lnTo>
                </a:path>
                <a:path w="7804784" h="2092960">
                  <a:moveTo>
                    <a:pt x="3107283" y="1255902"/>
                  </a:moveTo>
                  <a:lnTo>
                    <a:pt x="3396843" y="1255902"/>
                  </a:lnTo>
                </a:path>
                <a:path w="7804784" h="2092960">
                  <a:moveTo>
                    <a:pt x="3684879" y="1255902"/>
                  </a:moveTo>
                  <a:lnTo>
                    <a:pt x="4119219" y="1255902"/>
                  </a:lnTo>
                </a:path>
                <a:path w="7804784" h="2092960">
                  <a:moveTo>
                    <a:pt x="4408779" y="1255902"/>
                  </a:moveTo>
                  <a:lnTo>
                    <a:pt x="5708751" y="1255902"/>
                  </a:lnTo>
                </a:path>
                <a:path w="7804784" h="2092960">
                  <a:moveTo>
                    <a:pt x="6287871" y="1255902"/>
                  </a:moveTo>
                  <a:lnTo>
                    <a:pt x="7298283" y="1255902"/>
                  </a:lnTo>
                </a:path>
                <a:path w="7804784" h="2092960">
                  <a:moveTo>
                    <a:pt x="7587843" y="1255902"/>
                  </a:moveTo>
                  <a:lnTo>
                    <a:pt x="7804759" y="1255902"/>
                  </a:lnTo>
                </a:path>
                <a:path w="7804784" h="2092960">
                  <a:moveTo>
                    <a:pt x="0" y="836802"/>
                  </a:moveTo>
                  <a:lnTo>
                    <a:pt x="216255" y="836802"/>
                  </a:lnTo>
                </a:path>
                <a:path w="7804784" h="2092960">
                  <a:moveTo>
                    <a:pt x="505815" y="836802"/>
                  </a:moveTo>
                  <a:lnTo>
                    <a:pt x="1807311" y="836802"/>
                  </a:lnTo>
                </a:path>
                <a:path w="7804784" h="2092960">
                  <a:moveTo>
                    <a:pt x="2095347" y="836802"/>
                  </a:moveTo>
                  <a:lnTo>
                    <a:pt x="2817723" y="836802"/>
                  </a:lnTo>
                </a:path>
                <a:path w="7804784" h="2092960">
                  <a:moveTo>
                    <a:pt x="3107283" y="836802"/>
                  </a:moveTo>
                  <a:lnTo>
                    <a:pt x="5998311" y="836802"/>
                  </a:lnTo>
                </a:path>
                <a:path w="7804784" h="2092960">
                  <a:moveTo>
                    <a:pt x="6287871" y="836802"/>
                  </a:moveTo>
                  <a:lnTo>
                    <a:pt x="7804759" y="836802"/>
                  </a:lnTo>
                </a:path>
                <a:path w="7804784" h="2092960">
                  <a:moveTo>
                    <a:pt x="0" y="419226"/>
                  </a:moveTo>
                  <a:lnTo>
                    <a:pt x="216255" y="419226"/>
                  </a:lnTo>
                </a:path>
                <a:path w="7804784" h="2092960">
                  <a:moveTo>
                    <a:pt x="505815" y="419226"/>
                  </a:moveTo>
                  <a:lnTo>
                    <a:pt x="7804759" y="419226"/>
                  </a:lnTo>
                </a:path>
                <a:path w="7804784" h="2092960">
                  <a:moveTo>
                    <a:pt x="0" y="0"/>
                  </a:moveTo>
                  <a:lnTo>
                    <a:pt x="7804759" y="0"/>
                  </a:lnTo>
                </a:path>
              </a:pathLst>
            </a:custGeom>
            <a:ln w="635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0036" y="1639823"/>
              <a:ext cx="6794500" cy="2281555"/>
            </a:xfrm>
            <a:custGeom>
              <a:avLst/>
              <a:gdLst/>
              <a:ahLst/>
              <a:cxnLst/>
              <a:rect l="l" t="t" r="r" b="b"/>
              <a:pathLst>
                <a:path w="6794500" h="2281554">
                  <a:moveTo>
                    <a:pt x="289560" y="0"/>
                  </a:moveTo>
                  <a:lnTo>
                    <a:pt x="0" y="0"/>
                  </a:lnTo>
                  <a:lnTo>
                    <a:pt x="0" y="2281478"/>
                  </a:lnTo>
                  <a:lnTo>
                    <a:pt x="289560" y="2281491"/>
                  </a:lnTo>
                  <a:lnTo>
                    <a:pt x="289560" y="0"/>
                  </a:lnTo>
                  <a:close/>
                </a:path>
                <a:path w="6794500" h="2281554">
                  <a:moveTo>
                    <a:pt x="1591056" y="795528"/>
                  </a:moveTo>
                  <a:lnTo>
                    <a:pt x="1301496" y="795528"/>
                  </a:lnTo>
                  <a:lnTo>
                    <a:pt x="1301496" y="2281478"/>
                  </a:lnTo>
                  <a:lnTo>
                    <a:pt x="1591056" y="2281478"/>
                  </a:lnTo>
                  <a:lnTo>
                    <a:pt x="1591056" y="795528"/>
                  </a:lnTo>
                  <a:close/>
                </a:path>
                <a:path w="6794500" h="2281554">
                  <a:moveTo>
                    <a:pt x="2891028" y="565404"/>
                  </a:moveTo>
                  <a:lnTo>
                    <a:pt x="2601468" y="565404"/>
                  </a:lnTo>
                  <a:lnTo>
                    <a:pt x="2601468" y="2281478"/>
                  </a:lnTo>
                  <a:lnTo>
                    <a:pt x="2891028" y="2281491"/>
                  </a:lnTo>
                  <a:lnTo>
                    <a:pt x="2891028" y="565404"/>
                  </a:lnTo>
                  <a:close/>
                </a:path>
                <a:path w="6794500" h="2281554">
                  <a:moveTo>
                    <a:pt x="4192524" y="982980"/>
                  </a:moveTo>
                  <a:lnTo>
                    <a:pt x="3902964" y="982980"/>
                  </a:lnTo>
                  <a:lnTo>
                    <a:pt x="3902964" y="2281478"/>
                  </a:lnTo>
                  <a:lnTo>
                    <a:pt x="4192524" y="2281478"/>
                  </a:lnTo>
                  <a:lnTo>
                    <a:pt x="4192524" y="982980"/>
                  </a:lnTo>
                  <a:close/>
                </a:path>
                <a:path w="6794500" h="2281554">
                  <a:moveTo>
                    <a:pt x="5492483" y="1632204"/>
                  </a:moveTo>
                  <a:lnTo>
                    <a:pt x="5204460" y="1632204"/>
                  </a:lnTo>
                  <a:lnTo>
                    <a:pt x="5204460" y="2281478"/>
                  </a:lnTo>
                  <a:lnTo>
                    <a:pt x="5492483" y="2281478"/>
                  </a:lnTo>
                  <a:lnTo>
                    <a:pt x="5492483" y="1632204"/>
                  </a:lnTo>
                  <a:close/>
                </a:path>
                <a:path w="6794500" h="2281554">
                  <a:moveTo>
                    <a:pt x="6793992" y="1025652"/>
                  </a:moveTo>
                  <a:lnTo>
                    <a:pt x="6504432" y="1025652"/>
                  </a:lnTo>
                  <a:lnTo>
                    <a:pt x="6504432" y="2281478"/>
                  </a:lnTo>
                  <a:lnTo>
                    <a:pt x="6793992" y="2281478"/>
                  </a:lnTo>
                  <a:lnTo>
                    <a:pt x="6793992" y="1025652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9596" y="1848611"/>
              <a:ext cx="6792595" cy="2073275"/>
            </a:xfrm>
            <a:custGeom>
              <a:avLst/>
              <a:gdLst/>
              <a:ahLst/>
              <a:cxnLst/>
              <a:rect l="l" t="t" r="r" b="b"/>
              <a:pathLst>
                <a:path w="6792595" h="2073275">
                  <a:moveTo>
                    <a:pt x="289560" y="1068324"/>
                  </a:moveTo>
                  <a:lnTo>
                    <a:pt x="0" y="1068324"/>
                  </a:lnTo>
                  <a:lnTo>
                    <a:pt x="0" y="2072690"/>
                  </a:lnTo>
                  <a:lnTo>
                    <a:pt x="289560" y="2072690"/>
                  </a:lnTo>
                  <a:lnTo>
                    <a:pt x="289560" y="1068324"/>
                  </a:lnTo>
                  <a:close/>
                </a:path>
                <a:path w="6792595" h="2073275">
                  <a:moveTo>
                    <a:pt x="1589532" y="0"/>
                  </a:moveTo>
                  <a:lnTo>
                    <a:pt x="1301496" y="0"/>
                  </a:lnTo>
                  <a:lnTo>
                    <a:pt x="1301496" y="2072690"/>
                  </a:lnTo>
                  <a:lnTo>
                    <a:pt x="1589532" y="2072703"/>
                  </a:lnTo>
                  <a:lnTo>
                    <a:pt x="1589532" y="0"/>
                  </a:lnTo>
                  <a:close/>
                </a:path>
                <a:path w="6792595" h="2073275">
                  <a:moveTo>
                    <a:pt x="2891028" y="816864"/>
                  </a:moveTo>
                  <a:lnTo>
                    <a:pt x="2601468" y="816864"/>
                  </a:lnTo>
                  <a:lnTo>
                    <a:pt x="2601468" y="2072690"/>
                  </a:lnTo>
                  <a:lnTo>
                    <a:pt x="2891028" y="2072690"/>
                  </a:lnTo>
                  <a:lnTo>
                    <a:pt x="2891028" y="816864"/>
                  </a:lnTo>
                  <a:close/>
                </a:path>
                <a:path w="6792595" h="2073275">
                  <a:moveTo>
                    <a:pt x="4191000" y="816864"/>
                  </a:moveTo>
                  <a:lnTo>
                    <a:pt x="3902964" y="816864"/>
                  </a:lnTo>
                  <a:lnTo>
                    <a:pt x="3902964" y="2072690"/>
                  </a:lnTo>
                  <a:lnTo>
                    <a:pt x="4191000" y="2072690"/>
                  </a:lnTo>
                  <a:lnTo>
                    <a:pt x="4191000" y="816864"/>
                  </a:lnTo>
                  <a:close/>
                </a:path>
                <a:path w="6792595" h="2073275">
                  <a:moveTo>
                    <a:pt x="5492496" y="795528"/>
                  </a:moveTo>
                  <a:lnTo>
                    <a:pt x="5202923" y="795528"/>
                  </a:lnTo>
                  <a:lnTo>
                    <a:pt x="5202923" y="2072690"/>
                  </a:lnTo>
                  <a:lnTo>
                    <a:pt x="5492496" y="2072690"/>
                  </a:lnTo>
                  <a:lnTo>
                    <a:pt x="5492496" y="795528"/>
                  </a:lnTo>
                  <a:close/>
                </a:path>
                <a:path w="6792595" h="2073275">
                  <a:moveTo>
                    <a:pt x="6792468" y="816864"/>
                  </a:moveTo>
                  <a:lnTo>
                    <a:pt x="6504432" y="816864"/>
                  </a:lnTo>
                  <a:lnTo>
                    <a:pt x="6504432" y="2072690"/>
                  </a:lnTo>
                  <a:lnTo>
                    <a:pt x="6792468" y="2072690"/>
                  </a:lnTo>
                  <a:lnTo>
                    <a:pt x="6792468" y="816864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29156" y="1848611"/>
              <a:ext cx="6792595" cy="2073275"/>
            </a:xfrm>
            <a:custGeom>
              <a:avLst/>
              <a:gdLst/>
              <a:ahLst/>
              <a:cxnLst/>
              <a:rect l="l" t="t" r="r" b="b"/>
              <a:pathLst>
                <a:path w="6792595" h="2073275">
                  <a:moveTo>
                    <a:pt x="288036" y="774192"/>
                  </a:moveTo>
                  <a:lnTo>
                    <a:pt x="0" y="774192"/>
                  </a:lnTo>
                  <a:lnTo>
                    <a:pt x="0" y="2072690"/>
                  </a:lnTo>
                  <a:lnTo>
                    <a:pt x="288036" y="2072690"/>
                  </a:lnTo>
                  <a:lnTo>
                    <a:pt x="288036" y="774192"/>
                  </a:lnTo>
                  <a:close/>
                </a:path>
                <a:path w="6792595" h="2073275">
                  <a:moveTo>
                    <a:pt x="1589532" y="397764"/>
                  </a:moveTo>
                  <a:lnTo>
                    <a:pt x="1299972" y="397764"/>
                  </a:lnTo>
                  <a:lnTo>
                    <a:pt x="1299972" y="2072690"/>
                  </a:lnTo>
                  <a:lnTo>
                    <a:pt x="1589532" y="2072703"/>
                  </a:lnTo>
                  <a:lnTo>
                    <a:pt x="1589532" y="397764"/>
                  </a:lnTo>
                  <a:close/>
                </a:path>
                <a:path w="6792595" h="2073275">
                  <a:moveTo>
                    <a:pt x="2889504" y="524256"/>
                  </a:moveTo>
                  <a:lnTo>
                    <a:pt x="2601468" y="524256"/>
                  </a:lnTo>
                  <a:lnTo>
                    <a:pt x="2601468" y="2072690"/>
                  </a:lnTo>
                  <a:lnTo>
                    <a:pt x="2889504" y="2072690"/>
                  </a:lnTo>
                  <a:lnTo>
                    <a:pt x="2889504" y="524256"/>
                  </a:lnTo>
                  <a:close/>
                </a:path>
                <a:path w="6792595" h="2073275">
                  <a:moveTo>
                    <a:pt x="4191000" y="1485900"/>
                  </a:moveTo>
                  <a:lnTo>
                    <a:pt x="3901440" y="1485900"/>
                  </a:lnTo>
                  <a:lnTo>
                    <a:pt x="3901440" y="2072690"/>
                  </a:lnTo>
                  <a:lnTo>
                    <a:pt x="4191000" y="2072690"/>
                  </a:lnTo>
                  <a:lnTo>
                    <a:pt x="4191000" y="1485900"/>
                  </a:lnTo>
                  <a:close/>
                </a:path>
                <a:path w="6792595" h="2073275">
                  <a:moveTo>
                    <a:pt x="5492496" y="0"/>
                  </a:moveTo>
                  <a:lnTo>
                    <a:pt x="5202936" y="0"/>
                  </a:lnTo>
                  <a:lnTo>
                    <a:pt x="5202936" y="2072690"/>
                  </a:lnTo>
                  <a:lnTo>
                    <a:pt x="5492496" y="2072703"/>
                  </a:lnTo>
                  <a:lnTo>
                    <a:pt x="5492496" y="0"/>
                  </a:lnTo>
                  <a:close/>
                </a:path>
                <a:path w="6792595" h="2073275">
                  <a:moveTo>
                    <a:pt x="6792468" y="565404"/>
                  </a:moveTo>
                  <a:lnTo>
                    <a:pt x="6502908" y="565404"/>
                  </a:lnTo>
                  <a:lnTo>
                    <a:pt x="6502908" y="2072690"/>
                  </a:lnTo>
                  <a:lnTo>
                    <a:pt x="6792468" y="2072690"/>
                  </a:lnTo>
                  <a:lnTo>
                    <a:pt x="6792468" y="565404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780" y="1200150"/>
              <a:ext cx="7851140" cy="2767330"/>
            </a:xfrm>
            <a:custGeom>
              <a:avLst/>
              <a:gdLst/>
              <a:ahLst/>
              <a:cxnLst/>
              <a:rect l="l" t="t" r="r" b="b"/>
              <a:pathLst>
                <a:path w="7851140" h="2767329">
                  <a:moveTo>
                    <a:pt x="45999" y="2721152"/>
                  </a:moveTo>
                  <a:lnTo>
                    <a:pt x="45999" y="0"/>
                  </a:lnTo>
                </a:path>
                <a:path w="7851140" h="2767329">
                  <a:moveTo>
                    <a:pt x="0" y="2721152"/>
                  </a:moveTo>
                  <a:lnTo>
                    <a:pt x="45999" y="2721152"/>
                  </a:lnTo>
                </a:path>
                <a:path w="7851140" h="2767329">
                  <a:moveTo>
                    <a:pt x="0" y="2302002"/>
                  </a:moveTo>
                  <a:lnTo>
                    <a:pt x="45999" y="2302002"/>
                  </a:lnTo>
                </a:path>
                <a:path w="7851140" h="2767329">
                  <a:moveTo>
                    <a:pt x="0" y="1884426"/>
                  </a:moveTo>
                  <a:lnTo>
                    <a:pt x="45999" y="1884426"/>
                  </a:lnTo>
                </a:path>
                <a:path w="7851140" h="2767329">
                  <a:moveTo>
                    <a:pt x="0" y="1465326"/>
                  </a:moveTo>
                  <a:lnTo>
                    <a:pt x="45999" y="1465326"/>
                  </a:lnTo>
                </a:path>
                <a:path w="7851140" h="2767329">
                  <a:moveTo>
                    <a:pt x="0" y="1046226"/>
                  </a:moveTo>
                  <a:lnTo>
                    <a:pt x="45999" y="1046226"/>
                  </a:lnTo>
                </a:path>
                <a:path w="7851140" h="2767329">
                  <a:moveTo>
                    <a:pt x="0" y="628650"/>
                  </a:moveTo>
                  <a:lnTo>
                    <a:pt x="45999" y="628650"/>
                  </a:lnTo>
                </a:path>
                <a:path w="7851140" h="2767329">
                  <a:moveTo>
                    <a:pt x="0" y="209423"/>
                  </a:moveTo>
                  <a:lnTo>
                    <a:pt x="45999" y="209423"/>
                  </a:lnTo>
                </a:path>
                <a:path w="7851140" h="2767329">
                  <a:moveTo>
                    <a:pt x="45999" y="2721152"/>
                  </a:moveTo>
                  <a:lnTo>
                    <a:pt x="7850759" y="2721152"/>
                  </a:lnTo>
                </a:path>
                <a:path w="7851140" h="2767329">
                  <a:moveTo>
                    <a:pt x="45999" y="2721152"/>
                  </a:moveTo>
                  <a:lnTo>
                    <a:pt x="45999" y="2767139"/>
                  </a:lnTo>
                </a:path>
                <a:path w="7851140" h="2767329">
                  <a:moveTo>
                    <a:pt x="1347343" y="2721152"/>
                  </a:moveTo>
                  <a:lnTo>
                    <a:pt x="1347343" y="2767139"/>
                  </a:lnTo>
                </a:path>
                <a:path w="7851140" h="2767329">
                  <a:moveTo>
                    <a:pt x="2647315" y="2721152"/>
                  </a:moveTo>
                  <a:lnTo>
                    <a:pt x="2647315" y="2767139"/>
                  </a:lnTo>
                </a:path>
                <a:path w="7851140" h="2767329">
                  <a:moveTo>
                    <a:pt x="3948810" y="2721152"/>
                  </a:moveTo>
                  <a:lnTo>
                    <a:pt x="3948810" y="2767139"/>
                  </a:lnTo>
                </a:path>
                <a:path w="7851140" h="2767329">
                  <a:moveTo>
                    <a:pt x="5248783" y="2721152"/>
                  </a:moveTo>
                  <a:lnTo>
                    <a:pt x="5248783" y="2767139"/>
                  </a:lnTo>
                </a:path>
                <a:path w="7851140" h="2767329">
                  <a:moveTo>
                    <a:pt x="6550279" y="2721152"/>
                  </a:moveTo>
                  <a:lnTo>
                    <a:pt x="6550279" y="2767139"/>
                  </a:lnTo>
                </a:path>
                <a:path w="7851140" h="2767329">
                  <a:moveTo>
                    <a:pt x="7850759" y="2721152"/>
                  </a:moveTo>
                  <a:lnTo>
                    <a:pt x="7850759" y="2767139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5660" y="1294003"/>
            <a:ext cx="280035" cy="272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570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550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530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510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490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470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450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4203" y="3988104"/>
            <a:ext cx="719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Bangalore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01645" y="3988104"/>
            <a:ext cx="567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Mumbai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7573" y="3988104"/>
            <a:ext cx="38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Pune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03617" y="3988104"/>
            <a:ext cx="771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Hyderabad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69945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388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57702" y="3988104"/>
            <a:ext cx="8159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Delhi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000" spc="-10" dirty="0">
                <a:solidFill>
                  <a:srgbClr val="1B5E20"/>
                </a:solidFill>
                <a:latin typeface="Calibri"/>
                <a:cs typeface="Calibri"/>
              </a:rPr>
              <a:t>Electronics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84015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0089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71898" y="4278884"/>
            <a:ext cx="735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B5E20"/>
                </a:solidFill>
                <a:latin typeface="Calibri"/>
                <a:cs typeface="Calibri"/>
              </a:rPr>
              <a:t>Personal</a:t>
            </a:r>
            <a:r>
              <a:rPr sz="10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1B5E20"/>
                </a:solidFill>
                <a:latin typeface="Calibri"/>
                <a:cs typeface="Calibri"/>
              </a:rPr>
              <a:t>Care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47817" y="4346101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66B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90921" y="3988104"/>
            <a:ext cx="74549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Chennai</a:t>
            </a:r>
            <a:endParaRPr sz="1200">
              <a:latin typeface="Arial MT"/>
              <a:cs typeface="Arial MT"/>
            </a:endParaRPr>
          </a:p>
          <a:p>
            <a:pPr marL="157480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1B5E20"/>
                </a:solidFill>
                <a:latin typeface="Calibri"/>
                <a:cs typeface="Calibri"/>
              </a:rPr>
              <a:t>Home</a:t>
            </a:r>
            <a:r>
              <a:rPr sz="1000" spc="-20" dirty="0">
                <a:solidFill>
                  <a:srgbClr val="1B5E20"/>
                </a:solidFill>
                <a:latin typeface="Calibri"/>
                <a:cs typeface="Calibri"/>
              </a:rPr>
              <a:t> Care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9670" y="4797044"/>
            <a:ext cx="2722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Units</a:t>
            </a:r>
            <a:r>
              <a:rPr sz="1000" i="1" spc="-2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sold</a:t>
            </a:r>
            <a:r>
              <a:rPr sz="1000" i="1" spc="-2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across</a:t>
            </a:r>
            <a:r>
              <a:rPr sz="1000" i="1" spc="-3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6</a:t>
            </a:r>
            <a:r>
              <a:rPr sz="1000" i="1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cities</a:t>
            </a:r>
            <a:r>
              <a:rPr sz="1000" i="1" spc="-4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for</a:t>
            </a:r>
            <a:r>
              <a:rPr sz="1000" i="1" spc="-2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top</a:t>
            </a:r>
            <a:r>
              <a:rPr sz="1000" i="1" spc="-2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3</a:t>
            </a:r>
            <a:r>
              <a:rPr sz="1000" i="1" spc="-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4F6353"/>
                </a:solidFill>
                <a:latin typeface="Calibri"/>
                <a:cs typeface="Calibri"/>
              </a:rPr>
              <a:t>product</a:t>
            </a:r>
            <a:r>
              <a:rPr sz="1000" i="1" spc="-3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4F6353"/>
                </a:solidFill>
                <a:latin typeface="Calibri"/>
                <a:cs typeface="Calibri"/>
              </a:rPr>
              <a:t>categories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528" y="560760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65956" y="674780"/>
            <a:ext cx="37522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REVENUE</a:t>
            </a:r>
            <a:r>
              <a:rPr sz="2000" spc="-45" dirty="0"/>
              <a:t> </a:t>
            </a:r>
            <a:r>
              <a:rPr sz="2000" dirty="0"/>
              <a:t>&amp;</a:t>
            </a:r>
            <a:r>
              <a:rPr sz="2000" spc="-20" dirty="0"/>
              <a:t> </a:t>
            </a:r>
            <a:r>
              <a:rPr sz="2000" dirty="0"/>
              <a:t>PROFIT</a:t>
            </a:r>
            <a:r>
              <a:rPr sz="2000" spc="-30" dirty="0"/>
              <a:t> </a:t>
            </a:r>
            <a:r>
              <a:rPr sz="2000" spc="-10" dirty="0"/>
              <a:t>ANALYSIS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29743" y="2015870"/>
            <a:ext cx="4592320" cy="2369820"/>
            <a:chOff x="1126871" y="1193927"/>
            <a:chExt cx="4592320" cy="2369820"/>
          </a:xfrm>
        </p:grpSpPr>
        <p:sp>
          <p:nvSpPr>
            <p:cNvPr id="5" name="object 5"/>
            <p:cNvSpPr/>
            <p:nvPr/>
          </p:nvSpPr>
          <p:spPr>
            <a:xfrm>
              <a:off x="1172870" y="1200277"/>
              <a:ext cx="4539615" cy="2085975"/>
            </a:xfrm>
            <a:custGeom>
              <a:avLst/>
              <a:gdLst/>
              <a:ahLst/>
              <a:cxnLst/>
              <a:rect l="l" t="t" r="r" b="b"/>
              <a:pathLst>
                <a:path w="4539615" h="2085975">
                  <a:moveTo>
                    <a:pt x="3178149" y="2085467"/>
                  </a:moveTo>
                  <a:lnTo>
                    <a:pt x="3825849" y="2085467"/>
                  </a:lnTo>
                </a:path>
                <a:path w="4539615" h="2085975">
                  <a:moveTo>
                    <a:pt x="713841" y="2085467"/>
                  </a:moveTo>
                  <a:lnTo>
                    <a:pt x="1102461" y="2085467"/>
                  </a:lnTo>
                </a:path>
                <a:path w="4539615" h="2085975">
                  <a:moveTo>
                    <a:pt x="2528925" y="2085467"/>
                  </a:moveTo>
                  <a:lnTo>
                    <a:pt x="2919069" y="2085467"/>
                  </a:lnTo>
                </a:path>
                <a:path w="4539615" h="2085975">
                  <a:moveTo>
                    <a:pt x="0" y="2085467"/>
                  </a:moveTo>
                  <a:lnTo>
                    <a:pt x="194157" y="2085467"/>
                  </a:lnTo>
                </a:path>
                <a:path w="4539615" h="2085975">
                  <a:moveTo>
                    <a:pt x="1620621" y="2085467"/>
                  </a:moveTo>
                  <a:lnTo>
                    <a:pt x="2010765" y="2085467"/>
                  </a:lnTo>
                </a:path>
                <a:path w="4539615" h="2085975">
                  <a:moveTo>
                    <a:pt x="4345533" y="2085467"/>
                  </a:moveTo>
                  <a:lnTo>
                    <a:pt x="4539589" y="2085467"/>
                  </a:lnTo>
                </a:path>
                <a:path w="4539615" h="2085975">
                  <a:moveTo>
                    <a:pt x="4345533" y="1853819"/>
                  </a:moveTo>
                  <a:lnTo>
                    <a:pt x="4539589" y="1853819"/>
                  </a:lnTo>
                </a:path>
                <a:path w="4539615" h="2085975">
                  <a:moveTo>
                    <a:pt x="0" y="1853819"/>
                  </a:moveTo>
                  <a:lnTo>
                    <a:pt x="194157" y="1853819"/>
                  </a:lnTo>
                </a:path>
                <a:path w="4539615" h="2085975">
                  <a:moveTo>
                    <a:pt x="713841" y="1853819"/>
                  </a:moveTo>
                  <a:lnTo>
                    <a:pt x="1102461" y="1853819"/>
                  </a:lnTo>
                </a:path>
                <a:path w="4539615" h="2085975">
                  <a:moveTo>
                    <a:pt x="3178149" y="1853819"/>
                  </a:moveTo>
                  <a:lnTo>
                    <a:pt x="3825849" y="1853819"/>
                  </a:lnTo>
                </a:path>
                <a:path w="4539615" h="2085975">
                  <a:moveTo>
                    <a:pt x="2269845" y="1853819"/>
                  </a:moveTo>
                  <a:lnTo>
                    <a:pt x="2919069" y="1853819"/>
                  </a:lnTo>
                </a:path>
                <a:path w="4539615" h="2085975">
                  <a:moveTo>
                    <a:pt x="1361541" y="1853819"/>
                  </a:moveTo>
                  <a:lnTo>
                    <a:pt x="2010765" y="1853819"/>
                  </a:lnTo>
                </a:path>
                <a:path w="4539615" h="2085975">
                  <a:moveTo>
                    <a:pt x="1361541" y="1622171"/>
                  </a:moveTo>
                  <a:lnTo>
                    <a:pt x="2010765" y="1622171"/>
                  </a:lnTo>
                </a:path>
                <a:path w="4539615" h="2085975">
                  <a:moveTo>
                    <a:pt x="713841" y="1622171"/>
                  </a:moveTo>
                  <a:lnTo>
                    <a:pt x="1102461" y="1622171"/>
                  </a:lnTo>
                </a:path>
                <a:path w="4539615" h="2085975">
                  <a:moveTo>
                    <a:pt x="0" y="1622171"/>
                  </a:moveTo>
                  <a:lnTo>
                    <a:pt x="194157" y="1622171"/>
                  </a:lnTo>
                </a:path>
                <a:path w="4539615" h="2085975">
                  <a:moveTo>
                    <a:pt x="3178149" y="1622171"/>
                  </a:moveTo>
                  <a:lnTo>
                    <a:pt x="3825849" y="1622171"/>
                  </a:lnTo>
                </a:path>
                <a:path w="4539615" h="2085975">
                  <a:moveTo>
                    <a:pt x="4084929" y="1622171"/>
                  </a:moveTo>
                  <a:lnTo>
                    <a:pt x="4539589" y="1622171"/>
                  </a:lnTo>
                </a:path>
                <a:path w="4539615" h="2085975">
                  <a:moveTo>
                    <a:pt x="2269845" y="1622171"/>
                  </a:moveTo>
                  <a:lnTo>
                    <a:pt x="2919069" y="1622171"/>
                  </a:lnTo>
                </a:path>
                <a:path w="4539615" h="2085975">
                  <a:moveTo>
                    <a:pt x="2269845" y="1390523"/>
                  </a:moveTo>
                  <a:lnTo>
                    <a:pt x="3825849" y="1390523"/>
                  </a:lnTo>
                </a:path>
                <a:path w="4539615" h="2085975">
                  <a:moveTo>
                    <a:pt x="1361541" y="1390523"/>
                  </a:moveTo>
                  <a:lnTo>
                    <a:pt x="2010765" y="1390523"/>
                  </a:lnTo>
                </a:path>
                <a:path w="4539615" h="2085975">
                  <a:moveTo>
                    <a:pt x="4084929" y="1390523"/>
                  </a:moveTo>
                  <a:lnTo>
                    <a:pt x="4539589" y="1390523"/>
                  </a:lnTo>
                </a:path>
                <a:path w="4539615" h="2085975">
                  <a:moveTo>
                    <a:pt x="0" y="1390523"/>
                  </a:moveTo>
                  <a:lnTo>
                    <a:pt x="194157" y="1390523"/>
                  </a:lnTo>
                </a:path>
                <a:path w="4539615" h="2085975">
                  <a:moveTo>
                    <a:pt x="453237" y="1390523"/>
                  </a:moveTo>
                  <a:lnTo>
                    <a:pt x="1102461" y="1390523"/>
                  </a:lnTo>
                </a:path>
                <a:path w="4539615" h="2085975">
                  <a:moveTo>
                    <a:pt x="0" y="1158875"/>
                  </a:moveTo>
                  <a:lnTo>
                    <a:pt x="194157" y="1158875"/>
                  </a:lnTo>
                </a:path>
                <a:path w="4539615" h="2085975">
                  <a:moveTo>
                    <a:pt x="453237" y="1158875"/>
                  </a:moveTo>
                  <a:lnTo>
                    <a:pt x="3825849" y="1158875"/>
                  </a:lnTo>
                </a:path>
                <a:path w="4539615" h="2085975">
                  <a:moveTo>
                    <a:pt x="4084929" y="1158875"/>
                  </a:moveTo>
                  <a:lnTo>
                    <a:pt x="4539589" y="1158875"/>
                  </a:lnTo>
                </a:path>
                <a:path w="4539615" h="2085975">
                  <a:moveTo>
                    <a:pt x="4084929" y="927227"/>
                  </a:moveTo>
                  <a:lnTo>
                    <a:pt x="4539589" y="927227"/>
                  </a:lnTo>
                </a:path>
                <a:path w="4539615" h="2085975">
                  <a:moveTo>
                    <a:pt x="453237" y="927227"/>
                  </a:moveTo>
                  <a:lnTo>
                    <a:pt x="3825849" y="927227"/>
                  </a:lnTo>
                </a:path>
                <a:path w="4539615" h="2085975">
                  <a:moveTo>
                    <a:pt x="0" y="927227"/>
                  </a:moveTo>
                  <a:lnTo>
                    <a:pt x="194157" y="927227"/>
                  </a:lnTo>
                </a:path>
                <a:path w="4539615" h="2085975">
                  <a:moveTo>
                    <a:pt x="4084929" y="695579"/>
                  </a:moveTo>
                  <a:lnTo>
                    <a:pt x="4539589" y="695579"/>
                  </a:lnTo>
                </a:path>
                <a:path w="4539615" h="2085975">
                  <a:moveTo>
                    <a:pt x="453237" y="695579"/>
                  </a:moveTo>
                  <a:lnTo>
                    <a:pt x="3825849" y="695579"/>
                  </a:lnTo>
                </a:path>
                <a:path w="4539615" h="2085975">
                  <a:moveTo>
                    <a:pt x="0" y="695579"/>
                  </a:moveTo>
                  <a:lnTo>
                    <a:pt x="194157" y="695579"/>
                  </a:lnTo>
                </a:path>
                <a:path w="4539615" h="2085975">
                  <a:moveTo>
                    <a:pt x="0" y="463931"/>
                  </a:moveTo>
                  <a:lnTo>
                    <a:pt x="194157" y="463931"/>
                  </a:lnTo>
                </a:path>
                <a:path w="4539615" h="2085975">
                  <a:moveTo>
                    <a:pt x="453237" y="463931"/>
                  </a:moveTo>
                  <a:lnTo>
                    <a:pt x="4539589" y="463931"/>
                  </a:lnTo>
                </a:path>
                <a:path w="4539615" h="2085975">
                  <a:moveTo>
                    <a:pt x="453237" y="232283"/>
                  </a:moveTo>
                  <a:lnTo>
                    <a:pt x="4539589" y="232283"/>
                  </a:lnTo>
                </a:path>
                <a:path w="4539615" h="2085975">
                  <a:moveTo>
                    <a:pt x="0" y="232283"/>
                  </a:moveTo>
                  <a:lnTo>
                    <a:pt x="194157" y="232283"/>
                  </a:lnTo>
                </a:path>
                <a:path w="4539615" h="2085975">
                  <a:moveTo>
                    <a:pt x="0" y="0"/>
                  </a:moveTo>
                  <a:lnTo>
                    <a:pt x="4539589" y="0"/>
                  </a:lnTo>
                </a:path>
              </a:pathLst>
            </a:custGeom>
            <a:ln w="635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7028" y="1328927"/>
              <a:ext cx="3891279" cy="2188845"/>
            </a:xfrm>
            <a:custGeom>
              <a:avLst/>
              <a:gdLst/>
              <a:ahLst/>
              <a:cxnLst/>
              <a:rect l="l" t="t" r="r" b="b"/>
              <a:pathLst>
                <a:path w="3891279" h="2188845">
                  <a:moveTo>
                    <a:pt x="259067" y="0"/>
                  </a:moveTo>
                  <a:lnTo>
                    <a:pt x="0" y="0"/>
                  </a:lnTo>
                  <a:lnTo>
                    <a:pt x="0" y="2188476"/>
                  </a:lnTo>
                  <a:lnTo>
                    <a:pt x="259067" y="2188476"/>
                  </a:lnTo>
                  <a:lnTo>
                    <a:pt x="259067" y="0"/>
                  </a:lnTo>
                  <a:close/>
                </a:path>
                <a:path w="3891279" h="2188845">
                  <a:moveTo>
                    <a:pt x="1167384" y="1106424"/>
                  </a:moveTo>
                  <a:lnTo>
                    <a:pt x="908304" y="1106424"/>
                  </a:lnTo>
                  <a:lnTo>
                    <a:pt x="908304" y="2188476"/>
                  </a:lnTo>
                  <a:lnTo>
                    <a:pt x="1167384" y="2188476"/>
                  </a:lnTo>
                  <a:lnTo>
                    <a:pt x="1167384" y="1106424"/>
                  </a:lnTo>
                  <a:close/>
                </a:path>
                <a:path w="3891279" h="2188845">
                  <a:moveTo>
                    <a:pt x="2075688" y="1115568"/>
                  </a:moveTo>
                  <a:lnTo>
                    <a:pt x="1816608" y="1115568"/>
                  </a:lnTo>
                  <a:lnTo>
                    <a:pt x="1816608" y="2188476"/>
                  </a:lnTo>
                  <a:lnTo>
                    <a:pt x="2075688" y="2188476"/>
                  </a:lnTo>
                  <a:lnTo>
                    <a:pt x="2075688" y="1115568"/>
                  </a:lnTo>
                  <a:close/>
                </a:path>
                <a:path w="3891279" h="2188845">
                  <a:moveTo>
                    <a:pt x="2983992" y="1487424"/>
                  </a:moveTo>
                  <a:lnTo>
                    <a:pt x="2724912" y="1487424"/>
                  </a:lnTo>
                  <a:lnTo>
                    <a:pt x="2724912" y="2188476"/>
                  </a:lnTo>
                  <a:lnTo>
                    <a:pt x="2983992" y="2188476"/>
                  </a:lnTo>
                  <a:lnTo>
                    <a:pt x="2983992" y="1487424"/>
                  </a:lnTo>
                  <a:close/>
                </a:path>
                <a:path w="3891279" h="2188845">
                  <a:moveTo>
                    <a:pt x="3890772" y="472440"/>
                  </a:moveTo>
                  <a:lnTo>
                    <a:pt x="3631692" y="472440"/>
                  </a:lnTo>
                  <a:lnTo>
                    <a:pt x="3631692" y="2188476"/>
                  </a:lnTo>
                  <a:lnTo>
                    <a:pt x="3890772" y="2188476"/>
                  </a:lnTo>
                  <a:lnTo>
                    <a:pt x="3890772" y="47244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26095" y="2810255"/>
              <a:ext cx="3892550" cy="707390"/>
            </a:xfrm>
            <a:custGeom>
              <a:avLst/>
              <a:gdLst/>
              <a:ahLst/>
              <a:cxnLst/>
              <a:rect l="l" t="t" r="r" b="b"/>
              <a:pathLst>
                <a:path w="3892550" h="707389">
                  <a:moveTo>
                    <a:pt x="260616" y="0"/>
                  </a:moveTo>
                  <a:lnTo>
                    <a:pt x="0" y="0"/>
                  </a:lnTo>
                  <a:lnTo>
                    <a:pt x="0" y="707148"/>
                  </a:lnTo>
                  <a:lnTo>
                    <a:pt x="260616" y="707148"/>
                  </a:lnTo>
                  <a:lnTo>
                    <a:pt x="260616" y="0"/>
                  </a:lnTo>
                  <a:close/>
                </a:path>
                <a:path w="3892550" h="707389">
                  <a:moveTo>
                    <a:pt x="1167396" y="394716"/>
                  </a:moveTo>
                  <a:lnTo>
                    <a:pt x="908316" y="394716"/>
                  </a:lnTo>
                  <a:lnTo>
                    <a:pt x="908316" y="707148"/>
                  </a:lnTo>
                  <a:lnTo>
                    <a:pt x="1167396" y="707148"/>
                  </a:lnTo>
                  <a:lnTo>
                    <a:pt x="1167396" y="394716"/>
                  </a:lnTo>
                  <a:close/>
                </a:path>
                <a:path w="3892550" h="707389">
                  <a:moveTo>
                    <a:pt x="2075700" y="399288"/>
                  </a:moveTo>
                  <a:lnTo>
                    <a:pt x="1816620" y="399288"/>
                  </a:lnTo>
                  <a:lnTo>
                    <a:pt x="1816620" y="707148"/>
                  </a:lnTo>
                  <a:lnTo>
                    <a:pt x="2075700" y="707148"/>
                  </a:lnTo>
                  <a:lnTo>
                    <a:pt x="2075700" y="399288"/>
                  </a:lnTo>
                  <a:close/>
                </a:path>
                <a:path w="3892550" h="707389">
                  <a:moveTo>
                    <a:pt x="2984004" y="527304"/>
                  </a:moveTo>
                  <a:lnTo>
                    <a:pt x="2724924" y="527304"/>
                  </a:lnTo>
                  <a:lnTo>
                    <a:pt x="2724924" y="707148"/>
                  </a:lnTo>
                  <a:lnTo>
                    <a:pt x="2984004" y="707148"/>
                  </a:lnTo>
                  <a:lnTo>
                    <a:pt x="2984004" y="527304"/>
                  </a:lnTo>
                  <a:close/>
                </a:path>
                <a:path w="3892550" h="707389">
                  <a:moveTo>
                    <a:pt x="3892308" y="208788"/>
                  </a:moveTo>
                  <a:lnTo>
                    <a:pt x="3631704" y="208788"/>
                  </a:lnTo>
                  <a:lnTo>
                    <a:pt x="3631704" y="707148"/>
                  </a:lnTo>
                  <a:lnTo>
                    <a:pt x="3892308" y="707148"/>
                  </a:lnTo>
                  <a:lnTo>
                    <a:pt x="3892308" y="208788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6871" y="1200150"/>
              <a:ext cx="4585970" cy="2363470"/>
            </a:xfrm>
            <a:custGeom>
              <a:avLst/>
              <a:gdLst/>
              <a:ahLst/>
              <a:cxnLst/>
              <a:rect l="l" t="t" r="r" b="b"/>
              <a:pathLst>
                <a:path w="4585970" h="2363470">
                  <a:moveTo>
                    <a:pt x="45999" y="2317242"/>
                  </a:moveTo>
                  <a:lnTo>
                    <a:pt x="45999" y="0"/>
                  </a:lnTo>
                </a:path>
                <a:path w="4585970" h="2363470">
                  <a:moveTo>
                    <a:pt x="0" y="2317242"/>
                  </a:moveTo>
                  <a:lnTo>
                    <a:pt x="45999" y="2317242"/>
                  </a:lnTo>
                </a:path>
                <a:path w="4585970" h="2363470">
                  <a:moveTo>
                    <a:pt x="0" y="2085594"/>
                  </a:moveTo>
                  <a:lnTo>
                    <a:pt x="45999" y="2085594"/>
                  </a:lnTo>
                </a:path>
                <a:path w="4585970" h="2363470">
                  <a:moveTo>
                    <a:pt x="0" y="1853945"/>
                  </a:moveTo>
                  <a:lnTo>
                    <a:pt x="45999" y="1853945"/>
                  </a:lnTo>
                </a:path>
                <a:path w="4585970" h="2363470">
                  <a:moveTo>
                    <a:pt x="0" y="1622298"/>
                  </a:moveTo>
                  <a:lnTo>
                    <a:pt x="45999" y="1622298"/>
                  </a:lnTo>
                </a:path>
                <a:path w="4585970" h="2363470">
                  <a:moveTo>
                    <a:pt x="0" y="1390650"/>
                  </a:moveTo>
                  <a:lnTo>
                    <a:pt x="45999" y="1390650"/>
                  </a:lnTo>
                </a:path>
                <a:path w="4585970" h="2363470">
                  <a:moveTo>
                    <a:pt x="0" y="1159002"/>
                  </a:moveTo>
                  <a:lnTo>
                    <a:pt x="45999" y="1159002"/>
                  </a:lnTo>
                </a:path>
                <a:path w="4585970" h="2363470">
                  <a:moveTo>
                    <a:pt x="0" y="927354"/>
                  </a:moveTo>
                  <a:lnTo>
                    <a:pt x="45999" y="927354"/>
                  </a:lnTo>
                </a:path>
                <a:path w="4585970" h="2363470">
                  <a:moveTo>
                    <a:pt x="0" y="695706"/>
                  </a:moveTo>
                  <a:lnTo>
                    <a:pt x="45999" y="695706"/>
                  </a:lnTo>
                </a:path>
                <a:path w="4585970" h="2363470">
                  <a:moveTo>
                    <a:pt x="0" y="464058"/>
                  </a:moveTo>
                  <a:lnTo>
                    <a:pt x="45999" y="464058"/>
                  </a:lnTo>
                </a:path>
                <a:path w="4585970" h="2363470">
                  <a:moveTo>
                    <a:pt x="0" y="232410"/>
                  </a:moveTo>
                  <a:lnTo>
                    <a:pt x="45999" y="232410"/>
                  </a:lnTo>
                </a:path>
                <a:path w="4585970" h="2363470">
                  <a:moveTo>
                    <a:pt x="0" y="126"/>
                  </a:moveTo>
                  <a:lnTo>
                    <a:pt x="45999" y="126"/>
                  </a:lnTo>
                </a:path>
                <a:path w="4585970" h="2363470">
                  <a:moveTo>
                    <a:pt x="45999" y="2317242"/>
                  </a:moveTo>
                  <a:lnTo>
                    <a:pt x="4585589" y="2317242"/>
                  </a:lnTo>
                </a:path>
                <a:path w="4585970" h="2363470">
                  <a:moveTo>
                    <a:pt x="45999" y="2317242"/>
                  </a:moveTo>
                  <a:lnTo>
                    <a:pt x="45999" y="2363216"/>
                  </a:lnTo>
                </a:path>
                <a:path w="4585970" h="2363470">
                  <a:moveTo>
                    <a:pt x="953389" y="2317242"/>
                  </a:moveTo>
                  <a:lnTo>
                    <a:pt x="953389" y="2363216"/>
                  </a:lnTo>
                </a:path>
                <a:path w="4585970" h="2363470">
                  <a:moveTo>
                    <a:pt x="1861692" y="2317242"/>
                  </a:moveTo>
                  <a:lnTo>
                    <a:pt x="1861692" y="2363216"/>
                  </a:lnTo>
                </a:path>
                <a:path w="4585970" h="2363470">
                  <a:moveTo>
                    <a:pt x="2769996" y="2317242"/>
                  </a:moveTo>
                  <a:lnTo>
                    <a:pt x="2769996" y="2363216"/>
                  </a:lnTo>
                </a:path>
                <a:path w="4585970" h="2363470">
                  <a:moveTo>
                    <a:pt x="3678301" y="2317242"/>
                  </a:moveTo>
                  <a:lnTo>
                    <a:pt x="3678301" y="2363216"/>
                  </a:lnTo>
                </a:path>
                <a:path w="4585970" h="2363470">
                  <a:moveTo>
                    <a:pt x="4585589" y="2317242"/>
                  </a:moveTo>
                  <a:lnTo>
                    <a:pt x="4585589" y="2363216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4513" y="1865567"/>
            <a:ext cx="619125" cy="25749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84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1000000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900000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800000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700000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600000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4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500000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5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400000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84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300000</a:t>
            </a:r>
            <a:endParaRPr sz="12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8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200000</a:t>
            </a:r>
            <a:endParaRPr sz="12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100000</a:t>
            </a:r>
            <a:endParaRPr sz="12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384"/>
              </a:spcBef>
            </a:pPr>
            <a:r>
              <a:rPr sz="1200" spc="-50" dirty="0">
                <a:solidFill>
                  <a:srgbClr val="4F6353"/>
                </a:solidFill>
                <a:latin typeface="Arial MT"/>
                <a:cs typeface="Arial MT"/>
              </a:rPr>
              <a:t>0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4420" y="4413561"/>
            <a:ext cx="1696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3605" algn="l"/>
              </a:tabLst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Electronics</a:t>
            </a:r>
            <a:r>
              <a:rPr sz="1200" dirty="0">
                <a:solidFill>
                  <a:srgbClr val="4F6353"/>
                </a:solidFill>
                <a:latin typeface="Arial MT"/>
                <a:cs typeface="Arial MT"/>
              </a:rPr>
              <a:t>	Home</a:t>
            </a:r>
            <a:r>
              <a:rPr sz="1200" spc="-25" dirty="0">
                <a:solidFill>
                  <a:srgbClr val="4F635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2213" y="4381250"/>
            <a:ext cx="627380" cy="3841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47955" marR="5080" indent="-135890">
              <a:lnSpc>
                <a:spcPts val="1380"/>
              </a:lnSpc>
              <a:spcBef>
                <a:spcPts val="195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Personal </a:t>
            </a:r>
            <a:r>
              <a:rPr sz="1200" spc="-20" dirty="0">
                <a:solidFill>
                  <a:srgbClr val="4F6353"/>
                </a:solidFill>
                <a:latin typeface="Arial MT"/>
                <a:cs typeface="Arial MT"/>
              </a:rPr>
              <a:t>Care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1399" y="4424230"/>
            <a:ext cx="567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Grocery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8561" y="4381250"/>
            <a:ext cx="585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F6353"/>
                </a:solidFill>
                <a:latin typeface="Arial MT"/>
                <a:cs typeface="Arial MT"/>
              </a:rPr>
              <a:t>Clothing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75066" y="4867910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388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20119" y="4830100"/>
            <a:ext cx="643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B5E20"/>
                </a:solidFill>
                <a:latin typeface="Calibri"/>
                <a:cs typeface="Calibri"/>
              </a:rPr>
              <a:t>Revenue</a:t>
            </a:r>
            <a:r>
              <a:rPr sz="10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B5E20"/>
                </a:solidFill>
                <a:latin typeface="Calibri"/>
                <a:cs typeface="Calibri"/>
              </a:rPr>
              <a:t>($)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61514" y="4884075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752" y="0"/>
                </a:moveTo>
                <a:lnTo>
                  <a:pt x="0" y="0"/>
                </a:lnTo>
                <a:lnTo>
                  <a:pt x="0" y="69752"/>
                </a:lnTo>
                <a:lnTo>
                  <a:pt x="69752" y="69752"/>
                </a:lnTo>
                <a:lnTo>
                  <a:pt x="69752" y="0"/>
                </a:lnTo>
                <a:close/>
              </a:path>
            </a:pathLst>
          </a:custGeom>
          <a:solidFill>
            <a:srgbClr val="66B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98293" y="4830100"/>
            <a:ext cx="482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B5E20"/>
                </a:solidFill>
                <a:latin typeface="Calibri"/>
                <a:cs typeface="Calibri"/>
              </a:rPr>
              <a:t>Profit</a:t>
            </a:r>
            <a:r>
              <a:rPr sz="10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B5E20"/>
                </a:solidFill>
                <a:latin typeface="Calibri"/>
                <a:cs typeface="Calibri"/>
              </a:rPr>
              <a:t>($)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11570" y="1090930"/>
            <a:ext cx="2618740" cy="835660"/>
            <a:chOff x="6211570" y="1090930"/>
            <a:chExt cx="2618740" cy="835660"/>
          </a:xfrm>
        </p:grpSpPr>
        <p:sp>
          <p:nvSpPr>
            <p:cNvPr id="19" name="object 19"/>
            <p:cNvSpPr/>
            <p:nvPr/>
          </p:nvSpPr>
          <p:spPr>
            <a:xfrm>
              <a:off x="6281928" y="109728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60"/>
                  </a:moveTo>
                  <a:lnTo>
                    <a:pt x="2542031" y="822960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17920" y="109728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60"/>
                  </a:moveTo>
                  <a:lnTo>
                    <a:pt x="2606039" y="822960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7920" y="109728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4008" y="82296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920" y="109728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60"/>
                  </a:moveTo>
                  <a:lnTo>
                    <a:pt x="64008" y="82296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388E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88278" y="1188161"/>
            <a:ext cx="2529840" cy="594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88E3C"/>
                </a:solidFill>
                <a:latin typeface="Calibri"/>
                <a:cs typeface="Calibri"/>
              </a:rPr>
              <a:t>$2,917,950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60"/>
              </a:spcBef>
            </a:pPr>
            <a:r>
              <a:rPr sz="1000" dirty="0">
                <a:solidFill>
                  <a:srgbClr val="4F6353"/>
                </a:solidFill>
                <a:latin typeface="Calibri"/>
                <a:cs typeface="Calibri"/>
              </a:rPr>
              <a:t>Total</a:t>
            </a:r>
            <a:r>
              <a:rPr sz="1000" spc="-3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F6353"/>
                </a:solidFill>
                <a:latin typeface="Calibri"/>
                <a:cs typeface="Calibri"/>
              </a:rPr>
              <a:t>Revenue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11570" y="2096770"/>
            <a:ext cx="2618740" cy="835660"/>
            <a:chOff x="6211570" y="2096770"/>
            <a:chExt cx="2618740" cy="835660"/>
          </a:xfrm>
        </p:grpSpPr>
        <p:sp>
          <p:nvSpPr>
            <p:cNvPr id="25" name="object 25"/>
            <p:cNvSpPr/>
            <p:nvPr/>
          </p:nvSpPr>
          <p:spPr>
            <a:xfrm>
              <a:off x="6281928" y="210312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59"/>
                  </a:moveTo>
                  <a:lnTo>
                    <a:pt x="2542031" y="822959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17920" y="210312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59"/>
                  </a:moveTo>
                  <a:lnTo>
                    <a:pt x="2606039" y="822959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17920" y="210312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64008" y="82295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6A2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17920" y="210312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59"/>
                  </a:moveTo>
                  <a:lnTo>
                    <a:pt x="64008" y="82295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16A2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88278" y="2194686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6A249"/>
                </a:solidFill>
                <a:latin typeface="Calibri"/>
                <a:cs typeface="Calibri"/>
              </a:rPr>
              <a:t>$865,500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55"/>
              </a:spcBef>
            </a:pPr>
            <a:r>
              <a:rPr sz="1000" dirty="0">
                <a:solidFill>
                  <a:srgbClr val="4F6353"/>
                </a:solidFill>
                <a:latin typeface="Calibri"/>
                <a:cs typeface="Calibri"/>
              </a:rPr>
              <a:t>Total</a:t>
            </a:r>
            <a:r>
              <a:rPr sz="1000" spc="-3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F6353"/>
                </a:solidFill>
                <a:latin typeface="Calibri"/>
                <a:cs typeface="Calibri"/>
              </a:rPr>
              <a:t>Profit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11570" y="3102610"/>
            <a:ext cx="2618740" cy="835660"/>
            <a:chOff x="6211570" y="3102610"/>
            <a:chExt cx="2618740" cy="835660"/>
          </a:xfrm>
        </p:grpSpPr>
        <p:sp>
          <p:nvSpPr>
            <p:cNvPr id="31" name="object 31"/>
            <p:cNvSpPr/>
            <p:nvPr/>
          </p:nvSpPr>
          <p:spPr>
            <a:xfrm>
              <a:off x="6281928" y="310896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59"/>
                  </a:moveTo>
                  <a:lnTo>
                    <a:pt x="2542031" y="822959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17920" y="310896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59"/>
                  </a:moveTo>
                  <a:lnTo>
                    <a:pt x="2606039" y="822959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17920" y="310896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64008" y="82295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17920" y="310896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59"/>
                  </a:moveTo>
                  <a:lnTo>
                    <a:pt x="64008" y="82295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59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88278" y="3200780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66BB6A"/>
                </a:solidFill>
                <a:latin typeface="Calibri"/>
                <a:cs typeface="Calibri"/>
              </a:rPr>
              <a:t>29.67%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60"/>
              </a:spcBef>
            </a:pPr>
            <a:r>
              <a:rPr sz="1000" dirty="0">
                <a:solidFill>
                  <a:srgbClr val="4F6353"/>
                </a:solidFill>
                <a:latin typeface="Calibri"/>
                <a:cs typeface="Calibri"/>
              </a:rPr>
              <a:t>Profit</a:t>
            </a:r>
            <a:r>
              <a:rPr sz="1000" spc="-45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F6353"/>
                </a:solidFill>
                <a:latin typeface="Calibri"/>
                <a:cs typeface="Calibri"/>
              </a:rPr>
              <a:t>Margin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11570" y="4108450"/>
            <a:ext cx="2618740" cy="835660"/>
            <a:chOff x="6211570" y="4108450"/>
            <a:chExt cx="2618740" cy="835660"/>
          </a:xfrm>
        </p:grpSpPr>
        <p:sp>
          <p:nvSpPr>
            <p:cNvPr id="37" name="object 37"/>
            <p:cNvSpPr/>
            <p:nvPr/>
          </p:nvSpPr>
          <p:spPr>
            <a:xfrm>
              <a:off x="6281928" y="4114800"/>
              <a:ext cx="2542540" cy="822960"/>
            </a:xfrm>
            <a:custGeom>
              <a:avLst/>
              <a:gdLst/>
              <a:ahLst/>
              <a:cxnLst/>
              <a:rect l="l" t="t" r="r" b="b"/>
              <a:pathLst>
                <a:path w="2542540" h="822960">
                  <a:moveTo>
                    <a:pt x="0" y="822960"/>
                  </a:moveTo>
                  <a:lnTo>
                    <a:pt x="2542031" y="822960"/>
                  </a:lnTo>
                  <a:lnTo>
                    <a:pt x="2542031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17920" y="4114800"/>
              <a:ext cx="2606040" cy="822960"/>
            </a:xfrm>
            <a:custGeom>
              <a:avLst/>
              <a:gdLst/>
              <a:ahLst/>
              <a:cxnLst/>
              <a:rect l="l" t="t" r="r" b="b"/>
              <a:pathLst>
                <a:path w="2606040" h="822960">
                  <a:moveTo>
                    <a:pt x="0" y="822960"/>
                  </a:moveTo>
                  <a:lnTo>
                    <a:pt x="2606039" y="822960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17920" y="411480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6400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4008" y="82296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7920" y="4114800"/>
              <a:ext cx="64135" cy="822960"/>
            </a:xfrm>
            <a:custGeom>
              <a:avLst/>
              <a:gdLst/>
              <a:ahLst/>
              <a:cxnLst/>
              <a:rect l="l" t="t" r="r" b="b"/>
              <a:pathLst>
                <a:path w="64135" h="822960">
                  <a:moveTo>
                    <a:pt x="0" y="822960"/>
                  </a:moveTo>
                  <a:lnTo>
                    <a:pt x="64008" y="82296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0089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88278" y="4206951"/>
            <a:ext cx="2529840" cy="593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897B"/>
                </a:solidFill>
                <a:latin typeface="Calibri"/>
                <a:cs typeface="Calibri"/>
              </a:rPr>
              <a:t>Electronics</a:t>
            </a:r>
            <a:endParaRPr sz="16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355"/>
              </a:spcBef>
            </a:pPr>
            <a:r>
              <a:rPr sz="1000" dirty="0">
                <a:solidFill>
                  <a:srgbClr val="4F6353"/>
                </a:solidFill>
                <a:latin typeface="Calibri"/>
                <a:cs typeface="Calibri"/>
              </a:rPr>
              <a:t>Top</a:t>
            </a:r>
            <a:r>
              <a:rPr sz="1000" spc="-20" dirty="0">
                <a:solidFill>
                  <a:srgbClr val="4F635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F6353"/>
                </a:solidFill>
                <a:latin typeface="Calibri"/>
                <a:cs typeface="Calibri"/>
              </a:rPr>
              <a:t>Category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6" y="550928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75362" y="360331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BCG</a:t>
            </a:r>
            <a:r>
              <a:rPr spc="-65" dirty="0"/>
              <a:t> </a:t>
            </a:r>
            <a:r>
              <a:rPr spc="-25" dirty="0"/>
              <a:t>MATRIX</a:t>
            </a:r>
            <a:r>
              <a:rPr spc="-70" dirty="0"/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PRODUCT</a:t>
            </a:r>
            <a:r>
              <a:rPr spc="-55" dirty="0"/>
              <a:t> </a:t>
            </a:r>
            <a:r>
              <a:rPr spc="-30" dirty="0"/>
              <a:t>CATEGORY</a:t>
            </a:r>
            <a:r>
              <a:rPr spc="-4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29482" y="1019301"/>
            <a:ext cx="268414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Relative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Market</a:t>
            </a:r>
            <a:r>
              <a:rPr sz="1100" i="1" spc="-5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Share</a:t>
            </a:r>
            <a:r>
              <a:rPr sz="1100" i="1" spc="229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vs</a:t>
            </a:r>
            <a:r>
              <a:rPr sz="1100" i="1" spc="2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Market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Growth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Rate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1325880"/>
            <a:ext cx="8046720" cy="3520440"/>
            <a:chOff x="457200" y="1325880"/>
            <a:chExt cx="8046720" cy="3520440"/>
          </a:xfrm>
        </p:grpSpPr>
        <p:sp>
          <p:nvSpPr>
            <p:cNvPr id="6" name="object 6"/>
            <p:cNvSpPr/>
            <p:nvPr/>
          </p:nvSpPr>
          <p:spPr>
            <a:xfrm>
              <a:off x="457200" y="132588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60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FF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0559" y="132588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59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C7E6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08610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60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FFCD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80559" y="3086100"/>
              <a:ext cx="4023360" cy="1760220"/>
            </a:xfrm>
            <a:custGeom>
              <a:avLst/>
              <a:gdLst/>
              <a:ahLst/>
              <a:cxnLst/>
              <a:rect l="l" t="t" r="r" b="b"/>
              <a:pathLst>
                <a:path w="4023359" h="1760220">
                  <a:moveTo>
                    <a:pt x="4023360" y="0"/>
                  </a:moveTo>
                  <a:lnTo>
                    <a:pt x="0" y="0"/>
                  </a:lnTo>
                  <a:lnTo>
                    <a:pt x="0" y="1760220"/>
                  </a:lnTo>
                  <a:lnTo>
                    <a:pt x="4023360" y="1760220"/>
                  </a:lnTo>
                  <a:lnTo>
                    <a:pt x="4023360" y="0"/>
                  </a:lnTo>
                  <a:close/>
                </a:path>
              </a:pathLst>
            </a:custGeom>
            <a:solidFill>
              <a:srgbClr val="BADE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421892"/>
              <a:ext cx="390906" cy="3192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9" y="1421892"/>
              <a:ext cx="390906" cy="3192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182112"/>
              <a:ext cx="390906" cy="3192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0559" y="3182112"/>
              <a:ext cx="390906" cy="319277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88627"/>
              </p:ext>
            </p:extLst>
          </p:nvPr>
        </p:nvGraphicFramePr>
        <p:xfrm>
          <a:off x="450850" y="1319530"/>
          <a:ext cx="8046720" cy="352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220"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200" b="1" spc="5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MARKS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258508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2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3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15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Share </a:t>
                      </a:r>
                      <a:r>
                        <a:rPr sz="105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Grocery</a:t>
                      </a:r>
                      <a:r>
                        <a:rPr sz="1050" spc="-3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B7940A"/>
                          </a:solidFill>
                          <a:latin typeface="Calibri"/>
                          <a:cs typeface="Calibri"/>
                        </a:rPr>
                        <a:t>(19.71%)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3F2E5"/>
                      </a:solidFill>
                      <a:prstDash val="solid"/>
                    </a:lnL>
                    <a:lnR w="19050">
                      <a:solidFill>
                        <a:srgbClr val="4F6353"/>
                      </a:solidFill>
                      <a:prstDash val="sysDash"/>
                    </a:lnR>
                    <a:lnT w="12700">
                      <a:solidFill>
                        <a:srgbClr val="E3F2E5"/>
                      </a:solidFill>
                      <a:prstDash val="solid"/>
                    </a:lnT>
                    <a:lnB w="19050">
                      <a:solidFill>
                        <a:srgbClr val="4F635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STARS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25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3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2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r>
                        <a:rPr sz="1050" spc="-5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Share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r>
                        <a:rPr sz="1050" spc="-25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(20.29%)</a:t>
                      </a:r>
                      <a:r>
                        <a:rPr sz="1050" spc="-3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2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sz="1050" spc="-1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r>
                        <a:rPr sz="1050" spc="-25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1B5E1F"/>
                          </a:solidFill>
                          <a:latin typeface="Calibri"/>
                          <a:cs typeface="Calibri"/>
                        </a:rPr>
                        <a:t>(20.29%)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9050">
                      <a:solidFill>
                        <a:srgbClr val="4F6353"/>
                      </a:solidFill>
                      <a:prstDash val="sysDash"/>
                    </a:lnL>
                    <a:lnR w="1270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E3F2E5"/>
                      </a:solidFill>
                      <a:prstDash val="solid"/>
                    </a:lnT>
                    <a:lnB w="19050">
                      <a:solidFill>
                        <a:srgbClr val="4F635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220"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2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DOGS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261112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4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050" spc="-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2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Share </a:t>
                      </a:r>
                      <a:r>
                        <a:rPr sz="105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Clothing</a:t>
                      </a:r>
                      <a:r>
                        <a:rPr sz="1050" spc="-35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B71C1C"/>
                          </a:solidFill>
                          <a:latin typeface="Calibri"/>
                          <a:cs typeface="Calibri"/>
                        </a:rPr>
                        <a:t>(19.56%)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3F2E5"/>
                      </a:solidFill>
                      <a:prstDash val="solid"/>
                    </a:lnL>
                    <a:lnR w="19050">
                      <a:solidFill>
                        <a:srgbClr val="4F6353"/>
                      </a:solidFill>
                      <a:prstDash val="sysDash"/>
                    </a:lnR>
                    <a:lnT w="19050">
                      <a:solidFill>
                        <a:srgbClr val="4F6353"/>
                      </a:solidFill>
                      <a:prstDash val="sysDash"/>
                    </a:lnT>
                    <a:lnB w="1270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CASH</a:t>
                      </a:r>
                      <a:r>
                        <a:rPr sz="1200" b="1" spc="-35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COWS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 marR="2584450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050" spc="-15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050" spc="-45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· High</a:t>
                      </a:r>
                      <a:r>
                        <a:rPr sz="1050" spc="-2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Share </a:t>
                      </a:r>
                      <a:r>
                        <a:rPr sz="105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050" spc="-3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Care</a:t>
                      </a:r>
                      <a:r>
                        <a:rPr sz="1050" spc="-2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2E7D32"/>
                          </a:solidFill>
                          <a:latin typeface="Calibri"/>
                          <a:cs typeface="Calibri"/>
                        </a:rPr>
                        <a:t>(20.12%)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9050">
                      <a:solidFill>
                        <a:srgbClr val="4F6353"/>
                      </a:solidFill>
                      <a:prstDash val="sysDash"/>
                    </a:lnL>
                    <a:lnR w="12700">
                      <a:solidFill>
                        <a:srgbClr val="E3F2E5"/>
                      </a:solidFill>
                      <a:prstDash val="solid"/>
                    </a:lnR>
                    <a:lnT w="19050">
                      <a:solidFill>
                        <a:srgbClr val="4F6353"/>
                      </a:solidFill>
                      <a:prstDash val="sysDash"/>
                    </a:lnT>
                    <a:lnB w="1270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2808858" y="4813808"/>
            <a:ext cx="3524250" cy="29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i="1" dirty="0">
                <a:latin typeface="Calibri"/>
                <a:cs typeface="Calibri"/>
              </a:rPr>
              <a:t>Based</a:t>
            </a:r>
            <a:r>
              <a:rPr sz="900" i="1" spc="-3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on</a:t>
            </a:r>
            <a:r>
              <a:rPr sz="900" i="1" spc="-1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unit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share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and</a:t>
            </a:r>
            <a:r>
              <a:rPr sz="900" i="1" spc="-30" dirty="0">
                <a:latin typeface="Calibri"/>
                <a:cs typeface="Calibri"/>
              </a:rPr>
              <a:t> </a:t>
            </a:r>
            <a:r>
              <a:rPr sz="900" i="1" spc="-10" dirty="0">
                <a:latin typeface="Calibri"/>
                <a:cs typeface="Calibri"/>
              </a:rPr>
              <a:t>growth</a:t>
            </a:r>
            <a:r>
              <a:rPr sz="900" i="1" spc="-3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potential</a:t>
            </a:r>
            <a:r>
              <a:rPr sz="900" i="1" spc="-1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across</a:t>
            </a:r>
            <a:r>
              <a:rPr sz="900" i="1" spc="-1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all</a:t>
            </a:r>
            <a:r>
              <a:rPr sz="900" i="1" spc="-1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6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cities during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FY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spc="-10" dirty="0">
                <a:latin typeface="Calibri"/>
                <a:cs typeface="Calibri"/>
              </a:rPr>
              <a:t>period</a:t>
            </a:r>
            <a:endParaRPr sz="900" dirty="0">
              <a:latin typeface="Calibri"/>
              <a:cs typeface="Calibri"/>
            </a:endParaRPr>
          </a:p>
          <a:p>
            <a:pPr marL="102870">
              <a:lnSpc>
                <a:spcPts val="1060"/>
              </a:lnSpc>
              <a:tabLst>
                <a:tab pos="1066165" algn="l"/>
                <a:tab pos="2867660" algn="l"/>
              </a:tabLst>
            </a:pPr>
            <a:r>
              <a:rPr sz="900" dirty="0">
                <a:latin typeface="Calibri"/>
                <a:cs typeface="Calibri"/>
              </a:rPr>
              <a:t>←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LOW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900" spc="-10" dirty="0">
                <a:latin typeface="Calibri"/>
                <a:cs typeface="Calibri"/>
              </a:rPr>
              <a:t>RELATIVE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MARKET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SHARE</a:t>
            </a:r>
            <a:r>
              <a:rPr sz="900" dirty="0">
                <a:latin typeface="Calibri"/>
                <a:cs typeface="Calibri"/>
              </a:rPr>
              <a:t>	HIGH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→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56" y="2589656"/>
            <a:ext cx="36576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HIGH</a:t>
            </a:r>
            <a:endParaRPr sz="7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00" spc="-50" dirty="0">
                <a:latin typeface="Tahoma"/>
                <a:cs typeface="Tahoma"/>
              </a:rPr>
              <a:t>▲</a:t>
            </a:r>
            <a:endParaRPr sz="700" dirty="0">
              <a:latin typeface="Tahoma"/>
              <a:cs typeface="Tahoma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840"/>
              </a:spcBef>
            </a:pPr>
            <a:r>
              <a:rPr sz="700" spc="-10" dirty="0">
                <a:latin typeface="Calibri"/>
                <a:cs typeface="Calibri"/>
              </a:rPr>
              <a:t>MARKET</a:t>
            </a:r>
            <a:r>
              <a:rPr sz="700" spc="50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GROWTH</a:t>
            </a:r>
            <a:r>
              <a:rPr sz="700" spc="500" dirty="0">
                <a:latin typeface="Calibri"/>
                <a:cs typeface="Calibri"/>
              </a:rPr>
              <a:t> </a:t>
            </a:r>
            <a:r>
              <a:rPr sz="700" spc="-20" dirty="0">
                <a:latin typeface="Calibri"/>
                <a:cs typeface="Calibri"/>
              </a:rPr>
              <a:t>RATE</a:t>
            </a:r>
            <a:endParaRPr sz="7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700" spc="-50" dirty="0">
                <a:latin typeface="Tahoma"/>
                <a:cs typeface="Tahoma"/>
              </a:rPr>
              <a:t>▼</a:t>
            </a:r>
            <a:endParaRPr sz="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700" spc="-25" dirty="0">
                <a:latin typeface="Calibri"/>
                <a:cs typeface="Calibri"/>
              </a:rPr>
              <a:t>LOW</a:t>
            </a:r>
            <a:endParaRPr sz="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89" y="516424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5800" y="562452"/>
            <a:ext cx="721039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ROI</a:t>
            </a:r>
            <a:r>
              <a:rPr sz="2000" spc="-30" dirty="0"/>
              <a:t> </a:t>
            </a:r>
            <a:r>
              <a:rPr sz="2000" dirty="0"/>
              <a:t>MODEL</a:t>
            </a:r>
            <a:r>
              <a:rPr sz="2000" spc="-55" dirty="0"/>
              <a:t> </a:t>
            </a:r>
            <a:r>
              <a:rPr sz="2000" dirty="0"/>
              <a:t>—</a:t>
            </a:r>
            <a:r>
              <a:rPr sz="2000" spc="-35" dirty="0"/>
              <a:t> </a:t>
            </a:r>
            <a:r>
              <a:rPr sz="2000" dirty="0"/>
              <a:t>RETURN</a:t>
            </a:r>
            <a:r>
              <a:rPr sz="2000" spc="-45" dirty="0"/>
              <a:t> </a:t>
            </a:r>
            <a:r>
              <a:rPr sz="2000" dirty="0"/>
              <a:t>ON</a:t>
            </a:r>
            <a:r>
              <a:rPr sz="2000" spc="-35" dirty="0"/>
              <a:t> </a:t>
            </a:r>
            <a:r>
              <a:rPr sz="2000" spc="-10" dirty="0"/>
              <a:t>INVESTMENT</a:t>
            </a:r>
            <a:r>
              <a:rPr sz="2000" spc="-45" dirty="0"/>
              <a:t> </a:t>
            </a:r>
            <a:r>
              <a:rPr sz="2000"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10274" y="1251517"/>
            <a:ext cx="410210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latin typeface="Calibri"/>
                <a:cs typeface="Calibri"/>
              </a:rPr>
              <a:t>Category-</a:t>
            </a:r>
            <a:r>
              <a:rPr sz="1100" i="1" dirty="0">
                <a:latin typeface="Calibri"/>
                <a:cs typeface="Calibri"/>
              </a:rPr>
              <a:t>level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ROI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derived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from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Revenue,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Cost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Goods,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Profit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data</a:t>
            </a: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622861"/>
              </p:ext>
            </p:extLst>
          </p:nvPr>
        </p:nvGraphicFramePr>
        <p:xfrm>
          <a:off x="274323" y="1554453"/>
          <a:ext cx="8412477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 gridSpan="6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100" b="1" spc="-2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Formula:</a:t>
                      </a:r>
                      <a:r>
                        <a:rPr sz="1100" b="1" spc="459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r>
                        <a:rPr sz="1100" b="1" spc="-2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-2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100" b="1" spc="-1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100" b="1" spc="-1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÷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100" b="1" spc="-1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100" b="1" spc="-2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100" b="1" spc="-1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×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100" b="1" spc="48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100" b="1" spc="47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Margin</a:t>
                      </a:r>
                      <a:r>
                        <a:rPr sz="1100" b="1" spc="-2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-1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100" b="1" spc="-1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r>
                        <a:rPr sz="1100" b="1" spc="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÷</a:t>
                      </a:r>
                      <a:r>
                        <a:rPr sz="1100" b="1" spc="-5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88E3C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388E3C"/>
                      </a:solidFill>
                      <a:prstDash val="solid"/>
                    </a:lnL>
                    <a:lnR w="12700">
                      <a:solidFill>
                        <a:srgbClr val="388E3C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12700">
                      <a:solidFill>
                        <a:srgbClr val="388E3C"/>
                      </a:solidFill>
                      <a:prstDash val="solid"/>
                    </a:lnB>
                    <a:solidFill>
                      <a:srgbClr val="E3F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0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COGS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sz="10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ROI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</a:t>
                      </a:r>
                      <a:r>
                        <a:rPr sz="1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City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12700">
                      <a:solidFill>
                        <a:srgbClr val="388E3C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endParaRPr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$944,700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$639,700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$305,000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32.3%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Bangalore</a:t>
                      </a:r>
                      <a:r>
                        <a:rPr sz="95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559u</a:t>
                      </a:r>
                      <a:endParaRPr sz="95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sz="1000" b="1" spc="-3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Care</a:t>
                      </a:r>
                      <a:endParaRPr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$467,250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$332,250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$135,000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28.9%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Pune</a:t>
                      </a:r>
                      <a:r>
                        <a:rPr sz="95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549u</a:t>
                      </a:r>
                      <a:endParaRPr sz="95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000" b="1" spc="-5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Care</a:t>
                      </a:r>
                      <a:endParaRPr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$463,200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$330,200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$133,000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28.7%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Mumbai</a:t>
                      </a:r>
                      <a:r>
                        <a:rPr sz="95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549u</a:t>
                      </a:r>
                      <a:endParaRPr sz="95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Grocery</a:t>
                      </a:r>
                      <a:endParaRPr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$302,500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$225,000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$77,500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25.6%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Chennai</a:t>
                      </a:r>
                      <a:r>
                        <a:rPr sz="95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530u</a:t>
                      </a:r>
                      <a:endParaRPr sz="95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cs typeface="Calibri"/>
                        </a:rPr>
                        <a:t>Clothing</a:t>
                      </a:r>
                      <a:endParaRPr sz="10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$740,500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$525,500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$215,000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29%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Chennai/Pune</a:t>
                      </a:r>
                      <a:r>
                        <a:rPr sz="950" spc="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521u</a:t>
                      </a:r>
                      <a:endParaRPr sz="95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$2,917,950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rgbClr val="DC2525"/>
                          </a:solidFill>
                          <a:latin typeface="Calibri"/>
                          <a:cs typeface="Calibri"/>
                        </a:rPr>
                        <a:t>$2,052,650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$865,500</a:t>
                      </a:r>
                      <a:endParaRPr sz="10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R="23558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29.67%</a:t>
                      </a:r>
                      <a:endParaRPr sz="11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Electronics</a:t>
                      </a: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leads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6350">
                      <a:solidFill>
                        <a:srgbClr val="E3F2E5"/>
                      </a:solidFill>
                      <a:prstDash val="solid"/>
                    </a:lnL>
                    <a:lnR w="6350">
                      <a:solidFill>
                        <a:srgbClr val="E3F2E5"/>
                      </a:solidFill>
                      <a:prstDash val="solid"/>
                    </a:lnR>
                    <a:lnT w="6350">
                      <a:solidFill>
                        <a:srgbClr val="E3F2E5"/>
                      </a:solidFill>
                      <a:prstDash val="solid"/>
                    </a:lnT>
                    <a:lnB w="6350">
                      <a:solidFill>
                        <a:srgbClr val="E3F2E5"/>
                      </a:solidFill>
                      <a:prstDash val="soli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5759" y="4572000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388E3C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388E3C"/>
                </a:solidFill>
                <a:latin typeface="Calibri"/>
                <a:cs typeface="Calibri"/>
              </a:rPr>
              <a:t>Highest</a:t>
            </a:r>
            <a:r>
              <a:rPr sz="1100" b="1" spc="-25" dirty="0">
                <a:solidFill>
                  <a:srgbClr val="388E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88E3C"/>
                </a:solidFill>
                <a:latin typeface="Calibri"/>
                <a:cs typeface="Calibri"/>
              </a:rPr>
              <a:t>ROI:</a:t>
            </a:r>
            <a:r>
              <a:rPr sz="1100" b="1" spc="225" dirty="0">
                <a:solidFill>
                  <a:srgbClr val="388E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88E3C"/>
                </a:solidFill>
                <a:latin typeface="Calibri"/>
                <a:cs typeface="Calibri"/>
              </a:rPr>
              <a:t>Electronics</a:t>
            </a:r>
            <a:r>
              <a:rPr sz="1100" b="1" spc="-45" dirty="0">
                <a:solidFill>
                  <a:srgbClr val="388E3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88E3C"/>
                </a:solidFill>
                <a:latin typeface="Calibri"/>
                <a:cs typeface="Calibri"/>
              </a:rPr>
              <a:t>32.3%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4572000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DC2525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Lowest</a:t>
            </a:r>
            <a:r>
              <a:rPr sz="1100" b="1" spc="-15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ROI:</a:t>
            </a:r>
            <a:r>
              <a:rPr sz="1100" b="1" spc="225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C2525"/>
                </a:solidFill>
                <a:latin typeface="Calibri"/>
                <a:cs typeface="Calibri"/>
              </a:rPr>
              <a:t>Grocery</a:t>
            </a:r>
            <a:r>
              <a:rPr sz="1100" b="1" spc="-30" dirty="0">
                <a:solidFill>
                  <a:srgbClr val="DC2525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DC2525"/>
                </a:solidFill>
                <a:latin typeface="Calibri"/>
                <a:cs typeface="Calibri"/>
              </a:rPr>
              <a:t>25.6%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5040" y="4572000"/>
            <a:ext cx="2651760" cy="384175"/>
          </a:xfrm>
          <a:prstGeom prst="rect">
            <a:avLst/>
          </a:prstGeom>
          <a:solidFill>
            <a:srgbClr val="F1F8F2"/>
          </a:solidFill>
          <a:ln w="12700">
            <a:solidFill>
              <a:srgbClr val="16A249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Overall</a:t>
            </a:r>
            <a:r>
              <a:rPr sz="1100" b="1" spc="-20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6A249"/>
                </a:solidFill>
                <a:latin typeface="Calibri"/>
                <a:cs typeface="Calibri"/>
              </a:rPr>
              <a:t>ROI:</a:t>
            </a:r>
            <a:r>
              <a:rPr sz="1100" b="1" spc="215" dirty="0">
                <a:solidFill>
                  <a:srgbClr val="16A24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6A249"/>
                </a:solidFill>
                <a:latin typeface="Calibri"/>
                <a:cs typeface="Calibri"/>
              </a:rPr>
              <a:t>29.67%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5442" y="4958862"/>
            <a:ext cx="3241675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latin typeface="Calibri"/>
                <a:cs typeface="Calibri"/>
              </a:rPr>
              <a:t>COGS</a:t>
            </a:r>
            <a:r>
              <a:rPr sz="850" i="1" spc="-5" dirty="0">
                <a:latin typeface="Calibri"/>
                <a:cs typeface="Calibri"/>
              </a:rPr>
              <a:t> </a:t>
            </a:r>
            <a:r>
              <a:rPr sz="850" i="1" spc="-10" dirty="0">
                <a:latin typeface="Calibri"/>
                <a:cs typeface="Calibri"/>
              </a:rPr>
              <a:t>estimated</a:t>
            </a:r>
            <a:r>
              <a:rPr sz="850" i="1" spc="-3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as</a:t>
            </a:r>
            <a:r>
              <a:rPr sz="850" i="1" spc="-30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Revenue</a:t>
            </a:r>
            <a:r>
              <a:rPr sz="850" i="1" spc="-50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−</a:t>
            </a:r>
            <a:r>
              <a:rPr sz="850" i="1" spc="-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Net</a:t>
            </a:r>
            <a:r>
              <a:rPr sz="850" i="1" spc="-2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Profit.</a:t>
            </a:r>
            <a:r>
              <a:rPr sz="850" i="1" spc="-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ROI</a:t>
            </a:r>
            <a:r>
              <a:rPr sz="850" i="1" spc="-1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=</a:t>
            </a:r>
            <a:r>
              <a:rPr sz="850" i="1" spc="-10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Net</a:t>
            </a:r>
            <a:r>
              <a:rPr sz="850" i="1" spc="-1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Profit</a:t>
            </a:r>
            <a:r>
              <a:rPr sz="850" i="1" spc="2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÷</a:t>
            </a:r>
            <a:r>
              <a:rPr sz="850" i="1" spc="-10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Revenue</a:t>
            </a:r>
            <a:r>
              <a:rPr sz="850" i="1" spc="-45" dirty="0">
                <a:latin typeface="Calibri"/>
                <a:cs typeface="Calibri"/>
              </a:rPr>
              <a:t> </a:t>
            </a:r>
            <a:r>
              <a:rPr sz="850" i="1" dirty="0">
                <a:latin typeface="Calibri"/>
                <a:cs typeface="Calibri"/>
              </a:rPr>
              <a:t>×</a:t>
            </a:r>
            <a:r>
              <a:rPr sz="850" i="1" spc="-5" dirty="0">
                <a:latin typeface="Calibri"/>
                <a:cs typeface="Calibri"/>
              </a:rPr>
              <a:t> </a:t>
            </a:r>
            <a:r>
              <a:rPr sz="850" i="1" spc="-25" dirty="0">
                <a:latin typeface="Calibri"/>
                <a:cs typeface="Calibri"/>
              </a:rPr>
              <a:t>100</a:t>
            </a:r>
            <a:endParaRPr sz="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722" y="619877"/>
            <a:ext cx="548640" cy="5486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6699" y="553477"/>
            <a:ext cx="7210396" cy="810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STRATEGIC</a:t>
            </a:r>
            <a:r>
              <a:rPr spc="-55" dirty="0"/>
              <a:t> </a:t>
            </a:r>
            <a:r>
              <a:rPr spc="-20" dirty="0"/>
              <a:t>RECOMMENDATIONS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1627" y="1539727"/>
            <a:ext cx="8425180" cy="1036955"/>
            <a:chOff x="359409" y="1136650"/>
            <a:chExt cx="8425180" cy="1036955"/>
          </a:xfrm>
        </p:grpSpPr>
        <p:sp>
          <p:nvSpPr>
            <p:cNvPr id="5" name="object 5"/>
            <p:cNvSpPr/>
            <p:nvPr/>
          </p:nvSpPr>
          <p:spPr>
            <a:xfrm>
              <a:off x="429767" y="1143000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5">
                  <a:moveTo>
                    <a:pt x="0" y="1024127"/>
                  </a:moveTo>
                  <a:lnTo>
                    <a:pt x="8348471" y="1024127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1143000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5">
                  <a:moveTo>
                    <a:pt x="0" y="1024127"/>
                  </a:moveTo>
                  <a:lnTo>
                    <a:pt x="8412480" y="1024127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59" y="1143000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5">
                  <a:moveTo>
                    <a:pt x="64008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64008" y="102412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59" y="1143000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5">
                  <a:moveTo>
                    <a:pt x="0" y="1024127"/>
                  </a:moveTo>
                  <a:lnTo>
                    <a:pt x="64008" y="102412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388E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919" y="136245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4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4" y="566928"/>
                  </a:lnTo>
                  <a:lnTo>
                    <a:pt x="329443" y="563218"/>
                  </a:lnTo>
                  <a:lnTo>
                    <a:pt x="373060" y="552480"/>
                  </a:lnTo>
                  <a:lnTo>
                    <a:pt x="413732" y="535295"/>
                  </a:lnTo>
                  <a:lnTo>
                    <a:pt x="450874" y="512246"/>
                  </a:lnTo>
                  <a:lnTo>
                    <a:pt x="483903" y="483917"/>
                  </a:lnTo>
                  <a:lnTo>
                    <a:pt x="512235" y="450890"/>
                  </a:lnTo>
                  <a:lnTo>
                    <a:pt x="535288" y="413748"/>
                  </a:lnTo>
                  <a:lnTo>
                    <a:pt x="552476" y="373075"/>
                  </a:lnTo>
                  <a:lnTo>
                    <a:pt x="563217" y="329452"/>
                  </a:lnTo>
                  <a:lnTo>
                    <a:pt x="566927" y="283464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388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919" y="1362456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464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4"/>
                  </a:lnTo>
                  <a:lnTo>
                    <a:pt x="563217" y="329452"/>
                  </a:lnTo>
                  <a:lnTo>
                    <a:pt x="552476" y="373075"/>
                  </a:lnTo>
                  <a:lnTo>
                    <a:pt x="535288" y="413748"/>
                  </a:lnTo>
                  <a:lnTo>
                    <a:pt x="512235" y="450890"/>
                  </a:lnTo>
                  <a:lnTo>
                    <a:pt x="483903" y="483917"/>
                  </a:lnTo>
                  <a:lnTo>
                    <a:pt x="450874" y="512246"/>
                  </a:lnTo>
                  <a:lnTo>
                    <a:pt x="413732" y="535295"/>
                  </a:lnTo>
                  <a:lnTo>
                    <a:pt x="373060" y="552480"/>
                  </a:lnTo>
                  <a:lnTo>
                    <a:pt x="329443" y="563218"/>
                  </a:lnTo>
                  <a:lnTo>
                    <a:pt x="283464" y="566928"/>
                  </a:lnTo>
                  <a:lnTo>
                    <a:pt x="237484" y="563218"/>
                  </a:lnTo>
                  <a:lnTo>
                    <a:pt x="193867" y="552480"/>
                  </a:lnTo>
                  <a:lnTo>
                    <a:pt x="153195" y="535295"/>
                  </a:lnTo>
                  <a:lnTo>
                    <a:pt x="116053" y="512246"/>
                  </a:lnTo>
                  <a:lnTo>
                    <a:pt x="83024" y="483917"/>
                  </a:lnTo>
                  <a:lnTo>
                    <a:pt x="54692" y="450890"/>
                  </a:lnTo>
                  <a:lnTo>
                    <a:pt x="31639" y="413748"/>
                  </a:lnTo>
                  <a:lnTo>
                    <a:pt x="14451" y="373075"/>
                  </a:lnTo>
                  <a:lnTo>
                    <a:pt x="3710" y="329452"/>
                  </a:lnTo>
                  <a:lnTo>
                    <a:pt x="0" y="283464"/>
                  </a:lnTo>
                  <a:close/>
                </a:path>
              </a:pathLst>
            </a:custGeom>
            <a:ln w="12700">
              <a:solidFill>
                <a:srgbClr val="388E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9075" y="1521490"/>
            <a:ext cx="1870075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88E3C"/>
                </a:solidFill>
                <a:latin typeface="Calibri"/>
                <a:cs typeface="Calibri"/>
              </a:rPr>
              <a:t>Replicate</a:t>
            </a:r>
            <a:r>
              <a:rPr sz="1500" b="1" spc="-20" dirty="0">
                <a:solidFill>
                  <a:srgbClr val="388E3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88E3C"/>
                </a:solidFill>
                <a:latin typeface="Calibri"/>
                <a:cs typeface="Calibri"/>
              </a:rPr>
              <a:t>Success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5753" y="1795837"/>
            <a:ext cx="723709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Deploy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Bangalore's</a:t>
            </a:r>
            <a:r>
              <a:rPr sz="11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Electronics</a:t>
            </a:r>
            <a:r>
              <a:rPr sz="11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strategy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(559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units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/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32.3%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ROI)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Pune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recover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78-unit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deficit.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Replicate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shelf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planogram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and</a:t>
            </a:r>
            <a:r>
              <a:rPr sz="1100" spc="-4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staffing</a:t>
            </a:r>
            <a:r>
              <a:rPr sz="11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model.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7675" y="2653777"/>
            <a:ext cx="8432782" cy="1031416"/>
            <a:chOff x="365759" y="2313432"/>
            <a:chExt cx="8432782" cy="1031416"/>
          </a:xfrm>
        </p:grpSpPr>
        <p:sp>
          <p:nvSpPr>
            <p:cNvPr id="14" name="object 14"/>
            <p:cNvSpPr/>
            <p:nvPr/>
          </p:nvSpPr>
          <p:spPr>
            <a:xfrm>
              <a:off x="449561" y="2320593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4">
                  <a:moveTo>
                    <a:pt x="0" y="1024127"/>
                  </a:moveTo>
                  <a:lnTo>
                    <a:pt x="8348471" y="1024127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2313432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4">
                  <a:moveTo>
                    <a:pt x="0" y="1024127"/>
                  </a:moveTo>
                  <a:lnTo>
                    <a:pt x="8412480" y="1024127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2313432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64008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64008" y="102412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59" y="2313432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0" y="1024127"/>
                  </a:moveTo>
                  <a:lnTo>
                    <a:pt x="64008" y="102412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2919" y="253288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4" y="566928"/>
                  </a:lnTo>
                  <a:lnTo>
                    <a:pt x="329443" y="563218"/>
                  </a:lnTo>
                  <a:lnTo>
                    <a:pt x="373060" y="552480"/>
                  </a:lnTo>
                  <a:lnTo>
                    <a:pt x="413732" y="535295"/>
                  </a:lnTo>
                  <a:lnTo>
                    <a:pt x="450874" y="512246"/>
                  </a:lnTo>
                  <a:lnTo>
                    <a:pt x="483903" y="483917"/>
                  </a:lnTo>
                  <a:lnTo>
                    <a:pt x="512235" y="450890"/>
                  </a:lnTo>
                  <a:lnTo>
                    <a:pt x="535288" y="413748"/>
                  </a:lnTo>
                  <a:lnTo>
                    <a:pt x="552476" y="373075"/>
                  </a:lnTo>
                  <a:lnTo>
                    <a:pt x="563217" y="329452"/>
                  </a:lnTo>
                  <a:lnTo>
                    <a:pt x="566927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2919" y="2532888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3"/>
                  </a:lnTo>
                  <a:lnTo>
                    <a:pt x="563217" y="329452"/>
                  </a:lnTo>
                  <a:lnTo>
                    <a:pt x="552476" y="373075"/>
                  </a:lnTo>
                  <a:lnTo>
                    <a:pt x="535288" y="413748"/>
                  </a:lnTo>
                  <a:lnTo>
                    <a:pt x="512235" y="450890"/>
                  </a:lnTo>
                  <a:lnTo>
                    <a:pt x="483903" y="483917"/>
                  </a:lnTo>
                  <a:lnTo>
                    <a:pt x="450874" y="512246"/>
                  </a:lnTo>
                  <a:lnTo>
                    <a:pt x="413732" y="535295"/>
                  </a:lnTo>
                  <a:lnTo>
                    <a:pt x="373060" y="552480"/>
                  </a:lnTo>
                  <a:lnTo>
                    <a:pt x="329443" y="563218"/>
                  </a:lnTo>
                  <a:lnTo>
                    <a:pt x="283464" y="566928"/>
                  </a:lnTo>
                  <a:lnTo>
                    <a:pt x="237484" y="563218"/>
                  </a:lnTo>
                  <a:lnTo>
                    <a:pt x="193867" y="552480"/>
                  </a:lnTo>
                  <a:lnTo>
                    <a:pt x="153195" y="535295"/>
                  </a:lnTo>
                  <a:lnTo>
                    <a:pt x="116053" y="512246"/>
                  </a:lnTo>
                  <a:lnTo>
                    <a:pt x="83024" y="483917"/>
                  </a:lnTo>
                  <a:lnTo>
                    <a:pt x="54692" y="450890"/>
                  </a:lnTo>
                  <a:lnTo>
                    <a:pt x="31639" y="413748"/>
                  </a:lnTo>
                  <a:lnTo>
                    <a:pt x="14451" y="373075"/>
                  </a:lnTo>
                  <a:lnTo>
                    <a:pt x="3710" y="329452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2348" y="2749500"/>
            <a:ext cx="2138045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lang="en-IN" sz="1500" b="1" spc="-10" dirty="0">
                <a:solidFill>
                  <a:srgbClr val="66BB6A"/>
                </a:solidFill>
                <a:latin typeface="Calibri"/>
                <a:cs typeface="Calibri"/>
              </a:rPr>
              <a:t>Inventory</a:t>
            </a:r>
            <a:r>
              <a:rPr lang="en-IN" sz="1500" b="1" spc="-20" dirty="0">
                <a:solidFill>
                  <a:srgbClr val="66BB6A"/>
                </a:solidFill>
                <a:latin typeface="Calibri"/>
                <a:cs typeface="Calibri"/>
              </a:rPr>
              <a:t> </a:t>
            </a:r>
            <a:r>
              <a:rPr lang="en-IN" sz="1500" b="1" spc="-10" dirty="0">
                <a:solidFill>
                  <a:srgbClr val="66BB6A"/>
                </a:solidFill>
                <a:latin typeface="Calibri"/>
                <a:cs typeface="Calibri"/>
              </a:rPr>
              <a:t>Correction</a:t>
            </a:r>
            <a:endParaRPr lang="en-IN"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5302" y="3089765"/>
            <a:ext cx="71208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Reduce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Clothing</a:t>
            </a:r>
            <a:r>
              <a:rPr sz="1100" spc="-4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shelf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space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Delhi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(469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units,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29%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ROI)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pivot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toward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Personal</a:t>
            </a:r>
            <a:r>
              <a:rPr sz="1100" spc="-5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Care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which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delivers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consistent</a:t>
            </a:r>
            <a:r>
              <a:rPr sz="1100" spc="-5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28.7%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ROI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across</a:t>
            </a:r>
            <a:r>
              <a:rPr sz="1100" spc="-4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6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cities.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6012" y="3831666"/>
            <a:ext cx="8412480" cy="1037766"/>
            <a:chOff x="365759" y="3483864"/>
            <a:chExt cx="8412480" cy="1037766"/>
          </a:xfrm>
        </p:grpSpPr>
        <p:sp>
          <p:nvSpPr>
            <p:cNvPr id="23" name="object 23"/>
            <p:cNvSpPr/>
            <p:nvPr/>
          </p:nvSpPr>
          <p:spPr>
            <a:xfrm>
              <a:off x="397826" y="3497375"/>
              <a:ext cx="8348980" cy="1024255"/>
            </a:xfrm>
            <a:custGeom>
              <a:avLst/>
              <a:gdLst/>
              <a:ahLst/>
              <a:cxnLst/>
              <a:rect l="l" t="t" r="r" b="b"/>
              <a:pathLst>
                <a:path w="8348980" h="1024254">
                  <a:moveTo>
                    <a:pt x="0" y="1024128"/>
                  </a:moveTo>
                  <a:lnTo>
                    <a:pt x="8348471" y="1024128"/>
                  </a:lnTo>
                  <a:lnTo>
                    <a:pt x="8348471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pPr lvl="1"/>
              <a:r>
                <a:rPr lang="en-US" dirty="0"/>
                <a:t>    </a:t>
              </a:r>
              <a:r>
                <a:rPr lang="en-IN" b="1" spc="-25" dirty="0">
                  <a:solidFill>
                    <a:srgbClr val="00897B"/>
                  </a:solidFill>
                  <a:latin typeface="Calibri"/>
                  <a:cs typeface="Calibri"/>
                </a:rPr>
                <a:t>Targeted</a:t>
              </a:r>
              <a:r>
                <a:rPr lang="en-IN" b="1" spc="-30" dirty="0">
                  <a:solidFill>
                    <a:srgbClr val="00897B"/>
                  </a:solidFill>
                  <a:latin typeface="Calibri"/>
                  <a:cs typeface="Calibri"/>
                </a:rPr>
                <a:t> </a:t>
              </a:r>
              <a:r>
                <a:rPr lang="en-IN" b="1" spc="-10" dirty="0">
                  <a:solidFill>
                    <a:srgbClr val="00897B"/>
                  </a:solidFill>
                  <a:latin typeface="Calibri"/>
                  <a:cs typeface="Calibri"/>
                </a:rPr>
                <a:t>Bundling</a:t>
              </a:r>
              <a:endParaRPr lang="en-IN" dirty="0">
                <a:latin typeface="Calibri"/>
                <a:cs typeface="Calibri"/>
              </a:endParaRPr>
            </a:p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59" y="3483864"/>
              <a:ext cx="8412480" cy="1024255"/>
            </a:xfrm>
            <a:custGeom>
              <a:avLst/>
              <a:gdLst/>
              <a:ahLst/>
              <a:cxnLst/>
              <a:rect l="l" t="t" r="r" b="b"/>
              <a:pathLst>
                <a:path w="8412480" h="1024254">
                  <a:moveTo>
                    <a:pt x="0" y="1024128"/>
                  </a:moveTo>
                  <a:lnTo>
                    <a:pt x="8412480" y="1024128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ln w="12700">
              <a:solidFill>
                <a:srgbClr val="E3F2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59" y="3483864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64008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64008" y="102412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3483864"/>
              <a:ext cx="64135" cy="1024255"/>
            </a:xfrm>
            <a:custGeom>
              <a:avLst/>
              <a:gdLst/>
              <a:ahLst/>
              <a:cxnLst/>
              <a:rect l="l" t="t" r="r" b="b"/>
              <a:pathLst>
                <a:path w="64134" h="1024254">
                  <a:moveTo>
                    <a:pt x="0" y="1024128"/>
                  </a:moveTo>
                  <a:lnTo>
                    <a:pt x="64008" y="1024128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024128"/>
                  </a:lnTo>
                  <a:close/>
                </a:path>
              </a:pathLst>
            </a:custGeom>
            <a:ln w="12700">
              <a:solidFill>
                <a:srgbClr val="0089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2919" y="370332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464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43"/>
                  </a:lnTo>
                  <a:lnTo>
                    <a:pt x="14451" y="373060"/>
                  </a:lnTo>
                  <a:lnTo>
                    <a:pt x="31639" y="413732"/>
                  </a:lnTo>
                  <a:lnTo>
                    <a:pt x="54692" y="450874"/>
                  </a:lnTo>
                  <a:lnTo>
                    <a:pt x="83024" y="483903"/>
                  </a:lnTo>
                  <a:lnTo>
                    <a:pt x="116053" y="512235"/>
                  </a:lnTo>
                  <a:lnTo>
                    <a:pt x="153195" y="535288"/>
                  </a:lnTo>
                  <a:lnTo>
                    <a:pt x="193867" y="552476"/>
                  </a:lnTo>
                  <a:lnTo>
                    <a:pt x="237484" y="563217"/>
                  </a:lnTo>
                  <a:lnTo>
                    <a:pt x="283464" y="566927"/>
                  </a:lnTo>
                  <a:lnTo>
                    <a:pt x="329443" y="563217"/>
                  </a:lnTo>
                  <a:lnTo>
                    <a:pt x="373060" y="552476"/>
                  </a:lnTo>
                  <a:lnTo>
                    <a:pt x="413732" y="535288"/>
                  </a:lnTo>
                  <a:lnTo>
                    <a:pt x="450874" y="512235"/>
                  </a:lnTo>
                  <a:lnTo>
                    <a:pt x="483903" y="483903"/>
                  </a:lnTo>
                  <a:lnTo>
                    <a:pt x="512235" y="450874"/>
                  </a:lnTo>
                  <a:lnTo>
                    <a:pt x="535288" y="413732"/>
                  </a:lnTo>
                  <a:lnTo>
                    <a:pt x="552476" y="373060"/>
                  </a:lnTo>
                  <a:lnTo>
                    <a:pt x="563217" y="329443"/>
                  </a:lnTo>
                  <a:lnTo>
                    <a:pt x="566927" y="283463"/>
                  </a:lnTo>
                  <a:lnTo>
                    <a:pt x="563217" y="237475"/>
                  </a:lnTo>
                  <a:lnTo>
                    <a:pt x="552476" y="193852"/>
                  </a:lnTo>
                  <a:lnTo>
                    <a:pt x="535288" y="153179"/>
                  </a:lnTo>
                  <a:lnTo>
                    <a:pt x="512235" y="116037"/>
                  </a:lnTo>
                  <a:lnTo>
                    <a:pt x="483903" y="83010"/>
                  </a:lnTo>
                  <a:lnTo>
                    <a:pt x="450874" y="54681"/>
                  </a:lnTo>
                  <a:lnTo>
                    <a:pt x="413732" y="31632"/>
                  </a:lnTo>
                  <a:lnTo>
                    <a:pt x="373060" y="14447"/>
                  </a:lnTo>
                  <a:lnTo>
                    <a:pt x="329443" y="370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00897B"/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dirty="0"/>
                <a:t>  </a:t>
              </a:r>
              <a:r>
                <a:rPr lang="en-IN" b="1" spc="-25" dirty="0">
                  <a:solidFill>
                    <a:srgbClr val="FFFFFF"/>
                  </a:solidFill>
                  <a:latin typeface="Calibri"/>
                  <a:cs typeface="Calibri"/>
                </a:rPr>
                <a:t>03</a:t>
              </a:r>
              <a:endParaRPr lang="en-IN" dirty="0">
                <a:latin typeface="Calibri"/>
                <a:cs typeface="Calibri"/>
              </a:endParaRPr>
            </a:p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2919" y="370332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0" y="283463"/>
                  </a:moveTo>
                  <a:lnTo>
                    <a:pt x="3710" y="237475"/>
                  </a:lnTo>
                  <a:lnTo>
                    <a:pt x="14451" y="193852"/>
                  </a:lnTo>
                  <a:lnTo>
                    <a:pt x="31639" y="153179"/>
                  </a:lnTo>
                  <a:lnTo>
                    <a:pt x="54692" y="116037"/>
                  </a:lnTo>
                  <a:lnTo>
                    <a:pt x="83024" y="83010"/>
                  </a:lnTo>
                  <a:lnTo>
                    <a:pt x="116053" y="54681"/>
                  </a:lnTo>
                  <a:lnTo>
                    <a:pt x="153195" y="31632"/>
                  </a:lnTo>
                  <a:lnTo>
                    <a:pt x="193867" y="14447"/>
                  </a:lnTo>
                  <a:lnTo>
                    <a:pt x="237484" y="3709"/>
                  </a:lnTo>
                  <a:lnTo>
                    <a:pt x="283464" y="0"/>
                  </a:lnTo>
                  <a:lnTo>
                    <a:pt x="329443" y="3709"/>
                  </a:lnTo>
                  <a:lnTo>
                    <a:pt x="373060" y="14447"/>
                  </a:lnTo>
                  <a:lnTo>
                    <a:pt x="413732" y="31632"/>
                  </a:lnTo>
                  <a:lnTo>
                    <a:pt x="450874" y="54681"/>
                  </a:lnTo>
                  <a:lnTo>
                    <a:pt x="483903" y="83010"/>
                  </a:lnTo>
                  <a:lnTo>
                    <a:pt x="512235" y="116037"/>
                  </a:lnTo>
                  <a:lnTo>
                    <a:pt x="535288" y="153179"/>
                  </a:lnTo>
                  <a:lnTo>
                    <a:pt x="552476" y="193852"/>
                  </a:lnTo>
                  <a:lnTo>
                    <a:pt x="563217" y="237475"/>
                  </a:lnTo>
                  <a:lnTo>
                    <a:pt x="566927" y="283463"/>
                  </a:lnTo>
                  <a:lnTo>
                    <a:pt x="563217" y="329443"/>
                  </a:lnTo>
                  <a:lnTo>
                    <a:pt x="552476" y="373060"/>
                  </a:lnTo>
                  <a:lnTo>
                    <a:pt x="535288" y="413732"/>
                  </a:lnTo>
                  <a:lnTo>
                    <a:pt x="512235" y="450874"/>
                  </a:lnTo>
                  <a:lnTo>
                    <a:pt x="483903" y="483903"/>
                  </a:lnTo>
                  <a:lnTo>
                    <a:pt x="450874" y="512235"/>
                  </a:lnTo>
                  <a:lnTo>
                    <a:pt x="413732" y="535288"/>
                  </a:lnTo>
                  <a:lnTo>
                    <a:pt x="373060" y="552476"/>
                  </a:lnTo>
                  <a:lnTo>
                    <a:pt x="329443" y="563217"/>
                  </a:lnTo>
                  <a:lnTo>
                    <a:pt x="283464" y="566927"/>
                  </a:lnTo>
                  <a:lnTo>
                    <a:pt x="237484" y="563217"/>
                  </a:lnTo>
                  <a:lnTo>
                    <a:pt x="193867" y="552476"/>
                  </a:lnTo>
                  <a:lnTo>
                    <a:pt x="153195" y="535288"/>
                  </a:lnTo>
                  <a:lnTo>
                    <a:pt x="116053" y="512235"/>
                  </a:lnTo>
                  <a:lnTo>
                    <a:pt x="83024" y="483903"/>
                  </a:lnTo>
                  <a:lnTo>
                    <a:pt x="54692" y="450874"/>
                  </a:lnTo>
                  <a:lnTo>
                    <a:pt x="31639" y="413732"/>
                  </a:lnTo>
                  <a:lnTo>
                    <a:pt x="14451" y="373060"/>
                  </a:lnTo>
                  <a:lnTo>
                    <a:pt x="3710" y="329443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0089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09026" y="4156607"/>
            <a:ext cx="71970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Cross-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sell</a:t>
            </a:r>
            <a:r>
              <a:rPr sz="1100" spc="-4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Electronics</a:t>
            </a:r>
            <a:r>
              <a:rPr sz="1100" spc="-5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alongside</a:t>
            </a:r>
            <a:r>
              <a:rPr sz="1100" spc="-3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Pune's</a:t>
            </a:r>
            <a:r>
              <a:rPr sz="1100" spc="-4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Home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Care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(549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units)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lift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Electronics</a:t>
            </a:r>
            <a:r>
              <a:rPr sz="1100" spc="-5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ROI</a:t>
            </a:r>
            <a:r>
              <a:rPr sz="1100" spc="-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from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current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47K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profit.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Bundle</a:t>
            </a:r>
            <a:r>
              <a:rPr sz="1100" spc="-15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promotions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raise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combined</a:t>
            </a:r>
            <a:r>
              <a:rPr sz="1100" spc="-4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margin</a:t>
            </a:r>
            <a:r>
              <a:rPr sz="1100" spc="-30" dirty="0">
                <a:solidFill>
                  <a:srgbClr val="1B5E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B5E20"/>
                </a:solidFill>
                <a:latin typeface="Calibri"/>
                <a:cs typeface="Calibri"/>
              </a:rPr>
              <a:t>by</a:t>
            </a:r>
            <a:r>
              <a:rPr sz="1100" spc="-10" dirty="0">
                <a:solidFill>
                  <a:srgbClr val="1B5E20"/>
                </a:solidFill>
                <a:latin typeface="Calibri"/>
                <a:cs typeface="Calibri"/>
              </a:rPr>
              <a:t> ~3–</a:t>
            </a:r>
            <a:r>
              <a:rPr sz="1100" spc="-25" dirty="0">
                <a:solidFill>
                  <a:srgbClr val="1B5E20"/>
                </a:solidFill>
                <a:latin typeface="Calibri"/>
                <a:cs typeface="Calibri"/>
              </a:rPr>
              <a:t>5%.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24200" y="4913582"/>
            <a:ext cx="27260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Data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covers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6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cities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·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5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product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categories</a:t>
            </a:r>
            <a:r>
              <a:rPr sz="900" spc="-20" dirty="0">
                <a:latin typeface="Calibri"/>
                <a:cs typeface="Calibri"/>
              </a:rPr>
              <a:t> 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5156200"/>
            <a:chOff x="-6350" y="-6350"/>
            <a:chExt cx="91567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8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80" y="51435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66B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0" y="5143500"/>
                  </a:moveTo>
                  <a:lnTo>
                    <a:pt x="182880" y="5143500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66BB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879" y="4206239"/>
              <a:ext cx="8961120" cy="937260"/>
            </a:xfrm>
            <a:custGeom>
              <a:avLst/>
              <a:gdLst/>
              <a:ahLst/>
              <a:cxnLst/>
              <a:rect l="l" t="t" r="r" b="b"/>
              <a:pathLst>
                <a:path w="8961120" h="937260">
                  <a:moveTo>
                    <a:pt x="8961120" y="0"/>
                  </a:moveTo>
                  <a:lnTo>
                    <a:pt x="0" y="0"/>
                  </a:lnTo>
                  <a:lnTo>
                    <a:pt x="0" y="937259"/>
                  </a:lnTo>
                  <a:lnTo>
                    <a:pt x="8961120" y="937259"/>
                  </a:lnTo>
                  <a:lnTo>
                    <a:pt x="8961120" y="0"/>
                  </a:lnTo>
                  <a:close/>
                </a:path>
              </a:pathLst>
            </a:custGeom>
            <a:solidFill>
              <a:srgbClr val="F1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879" y="4206239"/>
              <a:ext cx="8961120" cy="937260"/>
            </a:xfrm>
            <a:custGeom>
              <a:avLst/>
              <a:gdLst/>
              <a:ahLst/>
              <a:cxnLst/>
              <a:rect l="l" t="t" r="r" b="b"/>
              <a:pathLst>
                <a:path w="8961120" h="937260">
                  <a:moveTo>
                    <a:pt x="0" y="937259"/>
                  </a:moveTo>
                  <a:lnTo>
                    <a:pt x="8961120" y="937259"/>
                  </a:lnTo>
                  <a:lnTo>
                    <a:pt x="8961120" y="0"/>
                  </a:lnTo>
                  <a:lnTo>
                    <a:pt x="0" y="0"/>
                  </a:lnTo>
                  <a:lnTo>
                    <a:pt x="0" y="937259"/>
                  </a:lnTo>
                  <a:close/>
                </a:path>
              </a:pathLst>
            </a:custGeom>
            <a:ln w="12700">
              <a:solidFill>
                <a:srgbClr val="F1F8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69566" y="1665840"/>
            <a:ext cx="432371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560" dirty="0">
                <a:solidFill>
                  <a:srgbClr val="1B5E20"/>
                </a:solidFill>
              </a:rPr>
              <a:t>T</a:t>
            </a:r>
            <a:r>
              <a:rPr sz="4400" spc="565" dirty="0">
                <a:solidFill>
                  <a:srgbClr val="1B5E20"/>
                </a:solidFill>
              </a:rPr>
              <a:t>HA</a:t>
            </a:r>
            <a:r>
              <a:rPr sz="4400" spc="560" dirty="0">
                <a:solidFill>
                  <a:srgbClr val="1B5E20"/>
                </a:solidFill>
              </a:rPr>
              <a:t>N</a:t>
            </a:r>
            <a:r>
              <a:rPr sz="4400" spc="-30" dirty="0">
                <a:solidFill>
                  <a:srgbClr val="1B5E20"/>
                </a:solidFill>
              </a:rPr>
              <a:t>K</a:t>
            </a:r>
            <a:r>
              <a:rPr sz="4400" spc="1210" dirty="0">
                <a:solidFill>
                  <a:srgbClr val="1B5E20"/>
                </a:solidFill>
              </a:rPr>
              <a:t> </a:t>
            </a:r>
            <a:r>
              <a:rPr sz="4400" spc="540" dirty="0">
                <a:solidFill>
                  <a:srgbClr val="1B5E20"/>
                </a:solidFill>
              </a:rPr>
              <a:t>Y</a:t>
            </a:r>
            <a:r>
              <a:rPr sz="4400" spc="550" dirty="0">
                <a:solidFill>
                  <a:srgbClr val="1B5E20"/>
                </a:solidFill>
              </a:rPr>
              <a:t>O</a:t>
            </a:r>
            <a:r>
              <a:rPr sz="4400" spc="-50" dirty="0">
                <a:solidFill>
                  <a:srgbClr val="1B5E20"/>
                </a:solidFill>
              </a:rPr>
              <a:t>U</a:t>
            </a:r>
            <a:endParaRPr sz="4400" dirty="0"/>
          </a:p>
        </p:txBody>
      </p:sp>
      <p:sp>
        <p:nvSpPr>
          <p:cNvPr id="8" name="object 8"/>
          <p:cNvSpPr txBox="1"/>
          <p:nvPr/>
        </p:nvSpPr>
        <p:spPr>
          <a:xfrm>
            <a:off x="2284222" y="2690240"/>
            <a:ext cx="456819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Sales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Performance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Report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|</a:t>
            </a:r>
            <a:r>
              <a:rPr sz="1300" spc="2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Six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Cities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·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Five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Categories</a:t>
            </a:r>
            <a:r>
              <a:rPr sz="1300" spc="28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|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FY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Period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640" y="3154679"/>
            <a:ext cx="1902460" cy="443711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algn="ctr">
              <a:spcBef>
                <a:spcPts val="280"/>
              </a:spcBef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15,345</a:t>
            </a:r>
            <a:r>
              <a:rPr lang="en-IN" sz="1200" b="1" spc="-20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Units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3472" y="3154679"/>
            <a:ext cx="1902460" cy="443711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spcBef>
                <a:spcPts val="280"/>
              </a:spcBef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             $2.9M</a:t>
            </a:r>
            <a:r>
              <a:rPr lang="en-IN" sz="1200" b="1" spc="-25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n-IN" sz="1200" b="1" spc="-10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Revenue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8303" y="3154679"/>
            <a:ext cx="1902460" cy="443711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spcBef>
                <a:spcPts val="280"/>
              </a:spcBef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             $865K</a:t>
            </a:r>
            <a:r>
              <a:rPr lang="en-IN" sz="1200" b="1" spc="-20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n-IN" sz="1200" b="1" spc="-10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Profit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3135" y="3154679"/>
            <a:ext cx="1902460" cy="443711"/>
          </a:xfrm>
          <a:prstGeom prst="rect">
            <a:avLst/>
          </a:prstGeom>
          <a:ln w="12700">
            <a:solidFill>
              <a:srgbClr val="66BB6A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>
              <a:spcBef>
                <a:spcPts val="280"/>
              </a:spcBef>
            </a:pPr>
            <a:r>
              <a:rPr lang="en-IN" sz="1200" b="1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               29.7%</a:t>
            </a:r>
            <a:r>
              <a:rPr lang="en-IN" sz="1200" b="1" spc="-25" dirty="0">
                <a:solidFill>
                  <a:schemeClr val="accent5">
                    <a:lumMod val="50000"/>
                  </a:schemeClr>
                </a:solidFill>
                <a:latin typeface="Calibri"/>
                <a:cs typeface="Calibri"/>
              </a:rPr>
              <a:t> ROI</a:t>
            </a:r>
            <a:endParaRPr lang="en-IN" sz="1200" dirty="0">
              <a:solidFill>
                <a:schemeClr val="accent5">
                  <a:lumMod val="50000"/>
                </a:schemeClr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r>
              <a:rPr lang="en-US" sz="1200" dirty="0">
                <a:latin typeface="Times New Roman"/>
                <a:cs typeface="Times New Roman"/>
              </a:rPr>
              <a:t>  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48</TotalTime>
  <Words>646</Words>
  <Application>Microsoft Office PowerPoint</Application>
  <PresentationFormat>On-screen Show (16:9)</PresentationFormat>
  <Paragraphs>228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Arial MT</vt:lpstr>
      <vt:lpstr>Calibri</vt:lpstr>
      <vt:lpstr>Segoe UI Symbol</vt:lpstr>
      <vt:lpstr>Tahoma</vt:lpstr>
      <vt:lpstr>Times New Roman</vt:lpstr>
      <vt:lpstr>Trebuchet MS</vt:lpstr>
      <vt:lpstr>Berlin</vt:lpstr>
      <vt:lpstr>SALES PERFORMANCE REPORT</vt:lpstr>
      <vt:lpstr>ABOUT D-MART</vt:lpstr>
      <vt:lpstr>CATEGORY MARKET SHARE</vt:lpstr>
      <vt:lpstr>GEOGRAPHIC HIGHLIGHTS</vt:lpstr>
      <vt:lpstr>CITY × CATEGORY PERFORMANCE</vt:lpstr>
      <vt:lpstr>REVENUE &amp; PROFIT ANALYSIS</vt:lpstr>
      <vt:lpstr>BCG MATRIX — PRODUCT CATEGORY ANALYSIS</vt:lpstr>
      <vt:lpstr>ROI MODEL — RETURN ON INVESTMENT ANALYSIS</vt:lpstr>
      <vt:lpstr>STRATEGIC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Sales Performance Report</dc:title>
  <dc:subject>PptxGenJS Presentation</dc:subject>
  <dc:creator>Analytics Team</dc:creator>
  <cp:lastModifiedBy>visxnugosali123@gmail.com</cp:lastModifiedBy>
  <cp:revision>2</cp:revision>
  <dcterms:created xsi:type="dcterms:W3CDTF">2026-06-14T07:54:12Z</dcterms:created>
  <dcterms:modified xsi:type="dcterms:W3CDTF">2026-06-14T10:06:34Z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2026-05-24T00:00:00Z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2026-06-14T00:00:00Z</vt:filetime>
  </property>
  <property fmtid="{D5CDD505-2E9C-101B-9397-08002B2CF9AE}" pid="6" name="Producer">
    <vt:lpwstr>Microsoft® PowerPoint® 2019</vt:lpwstr>
  </property>
</Properties>
</file>