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865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of the 8 core skill areas briefly, grouping Excel/technical skills vs. analytical/communication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achievements as a left-to-right timeline of milestones reached across the sprint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future application to a real job task, then close with the conclusion statement word for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warmly, thank the audience/mentors, and open the floor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 · FINAL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and technical skills developed across the program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511296" cy="1444752"/>
          </a:xfrm>
          <a:prstGeom prst="roundRect">
            <a:avLst>
              <a:gd name="adj" fmla="val 5696"/>
            </a:avLst>
          </a:prstGeom>
          <a:solidFill>
            <a:srgbClr val="EAF2FB"/>
          </a:solidFill>
          <a:ln/>
          <a:effectLst>
            <a:outerShdw blurRad="63500" dist="1905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1627632"/>
            <a:ext cx="384048" cy="384048"/>
          </a:xfrm>
          <a:prstGeom prst="ellipse">
            <a:avLst/>
          </a:prstGeom>
          <a:solidFill>
            <a:srgbClr val="2563A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723644"/>
            <a:ext cx="192024" cy="1920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7512" y="2048256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Business KPIs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7512" y="2450592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and interpreting indicators that drive business decisions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06824" y="1481328"/>
            <a:ext cx="3511296" cy="1444752"/>
          </a:xfrm>
          <a:prstGeom prst="roundRect">
            <a:avLst>
              <a:gd name="adj" fmla="val 5696"/>
            </a:avLst>
          </a:prstGeom>
          <a:solidFill>
            <a:srgbClr val="E8F7F1"/>
          </a:solidFill>
          <a:ln/>
          <a:effectLst>
            <a:outerShdw blurRad="63500" dist="1905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1416" y="1627632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172364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71416" y="2048256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Conditional Formulas &amp; Advanced Functions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471416" y="2450592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lookup, and logic-based functions for real-world data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110728" y="1481328"/>
            <a:ext cx="3511296" cy="1444752"/>
          </a:xfrm>
          <a:prstGeom prst="roundRect">
            <a:avLst>
              <a:gd name="adj" fmla="val 5696"/>
            </a:avLst>
          </a:prstGeom>
          <a:solidFill>
            <a:srgbClr val="EAF2FB"/>
          </a:solidFill>
          <a:ln/>
          <a:effectLst>
            <a:outerShdw blurRad="63500" dist="1905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75320" y="1627632"/>
            <a:ext cx="384048" cy="384048"/>
          </a:xfrm>
          <a:prstGeom prst="ellipse">
            <a:avLst/>
          </a:prstGeom>
          <a:solidFill>
            <a:srgbClr val="2563A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332" y="1723644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75320" y="2048256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Data Validation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275320" y="2450592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accurate, error-free, audit-ready datasets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2920" y="3090672"/>
            <a:ext cx="3511296" cy="1444752"/>
          </a:xfrm>
          <a:prstGeom prst="roundRect">
            <a:avLst>
              <a:gd name="adj" fmla="val 5696"/>
            </a:avLst>
          </a:prstGeom>
          <a:solidFill>
            <a:srgbClr val="E8F7F1"/>
          </a:solidFill>
          <a:ln/>
          <a:effectLst>
            <a:outerShdw blurRad="63500" dist="1905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7512" y="3236976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3332988"/>
            <a:ext cx="192024" cy="1920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7512" y="3657600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Dashboard Development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67512" y="4059936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large datasets into actionable views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306824" y="3090672"/>
            <a:ext cx="3511296" cy="1444752"/>
          </a:xfrm>
          <a:prstGeom prst="roundRect">
            <a:avLst>
              <a:gd name="adj" fmla="val 5696"/>
            </a:avLst>
          </a:prstGeom>
          <a:solidFill>
            <a:srgbClr val="E8F7F1"/>
          </a:solidFill>
          <a:ln/>
          <a:effectLst>
            <a:outerShdw blurRad="63500" dist="1905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471416" y="3236976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3332988"/>
            <a:ext cx="192024" cy="19202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471416" y="3657600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Interpretation Techniques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4471416" y="4059936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numbers into meaningful business insight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8110728" y="3090672"/>
            <a:ext cx="3511296" cy="1444752"/>
          </a:xfrm>
          <a:prstGeom prst="roundRect">
            <a:avLst>
              <a:gd name="adj" fmla="val 5696"/>
            </a:avLst>
          </a:prstGeom>
          <a:solidFill>
            <a:srgbClr val="EAF2FB"/>
          </a:solidFill>
          <a:ln/>
          <a:effectLst>
            <a:outerShdw blurRad="63500" dist="1905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75320" y="3236976"/>
            <a:ext cx="384048" cy="384048"/>
          </a:xfrm>
          <a:prstGeom prst="ellipse">
            <a:avLst/>
          </a:prstGeom>
          <a:solidFill>
            <a:srgbClr val="2563A8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332" y="3332988"/>
            <a:ext cx="192024" cy="1920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275320" y="3657600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Business Reporting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8275320" y="4059936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findings through charts and visuals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502920" y="4700016"/>
            <a:ext cx="3511296" cy="1444752"/>
          </a:xfrm>
          <a:prstGeom prst="roundRect">
            <a:avLst>
              <a:gd name="adj" fmla="val 5696"/>
            </a:avLst>
          </a:prstGeom>
          <a:solidFill>
            <a:srgbClr val="E8F7F1"/>
          </a:solidFill>
          <a:ln/>
          <a:effectLst>
            <a:outerShdw blurRad="63500" dist="1905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667512" y="4846320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" y="4942332"/>
            <a:ext cx="192024" cy="1920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67512" y="5266944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Communication Skills</a:t>
            </a:r>
            <a:endParaRPr lang="en-US" sz="1150" dirty="0"/>
          </a:p>
        </p:txBody>
      </p:sp>
      <p:sp>
        <p:nvSpPr>
          <p:cNvPr id="41" name="Text 32"/>
          <p:cNvSpPr/>
          <p:nvPr/>
        </p:nvSpPr>
        <p:spPr>
          <a:xfrm>
            <a:off x="667512" y="5669280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findings clearly to stakeholders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306824" y="4700016"/>
            <a:ext cx="3511296" cy="1444752"/>
          </a:xfrm>
          <a:prstGeom prst="roundRect">
            <a:avLst>
              <a:gd name="adj" fmla="val 5696"/>
            </a:avLst>
          </a:prstGeom>
          <a:solidFill>
            <a:srgbClr val="EAF2FB"/>
          </a:solidFill>
          <a:ln/>
          <a:effectLst>
            <a:outerShdw blurRad="63500" dist="1905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4471416" y="4846320"/>
            <a:ext cx="384048" cy="384048"/>
          </a:xfrm>
          <a:prstGeom prst="ellipse">
            <a:avLst/>
          </a:prstGeom>
          <a:solidFill>
            <a:srgbClr val="2563A8"/>
          </a:solidFill>
          <a:ln/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7428" y="4942332"/>
            <a:ext cx="192024" cy="19202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471416" y="5266944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&amp; Decision-Making Using Data</a:t>
            </a:r>
            <a:endParaRPr lang="en-US" sz="1150" dirty="0"/>
          </a:p>
        </p:txBody>
      </p:sp>
      <p:sp>
        <p:nvSpPr>
          <p:cNvPr id="46" name="Text 36"/>
          <p:cNvSpPr/>
          <p:nvPr/>
        </p:nvSpPr>
        <p:spPr>
          <a:xfrm>
            <a:off x="4471416" y="5669280"/>
            <a:ext cx="3182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analytics to guide confident business choices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8110728" y="4700016"/>
            <a:ext cx="3511296" cy="1444752"/>
          </a:xfrm>
          <a:prstGeom prst="roundRect">
            <a:avLst>
              <a:gd name="adj" fmla="val 5696"/>
            </a:avLst>
          </a:prstGeom>
          <a:solidFill>
            <a:srgbClr val="1E3A5F"/>
          </a:solidFill>
          <a:ln/>
        </p:spPr>
      </p:sp>
      <p:sp>
        <p:nvSpPr>
          <p:cNvPr id="48" name="Text 38"/>
          <p:cNvSpPr/>
          <p:nvPr/>
        </p:nvSpPr>
        <p:spPr>
          <a:xfrm>
            <a:off x="8275320" y="47914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9" name="Text 39"/>
          <p:cNvSpPr/>
          <p:nvPr/>
        </p:nvSpPr>
        <p:spPr>
          <a:xfrm>
            <a:off x="8275320" y="5321808"/>
            <a:ext cx="3182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 Areas Mastered This Program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 · FINAL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learners accomplished by the end of the program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 · Key Learnings &amp; 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3246120"/>
            <a:ext cx="10149840" cy="0"/>
          </a:xfrm>
          <a:prstGeom prst="line">
            <a:avLst/>
          </a:prstGeom>
          <a:noFill/>
          <a:ln w="31750">
            <a:solidFill>
              <a:srgbClr val="D7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2935224"/>
            <a:ext cx="621792" cy="621792"/>
          </a:xfrm>
          <a:prstGeom prst="ellipse">
            <a:avLst/>
          </a:prstGeom>
          <a:solidFill>
            <a:srgbClr val="2563A8"/>
          </a:solidFill>
          <a:ln w="38100">
            <a:solidFill>
              <a:srgbClr val="FFFFFF"/>
            </a:solidFill>
            <a:prstDash val="solid"/>
          </a:ln>
          <a:effectLst>
            <a:outerShdw blurRad="63500" dist="1905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099816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4330" y="1426464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/>
          <a:effectLst>
            <a:outerShdw blurRad="50800" dist="19050" dir="5400000" algn="bl" rotWithShape="0">
              <a:srgbClr val="1E3A5F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5196" y="148132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&amp; BI Thinking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25196" y="188366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strong analytical thinking and business intelligence skills, applying structured reasoning to real datasets.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05840" y="2798064"/>
            <a:ext cx="0" cy="137160"/>
          </a:xfrm>
          <a:prstGeom prst="line">
            <a:avLst/>
          </a:prstGeom>
          <a:noFill/>
          <a:ln w="19050">
            <a:solidFill>
              <a:srgbClr val="D7E3EE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3232404" y="2935224"/>
            <a:ext cx="621792" cy="621792"/>
          </a:xfrm>
          <a:prstGeom prst="ellipse">
            <a:avLst/>
          </a:prstGeom>
          <a:solidFill>
            <a:srgbClr val="0E8C7F"/>
          </a:solidFill>
          <a:ln w="38100">
            <a:solidFill>
              <a:srgbClr val="FFFFFF"/>
            </a:solidFill>
            <a:prstDash val="solid"/>
          </a:ln>
          <a:effectLst>
            <a:outerShdw blurRad="63500" dist="1905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996" y="3099816"/>
            <a:ext cx="292608" cy="29260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514600" y="37490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8F7F1"/>
          </a:solidFill>
          <a:ln/>
          <a:effectLst>
            <a:outerShdw blurRad="50800" dist="19050" dir="5400000" algn="bl" rotWithShape="0">
              <a:srgbClr val="1E3A5F">
                <a:alpha val="6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651760" y="385876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Insightful Reports &amp; Dashboards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651760" y="426110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clear, insightful reports and interactive dashboards that summarize complex data at a glance.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543300" y="3557016"/>
            <a:ext cx="0" cy="192024"/>
          </a:xfrm>
          <a:prstGeom prst="line">
            <a:avLst/>
          </a:prstGeom>
          <a:noFill/>
          <a:ln w="19050">
            <a:solidFill>
              <a:srgbClr val="D7E3EE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5769864" y="2935224"/>
            <a:ext cx="621792" cy="621792"/>
          </a:xfrm>
          <a:prstGeom prst="ellipse">
            <a:avLst/>
          </a:prstGeom>
          <a:solidFill>
            <a:srgbClr val="2563A8"/>
          </a:solidFill>
          <a:ln w="38100">
            <a:solidFill>
              <a:srgbClr val="FFFFFF"/>
            </a:solidFill>
            <a:prstDash val="solid"/>
          </a:ln>
          <a:effectLst>
            <a:outerShdw blurRad="63500" dist="1905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456" y="3099816"/>
            <a:ext cx="292608" cy="29260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052060" y="13716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/>
          <a:effectLst>
            <a:outerShdw blurRad="50800" dist="19050" dir="5400000" algn="bl" rotWithShape="0">
              <a:srgbClr val="1E3A5F">
                <a:alpha val="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189220" y="148132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189220" y="188366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data-driven decision-making capabilities, moving from gut-feel to evidence-based choices.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080760" y="2743200"/>
            <a:ext cx="0" cy="192024"/>
          </a:xfrm>
          <a:prstGeom prst="line">
            <a:avLst/>
          </a:prstGeom>
          <a:noFill/>
          <a:ln w="19050">
            <a:solidFill>
              <a:srgbClr val="D7E3EE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8307324" y="2935224"/>
            <a:ext cx="621792" cy="621792"/>
          </a:xfrm>
          <a:prstGeom prst="ellipse">
            <a:avLst/>
          </a:prstGeom>
          <a:solidFill>
            <a:srgbClr val="0E8C7F"/>
          </a:solidFill>
          <a:ln w="38100">
            <a:solidFill>
              <a:srgbClr val="FFFFFF"/>
            </a:solidFill>
            <a:prstDash val="solid"/>
          </a:ln>
          <a:effectLst>
            <a:outerShdw blurRad="63500" dist="1905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1916" y="3099816"/>
            <a:ext cx="292608" cy="29260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589520" y="374904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8F7F1"/>
          </a:solidFill>
          <a:ln/>
          <a:effectLst>
            <a:outerShdw blurRad="50800" dist="19050" dir="5400000" algn="bl" rotWithShape="0">
              <a:srgbClr val="1E3A5F">
                <a:alpha val="6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7726680" y="385876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Communication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726680" y="426110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professional communication and presentation skills for stakeholder-ready delivery.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618220" y="3557016"/>
            <a:ext cx="0" cy="192024"/>
          </a:xfrm>
          <a:prstGeom prst="line">
            <a:avLst/>
          </a:prstGeom>
          <a:noFill/>
          <a:ln w="19050">
            <a:solidFill>
              <a:srgbClr val="D7E3EE"/>
            </a:solidFill>
            <a:prstDash val="dash"/>
          </a:ln>
        </p:spPr>
      </p:sp>
      <p:sp>
        <p:nvSpPr>
          <p:cNvPr id="32" name="Shape 26"/>
          <p:cNvSpPr/>
          <p:nvPr/>
        </p:nvSpPr>
        <p:spPr>
          <a:xfrm>
            <a:off x="10844784" y="2935224"/>
            <a:ext cx="621792" cy="621792"/>
          </a:xfrm>
          <a:prstGeom prst="ellipse">
            <a:avLst/>
          </a:prstGeom>
          <a:solidFill>
            <a:srgbClr val="2563A8"/>
          </a:solidFill>
          <a:ln w="38100">
            <a:solidFill>
              <a:srgbClr val="FFFFFF"/>
            </a:solidFill>
            <a:prstDash val="solid"/>
          </a:ln>
          <a:effectLst>
            <a:outerShdw blurRad="63500" dist="1905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9376" y="3099816"/>
            <a:ext cx="292608" cy="29260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0126980" y="13716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/>
          <a:effectLst>
            <a:outerShdw blurRad="50800" dist="19050" dir="5400000" algn="bl" rotWithShape="0">
              <a:srgbClr val="1E3A5F">
                <a:alpha val="6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10264140" y="148132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Completion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10264140" y="188366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all sprint activities and projects from start to finish.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11155680" y="2743200"/>
            <a:ext cx="0" cy="192024"/>
          </a:xfrm>
          <a:prstGeom prst="line">
            <a:avLst/>
          </a:prstGeom>
          <a:noFill/>
          <a:ln w="19050">
            <a:solidFill>
              <a:srgbClr val="D7E3EE"/>
            </a:solidFill>
            <a:prstDash val="dash"/>
          </a:ln>
        </p:spPr>
      </p:sp>
      <p:sp>
        <p:nvSpPr>
          <p:cNvPr id="38" name="Shape 31"/>
          <p:cNvSpPr/>
          <p:nvPr/>
        </p:nvSpPr>
        <p:spPr>
          <a:xfrm>
            <a:off x="502920" y="5623560"/>
            <a:ext cx="11155680" cy="713232"/>
          </a:xfrm>
          <a:prstGeom prst="roundRect">
            <a:avLst>
              <a:gd name="adj" fmla="val 12821"/>
            </a:avLst>
          </a:prstGeom>
          <a:solidFill>
            <a:srgbClr val="1E3A5F"/>
          </a:solidFill>
          <a:ln/>
        </p:spPr>
      </p:sp>
      <p:sp>
        <p:nvSpPr>
          <p:cNvPr id="39" name="Text 32"/>
          <p:cNvSpPr/>
          <p:nvPr/>
        </p:nvSpPr>
        <p:spPr>
          <a:xfrm>
            <a:off x="822960" y="562356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milestones, one outcome: a learner ready to turn raw data into business impact.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 · FINAL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57971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Applications &amp; 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88323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skills go next — and the takeaway from this journey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APPLICATIONS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048256"/>
            <a:ext cx="438912" cy="438912"/>
          </a:xfrm>
          <a:prstGeom prst="ellipse">
            <a:avLst/>
          </a:prstGeom>
          <a:solidFill>
            <a:srgbClr val="2563A8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2144268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16152" y="1847088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&amp; Reporting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26480" y="184708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E8F7F1"/>
          </a:solidFill>
          <a:ln/>
        </p:spPr>
      </p:sp>
      <p:sp>
        <p:nvSpPr>
          <p:cNvPr id="13" name="Shape 10"/>
          <p:cNvSpPr/>
          <p:nvPr/>
        </p:nvSpPr>
        <p:spPr>
          <a:xfrm>
            <a:off x="6291072" y="2048256"/>
            <a:ext cx="438912" cy="438912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2144268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9712" y="1847088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2889504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/>
        </p:spPr>
      </p:sp>
      <p:sp>
        <p:nvSpPr>
          <p:cNvPr id="17" name="Shape 13"/>
          <p:cNvSpPr/>
          <p:nvPr/>
        </p:nvSpPr>
        <p:spPr>
          <a:xfrm>
            <a:off x="667512" y="3090672"/>
            <a:ext cx="438912" cy="438912"/>
          </a:xfrm>
          <a:prstGeom prst="ellipse">
            <a:avLst/>
          </a:prstGeom>
          <a:solidFill>
            <a:srgbClr val="2563A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3186684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16152" y="2889504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 &amp; KPI Tracking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26480" y="2889504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E8F7F1"/>
          </a:solidFill>
          <a:ln/>
        </p:spPr>
      </p:sp>
      <p:sp>
        <p:nvSpPr>
          <p:cNvPr id="21" name="Shape 16"/>
          <p:cNvSpPr/>
          <p:nvPr/>
        </p:nvSpPr>
        <p:spPr>
          <a:xfrm>
            <a:off x="6291072" y="3090672"/>
            <a:ext cx="438912" cy="438912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6228" y="3186684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39712" y="2889504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 &amp; Visualization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02920" y="393192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EAF2FB"/>
          </a:solidFill>
          <a:ln/>
        </p:spPr>
      </p:sp>
      <p:sp>
        <p:nvSpPr>
          <p:cNvPr id="25" name="Shape 19"/>
          <p:cNvSpPr/>
          <p:nvPr/>
        </p:nvSpPr>
        <p:spPr>
          <a:xfrm>
            <a:off x="667512" y="4133088"/>
            <a:ext cx="438912" cy="438912"/>
          </a:xfrm>
          <a:prstGeom prst="ellipse">
            <a:avLst/>
          </a:prstGeom>
          <a:solidFill>
            <a:srgbClr val="2563A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" y="422910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16152" y="393192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Presentations &amp; Stakeholder Comms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126480" y="393192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E8F7F1"/>
          </a:solidFill>
          <a:ln/>
        </p:spPr>
      </p:sp>
      <p:sp>
        <p:nvSpPr>
          <p:cNvPr id="29" name="Shape 22"/>
          <p:cNvSpPr/>
          <p:nvPr/>
        </p:nvSpPr>
        <p:spPr>
          <a:xfrm>
            <a:off x="6291072" y="4133088"/>
            <a:ext cx="438912" cy="438912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6228" y="422910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39712" y="393192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 in Data Analytics &amp; BI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502920" y="5074920"/>
            <a:ext cx="11155680" cy="1234440"/>
          </a:xfrm>
          <a:prstGeom prst="roundRect">
            <a:avLst>
              <a:gd name="adj" fmla="val 7407"/>
            </a:avLst>
          </a:prstGeom>
          <a:solidFill>
            <a:srgbClr val="1E3A5F"/>
          </a:solidFill>
          <a:ln/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495544"/>
            <a:ext cx="457200" cy="4572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508760" y="522122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1508760" y="545896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sprints have provided a strong foundation in data analysis, business intelligence, visualization, and professional communication — preparing learners for real-world business challenges and future career opportunities.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2563A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931920"/>
            <a:ext cx="4206240" cy="4206240"/>
          </a:xfrm>
          <a:prstGeom prst="ellipse">
            <a:avLst/>
          </a:prstGeom>
          <a:solidFill>
            <a:srgbClr val="0E8C7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099816" y="1417320"/>
            <a:ext cx="502920" cy="502920"/>
          </a:xfrm>
          <a:prstGeom prst="ellipse">
            <a:avLst/>
          </a:prstGeom>
          <a:solidFill>
            <a:srgbClr val="2563A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1536192"/>
            <a:ext cx="265176" cy="26517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1563624"/>
            <a:ext cx="219456" cy="21945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471416" y="1417320"/>
            <a:ext cx="502920" cy="502920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1536192"/>
            <a:ext cx="265176" cy="26517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563624"/>
            <a:ext cx="219456" cy="219456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843016" y="1417320"/>
            <a:ext cx="502920" cy="502920"/>
          </a:xfrm>
          <a:prstGeom prst="ellipse">
            <a:avLst/>
          </a:prstGeom>
          <a:solidFill>
            <a:srgbClr val="2563A8"/>
          </a:solidFill>
          <a:ln/>
        </p:spPr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1536192"/>
            <a:ext cx="265176" cy="265176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563624"/>
            <a:ext cx="219456" cy="219456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7214616" y="1417320"/>
            <a:ext cx="502920" cy="502920"/>
          </a:xfrm>
          <a:prstGeom prst="ellipse">
            <a:avLst/>
          </a:prstGeom>
          <a:solidFill>
            <a:srgbClr val="0E8C7F"/>
          </a:solidFill>
          <a:ln/>
        </p:spPr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488" y="1536192"/>
            <a:ext cx="265176" cy="265176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563624"/>
            <a:ext cx="219456" cy="219456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8586216" y="1417320"/>
            <a:ext cx="502920" cy="502920"/>
          </a:xfrm>
          <a:prstGeom prst="ellipse">
            <a:avLst/>
          </a:prstGeom>
          <a:solidFill>
            <a:srgbClr val="2563A8"/>
          </a:solidFill>
          <a:ln/>
        </p:spPr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5088" y="1536192"/>
            <a:ext cx="265176" cy="265176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457200" y="2331720"/>
            <a:ext cx="11274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9" name="Text 8"/>
          <p:cNvSpPr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FD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20" name="Shape 9"/>
          <p:cNvSpPr/>
          <p:nvPr/>
        </p:nvSpPr>
        <p:spPr>
          <a:xfrm>
            <a:off x="2889504" y="4343400"/>
            <a:ext cx="6400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3824" y="4590288"/>
            <a:ext cx="384048" cy="384048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3703320" y="434340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– Sprint 10  |  Data Analytics &amp; Business Intelligence Program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427</Words>
  <Application>Microsoft Office PowerPoint</Application>
  <PresentationFormat>Widescreen</PresentationFormat>
  <Paragraphs>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10: Key Learnings &amp; Conclusion</dc:title>
  <dc:subject>PptxGenJS Presentation</dc:subject>
  <dc:creator>Sprint Learning Program</dc:creator>
  <cp:lastModifiedBy>Ashutosh Gaud</cp:lastModifiedBy>
  <cp:revision>2</cp:revision>
  <dcterms:created xsi:type="dcterms:W3CDTF">2026-06-21T13:54:11Z</dcterms:created>
  <dcterms:modified xsi:type="dcterms:W3CDTF">2026-06-21T13:58:49Z</dcterms:modified>
</cp:coreProperties>
</file>