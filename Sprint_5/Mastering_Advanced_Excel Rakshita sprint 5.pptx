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1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018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introduce the training. Outline the five major topics: Data Validation, Conditional Formatting, Lookup Functions, VLOOKUP, and HLOOKUP. Emphasize this is a practical, business-focused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Excel remains the backbone of business analytics in most organizations. Highlight the progression from raw data to actionable insights. Stress that Advanced Excel skills reduce manual effort and errors.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Validation is the foundation of clean spreadsheets. Walk through each type with examples. Emphasize custom formulas for advanced scenarios like preventing duplicates with COUNTIF. Demo in Excel if possible.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Ranges transform formula readability. Show how to create one via Formulas &gt; Name Manager. Emphasize that teams can understand models faster when using descriptive names like Revenue, EmployeeTable, DeptList.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Formatting turns data into visual dashboards instantly. Start with simple Highlight Rules, then show the power of custom formulas. Warn about performance on large datasets (100k+ rows).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the entire lookup ecosystem. Explain that VLOOKUP and HLOOKUP are entry-level, INDEX+MATCH is the analyst's choice, and XLOOKUP is the future. We'll dive into each in subsequent slides.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VLOOKUP is the most commonly used lookup function. Walk through the syntax parameter by parameter. Demonstrate with an employee lookup example. Show the IFERROR wrapper for clean error handling. Emphasize the lookup column must always be the first column.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HLOOKUP mirrors VLOOKUP but searches across the first row. Walk through the sales table example step by step. Highlight row 3 = South when looking up 'Feb'. Show the power of combining with MATCH for dynamic row_index_num.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INDEX+MATCH is what separates power users from basic users. Explain MATCH finds position, INDEX uses that position to return a value. The combination gives unlimited flexibility. Show the 2D lookup example for Q3 Revenue.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XLOOKUP is the future of Excel lookups. Its cleaner syntax and built-in error handling remove the need for IFERROR wrappers. The ability to return multiple columns is a game-changer. Check your organization's Excel version before recommending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decision-making slide. Walk through each criterion. Emphasize that for organizations on Excel 365, XLOOKUP is the clear winner. For legacy environments, INDEX+MATCH is the most robust choice.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four pillars: Data Validation for clean input, Conditional Formatting for visual insights, the right lookup function for data retrieval, and consistent best practices throughout. End with Q&amp;A and encourage practice in real workbooks.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Suggest that participants practice each function in a real workbook this week. Offer to share the reference guide. Remind them that consistent practice with real data is the fastest path to mastery.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7034"/>
            <a:ext cx="9144000" cy="1828800"/>
          </a:xfrm>
          <a:prstGeom prst="rect">
            <a:avLst/>
          </a:prstGeom>
          <a:solidFill>
            <a:srgbClr val="1B7A4D"/>
          </a:solidFill>
          <a:ln/>
        </p:spPr>
        <p:txBody>
          <a:bodyPr/>
          <a:lstStyle/>
          <a:p>
            <a:pPr>
              <a:lnSpc>
                <a:spcPct val="300000"/>
              </a:lnSpc>
            </a:pPr>
            <a:endParaRPr lang="en-IN" dirty="0"/>
          </a:p>
        </p:txBody>
      </p:sp>
      <p:sp>
        <p:nvSpPr>
          <p:cNvPr id="3" name="Shape 1"/>
          <p:cNvSpPr/>
          <p:nvPr/>
        </p:nvSpPr>
        <p:spPr>
          <a:xfrm>
            <a:off x="6858000" y="-731520"/>
            <a:ext cx="3200400" cy="3200400"/>
          </a:xfrm>
          <a:prstGeom prst="ellipse">
            <a:avLst/>
          </a:prstGeom>
          <a:solidFill>
            <a:srgbClr val="2EAD6C">
              <a:alpha val="30000"/>
            </a:srgbClr>
          </a:solidFill>
          <a:ln w="12700">
            <a:solidFill>
              <a:srgbClr val="2EAD6C">
                <a:alpha val="30000"/>
              </a:srgbClr>
            </a:solidFill>
            <a:prstDash val="solid"/>
          </a:ln>
        </p:spPr>
      </p:sp>
      <p:sp>
        <p:nvSpPr>
          <p:cNvPr id="4" name="Shape 2"/>
          <p:cNvSpPr/>
          <p:nvPr/>
        </p:nvSpPr>
        <p:spPr>
          <a:xfrm>
            <a:off x="7498080" y="-274320"/>
            <a:ext cx="2011680" cy="2011680"/>
          </a:xfrm>
          <a:prstGeom prst="ellipse">
            <a:avLst/>
          </a:prstGeom>
          <a:solidFill>
            <a:srgbClr val="FFFFFF">
              <a:alpha val="20000"/>
            </a:srgbClr>
          </a:solidFill>
          <a:ln w="12700">
            <a:solidFill>
              <a:srgbClr val="FFFFFF">
                <a:alpha val="20000"/>
              </a:srgbClr>
            </a:solidFill>
            <a:prstDash val="solid"/>
          </a:ln>
        </p:spPr>
        <p:txBody>
          <a:bodyPr/>
          <a:lstStyle/>
          <a:p>
            <a:endParaRPr lang="en-IN" dirty="0"/>
          </a:p>
        </p:txBody>
      </p:sp>
      <p:sp>
        <p:nvSpPr>
          <p:cNvPr id="5" name="Text 3"/>
          <p:cNvSpPr/>
          <p:nvPr/>
        </p:nvSpPr>
        <p:spPr>
          <a:xfrm>
            <a:off x="457200" y="137160"/>
            <a:ext cx="6400800" cy="365760"/>
          </a:xfrm>
          <a:prstGeom prst="rect">
            <a:avLst/>
          </a:prstGeom>
          <a:noFill/>
          <a:ln/>
        </p:spPr>
        <p:txBody>
          <a:bodyPr wrap="square" lIns="0" tIns="0" rIns="0" bIns="0" rtlCol="0" anchor="ctr"/>
          <a:lstStyle/>
          <a:p>
            <a:pPr marL="0" indent="0">
              <a:buNone/>
            </a:pPr>
            <a:endParaRPr lang="en-US" sz="1100" dirty="0"/>
          </a:p>
        </p:txBody>
      </p:sp>
      <p:sp>
        <p:nvSpPr>
          <p:cNvPr id="6" name="Text 4"/>
          <p:cNvSpPr/>
          <p:nvPr/>
        </p:nvSpPr>
        <p:spPr>
          <a:xfrm>
            <a:off x="457200" y="548640"/>
            <a:ext cx="6400800" cy="320040"/>
          </a:xfrm>
          <a:prstGeom prst="rect">
            <a:avLst/>
          </a:prstGeom>
          <a:noFill/>
          <a:ln/>
        </p:spPr>
        <p:txBody>
          <a:bodyPr wrap="square" lIns="0" tIns="0" rIns="0" bIns="0" rtlCol="0" anchor="ctr"/>
          <a:lstStyle/>
          <a:p>
            <a:pPr marL="0" indent="0">
              <a:buNone/>
            </a:pPr>
            <a:endParaRPr lang="en-US" sz="1200" dirty="0"/>
          </a:p>
        </p:txBody>
      </p:sp>
      <p:sp>
        <p:nvSpPr>
          <p:cNvPr id="7" name="Shape 5"/>
          <p:cNvSpPr/>
          <p:nvPr/>
        </p:nvSpPr>
        <p:spPr>
          <a:xfrm>
            <a:off x="457200" y="1554480"/>
            <a:ext cx="347472" cy="256032"/>
          </a:xfrm>
          <a:prstGeom prst="rect">
            <a:avLst/>
          </a:prstGeom>
          <a:solidFill>
            <a:srgbClr val="1B7A4D"/>
          </a:solidFill>
          <a:ln w="12700">
            <a:solidFill>
              <a:srgbClr val="FFFFFF"/>
            </a:solidFill>
            <a:prstDash val="solid"/>
          </a:ln>
        </p:spPr>
      </p:sp>
      <p:sp>
        <p:nvSpPr>
          <p:cNvPr id="8" name="Shape 6"/>
          <p:cNvSpPr/>
          <p:nvPr/>
        </p:nvSpPr>
        <p:spPr>
          <a:xfrm>
            <a:off x="841248" y="1554480"/>
            <a:ext cx="347472" cy="256032"/>
          </a:xfrm>
          <a:prstGeom prst="rect">
            <a:avLst/>
          </a:prstGeom>
          <a:solidFill>
            <a:srgbClr val="2EAD6C"/>
          </a:solidFill>
          <a:ln w="12700">
            <a:solidFill>
              <a:srgbClr val="FFFFFF"/>
            </a:solidFill>
            <a:prstDash val="solid"/>
          </a:ln>
        </p:spPr>
      </p:sp>
      <p:sp>
        <p:nvSpPr>
          <p:cNvPr id="9" name="Shape 7"/>
          <p:cNvSpPr/>
          <p:nvPr/>
        </p:nvSpPr>
        <p:spPr>
          <a:xfrm>
            <a:off x="457200" y="1847088"/>
            <a:ext cx="347472" cy="256032"/>
          </a:xfrm>
          <a:prstGeom prst="rect">
            <a:avLst/>
          </a:prstGeom>
          <a:solidFill>
            <a:srgbClr val="2EAD6C"/>
          </a:solidFill>
          <a:ln w="12700">
            <a:solidFill>
              <a:srgbClr val="FFFFFF"/>
            </a:solidFill>
            <a:prstDash val="solid"/>
          </a:ln>
        </p:spPr>
      </p:sp>
      <p:sp>
        <p:nvSpPr>
          <p:cNvPr id="10" name="Shape 8"/>
          <p:cNvSpPr/>
          <p:nvPr/>
        </p:nvSpPr>
        <p:spPr>
          <a:xfrm>
            <a:off x="841248" y="1847088"/>
            <a:ext cx="347472" cy="256032"/>
          </a:xfrm>
          <a:prstGeom prst="rect">
            <a:avLst/>
          </a:prstGeom>
          <a:solidFill>
            <a:srgbClr val="1B7A4D"/>
          </a:solidFill>
          <a:ln w="12700">
            <a:solidFill>
              <a:srgbClr val="FFFFFF"/>
            </a:solidFill>
            <a:prstDash val="solid"/>
          </a:ln>
        </p:spPr>
      </p:sp>
      <p:sp>
        <p:nvSpPr>
          <p:cNvPr id="11" name="Text 9"/>
          <p:cNvSpPr/>
          <p:nvPr/>
        </p:nvSpPr>
        <p:spPr>
          <a:xfrm>
            <a:off x="120560" y="61546"/>
            <a:ext cx="8229600" cy="777240"/>
          </a:xfrm>
          <a:prstGeom prst="rect">
            <a:avLst/>
          </a:prstGeom>
          <a:noFill/>
          <a:ln/>
        </p:spPr>
        <p:txBody>
          <a:bodyPr wrap="square" lIns="0" tIns="0" rIns="0" bIns="0" rtlCol="0" anchor="ctr"/>
          <a:lstStyle/>
          <a:p>
            <a:r>
              <a:rPr lang="en-US" sz="4000" b="1" kern="0" spc="300" dirty="0"/>
              <a:t>ADVANCED EXCEL FUNCTION</a:t>
            </a:r>
            <a:endParaRPr lang="en-US" sz="3800" dirty="0"/>
          </a:p>
        </p:txBody>
      </p:sp>
      <p:sp>
        <p:nvSpPr>
          <p:cNvPr id="12" name="Text 10"/>
          <p:cNvSpPr/>
          <p:nvPr/>
        </p:nvSpPr>
        <p:spPr>
          <a:xfrm>
            <a:off x="120560" y="705143"/>
            <a:ext cx="8229600" cy="640080"/>
          </a:xfrm>
          <a:prstGeom prst="rect">
            <a:avLst/>
          </a:prstGeom>
          <a:noFill/>
          <a:ln/>
        </p:spPr>
        <p:txBody>
          <a:bodyPr wrap="square" lIns="0" tIns="0" rIns="0" bIns="0" rtlCol="0" anchor="ctr"/>
          <a:lstStyle/>
          <a:p>
            <a:r>
              <a:rPr lang="en-US" sz="3200" b="1" kern="0" spc="300" dirty="0">
                <a:solidFill>
                  <a:srgbClr val="00B050"/>
                </a:solidFill>
              </a:rPr>
              <a:t>&amp; DATA MANAGEMENT</a:t>
            </a:r>
            <a:endParaRPr lang="en-US" sz="3000" dirty="0">
              <a:solidFill>
                <a:srgbClr val="00B050"/>
              </a:solidFill>
            </a:endParaRPr>
          </a:p>
        </p:txBody>
      </p:sp>
      <p:sp>
        <p:nvSpPr>
          <p:cNvPr id="13" name="Text 11"/>
          <p:cNvSpPr/>
          <p:nvPr/>
        </p:nvSpPr>
        <p:spPr>
          <a:xfrm>
            <a:off x="457200" y="3566160"/>
            <a:ext cx="8229600" cy="365760"/>
          </a:xfrm>
          <a:prstGeom prst="rect">
            <a:avLst/>
          </a:prstGeom>
          <a:noFill/>
          <a:ln/>
        </p:spPr>
        <p:txBody>
          <a:bodyPr wrap="square" lIns="0" tIns="0" rIns="0" bIns="0" rtlCol="0" anchor="ctr"/>
          <a:lstStyle/>
          <a:p>
            <a:pPr marL="0" indent="0">
              <a:buNone/>
            </a:pPr>
            <a:endParaRPr lang="en-US" sz="1050" dirty="0"/>
          </a:p>
        </p:txBody>
      </p:sp>
      <p:sp>
        <p:nvSpPr>
          <p:cNvPr id="14" name="Shape 12"/>
          <p:cNvSpPr/>
          <p:nvPr/>
        </p:nvSpPr>
        <p:spPr>
          <a:xfrm>
            <a:off x="393895" y="4092787"/>
            <a:ext cx="8229600" cy="27432"/>
          </a:xfrm>
          <a:prstGeom prst="rect">
            <a:avLst/>
          </a:prstGeom>
          <a:solidFill>
            <a:srgbClr val="2EAD6C"/>
          </a:solidFill>
          <a:ln/>
        </p:spPr>
      </p:sp>
      <p:sp>
        <p:nvSpPr>
          <p:cNvPr id="15" name="Text 13"/>
          <p:cNvSpPr/>
          <p:nvPr/>
        </p:nvSpPr>
        <p:spPr>
          <a:xfrm>
            <a:off x="457200" y="4160520"/>
            <a:ext cx="2286000" cy="502920"/>
          </a:xfrm>
          <a:prstGeom prst="rect">
            <a:avLst/>
          </a:prstGeom>
          <a:noFill/>
          <a:ln/>
        </p:spPr>
        <p:txBody>
          <a:bodyPr wrap="square" lIns="0" tIns="0" rIns="0" bIns="0" rtlCol="0" anchor="ctr"/>
          <a:lstStyle/>
          <a:p>
            <a:pPr marL="0" indent="0">
              <a:buNone/>
            </a:pPr>
            <a:r>
              <a:rPr lang="en-US" sz="2800" b="1" dirty="0">
                <a:solidFill>
                  <a:srgbClr val="1B7A4D"/>
                </a:solidFill>
                <a:latin typeface="Cambria" pitchFamily="34" charset="0"/>
                <a:ea typeface="Cambria" pitchFamily="34" charset="-122"/>
                <a:cs typeface="Cambria" pitchFamily="34" charset="-120"/>
              </a:rPr>
              <a:t>5</a:t>
            </a:r>
            <a:endParaRPr lang="en-US" sz="2800" dirty="0"/>
          </a:p>
        </p:txBody>
      </p:sp>
      <p:sp>
        <p:nvSpPr>
          <p:cNvPr id="16" name="Text 14"/>
          <p:cNvSpPr/>
          <p:nvPr/>
        </p:nvSpPr>
        <p:spPr>
          <a:xfrm>
            <a:off x="457200" y="4617720"/>
            <a:ext cx="2286000" cy="274320"/>
          </a:xfrm>
          <a:prstGeom prst="rect">
            <a:avLst/>
          </a:prstGeom>
          <a:noFill/>
          <a:ln/>
        </p:spPr>
        <p:txBody>
          <a:bodyPr wrap="square" lIns="0" tIns="0" rIns="0" bIns="0" rtlCol="0" anchor="ctr"/>
          <a:lstStyle/>
          <a:p>
            <a:pPr marL="0" indent="0">
              <a:buNone/>
            </a:pPr>
            <a:r>
              <a:rPr lang="en-US" sz="1000" dirty="0">
                <a:solidFill>
                  <a:srgbClr val="5A6B62"/>
                </a:solidFill>
              </a:rPr>
              <a:t>Topics</a:t>
            </a:r>
            <a:endParaRPr lang="en-US" sz="1000" dirty="0"/>
          </a:p>
        </p:txBody>
      </p:sp>
      <p:sp>
        <p:nvSpPr>
          <p:cNvPr id="17" name="Text 15"/>
          <p:cNvSpPr/>
          <p:nvPr/>
        </p:nvSpPr>
        <p:spPr>
          <a:xfrm>
            <a:off x="3291840" y="4160520"/>
            <a:ext cx="2286000" cy="502920"/>
          </a:xfrm>
          <a:prstGeom prst="rect">
            <a:avLst/>
          </a:prstGeom>
          <a:noFill/>
          <a:ln/>
        </p:spPr>
        <p:txBody>
          <a:bodyPr wrap="square" lIns="0" tIns="0" rIns="0" bIns="0" rtlCol="0" anchor="ctr"/>
          <a:lstStyle/>
          <a:p>
            <a:pPr marL="0" indent="0">
              <a:buNone/>
            </a:pPr>
            <a:r>
              <a:rPr lang="en-US" sz="2800" b="1" dirty="0">
                <a:solidFill>
                  <a:srgbClr val="1B7A4D"/>
                </a:solidFill>
                <a:latin typeface="Cambria" pitchFamily="34" charset="0"/>
                <a:ea typeface="Cambria" pitchFamily="34" charset="-122"/>
                <a:cs typeface="Cambria" pitchFamily="34" charset="-120"/>
              </a:rPr>
              <a:t>30+</a:t>
            </a:r>
            <a:endParaRPr lang="en-US" sz="2800" dirty="0"/>
          </a:p>
        </p:txBody>
      </p:sp>
      <p:sp>
        <p:nvSpPr>
          <p:cNvPr id="18" name="Text 16"/>
          <p:cNvSpPr/>
          <p:nvPr/>
        </p:nvSpPr>
        <p:spPr>
          <a:xfrm>
            <a:off x="3291840" y="4617720"/>
            <a:ext cx="2286000" cy="274320"/>
          </a:xfrm>
          <a:prstGeom prst="rect">
            <a:avLst/>
          </a:prstGeom>
          <a:noFill/>
          <a:ln/>
        </p:spPr>
        <p:txBody>
          <a:bodyPr wrap="square" lIns="0" tIns="0" rIns="0" bIns="0" rtlCol="0" anchor="ctr"/>
          <a:lstStyle/>
          <a:p>
            <a:pPr marL="0" indent="0">
              <a:buNone/>
            </a:pPr>
            <a:r>
              <a:rPr lang="en-US" sz="1000" dirty="0">
                <a:solidFill>
                  <a:srgbClr val="5A6B62"/>
                </a:solidFill>
              </a:rPr>
              <a:t>Formula Examples</a:t>
            </a:r>
            <a:endParaRPr lang="en-US" sz="1000" dirty="0"/>
          </a:p>
        </p:txBody>
      </p:sp>
      <p:sp>
        <p:nvSpPr>
          <p:cNvPr id="19" name="Text 17"/>
          <p:cNvSpPr/>
          <p:nvPr/>
        </p:nvSpPr>
        <p:spPr>
          <a:xfrm>
            <a:off x="6126480" y="4160520"/>
            <a:ext cx="2286000" cy="502920"/>
          </a:xfrm>
          <a:prstGeom prst="rect">
            <a:avLst/>
          </a:prstGeom>
          <a:noFill/>
          <a:ln/>
        </p:spPr>
        <p:txBody>
          <a:bodyPr wrap="square" lIns="0" tIns="0" rIns="0" bIns="0" rtlCol="0" anchor="ctr"/>
          <a:lstStyle/>
          <a:p>
            <a:pPr marL="0" indent="0">
              <a:buNone/>
            </a:pPr>
            <a:r>
              <a:rPr lang="en-US" sz="2800" b="1" dirty="0">
                <a:solidFill>
                  <a:srgbClr val="1B7A4D"/>
                </a:solidFill>
                <a:latin typeface="Cambria" pitchFamily="34" charset="0"/>
                <a:ea typeface="Cambria" pitchFamily="34" charset="-122"/>
                <a:cs typeface="Cambria" pitchFamily="34" charset="-120"/>
              </a:rPr>
              <a:t>50+</a:t>
            </a:r>
            <a:endParaRPr lang="en-US" sz="2800" dirty="0"/>
          </a:p>
        </p:txBody>
      </p:sp>
      <p:sp>
        <p:nvSpPr>
          <p:cNvPr id="20" name="Text 18"/>
          <p:cNvSpPr/>
          <p:nvPr/>
        </p:nvSpPr>
        <p:spPr>
          <a:xfrm>
            <a:off x="6126480" y="4617720"/>
            <a:ext cx="2286000" cy="274320"/>
          </a:xfrm>
          <a:prstGeom prst="rect">
            <a:avLst/>
          </a:prstGeom>
          <a:noFill/>
          <a:ln/>
        </p:spPr>
        <p:txBody>
          <a:bodyPr wrap="square" lIns="0" tIns="0" rIns="0" bIns="0" rtlCol="0" anchor="ctr"/>
          <a:lstStyle/>
          <a:p>
            <a:pPr marL="0" indent="0">
              <a:buNone/>
            </a:pPr>
            <a:r>
              <a:rPr lang="en-US" sz="1000" dirty="0">
                <a:solidFill>
                  <a:srgbClr val="5A6B62"/>
                </a:solidFill>
              </a:rPr>
              <a:t>Use Cases</a:t>
            </a:r>
            <a:endParaRPr lang="en-US" sz="1000" dirty="0"/>
          </a:p>
        </p:txBody>
      </p:sp>
      <p:pic>
        <p:nvPicPr>
          <p:cNvPr id="21" name="Image 0" descr="icons/chartbar-white.png">
            <a:extLst>
              <a:ext uri="{FF2B5EF4-FFF2-40B4-BE49-F238E27FC236}">
                <a16:creationId xmlns:a16="http://schemas.microsoft.com/office/drawing/2014/main" id="{985D00DD-88A9-9DF8-0861-231F76DC7FDD}"/>
              </a:ext>
            </a:extLst>
          </p:cNvPr>
          <p:cNvPicPr>
            <a:picLocks noChangeAspect="1"/>
          </p:cNvPicPr>
          <p:nvPr/>
        </p:nvPicPr>
        <p:blipFill>
          <a:blip r:embed="rId3"/>
          <a:stretch>
            <a:fillRect/>
          </a:stretch>
        </p:blipFill>
        <p:spPr>
          <a:xfrm>
            <a:off x="8262518" y="438631"/>
            <a:ext cx="482803" cy="482803"/>
          </a:xfrm>
          <a:prstGeom prst="rect">
            <a:avLst/>
          </a:prstGeom>
        </p:spPr>
      </p:pic>
      <p:pic>
        <p:nvPicPr>
          <p:cNvPr id="24" name="Image 3" descr="icons/link-white.png">
            <a:extLst>
              <a:ext uri="{FF2B5EF4-FFF2-40B4-BE49-F238E27FC236}">
                <a16:creationId xmlns:a16="http://schemas.microsoft.com/office/drawing/2014/main" id="{F282089C-B080-6559-67EF-6E2E9EBF05C4}"/>
              </a:ext>
            </a:extLst>
          </p:cNvPr>
          <p:cNvPicPr>
            <a:picLocks noChangeAspect="1"/>
          </p:cNvPicPr>
          <p:nvPr/>
        </p:nvPicPr>
        <p:blipFill>
          <a:blip r:embed="rId4"/>
          <a:stretch>
            <a:fillRect/>
          </a:stretch>
        </p:blipFill>
        <p:spPr>
          <a:xfrm>
            <a:off x="7102919" y="1034117"/>
            <a:ext cx="285293" cy="285293"/>
          </a:xfrm>
          <a:prstGeom prst="rect">
            <a:avLst/>
          </a:prstGeom>
        </p:spPr>
      </p:pic>
      <p:pic>
        <p:nvPicPr>
          <p:cNvPr id="25" name="Image 2" descr="icons/search-white.png">
            <a:extLst>
              <a:ext uri="{FF2B5EF4-FFF2-40B4-BE49-F238E27FC236}">
                <a16:creationId xmlns:a16="http://schemas.microsoft.com/office/drawing/2014/main" id="{8DE55793-2872-CC59-09B8-8426CD21B281}"/>
              </a:ext>
            </a:extLst>
          </p:cNvPr>
          <p:cNvPicPr>
            <a:picLocks noChangeAspect="1"/>
          </p:cNvPicPr>
          <p:nvPr/>
        </p:nvPicPr>
        <p:blipFill>
          <a:blip r:embed="rId5"/>
          <a:stretch>
            <a:fillRect/>
          </a:stretch>
        </p:blipFill>
        <p:spPr>
          <a:xfrm>
            <a:off x="8086532" y="2002465"/>
            <a:ext cx="307238" cy="256032"/>
          </a:xfrm>
          <a:prstGeom prst="rect">
            <a:avLst/>
          </a:prstGeom>
        </p:spPr>
      </p:pic>
      <p:pic>
        <p:nvPicPr>
          <p:cNvPr id="26" name="Image 4" descr="icons/palette-white.png">
            <a:extLst>
              <a:ext uri="{FF2B5EF4-FFF2-40B4-BE49-F238E27FC236}">
                <a16:creationId xmlns:a16="http://schemas.microsoft.com/office/drawing/2014/main" id="{B0F8602D-6AB3-3331-82CD-769EBC011739}"/>
              </a:ext>
            </a:extLst>
          </p:cNvPr>
          <p:cNvPicPr>
            <a:picLocks noChangeAspect="1"/>
          </p:cNvPicPr>
          <p:nvPr/>
        </p:nvPicPr>
        <p:blipFill>
          <a:blip r:embed="rId6"/>
          <a:stretch>
            <a:fillRect/>
          </a:stretch>
        </p:blipFill>
        <p:spPr>
          <a:xfrm>
            <a:off x="9509760" y="1298448"/>
            <a:ext cx="307238" cy="307238"/>
          </a:xfrm>
          <a:prstGeom prst="rect">
            <a:avLst/>
          </a:prstGeom>
        </p:spPr>
      </p:pic>
      <p:sp>
        <p:nvSpPr>
          <p:cNvPr id="28" name="TextBox 27">
            <a:extLst>
              <a:ext uri="{FF2B5EF4-FFF2-40B4-BE49-F238E27FC236}">
                <a16:creationId xmlns:a16="http://schemas.microsoft.com/office/drawing/2014/main" id="{913A55A9-CF78-5C86-537C-F6634E44CD1E}"/>
              </a:ext>
            </a:extLst>
          </p:cNvPr>
          <p:cNvSpPr txBox="1"/>
          <p:nvPr/>
        </p:nvSpPr>
        <p:spPr>
          <a:xfrm>
            <a:off x="277837" y="2211114"/>
            <a:ext cx="5127674" cy="1815882"/>
          </a:xfrm>
          <a:prstGeom prst="rect">
            <a:avLst/>
          </a:prstGeom>
          <a:noFill/>
        </p:spPr>
        <p:txBody>
          <a:bodyPr wrap="square">
            <a:spAutoFit/>
          </a:bodyPr>
          <a:lstStyle/>
          <a:p>
            <a:pPr marL="0" indent="0">
              <a:buNone/>
            </a:pPr>
            <a:r>
              <a:rPr lang="en-US" sz="1600" i="1" dirty="0">
                <a:solidFill>
                  <a:srgbClr val="5A6B62"/>
                </a:solidFill>
              </a:rPr>
              <a:t>Data Validation  </a:t>
            </a:r>
          </a:p>
          <a:p>
            <a:pPr marL="0" indent="0">
              <a:buNone/>
            </a:pPr>
            <a:r>
              <a:rPr lang="en-US" sz="1600" i="1" dirty="0">
                <a:solidFill>
                  <a:srgbClr val="5A6B62"/>
                </a:solidFill>
              </a:rPr>
              <a:t>•  Named Ranges  </a:t>
            </a:r>
          </a:p>
          <a:p>
            <a:pPr marL="0" indent="0">
              <a:buNone/>
            </a:pPr>
            <a:r>
              <a:rPr lang="en-US" sz="1600" i="1" dirty="0">
                <a:solidFill>
                  <a:srgbClr val="5A6B62"/>
                </a:solidFill>
              </a:rPr>
              <a:t>•  Conditional Formatting  </a:t>
            </a:r>
          </a:p>
          <a:p>
            <a:pPr marL="0" indent="0">
              <a:buNone/>
            </a:pPr>
            <a:r>
              <a:rPr lang="en-US" sz="1600" i="1" dirty="0">
                <a:solidFill>
                  <a:srgbClr val="5A6B62"/>
                </a:solidFill>
              </a:rPr>
              <a:t>•  VLOOKUP  </a:t>
            </a:r>
          </a:p>
          <a:p>
            <a:pPr marL="0" indent="0">
              <a:buNone/>
            </a:pPr>
            <a:r>
              <a:rPr lang="en-US" sz="1600" i="1" dirty="0">
                <a:solidFill>
                  <a:srgbClr val="5A6B62"/>
                </a:solidFill>
              </a:rPr>
              <a:t>•  HLOOKUP  </a:t>
            </a:r>
          </a:p>
          <a:p>
            <a:pPr marL="0" indent="0">
              <a:buNone/>
            </a:pPr>
            <a:r>
              <a:rPr lang="en-US" sz="1600" i="1" dirty="0">
                <a:solidFill>
                  <a:srgbClr val="5A6B62"/>
                </a:solidFill>
              </a:rPr>
              <a:t>•  INDEX-MATCH  </a:t>
            </a:r>
          </a:p>
          <a:p>
            <a:pPr marL="0" indent="0">
              <a:buNone/>
            </a:pPr>
            <a:r>
              <a:rPr lang="en-US" sz="1600" i="1" dirty="0">
                <a:solidFill>
                  <a:srgbClr val="5A6B62"/>
                </a:solidFill>
              </a:rPr>
              <a:t>•  XLOOKUP</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B7A4D"/>
          </a:solidFill>
          <a:ln/>
        </p:spPr>
      </p:sp>
      <p:sp>
        <p:nvSpPr>
          <p:cNvPr id="3" name="Text 1"/>
          <p:cNvSpPr/>
          <p:nvPr/>
        </p:nvSpPr>
        <p:spPr>
          <a:xfrm>
            <a:off x="182880" y="914400"/>
            <a:ext cx="2834640" cy="146304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WHY EXCEL</a:t>
            </a:r>
            <a:endParaRPr lang="en-US" sz="2600" dirty="0"/>
          </a:p>
          <a:p>
            <a:pPr marL="0" indent="0" algn="ctr">
              <a:buNone/>
            </a:pPr>
            <a:r>
              <a:rPr lang="en-US" sz="2600" b="1" dirty="0">
                <a:solidFill>
                  <a:srgbClr val="FFFFFF"/>
                </a:solidFill>
                <a:latin typeface="Cambria" pitchFamily="34" charset="0"/>
                <a:ea typeface="Cambria" pitchFamily="34" charset="-122"/>
                <a:cs typeface="Cambria" pitchFamily="34" charset="-120"/>
              </a:rPr>
              <a:t>MATTERS</a:t>
            </a:r>
            <a:endParaRPr lang="en-US" sz="2600" dirty="0"/>
          </a:p>
        </p:txBody>
      </p:sp>
      <p:sp>
        <p:nvSpPr>
          <p:cNvPr id="4" name="Text 2"/>
          <p:cNvSpPr/>
          <p:nvPr/>
        </p:nvSpPr>
        <p:spPr>
          <a:xfrm>
            <a:off x="182880" y="2468880"/>
            <a:ext cx="2834640" cy="822960"/>
          </a:xfrm>
          <a:prstGeom prst="rect">
            <a:avLst/>
          </a:prstGeom>
          <a:noFill/>
          <a:ln/>
        </p:spPr>
        <p:txBody>
          <a:bodyPr wrap="square" rtlCol="0" anchor="ctr"/>
          <a:lstStyle/>
          <a:p>
            <a:pPr marL="0" indent="0" algn="ctr">
              <a:buNone/>
            </a:pPr>
            <a:r>
              <a:rPr lang="en-US" sz="1200" i="1" dirty="0">
                <a:solidFill>
                  <a:srgbClr val="A8D5BA"/>
                </a:solidFill>
              </a:rPr>
              <a:t>Business Context &amp;</a:t>
            </a:r>
            <a:endParaRPr lang="en-US" sz="1200" dirty="0"/>
          </a:p>
          <a:p>
            <a:pPr marL="0" indent="0" algn="ctr">
              <a:buNone/>
            </a:pPr>
            <a:r>
              <a:rPr lang="en-US" sz="1200" i="1" dirty="0">
                <a:solidFill>
                  <a:srgbClr val="A8D5BA"/>
                </a:solidFill>
              </a:rPr>
              <a:t>Strategic Importance</a:t>
            </a:r>
            <a:endParaRPr lang="en-US" sz="1200" dirty="0"/>
          </a:p>
        </p:txBody>
      </p:sp>
      <p:sp>
        <p:nvSpPr>
          <p:cNvPr id="5" name="Shape 3"/>
          <p:cNvSpPr/>
          <p:nvPr/>
        </p:nvSpPr>
        <p:spPr>
          <a:xfrm>
            <a:off x="182880" y="182880"/>
            <a:ext cx="640080" cy="640080"/>
          </a:xfrm>
          <a:prstGeom prst="ellipse">
            <a:avLst/>
          </a:prstGeom>
          <a:solidFill>
            <a:srgbClr val="2EAD6C">
              <a:alpha val="50000"/>
            </a:srgbClr>
          </a:solidFill>
          <a:ln w="12700">
            <a:solidFill>
              <a:srgbClr val="2EAD6C">
                <a:alpha val="50000"/>
              </a:srgbClr>
            </a:solidFill>
            <a:prstDash val="solid"/>
          </a:ln>
        </p:spPr>
      </p:sp>
      <p:sp>
        <p:nvSpPr>
          <p:cNvPr id="6" name="Shape 4"/>
          <p:cNvSpPr/>
          <p:nvPr/>
        </p:nvSpPr>
        <p:spPr>
          <a:xfrm>
            <a:off x="2377440" y="4389120"/>
            <a:ext cx="822960" cy="822960"/>
          </a:xfrm>
          <a:prstGeom prst="ellipse">
            <a:avLst/>
          </a:prstGeom>
          <a:solidFill>
            <a:srgbClr val="2EAD6C">
              <a:alpha val="40000"/>
            </a:srgbClr>
          </a:solidFill>
          <a:ln w="12700">
            <a:solidFill>
              <a:srgbClr val="2EAD6C">
                <a:alpha val="40000"/>
              </a:srgbClr>
            </a:solidFill>
            <a:prstDash val="solid"/>
          </a:ln>
        </p:spPr>
      </p:sp>
      <p:sp>
        <p:nvSpPr>
          <p:cNvPr id="7" name="Text 5"/>
          <p:cNvSpPr/>
          <p:nvPr/>
        </p:nvSpPr>
        <p:spPr>
          <a:xfrm>
            <a:off x="3474720" y="228600"/>
            <a:ext cx="5303520" cy="411480"/>
          </a:xfrm>
          <a:prstGeom prst="rect">
            <a:avLst/>
          </a:prstGeom>
          <a:noFill/>
          <a:ln/>
        </p:spPr>
        <p:txBody>
          <a:bodyPr wrap="square" lIns="0" tIns="0" rIns="0" bIns="0" rtlCol="0" anchor="ctr"/>
          <a:lstStyle/>
          <a:p>
            <a:pPr marL="0" indent="0">
              <a:buNone/>
            </a:pPr>
            <a:r>
              <a:rPr lang="en-US" sz="1400" b="1" dirty="0">
                <a:solidFill>
                  <a:srgbClr val="1B7A4D"/>
                </a:solidFill>
              </a:rPr>
              <a:t>Business Process Flow</a:t>
            </a:r>
            <a:endParaRPr lang="en-US" sz="1400" dirty="0"/>
          </a:p>
        </p:txBody>
      </p:sp>
      <p:sp>
        <p:nvSpPr>
          <p:cNvPr id="8" name="Shape 6"/>
          <p:cNvSpPr/>
          <p:nvPr/>
        </p:nvSpPr>
        <p:spPr>
          <a:xfrm>
            <a:off x="3474720" y="777240"/>
            <a:ext cx="5303520" cy="822960"/>
          </a:xfrm>
          <a:prstGeom prst="roundRect">
            <a:avLst>
              <a:gd name="adj" fmla="val 8889"/>
            </a:avLst>
          </a:prstGeom>
          <a:solidFill>
            <a:srgbClr val="E8F5EE"/>
          </a:solidFill>
          <a:ln/>
          <a:effectLst>
            <a:outerShdw blurRad="101600" dist="38100" dir="2700000" algn="bl" rotWithShape="0">
              <a:srgbClr val="000000">
                <a:alpha val="10000"/>
              </a:srgbClr>
            </a:outerShdw>
          </a:effectLst>
        </p:spPr>
      </p:sp>
      <p:sp>
        <p:nvSpPr>
          <p:cNvPr id="9" name="Shape 7"/>
          <p:cNvSpPr/>
          <p:nvPr/>
        </p:nvSpPr>
        <p:spPr>
          <a:xfrm>
            <a:off x="3611880" y="941832"/>
            <a:ext cx="457200" cy="457200"/>
          </a:xfrm>
          <a:prstGeom prst="ellipse">
            <a:avLst/>
          </a:prstGeom>
          <a:solidFill>
            <a:srgbClr val="1B7A4D"/>
          </a:solidFill>
          <a:ln/>
        </p:spPr>
      </p:sp>
      <p:sp>
        <p:nvSpPr>
          <p:cNvPr id="10" name="Text 8"/>
          <p:cNvSpPr/>
          <p:nvPr/>
        </p:nvSpPr>
        <p:spPr>
          <a:xfrm>
            <a:off x="3611880" y="941832"/>
            <a:ext cx="457200" cy="457200"/>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11" name="Text 9"/>
          <p:cNvSpPr/>
          <p:nvPr/>
        </p:nvSpPr>
        <p:spPr>
          <a:xfrm>
            <a:off x="4206240" y="850392"/>
            <a:ext cx="4389120" cy="274320"/>
          </a:xfrm>
          <a:prstGeom prst="rect">
            <a:avLst/>
          </a:prstGeom>
          <a:noFill/>
          <a:ln/>
        </p:spPr>
        <p:txBody>
          <a:bodyPr wrap="square" lIns="0" tIns="0" rIns="0" bIns="0" rtlCol="0" anchor="ctr"/>
          <a:lstStyle/>
          <a:p>
            <a:pPr marL="0" indent="0">
              <a:buNone/>
            </a:pPr>
            <a:r>
              <a:rPr lang="en-US" sz="1200" b="1" dirty="0">
                <a:solidFill>
                  <a:srgbClr val="1A2A22"/>
                </a:solidFill>
              </a:rPr>
              <a:t>Data Collection</a:t>
            </a:r>
            <a:endParaRPr lang="en-US" sz="1200" dirty="0"/>
          </a:p>
        </p:txBody>
      </p:sp>
      <p:sp>
        <p:nvSpPr>
          <p:cNvPr id="12" name="Text 10"/>
          <p:cNvSpPr/>
          <p:nvPr/>
        </p:nvSpPr>
        <p:spPr>
          <a:xfrm>
            <a:off x="4206240" y="1161288"/>
            <a:ext cx="4389120" cy="329184"/>
          </a:xfrm>
          <a:prstGeom prst="rect">
            <a:avLst/>
          </a:prstGeom>
          <a:noFill/>
          <a:ln/>
        </p:spPr>
        <p:txBody>
          <a:bodyPr wrap="square" lIns="0" tIns="0" rIns="0" bIns="0" rtlCol="0" anchor="ctr"/>
          <a:lstStyle/>
          <a:p>
            <a:pPr marL="0" indent="0">
              <a:buNone/>
            </a:pPr>
            <a:r>
              <a:rPr lang="en-US" sz="1000" dirty="0">
                <a:solidFill>
                  <a:srgbClr val="5A6B62"/>
                </a:solidFill>
              </a:rPr>
              <a:t>Gather raw business data from multiple sources</a:t>
            </a:r>
            <a:endParaRPr lang="en-US" sz="1000" dirty="0"/>
          </a:p>
        </p:txBody>
      </p:sp>
      <p:sp>
        <p:nvSpPr>
          <p:cNvPr id="13" name="Shape 11"/>
          <p:cNvSpPr/>
          <p:nvPr/>
        </p:nvSpPr>
        <p:spPr>
          <a:xfrm>
            <a:off x="5852160" y="1600200"/>
            <a:ext cx="36576" cy="182880"/>
          </a:xfrm>
          <a:prstGeom prst="rect">
            <a:avLst/>
          </a:prstGeom>
          <a:solidFill>
            <a:srgbClr val="1B7A4D"/>
          </a:solidFill>
          <a:ln/>
        </p:spPr>
      </p:sp>
      <p:sp>
        <p:nvSpPr>
          <p:cNvPr id="14" name="Shape 12"/>
          <p:cNvSpPr/>
          <p:nvPr/>
        </p:nvSpPr>
        <p:spPr>
          <a:xfrm>
            <a:off x="3474720" y="1783080"/>
            <a:ext cx="5303520" cy="822960"/>
          </a:xfrm>
          <a:prstGeom prst="roundRect">
            <a:avLst>
              <a:gd name="adj" fmla="val 8889"/>
            </a:avLst>
          </a:prstGeom>
          <a:solidFill>
            <a:srgbClr val="FFFFFF"/>
          </a:solidFill>
          <a:ln/>
          <a:effectLst>
            <a:outerShdw blurRad="101600" dist="38100" dir="2700000" algn="bl" rotWithShape="0">
              <a:srgbClr val="000000">
                <a:alpha val="10000"/>
              </a:srgbClr>
            </a:outerShdw>
          </a:effectLst>
        </p:spPr>
      </p:sp>
      <p:sp>
        <p:nvSpPr>
          <p:cNvPr id="15" name="Shape 13"/>
          <p:cNvSpPr/>
          <p:nvPr/>
        </p:nvSpPr>
        <p:spPr>
          <a:xfrm>
            <a:off x="3611880" y="1947672"/>
            <a:ext cx="457200" cy="457200"/>
          </a:xfrm>
          <a:prstGeom prst="ellipse">
            <a:avLst/>
          </a:prstGeom>
          <a:solidFill>
            <a:srgbClr val="1B7A4D"/>
          </a:solidFill>
          <a:ln/>
        </p:spPr>
      </p:sp>
      <p:sp>
        <p:nvSpPr>
          <p:cNvPr id="16" name="Text 14"/>
          <p:cNvSpPr/>
          <p:nvPr/>
        </p:nvSpPr>
        <p:spPr>
          <a:xfrm>
            <a:off x="3611880" y="1947672"/>
            <a:ext cx="457200" cy="457200"/>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7" name="Text 15"/>
          <p:cNvSpPr/>
          <p:nvPr/>
        </p:nvSpPr>
        <p:spPr>
          <a:xfrm>
            <a:off x="4206240" y="1856232"/>
            <a:ext cx="4389120" cy="274320"/>
          </a:xfrm>
          <a:prstGeom prst="rect">
            <a:avLst/>
          </a:prstGeom>
          <a:noFill/>
          <a:ln/>
        </p:spPr>
        <p:txBody>
          <a:bodyPr wrap="square" lIns="0" tIns="0" rIns="0" bIns="0" rtlCol="0" anchor="ctr"/>
          <a:lstStyle/>
          <a:p>
            <a:pPr marL="0" indent="0">
              <a:buNone/>
            </a:pPr>
            <a:r>
              <a:rPr lang="en-US" sz="1200" b="1" dirty="0">
                <a:solidFill>
                  <a:srgbClr val="1A2A22"/>
                </a:solidFill>
              </a:rPr>
              <a:t>Validation</a:t>
            </a:r>
            <a:endParaRPr lang="en-US" sz="1200" dirty="0"/>
          </a:p>
        </p:txBody>
      </p:sp>
      <p:sp>
        <p:nvSpPr>
          <p:cNvPr id="18" name="Text 16"/>
          <p:cNvSpPr/>
          <p:nvPr/>
        </p:nvSpPr>
        <p:spPr>
          <a:xfrm>
            <a:off x="4206240" y="2167128"/>
            <a:ext cx="4389120" cy="329184"/>
          </a:xfrm>
          <a:prstGeom prst="rect">
            <a:avLst/>
          </a:prstGeom>
          <a:noFill/>
          <a:ln/>
        </p:spPr>
        <p:txBody>
          <a:bodyPr wrap="square" lIns="0" tIns="0" rIns="0" bIns="0" rtlCol="0" anchor="ctr"/>
          <a:lstStyle/>
          <a:p>
            <a:pPr marL="0" indent="0">
              <a:buNone/>
            </a:pPr>
            <a:r>
              <a:rPr lang="en-US" sz="1000" dirty="0">
                <a:solidFill>
                  <a:srgbClr val="5A6B62"/>
                </a:solidFill>
              </a:rPr>
              <a:t>Apply rules to ensure data accuracy &amp; consistency</a:t>
            </a:r>
            <a:endParaRPr lang="en-US" sz="1000" dirty="0"/>
          </a:p>
        </p:txBody>
      </p:sp>
      <p:sp>
        <p:nvSpPr>
          <p:cNvPr id="19" name="Shape 17"/>
          <p:cNvSpPr/>
          <p:nvPr/>
        </p:nvSpPr>
        <p:spPr>
          <a:xfrm>
            <a:off x="5852160" y="2606040"/>
            <a:ext cx="36576" cy="182880"/>
          </a:xfrm>
          <a:prstGeom prst="rect">
            <a:avLst/>
          </a:prstGeom>
          <a:solidFill>
            <a:srgbClr val="1B7A4D"/>
          </a:solidFill>
          <a:ln/>
        </p:spPr>
      </p:sp>
      <p:sp>
        <p:nvSpPr>
          <p:cNvPr id="20" name="Shape 18"/>
          <p:cNvSpPr/>
          <p:nvPr/>
        </p:nvSpPr>
        <p:spPr>
          <a:xfrm>
            <a:off x="3474720" y="2788920"/>
            <a:ext cx="5303520" cy="822960"/>
          </a:xfrm>
          <a:prstGeom prst="roundRect">
            <a:avLst>
              <a:gd name="adj" fmla="val 8889"/>
            </a:avLst>
          </a:prstGeom>
          <a:solidFill>
            <a:srgbClr val="E8F5EE"/>
          </a:solidFill>
          <a:ln/>
          <a:effectLst>
            <a:outerShdw blurRad="101600" dist="38100" dir="2700000" algn="bl" rotWithShape="0">
              <a:srgbClr val="000000">
                <a:alpha val="10000"/>
              </a:srgbClr>
            </a:outerShdw>
          </a:effectLst>
        </p:spPr>
      </p:sp>
      <p:sp>
        <p:nvSpPr>
          <p:cNvPr id="21" name="Shape 19"/>
          <p:cNvSpPr/>
          <p:nvPr/>
        </p:nvSpPr>
        <p:spPr>
          <a:xfrm>
            <a:off x="3611880" y="2953512"/>
            <a:ext cx="457200" cy="457200"/>
          </a:xfrm>
          <a:prstGeom prst="ellipse">
            <a:avLst/>
          </a:prstGeom>
          <a:solidFill>
            <a:srgbClr val="1B7A4D"/>
          </a:solidFill>
          <a:ln/>
        </p:spPr>
      </p:sp>
      <p:sp>
        <p:nvSpPr>
          <p:cNvPr id="22" name="Text 20"/>
          <p:cNvSpPr/>
          <p:nvPr/>
        </p:nvSpPr>
        <p:spPr>
          <a:xfrm>
            <a:off x="3611880" y="2953512"/>
            <a:ext cx="457200" cy="457200"/>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23" name="Text 21"/>
          <p:cNvSpPr/>
          <p:nvPr/>
        </p:nvSpPr>
        <p:spPr>
          <a:xfrm>
            <a:off x="4206240" y="2862072"/>
            <a:ext cx="4389120" cy="274320"/>
          </a:xfrm>
          <a:prstGeom prst="rect">
            <a:avLst/>
          </a:prstGeom>
          <a:noFill/>
          <a:ln/>
        </p:spPr>
        <p:txBody>
          <a:bodyPr wrap="square" lIns="0" tIns="0" rIns="0" bIns="0" rtlCol="0" anchor="ctr"/>
          <a:lstStyle/>
          <a:p>
            <a:pPr marL="0" indent="0">
              <a:buNone/>
            </a:pPr>
            <a:r>
              <a:rPr lang="en-US" sz="1200" b="1" dirty="0">
                <a:solidFill>
                  <a:srgbClr val="1A2A22"/>
                </a:solidFill>
              </a:rPr>
              <a:t>Analysis</a:t>
            </a:r>
            <a:endParaRPr lang="en-US" sz="1200" dirty="0"/>
          </a:p>
        </p:txBody>
      </p:sp>
      <p:sp>
        <p:nvSpPr>
          <p:cNvPr id="24" name="Text 22"/>
          <p:cNvSpPr/>
          <p:nvPr/>
        </p:nvSpPr>
        <p:spPr>
          <a:xfrm>
            <a:off x="4206240" y="3172968"/>
            <a:ext cx="4389120" cy="329184"/>
          </a:xfrm>
          <a:prstGeom prst="rect">
            <a:avLst/>
          </a:prstGeom>
          <a:noFill/>
          <a:ln/>
        </p:spPr>
        <p:txBody>
          <a:bodyPr wrap="square" lIns="0" tIns="0" rIns="0" bIns="0" rtlCol="0" anchor="ctr"/>
          <a:lstStyle/>
          <a:p>
            <a:pPr marL="0" indent="0">
              <a:buNone/>
            </a:pPr>
            <a:r>
              <a:rPr lang="en-US" sz="1000" dirty="0">
                <a:solidFill>
                  <a:srgbClr val="5A6B62"/>
                </a:solidFill>
              </a:rPr>
              <a:t>Use formulas &amp; lookups to extract insights</a:t>
            </a:r>
            <a:endParaRPr lang="en-US" sz="1000" dirty="0"/>
          </a:p>
        </p:txBody>
      </p:sp>
      <p:sp>
        <p:nvSpPr>
          <p:cNvPr id="25" name="Shape 23"/>
          <p:cNvSpPr/>
          <p:nvPr/>
        </p:nvSpPr>
        <p:spPr>
          <a:xfrm>
            <a:off x="5852160" y="3611880"/>
            <a:ext cx="36576" cy="182880"/>
          </a:xfrm>
          <a:prstGeom prst="rect">
            <a:avLst/>
          </a:prstGeom>
          <a:solidFill>
            <a:srgbClr val="1B7A4D"/>
          </a:solidFill>
          <a:ln/>
        </p:spPr>
      </p:sp>
      <p:sp>
        <p:nvSpPr>
          <p:cNvPr id="26" name="Shape 24"/>
          <p:cNvSpPr/>
          <p:nvPr/>
        </p:nvSpPr>
        <p:spPr>
          <a:xfrm>
            <a:off x="3474720" y="3794760"/>
            <a:ext cx="5303520" cy="822960"/>
          </a:xfrm>
          <a:prstGeom prst="roundRect">
            <a:avLst>
              <a:gd name="adj" fmla="val 8889"/>
            </a:avLst>
          </a:prstGeom>
          <a:solidFill>
            <a:srgbClr val="FFFFFF"/>
          </a:solidFill>
          <a:ln/>
          <a:effectLst>
            <a:outerShdw blurRad="101600" dist="38100" dir="2700000" algn="bl" rotWithShape="0">
              <a:srgbClr val="000000">
                <a:alpha val="10000"/>
              </a:srgbClr>
            </a:outerShdw>
          </a:effectLst>
        </p:spPr>
      </p:sp>
      <p:sp>
        <p:nvSpPr>
          <p:cNvPr id="27" name="Shape 25"/>
          <p:cNvSpPr/>
          <p:nvPr/>
        </p:nvSpPr>
        <p:spPr>
          <a:xfrm>
            <a:off x="3611880" y="3959352"/>
            <a:ext cx="457200" cy="457200"/>
          </a:xfrm>
          <a:prstGeom prst="ellipse">
            <a:avLst/>
          </a:prstGeom>
          <a:solidFill>
            <a:srgbClr val="1B7A4D"/>
          </a:solidFill>
          <a:ln/>
        </p:spPr>
      </p:sp>
      <p:sp>
        <p:nvSpPr>
          <p:cNvPr id="28" name="Text 26"/>
          <p:cNvSpPr/>
          <p:nvPr/>
        </p:nvSpPr>
        <p:spPr>
          <a:xfrm>
            <a:off x="3611880" y="3959352"/>
            <a:ext cx="457200" cy="457200"/>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29" name="Text 27"/>
          <p:cNvSpPr/>
          <p:nvPr/>
        </p:nvSpPr>
        <p:spPr>
          <a:xfrm>
            <a:off x="4206240" y="3867912"/>
            <a:ext cx="4389120" cy="274320"/>
          </a:xfrm>
          <a:prstGeom prst="rect">
            <a:avLst/>
          </a:prstGeom>
          <a:noFill/>
          <a:ln/>
        </p:spPr>
        <p:txBody>
          <a:bodyPr wrap="square" lIns="0" tIns="0" rIns="0" bIns="0" rtlCol="0" anchor="ctr"/>
          <a:lstStyle/>
          <a:p>
            <a:pPr marL="0" indent="0">
              <a:buNone/>
            </a:pPr>
            <a:r>
              <a:rPr lang="en-US" sz="1200" b="1" dirty="0">
                <a:solidFill>
                  <a:srgbClr val="1A2A22"/>
                </a:solidFill>
              </a:rPr>
              <a:t>Insights</a:t>
            </a:r>
            <a:endParaRPr lang="en-US" sz="1200" dirty="0"/>
          </a:p>
        </p:txBody>
      </p:sp>
      <p:sp>
        <p:nvSpPr>
          <p:cNvPr id="30" name="Text 28"/>
          <p:cNvSpPr/>
          <p:nvPr/>
        </p:nvSpPr>
        <p:spPr>
          <a:xfrm>
            <a:off x="4206240" y="4178808"/>
            <a:ext cx="4389120" cy="329184"/>
          </a:xfrm>
          <a:prstGeom prst="rect">
            <a:avLst/>
          </a:prstGeom>
          <a:noFill/>
          <a:ln/>
        </p:spPr>
        <p:txBody>
          <a:bodyPr wrap="square" lIns="0" tIns="0" rIns="0" bIns="0" rtlCol="0" anchor="ctr"/>
          <a:lstStyle/>
          <a:p>
            <a:pPr marL="0" indent="0">
              <a:buNone/>
            </a:pPr>
            <a:r>
              <a:rPr lang="en-US" sz="1000" dirty="0">
                <a:solidFill>
                  <a:srgbClr val="5A6B62"/>
                </a:solidFill>
              </a:rPr>
              <a:t>Make data-driven decisions with confidence</a:t>
            </a:r>
            <a:endParaRPr lang="en-US" sz="1000" dirty="0"/>
          </a:p>
        </p:txBody>
      </p:sp>
      <p:sp>
        <p:nvSpPr>
          <p:cNvPr id="31" name="Shape 29"/>
          <p:cNvSpPr/>
          <p:nvPr/>
        </p:nvSpPr>
        <p:spPr>
          <a:xfrm>
            <a:off x="3474720" y="4663440"/>
            <a:ext cx="5303520" cy="365760"/>
          </a:xfrm>
          <a:prstGeom prst="rect">
            <a:avLst/>
          </a:prstGeom>
          <a:solidFill>
            <a:srgbClr val="1B7A4D"/>
          </a:solidFill>
          <a:ln/>
        </p:spPr>
      </p:sp>
      <p:sp>
        <p:nvSpPr>
          <p:cNvPr id="32" name="Text 30"/>
          <p:cNvSpPr/>
          <p:nvPr/>
        </p:nvSpPr>
        <p:spPr>
          <a:xfrm>
            <a:off x="3566160" y="4663440"/>
            <a:ext cx="5120640" cy="365760"/>
          </a:xfrm>
          <a:prstGeom prst="rect">
            <a:avLst/>
          </a:prstGeom>
          <a:noFill/>
          <a:ln/>
        </p:spPr>
        <p:txBody>
          <a:bodyPr wrap="square" rtlCol="0" anchor="ctr"/>
          <a:lstStyle/>
          <a:p>
            <a:pPr marL="0" indent="0" algn="ctr">
              <a:buNone/>
            </a:pPr>
            <a:r>
              <a:rPr lang="en-US" sz="1000" b="1" dirty="0">
                <a:solidFill>
                  <a:srgbClr val="FFFFFF"/>
                </a:solidFill>
              </a:rPr>
              <a:t>750M+ professionals use Excel globally for business decision-making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7A4D"/>
          </a:solidFill>
          <a:ln/>
        </p:spPr>
      </p:sp>
      <p:sp>
        <p:nvSpPr>
          <p:cNvPr id="3" name="Text 1"/>
          <p:cNvSpPr/>
          <p:nvPr/>
        </p:nvSpPr>
        <p:spPr>
          <a:xfrm>
            <a:off x="274320" y="91440"/>
            <a:ext cx="731520" cy="365760"/>
          </a:xfrm>
          <a:prstGeom prst="rect">
            <a:avLst/>
          </a:prstGeom>
          <a:noFill/>
          <a:ln/>
        </p:spPr>
        <p:txBody>
          <a:bodyPr wrap="square" lIns="0" tIns="0" rIns="0" bIns="0" rtlCol="0" anchor="ctr"/>
          <a:lstStyle/>
          <a:p>
            <a:pPr marL="0" indent="0">
              <a:buNone/>
            </a:pPr>
            <a:r>
              <a:rPr lang="en-US" sz="1100" b="1" dirty="0">
                <a:solidFill>
                  <a:srgbClr val="A8D5BA"/>
                </a:solidFill>
              </a:rPr>
              <a:t>01</a:t>
            </a:r>
            <a:endParaRPr lang="en-US" sz="1100" dirty="0"/>
          </a:p>
        </p:txBody>
      </p:sp>
      <p:sp>
        <p:nvSpPr>
          <p:cNvPr id="4" name="Text 2"/>
          <p:cNvSpPr/>
          <p:nvPr/>
        </p:nvSpPr>
        <p:spPr>
          <a:xfrm>
            <a:off x="274320" y="41148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Data Validation Framework</a:t>
            </a:r>
            <a:endParaRPr lang="en-US" sz="2200" dirty="0"/>
          </a:p>
        </p:txBody>
      </p:sp>
      <p:sp>
        <p:nvSpPr>
          <p:cNvPr id="5" name="Text 3"/>
          <p:cNvSpPr/>
          <p:nvPr/>
        </p:nvSpPr>
        <p:spPr>
          <a:xfrm>
            <a:off x="274320" y="777240"/>
            <a:ext cx="8229600" cy="228600"/>
          </a:xfrm>
          <a:prstGeom prst="rect">
            <a:avLst/>
          </a:prstGeom>
          <a:noFill/>
          <a:ln/>
        </p:spPr>
        <p:txBody>
          <a:bodyPr wrap="square" lIns="0" tIns="0" rIns="0" bIns="0" rtlCol="0" anchor="ctr"/>
          <a:lstStyle/>
          <a:p>
            <a:pPr marL="0" indent="0">
              <a:buNone/>
            </a:pPr>
            <a:r>
              <a:rPr lang="en-US" sz="1000" dirty="0">
                <a:solidFill>
                  <a:srgbClr val="A8D5BA"/>
                </a:solidFill>
              </a:rPr>
              <a:t>Control what data enters your spreadsheet — prevent errors before they happen</a:t>
            </a:r>
            <a:endParaRPr lang="en-US" sz="1000" dirty="0"/>
          </a:p>
        </p:txBody>
      </p:sp>
      <p:sp>
        <p:nvSpPr>
          <p:cNvPr id="6" name="Text 4"/>
          <p:cNvSpPr/>
          <p:nvPr/>
        </p:nvSpPr>
        <p:spPr>
          <a:xfrm>
            <a:off x="274320" y="1143000"/>
            <a:ext cx="4114800" cy="320040"/>
          </a:xfrm>
          <a:prstGeom prst="rect">
            <a:avLst/>
          </a:prstGeom>
          <a:noFill/>
          <a:ln/>
        </p:spPr>
        <p:txBody>
          <a:bodyPr wrap="square" lIns="0" tIns="0" rIns="0" bIns="0" rtlCol="0" anchor="ctr"/>
          <a:lstStyle/>
          <a:p>
            <a:pPr marL="0" indent="0">
              <a:buNone/>
            </a:pPr>
            <a:r>
              <a:rPr lang="en-US" sz="1300" b="1" dirty="0">
                <a:solidFill>
                  <a:srgbClr val="1B7A4D"/>
                </a:solidFill>
              </a:rPr>
              <a:t>Validation Types</a:t>
            </a:r>
            <a:endParaRPr lang="en-US" sz="1300" dirty="0"/>
          </a:p>
        </p:txBody>
      </p:sp>
      <p:sp>
        <p:nvSpPr>
          <p:cNvPr id="7" name="Shape 5"/>
          <p:cNvSpPr/>
          <p:nvPr/>
        </p:nvSpPr>
        <p:spPr>
          <a:xfrm>
            <a:off x="274320" y="1554480"/>
            <a:ext cx="4114800" cy="548640"/>
          </a:xfrm>
          <a:prstGeom prst="roundRect">
            <a:avLst>
              <a:gd name="adj" fmla="val 11667"/>
            </a:avLst>
          </a:prstGeom>
          <a:solidFill>
            <a:srgbClr val="E8F5EE"/>
          </a:solidFill>
          <a:ln/>
          <a:effectLst>
            <a:outerShdw blurRad="101600" dist="38100" dir="2700000" algn="bl" rotWithShape="0">
              <a:srgbClr val="000000">
                <a:alpha val="10000"/>
              </a:srgbClr>
            </a:outerShdw>
          </a:effectLst>
        </p:spPr>
      </p:sp>
      <p:sp>
        <p:nvSpPr>
          <p:cNvPr id="8" name="Shape 6"/>
          <p:cNvSpPr/>
          <p:nvPr/>
        </p:nvSpPr>
        <p:spPr>
          <a:xfrm>
            <a:off x="347472" y="1691640"/>
            <a:ext cx="274320" cy="274320"/>
          </a:xfrm>
          <a:prstGeom prst="ellipse">
            <a:avLst/>
          </a:prstGeom>
          <a:solidFill>
            <a:srgbClr val="1B7A4D"/>
          </a:solidFill>
          <a:ln/>
        </p:spPr>
      </p:sp>
      <p:sp>
        <p:nvSpPr>
          <p:cNvPr id="9" name="Text 7"/>
          <p:cNvSpPr/>
          <p:nvPr/>
        </p:nvSpPr>
        <p:spPr>
          <a:xfrm>
            <a:off x="713232" y="1591056"/>
            <a:ext cx="3474720" cy="228600"/>
          </a:xfrm>
          <a:prstGeom prst="rect">
            <a:avLst/>
          </a:prstGeom>
          <a:noFill/>
          <a:ln/>
        </p:spPr>
        <p:txBody>
          <a:bodyPr wrap="square" lIns="0" tIns="0" rIns="0" bIns="0" rtlCol="0" anchor="ctr"/>
          <a:lstStyle/>
          <a:p>
            <a:pPr marL="0" indent="0">
              <a:buNone/>
            </a:pPr>
            <a:r>
              <a:rPr lang="en-US" sz="1100" b="1" dirty="0">
                <a:solidFill>
                  <a:srgbClr val="1A2A22"/>
                </a:solidFill>
              </a:rPr>
              <a:t>Whole Number</a:t>
            </a:r>
            <a:endParaRPr lang="en-US" sz="1100" dirty="0"/>
          </a:p>
        </p:txBody>
      </p:sp>
      <p:sp>
        <p:nvSpPr>
          <p:cNvPr id="10" name="Text 8"/>
          <p:cNvSpPr/>
          <p:nvPr/>
        </p:nvSpPr>
        <p:spPr>
          <a:xfrm>
            <a:off x="713232" y="1828800"/>
            <a:ext cx="3474720" cy="201168"/>
          </a:xfrm>
          <a:prstGeom prst="rect">
            <a:avLst/>
          </a:prstGeom>
          <a:noFill/>
          <a:ln/>
        </p:spPr>
        <p:txBody>
          <a:bodyPr wrap="square" lIns="0" tIns="0" rIns="0" bIns="0" rtlCol="0" anchor="ctr"/>
          <a:lstStyle/>
          <a:p>
            <a:pPr marL="0" indent="0">
              <a:buNone/>
            </a:pPr>
            <a:r>
              <a:rPr lang="en-US" sz="950" dirty="0">
                <a:solidFill>
                  <a:srgbClr val="5A6B62"/>
                </a:solidFill>
              </a:rPr>
              <a:t>Allow only integers • e.g. 1–100</a:t>
            </a:r>
            <a:endParaRPr lang="en-US" sz="950" dirty="0"/>
          </a:p>
        </p:txBody>
      </p:sp>
      <p:sp>
        <p:nvSpPr>
          <p:cNvPr id="11" name="Shape 9"/>
          <p:cNvSpPr/>
          <p:nvPr/>
        </p:nvSpPr>
        <p:spPr>
          <a:xfrm>
            <a:off x="274320" y="2212848"/>
            <a:ext cx="4114800" cy="548640"/>
          </a:xfrm>
          <a:prstGeom prst="roundRect">
            <a:avLst>
              <a:gd name="adj" fmla="val 11667"/>
            </a:avLst>
          </a:prstGeom>
          <a:solidFill>
            <a:srgbClr val="FFFFFF"/>
          </a:solidFill>
          <a:ln/>
          <a:effectLst>
            <a:outerShdw blurRad="101600" dist="38100" dir="2700000" algn="bl" rotWithShape="0">
              <a:srgbClr val="000000">
                <a:alpha val="10000"/>
              </a:srgbClr>
            </a:outerShdw>
          </a:effectLst>
        </p:spPr>
      </p:sp>
      <p:sp>
        <p:nvSpPr>
          <p:cNvPr id="12" name="Shape 10"/>
          <p:cNvSpPr/>
          <p:nvPr/>
        </p:nvSpPr>
        <p:spPr>
          <a:xfrm>
            <a:off x="347472" y="2350008"/>
            <a:ext cx="274320" cy="274320"/>
          </a:xfrm>
          <a:prstGeom prst="ellipse">
            <a:avLst/>
          </a:prstGeom>
          <a:solidFill>
            <a:srgbClr val="1B7A4D"/>
          </a:solidFill>
          <a:ln/>
        </p:spPr>
      </p:sp>
      <p:sp>
        <p:nvSpPr>
          <p:cNvPr id="13" name="Text 11"/>
          <p:cNvSpPr/>
          <p:nvPr/>
        </p:nvSpPr>
        <p:spPr>
          <a:xfrm>
            <a:off x="713232" y="2249424"/>
            <a:ext cx="3474720" cy="228600"/>
          </a:xfrm>
          <a:prstGeom prst="rect">
            <a:avLst/>
          </a:prstGeom>
          <a:noFill/>
          <a:ln/>
        </p:spPr>
        <p:txBody>
          <a:bodyPr wrap="square" lIns="0" tIns="0" rIns="0" bIns="0" rtlCol="0" anchor="ctr"/>
          <a:lstStyle/>
          <a:p>
            <a:pPr marL="0" indent="0">
              <a:buNone/>
            </a:pPr>
            <a:r>
              <a:rPr lang="en-US" sz="1100" b="1" dirty="0">
                <a:solidFill>
                  <a:srgbClr val="1A2A22"/>
                </a:solidFill>
              </a:rPr>
              <a:t>List (Dropdown)</a:t>
            </a:r>
            <a:endParaRPr lang="en-US" sz="1100" dirty="0"/>
          </a:p>
        </p:txBody>
      </p:sp>
      <p:sp>
        <p:nvSpPr>
          <p:cNvPr id="14" name="Text 12"/>
          <p:cNvSpPr/>
          <p:nvPr/>
        </p:nvSpPr>
        <p:spPr>
          <a:xfrm>
            <a:off x="713232" y="2487168"/>
            <a:ext cx="3474720" cy="201168"/>
          </a:xfrm>
          <a:prstGeom prst="rect">
            <a:avLst/>
          </a:prstGeom>
          <a:noFill/>
          <a:ln/>
        </p:spPr>
        <p:txBody>
          <a:bodyPr wrap="square" lIns="0" tIns="0" rIns="0" bIns="0" rtlCol="0" anchor="ctr"/>
          <a:lstStyle/>
          <a:p>
            <a:pPr marL="0" indent="0">
              <a:buNone/>
            </a:pPr>
            <a:r>
              <a:rPr lang="en-US" sz="950" dirty="0">
                <a:solidFill>
                  <a:srgbClr val="5A6B62"/>
                </a:solidFill>
              </a:rPr>
              <a:t>From a predefined list or Named Range</a:t>
            </a:r>
            <a:endParaRPr lang="en-US" sz="950" dirty="0"/>
          </a:p>
        </p:txBody>
      </p:sp>
      <p:sp>
        <p:nvSpPr>
          <p:cNvPr id="15" name="Shape 13"/>
          <p:cNvSpPr/>
          <p:nvPr/>
        </p:nvSpPr>
        <p:spPr>
          <a:xfrm>
            <a:off x="274320" y="2871216"/>
            <a:ext cx="4114800" cy="548640"/>
          </a:xfrm>
          <a:prstGeom prst="roundRect">
            <a:avLst>
              <a:gd name="adj" fmla="val 11667"/>
            </a:avLst>
          </a:prstGeom>
          <a:solidFill>
            <a:srgbClr val="E8F5EE"/>
          </a:solidFill>
          <a:ln/>
          <a:effectLst>
            <a:outerShdw blurRad="101600" dist="38100" dir="2700000" algn="bl" rotWithShape="0">
              <a:srgbClr val="000000">
                <a:alpha val="10000"/>
              </a:srgbClr>
            </a:outerShdw>
          </a:effectLst>
        </p:spPr>
      </p:sp>
      <p:sp>
        <p:nvSpPr>
          <p:cNvPr id="16" name="Shape 14"/>
          <p:cNvSpPr/>
          <p:nvPr/>
        </p:nvSpPr>
        <p:spPr>
          <a:xfrm>
            <a:off x="347472" y="3008376"/>
            <a:ext cx="274320" cy="274320"/>
          </a:xfrm>
          <a:prstGeom prst="ellipse">
            <a:avLst/>
          </a:prstGeom>
          <a:solidFill>
            <a:srgbClr val="1B7A4D"/>
          </a:solidFill>
          <a:ln/>
        </p:spPr>
      </p:sp>
      <p:sp>
        <p:nvSpPr>
          <p:cNvPr id="17" name="Text 15"/>
          <p:cNvSpPr/>
          <p:nvPr/>
        </p:nvSpPr>
        <p:spPr>
          <a:xfrm>
            <a:off x="713232" y="2907792"/>
            <a:ext cx="3474720" cy="228600"/>
          </a:xfrm>
          <a:prstGeom prst="rect">
            <a:avLst/>
          </a:prstGeom>
          <a:noFill/>
          <a:ln/>
        </p:spPr>
        <p:txBody>
          <a:bodyPr wrap="square" lIns="0" tIns="0" rIns="0" bIns="0" rtlCol="0" anchor="ctr"/>
          <a:lstStyle/>
          <a:p>
            <a:pPr marL="0" indent="0">
              <a:buNone/>
            </a:pPr>
            <a:r>
              <a:rPr lang="en-US" sz="1100" b="1" dirty="0">
                <a:solidFill>
                  <a:srgbClr val="1A2A22"/>
                </a:solidFill>
              </a:rPr>
              <a:t>Date / Time</a:t>
            </a:r>
            <a:endParaRPr lang="en-US" sz="1100" dirty="0"/>
          </a:p>
        </p:txBody>
      </p:sp>
      <p:sp>
        <p:nvSpPr>
          <p:cNvPr id="18" name="Text 16"/>
          <p:cNvSpPr/>
          <p:nvPr/>
        </p:nvSpPr>
        <p:spPr>
          <a:xfrm>
            <a:off x="713232" y="3145536"/>
            <a:ext cx="3474720" cy="201168"/>
          </a:xfrm>
          <a:prstGeom prst="rect">
            <a:avLst/>
          </a:prstGeom>
          <a:noFill/>
          <a:ln/>
        </p:spPr>
        <p:txBody>
          <a:bodyPr wrap="square" lIns="0" tIns="0" rIns="0" bIns="0" rtlCol="0" anchor="ctr"/>
          <a:lstStyle/>
          <a:p>
            <a:pPr marL="0" indent="0">
              <a:buNone/>
            </a:pPr>
            <a:r>
              <a:rPr lang="en-US" sz="950" dirty="0">
                <a:solidFill>
                  <a:srgbClr val="5A6B62"/>
                </a:solidFill>
              </a:rPr>
              <a:t>Restrict to valid date/time ranges</a:t>
            </a:r>
            <a:endParaRPr lang="en-US" sz="950" dirty="0"/>
          </a:p>
        </p:txBody>
      </p:sp>
      <p:sp>
        <p:nvSpPr>
          <p:cNvPr id="19" name="Shape 17"/>
          <p:cNvSpPr/>
          <p:nvPr/>
        </p:nvSpPr>
        <p:spPr>
          <a:xfrm>
            <a:off x="274320" y="3529584"/>
            <a:ext cx="4114800" cy="548640"/>
          </a:xfrm>
          <a:prstGeom prst="roundRect">
            <a:avLst>
              <a:gd name="adj" fmla="val 11667"/>
            </a:avLst>
          </a:prstGeom>
          <a:solidFill>
            <a:srgbClr val="FFFFFF"/>
          </a:solidFill>
          <a:ln/>
          <a:effectLst>
            <a:outerShdw blurRad="101600" dist="38100" dir="2700000" algn="bl" rotWithShape="0">
              <a:srgbClr val="000000">
                <a:alpha val="10000"/>
              </a:srgbClr>
            </a:outerShdw>
          </a:effectLst>
        </p:spPr>
      </p:sp>
      <p:sp>
        <p:nvSpPr>
          <p:cNvPr id="20" name="Shape 18"/>
          <p:cNvSpPr/>
          <p:nvPr/>
        </p:nvSpPr>
        <p:spPr>
          <a:xfrm>
            <a:off x="347472" y="3666744"/>
            <a:ext cx="274320" cy="274320"/>
          </a:xfrm>
          <a:prstGeom prst="ellipse">
            <a:avLst/>
          </a:prstGeom>
          <a:solidFill>
            <a:srgbClr val="1B7A4D"/>
          </a:solidFill>
          <a:ln/>
        </p:spPr>
      </p:sp>
      <p:sp>
        <p:nvSpPr>
          <p:cNvPr id="21" name="Text 19"/>
          <p:cNvSpPr/>
          <p:nvPr/>
        </p:nvSpPr>
        <p:spPr>
          <a:xfrm>
            <a:off x="713232" y="3566160"/>
            <a:ext cx="3474720" cy="228600"/>
          </a:xfrm>
          <a:prstGeom prst="rect">
            <a:avLst/>
          </a:prstGeom>
          <a:noFill/>
          <a:ln/>
        </p:spPr>
        <p:txBody>
          <a:bodyPr wrap="square" lIns="0" tIns="0" rIns="0" bIns="0" rtlCol="0" anchor="ctr"/>
          <a:lstStyle/>
          <a:p>
            <a:pPr marL="0" indent="0">
              <a:buNone/>
            </a:pPr>
            <a:r>
              <a:rPr lang="en-US" sz="1100" b="1" dirty="0">
                <a:solidFill>
                  <a:srgbClr val="1A2A22"/>
                </a:solidFill>
              </a:rPr>
              <a:t>Text Length</a:t>
            </a:r>
            <a:endParaRPr lang="en-US" sz="1100" dirty="0"/>
          </a:p>
        </p:txBody>
      </p:sp>
      <p:sp>
        <p:nvSpPr>
          <p:cNvPr id="22" name="Text 20"/>
          <p:cNvSpPr/>
          <p:nvPr/>
        </p:nvSpPr>
        <p:spPr>
          <a:xfrm>
            <a:off x="713232" y="3803904"/>
            <a:ext cx="3474720" cy="201168"/>
          </a:xfrm>
          <a:prstGeom prst="rect">
            <a:avLst/>
          </a:prstGeom>
          <a:noFill/>
          <a:ln/>
        </p:spPr>
        <p:txBody>
          <a:bodyPr wrap="square" lIns="0" tIns="0" rIns="0" bIns="0" rtlCol="0" anchor="ctr"/>
          <a:lstStyle/>
          <a:p>
            <a:pPr marL="0" indent="0">
              <a:buNone/>
            </a:pPr>
            <a:r>
              <a:rPr lang="en-US" sz="950" dirty="0">
                <a:solidFill>
                  <a:srgbClr val="5A6B62"/>
                </a:solidFill>
              </a:rPr>
              <a:t>Limit character count ≤ 50</a:t>
            </a:r>
            <a:endParaRPr lang="en-US" sz="950" dirty="0"/>
          </a:p>
        </p:txBody>
      </p:sp>
      <p:sp>
        <p:nvSpPr>
          <p:cNvPr id="23" name="Shape 21"/>
          <p:cNvSpPr/>
          <p:nvPr/>
        </p:nvSpPr>
        <p:spPr>
          <a:xfrm>
            <a:off x="274320" y="4187952"/>
            <a:ext cx="4114800" cy="548640"/>
          </a:xfrm>
          <a:prstGeom prst="roundRect">
            <a:avLst>
              <a:gd name="adj" fmla="val 11667"/>
            </a:avLst>
          </a:prstGeom>
          <a:solidFill>
            <a:srgbClr val="E8F5EE"/>
          </a:solidFill>
          <a:ln/>
          <a:effectLst>
            <a:outerShdw blurRad="101600" dist="38100" dir="2700000" algn="bl" rotWithShape="0">
              <a:srgbClr val="000000">
                <a:alpha val="10000"/>
              </a:srgbClr>
            </a:outerShdw>
          </a:effectLst>
        </p:spPr>
      </p:sp>
      <p:sp>
        <p:nvSpPr>
          <p:cNvPr id="24" name="Shape 22"/>
          <p:cNvSpPr/>
          <p:nvPr/>
        </p:nvSpPr>
        <p:spPr>
          <a:xfrm>
            <a:off x="347472" y="4325112"/>
            <a:ext cx="274320" cy="274320"/>
          </a:xfrm>
          <a:prstGeom prst="ellipse">
            <a:avLst/>
          </a:prstGeom>
          <a:solidFill>
            <a:srgbClr val="1B7A4D"/>
          </a:solidFill>
          <a:ln/>
        </p:spPr>
      </p:sp>
      <p:sp>
        <p:nvSpPr>
          <p:cNvPr id="25" name="Text 23"/>
          <p:cNvSpPr/>
          <p:nvPr/>
        </p:nvSpPr>
        <p:spPr>
          <a:xfrm>
            <a:off x="713232" y="4224528"/>
            <a:ext cx="3474720" cy="228600"/>
          </a:xfrm>
          <a:prstGeom prst="rect">
            <a:avLst/>
          </a:prstGeom>
          <a:noFill/>
          <a:ln/>
        </p:spPr>
        <p:txBody>
          <a:bodyPr wrap="square" lIns="0" tIns="0" rIns="0" bIns="0" rtlCol="0" anchor="ctr"/>
          <a:lstStyle/>
          <a:p>
            <a:pPr marL="0" indent="0">
              <a:buNone/>
            </a:pPr>
            <a:r>
              <a:rPr lang="en-US" sz="1100" b="1" dirty="0">
                <a:solidFill>
                  <a:srgbClr val="1A2A22"/>
                </a:solidFill>
              </a:rPr>
              <a:t>Custom Formula</a:t>
            </a:r>
            <a:endParaRPr lang="en-US" sz="1100" dirty="0"/>
          </a:p>
        </p:txBody>
      </p:sp>
      <p:sp>
        <p:nvSpPr>
          <p:cNvPr id="26" name="Text 24"/>
          <p:cNvSpPr/>
          <p:nvPr/>
        </p:nvSpPr>
        <p:spPr>
          <a:xfrm>
            <a:off x="713232" y="4462272"/>
            <a:ext cx="3474720" cy="201168"/>
          </a:xfrm>
          <a:prstGeom prst="rect">
            <a:avLst/>
          </a:prstGeom>
          <a:noFill/>
          <a:ln/>
        </p:spPr>
        <p:txBody>
          <a:bodyPr wrap="square" lIns="0" tIns="0" rIns="0" bIns="0" rtlCol="0" anchor="ctr"/>
          <a:lstStyle/>
          <a:p>
            <a:pPr marL="0" indent="0">
              <a:buNone/>
            </a:pPr>
            <a:r>
              <a:rPr lang="en-US" sz="950" dirty="0">
                <a:solidFill>
                  <a:srgbClr val="5A6B62"/>
                </a:solidFill>
              </a:rPr>
              <a:t>Any TRUE/FALSE formula • Most powerful</a:t>
            </a:r>
            <a:endParaRPr lang="en-US" sz="950" dirty="0"/>
          </a:p>
        </p:txBody>
      </p:sp>
      <p:sp>
        <p:nvSpPr>
          <p:cNvPr id="27" name="Text 25"/>
          <p:cNvSpPr/>
          <p:nvPr/>
        </p:nvSpPr>
        <p:spPr>
          <a:xfrm>
            <a:off x="4754880" y="1143000"/>
            <a:ext cx="4114800" cy="320040"/>
          </a:xfrm>
          <a:prstGeom prst="rect">
            <a:avLst/>
          </a:prstGeom>
          <a:noFill/>
          <a:ln/>
        </p:spPr>
        <p:txBody>
          <a:bodyPr wrap="square" lIns="0" tIns="0" rIns="0" bIns="0" rtlCol="0" anchor="ctr"/>
          <a:lstStyle/>
          <a:p>
            <a:pPr marL="0" indent="0">
              <a:buNone/>
            </a:pPr>
            <a:r>
              <a:rPr lang="en-US" sz="1300" b="1" dirty="0">
                <a:solidFill>
                  <a:srgbClr val="1B7A4D"/>
                </a:solidFill>
              </a:rPr>
              <a:t>How It Works</a:t>
            </a:r>
            <a:endParaRPr lang="en-US" sz="1300" dirty="0"/>
          </a:p>
        </p:txBody>
      </p:sp>
      <p:sp>
        <p:nvSpPr>
          <p:cNvPr id="28" name="Shape 26"/>
          <p:cNvSpPr/>
          <p:nvPr/>
        </p:nvSpPr>
        <p:spPr>
          <a:xfrm>
            <a:off x="4754880" y="1554480"/>
            <a:ext cx="4114800" cy="457200"/>
          </a:xfrm>
          <a:prstGeom prst="roundRect">
            <a:avLst>
              <a:gd name="adj" fmla="val 20000"/>
            </a:avLst>
          </a:prstGeom>
          <a:solidFill>
            <a:srgbClr val="2EAD6C"/>
          </a:solidFill>
          <a:ln/>
        </p:spPr>
      </p:sp>
      <p:sp>
        <p:nvSpPr>
          <p:cNvPr id="29" name="Text 27"/>
          <p:cNvSpPr/>
          <p:nvPr/>
        </p:nvSpPr>
        <p:spPr>
          <a:xfrm>
            <a:off x="4754880" y="1554480"/>
            <a:ext cx="4114800" cy="457200"/>
          </a:xfrm>
          <a:prstGeom prst="rect">
            <a:avLst/>
          </a:prstGeom>
          <a:noFill/>
          <a:ln/>
        </p:spPr>
        <p:txBody>
          <a:bodyPr wrap="square" rtlCol="0" anchor="ctr"/>
          <a:lstStyle/>
          <a:p>
            <a:pPr marL="0" indent="0" algn="ctr">
              <a:buNone/>
            </a:pPr>
            <a:r>
              <a:rPr lang="en-US" sz="1300" b="1" dirty="0">
                <a:solidFill>
                  <a:srgbClr val="FFFFFF"/>
                </a:solidFill>
              </a:rPr>
              <a:t>Data Entry</a:t>
            </a:r>
            <a:endParaRPr lang="en-US" sz="1300" dirty="0"/>
          </a:p>
        </p:txBody>
      </p:sp>
      <p:sp>
        <p:nvSpPr>
          <p:cNvPr id="30" name="Shape 28"/>
          <p:cNvSpPr/>
          <p:nvPr/>
        </p:nvSpPr>
        <p:spPr>
          <a:xfrm>
            <a:off x="6583680" y="2011680"/>
            <a:ext cx="36576" cy="201168"/>
          </a:xfrm>
          <a:prstGeom prst="rect">
            <a:avLst/>
          </a:prstGeom>
          <a:solidFill>
            <a:srgbClr val="1B7A4D"/>
          </a:solidFill>
          <a:ln/>
        </p:spPr>
      </p:sp>
      <p:sp>
        <p:nvSpPr>
          <p:cNvPr id="31" name="Text 29"/>
          <p:cNvSpPr/>
          <p:nvPr/>
        </p:nvSpPr>
        <p:spPr>
          <a:xfrm>
            <a:off x="6400800" y="2121408"/>
            <a:ext cx="457200" cy="182880"/>
          </a:xfrm>
          <a:prstGeom prst="rect">
            <a:avLst/>
          </a:prstGeom>
          <a:noFill/>
          <a:ln/>
        </p:spPr>
        <p:txBody>
          <a:bodyPr wrap="square" lIns="0" tIns="0" rIns="0" bIns="0" rtlCol="0" anchor="ctr"/>
          <a:lstStyle/>
          <a:p>
            <a:pPr marL="0" indent="0" algn="ctr">
              <a:buNone/>
            </a:pPr>
            <a:r>
              <a:rPr lang="en-US" sz="1000" dirty="0">
                <a:solidFill>
                  <a:srgbClr val="1B7A4D"/>
                </a:solidFill>
              </a:rPr>
              <a:t>▼</a:t>
            </a:r>
            <a:endParaRPr lang="en-US" sz="1000" dirty="0"/>
          </a:p>
        </p:txBody>
      </p:sp>
      <p:sp>
        <p:nvSpPr>
          <p:cNvPr id="32" name="Shape 30"/>
          <p:cNvSpPr/>
          <p:nvPr/>
        </p:nvSpPr>
        <p:spPr>
          <a:xfrm>
            <a:off x="4754880" y="2212848"/>
            <a:ext cx="4114800" cy="457200"/>
          </a:xfrm>
          <a:prstGeom prst="roundRect">
            <a:avLst>
              <a:gd name="adj" fmla="val 20000"/>
            </a:avLst>
          </a:prstGeom>
          <a:solidFill>
            <a:srgbClr val="1B7A4D"/>
          </a:solidFill>
          <a:ln/>
        </p:spPr>
      </p:sp>
      <p:sp>
        <p:nvSpPr>
          <p:cNvPr id="33" name="Text 31"/>
          <p:cNvSpPr/>
          <p:nvPr/>
        </p:nvSpPr>
        <p:spPr>
          <a:xfrm>
            <a:off x="4754880" y="2212848"/>
            <a:ext cx="4114800" cy="457200"/>
          </a:xfrm>
          <a:prstGeom prst="rect">
            <a:avLst/>
          </a:prstGeom>
          <a:noFill/>
          <a:ln/>
        </p:spPr>
        <p:txBody>
          <a:bodyPr wrap="square" rtlCol="0" anchor="ctr"/>
          <a:lstStyle/>
          <a:p>
            <a:pPr marL="0" indent="0" algn="ctr">
              <a:buNone/>
            </a:pPr>
            <a:r>
              <a:rPr lang="en-US" sz="1300" b="1" dirty="0">
                <a:solidFill>
                  <a:srgbClr val="FFFFFF"/>
                </a:solidFill>
              </a:rPr>
              <a:t>Validation Rules</a:t>
            </a:r>
            <a:endParaRPr lang="en-US" sz="1300" dirty="0"/>
          </a:p>
        </p:txBody>
      </p:sp>
      <p:sp>
        <p:nvSpPr>
          <p:cNvPr id="34" name="Shape 32"/>
          <p:cNvSpPr/>
          <p:nvPr/>
        </p:nvSpPr>
        <p:spPr>
          <a:xfrm>
            <a:off x="6583680" y="2670048"/>
            <a:ext cx="36576" cy="201168"/>
          </a:xfrm>
          <a:prstGeom prst="rect">
            <a:avLst/>
          </a:prstGeom>
          <a:solidFill>
            <a:srgbClr val="1B7A4D"/>
          </a:solidFill>
          <a:ln/>
        </p:spPr>
      </p:sp>
      <p:sp>
        <p:nvSpPr>
          <p:cNvPr id="35" name="Text 33"/>
          <p:cNvSpPr/>
          <p:nvPr/>
        </p:nvSpPr>
        <p:spPr>
          <a:xfrm>
            <a:off x="6400800" y="2779776"/>
            <a:ext cx="457200" cy="182880"/>
          </a:xfrm>
          <a:prstGeom prst="rect">
            <a:avLst/>
          </a:prstGeom>
          <a:noFill/>
          <a:ln/>
        </p:spPr>
        <p:txBody>
          <a:bodyPr wrap="square" lIns="0" tIns="0" rIns="0" bIns="0" rtlCol="0" anchor="ctr"/>
          <a:lstStyle/>
          <a:p>
            <a:pPr marL="0" indent="0" algn="ctr">
              <a:buNone/>
            </a:pPr>
            <a:r>
              <a:rPr lang="en-US" sz="1000" dirty="0">
                <a:solidFill>
                  <a:srgbClr val="1B7A4D"/>
                </a:solidFill>
              </a:rPr>
              <a:t>▼</a:t>
            </a:r>
            <a:endParaRPr lang="en-US" sz="1000" dirty="0"/>
          </a:p>
        </p:txBody>
      </p:sp>
      <p:sp>
        <p:nvSpPr>
          <p:cNvPr id="36" name="Shape 34"/>
          <p:cNvSpPr/>
          <p:nvPr/>
        </p:nvSpPr>
        <p:spPr>
          <a:xfrm>
            <a:off x="4754880" y="2871216"/>
            <a:ext cx="4114800" cy="457200"/>
          </a:xfrm>
          <a:prstGeom prst="roundRect">
            <a:avLst>
              <a:gd name="adj" fmla="val 20000"/>
            </a:avLst>
          </a:prstGeom>
          <a:solidFill>
            <a:srgbClr val="0A5C38"/>
          </a:solidFill>
          <a:ln/>
        </p:spPr>
      </p:sp>
      <p:sp>
        <p:nvSpPr>
          <p:cNvPr id="37" name="Text 35"/>
          <p:cNvSpPr/>
          <p:nvPr/>
        </p:nvSpPr>
        <p:spPr>
          <a:xfrm>
            <a:off x="4754880" y="2871216"/>
            <a:ext cx="4114800" cy="457200"/>
          </a:xfrm>
          <a:prstGeom prst="rect">
            <a:avLst/>
          </a:prstGeom>
          <a:noFill/>
          <a:ln/>
        </p:spPr>
        <p:txBody>
          <a:bodyPr wrap="square" rtlCol="0" anchor="ctr"/>
          <a:lstStyle/>
          <a:p>
            <a:pPr marL="0" indent="0" algn="ctr">
              <a:buNone/>
            </a:pPr>
            <a:r>
              <a:rPr lang="en-US" sz="1300" b="1" dirty="0">
                <a:solidFill>
                  <a:srgbClr val="FFFFFF"/>
                </a:solidFill>
              </a:rPr>
              <a:t>Error Prevention</a:t>
            </a:r>
            <a:endParaRPr lang="en-US" sz="1300" dirty="0"/>
          </a:p>
        </p:txBody>
      </p:sp>
      <p:sp>
        <p:nvSpPr>
          <p:cNvPr id="38" name="Shape 36"/>
          <p:cNvSpPr/>
          <p:nvPr/>
        </p:nvSpPr>
        <p:spPr>
          <a:xfrm>
            <a:off x="6583680" y="3328416"/>
            <a:ext cx="36576" cy="201168"/>
          </a:xfrm>
          <a:prstGeom prst="rect">
            <a:avLst/>
          </a:prstGeom>
          <a:solidFill>
            <a:srgbClr val="1B7A4D"/>
          </a:solidFill>
          <a:ln/>
        </p:spPr>
      </p:sp>
      <p:sp>
        <p:nvSpPr>
          <p:cNvPr id="39" name="Text 37"/>
          <p:cNvSpPr/>
          <p:nvPr/>
        </p:nvSpPr>
        <p:spPr>
          <a:xfrm>
            <a:off x="6400800" y="3438144"/>
            <a:ext cx="457200" cy="182880"/>
          </a:xfrm>
          <a:prstGeom prst="rect">
            <a:avLst/>
          </a:prstGeom>
          <a:noFill/>
          <a:ln/>
        </p:spPr>
        <p:txBody>
          <a:bodyPr wrap="square" lIns="0" tIns="0" rIns="0" bIns="0" rtlCol="0" anchor="ctr"/>
          <a:lstStyle/>
          <a:p>
            <a:pPr marL="0" indent="0" algn="ctr">
              <a:buNone/>
            </a:pPr>
            <a:r>
              <a:rPr lang="en-US" sz="1000" dirty="0">
                <a:solidFill>
                  <a:srgbClr val="1B7A4D"/>
                </a:solidFill>
              </a:rPr>
              <a:t>▼</a:t>
            </a:r>
            <a:endParaRPr lang="en-US" sz="1000" dirty="0"/>
          </a:p>
        </p:txBody>
      </p:sp>
      <p:sp>
        <p:nvSpPr>
          <p:cNvPr id="40" name="Shape 38"/>
          <p:cNvSpPr/>
          <p:nvPr/>
        </p:nvSpPr>
        <p:spPr>
          <a:xfrm>
            <a:off x="4754880" y="3529584"/>
            <a:ext cx="4114800" cy="457200"/>
          </a:xfrm>
          <a:prstGeom prst="roundRect">
            <a:avLst>
              <a:gd name="adj" fmla="val 20000"/>
            </a:avLst>
          </a:prstGeom>
          <a:solidFill>
            <a:srgbClr val="1B7A4D"/>
          </a:solidFill>
          <a:ln/>
        </p:spPr>
      </p:sp>
      <p:sp>
        <p:nvSpPr>
          <p:cNvPr id="41" name="Text 39"/>
          <p:cNvSpPr/>
          <p:nvPr/>
        </p:nvSpPr>
        <p:spPr>
          <a:xfrm>
            <a:off x="4754880" y="3529584"/>
            <a:ext cx="4114800" cy="457200"/>
          </a:xfrm>
          <a:prstGeom prst="rect">
            <a:avLst/>
          </a:prstGeom>
          <a:noFill/>
          <a:ln/>
        </p:spPr>
        <p:txBody>
          <a:bodyPr wrap="square" rtlCol="0" anchor="ctr"/>
          <a:lstStyle/>
          <a:p>
            <a:pPr marL="0" indent="0" algn="ctr">
              <a:buNone/>
            </a:pPr>
            <a:r>
              <a:rPr lang="en-US" sz="1300" b="1" dirty="0">
                <a:solidFill>
                  <a:srgbClr val="FFFFFF"/>
                </a:solidFill>
              </a:rPr>
              <a:t>Reliable Data</a:t>
            </a:r>
            <a:endParaRPr lang="en-US" sz="1300" dirty="0"/>
          </a:p>
        </p:txBody>
      </p:sp>
      <p:sp>
        <p:nvSpPr>
          <p:cNvPr id="42" name="Shape 40"/>
          <p:cNvSpPr/>
          <p:nvPr/>
        </p:nvSpPr>
        <p:spPr>
          <a:xfrm>
            <a:off x="6583680" y="3986784"/>
            <a:ext cx="36576" cy="201168"/>
          </a:xfrm>
          <a:prstGeom prst="rect">
            <a:avLst/>
          </a:prstGeom>
          <a:solidFill>
            <a:srgbClr val="1B7A4D"/>
          </a:solidFill>
          <a:ln/>
        </p:spPr>
      </p:sp>
      <p:sp>
        <p:nvSpPr>
          <p:cNvPr id="43" name="Text 41"/>
          <p:cNvSpPr/>
          <p:nvPr/>
        </p:nvSpPr>
        <p:spPr>
          <a:xfrm>
            <a:off x="6400800" y="4096512"/>
            <a:ext cx="457200" cy="182880"/>
          </a:xfrm>
          <a:prstGeom prst="rect">
            <a:avLst/>
          </a:prstGeom>
          <a:noFill/>
          <a:ln/>
        </p:spPr>
        <p:txBody>
          <a:bodyPr wrap="square" lIns="0" tIns="0" rIns="0" bIns="0" rtlCol="0" anchor="ctr"/>
          <a:lstStyle/>
          <a:p>
            <a:pPr marL="0" indent="0" algn="ctr">
              <a:buNone/>
            </a:pPr>
            <a:r>
              <a:rPr lang="en-US" sz="1000" dirty="0">
                <a:solidFill>
                  <a:srgbClr val="1B7A4D"/>
                </a:solidFill>
              </a:rPr>
              <a:t>▼</a:t>
            </a:r>
            <a:endParaRPr lang="en-US" sz="1000" dirty="0"/>
          </a:p>
        </p:txBody>
      </p:sp>
      <p:sp>
        <p:nvSpPr>
          <p:cNvPr id="44" name="Shape 42"/>
          <p:cNvSpPr/>
          <p:nvPr/>
        </p:nvSpPr>
        <p:spPr>
          <a:xfrm>
            <a:off x="4754880" y="4187952"/>
            <a:ext cx="4114800" cy="457200"/>
          </a:xfrm>
          <a:prstGeom prst="roundRect">
            <a:avLst>
              <a:gd name="adj" fmla="val 20000"/>
            </a:avLst>
          </a:prstGeom>
          <a:solidFill>
            <a:srgbClr val="2EAD6C"/>
          </a:solidFill>
          <a:ln/>
        </p:spPr>
      </p:sp>
      <p:sp>
        <p:nvSpPr>
          <p:cNvPr id="45" name="Text 43"/>
          <p:cNvSpPr/>
          <p:nvPr/>
        </p:nvSpPr>
        <p:spPr>
          <a:xfrm>
            <a:off x="4754880" y="4187952"/>
            <a:ext cx="4114800" cy="457200"/>
          </a:xfrm>
          <a:prstGeom prst="rect">
            <a:avLst/>
          </a:prstGeom>
          <a:noFill/>
          <a:ln/>
        </p:spPr>
        <p:txBody>
          <a:bodyPr wrap="square" rtlCol="0" anchor="ctr"/>
          <a:lstStyle/>
          <a:p>
            <a:pPr marL="0" indent="0" algn="ctr">
              <a:buNone/>
            </a:pPr>
            <a:r>
              <a:rPr lang="en-US" sz="1300" b="1" dirty="0">
                <a:solidFill>
                  <a:srgbClr val="FFFFFF"/>
                </a:solidFill>
              </a:rPr>
              <a:t>Business Decisions</a:t>
            </a:r>
            <a:endParaRPr lang="en-US" sz="1300" dirty="0"/>
          </a:p>
        </p:txBody>
      </p:sp>
      <p:sp>
        <p:nvSpPr>
          <p:cNvPr id="47" name="Text 45"/>
          <p:cNvSpPr/>
          <p:nvPr/>
        </p:nvSpPr>
        <p:spPr>
          <a:xfrm>
            <a:off x="347472" y="4822756"/>
            <a:ext cx="8321040" cy="347472"/>
          </a:xfrm>
          <a:prstGeom prst="rect">
            <a:avLst/>
          </a:prstGeom>
          <a:noFill/>
          <a:ln/>
        </p:spPr>
        <p:txBody>
          <a:bodyPr wrap="square" rtlCol="0" anchor="ctr"/>
          <a:lstStyle/>
          <a:p>
            <a:pPr marL="0" indent="0">
              <a:buNone/>
            </a:pPr>
            <a:r>
              <a:rPr lang="en-US" sz="950" i="1" dirty="0">
                <a:solidFill>
                  <a:srgbClr val="0A5C38"/>
                </a:solidFill>
              </a:rPr>
              <a:t>💡  Pro Tip: Use Named Ranges for dropdowns — name your list (e.g. 'DeptList') then enter =DeptList as Source. Update once, refresh everywhere.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7A4D"/>
          </a:solidFill>
          <a:ln/>
        </p:spPr>
      </p:sp>
      <p:sp>
        <p:nvSpPr>
          <p:cNvPr id="3" name="Text 1"/>
          <p:cNvSpPr/>
          <p:nvPr/>
        </p:nvSpPr>
        <p:spPr>
          <a:xfrm>
            <a:off x="274320" y="91440"/>
            <a:ext cx="731520" cy="365760"/>
          </a:xfrm>
          <a:prstGeom prst="rect">
            <a:avLst/>
          </a:prstGeom>
          <a:noFill/>
          <a:ln/>
        </p:spPr>
        <p:txBody>
          <a:bodyPr wrap="square" lIns="0" tIns="0" rIns="0" bIns="0" rtlCol="0" anchor="ctr"/>
          <a:lstStyle/>
          <a:p>
            <a:pPr marL="0" indent="0">
              <a:buNone/>
            </a:pPr>
            <a:r>
              <a:rPr lang="en-US" sz="1100" b="1" dirty="0">
                <a:solidFill>
                  <a:srgbClr val="A8D5BA"/>
                </a:solidFill>
              </a:rPr>
              <a:t>02</a:t>
            </a:r>
            <a:endParaRPr lang="en-US" sz="1100" dirty="0"/>
          </a:p>
        </p:txBody>
      </p:sp>
      <p:sp>
        <p:nvSpPr>
          <p:cNvPr id="4" name="Text 2"/>
          <p:cNvSpPr/>
          <p:nvPr/>
        </p:nvSpPr>
        <p:spPr>
          <a:xfrm>
            <a:off x="274320" y="411480"/>
            <a:ext cx="8229600" cy="50292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Named Ranges &amp; Dynamic Data Management</a:t>
            </a:r>
            <a:endParaRPr lang="en-US" sz="2000" dirty="0"/>
          </a:p>
        </p:txBody>
      </p:sp>
      <p:sp>
        <p:nvSpPr>
          <p:cNvPr id="5" name="Text 3"/>
          <p:cNvSpPr/>
          <p:nvPr/>
        </p:nvSpPr>
        <p:spPr>
          <a:xfrm>
            <a:off x="274320" y="742774"/>
            <a:ext cx="8229600" cy="228600"/>
          </a:xfrm>
          <a:prstGeom prst="rect">
            <a:avLst/>
          </a:prstGeom>
          <a:noFill/>
          <a:ln/>
        </p:spPr>
        <p:txBody>
          <a:bodyPr wrap="square" lIns="0" tIns="0" rIns="0" bIns="0" rtlCol="0" anchor="ctr"/>
          <a:lstStyle/>
          <a:p>
            <a:pPr marL="0" indent="0">
              <a:buNone/>
            </a:pPr>
            <a:r>
              <a:rPr lang="en-US" sz="1000" dirty="0">
                <a:solidFill>
                  <a:srgbClr val="A8D5BA"/>
                </a:solidFill>
              </a:rPr>
              <a:t>Replace cryptic cell references with meaningful names for readable, maintainable models</a:t>
            </a:r>
            <a:endParaRPr lang="en-US" sz="1000" dirty="0"/>
          </a:p>
        </p:txBody>
      </p:sp>
      <p:sp>
        <p:nvSpPr>
          <p:cNvPr id="6" name="Shape 4"/>
          <p:cNvSpPr/>
          <p:nvPr/>
        </p:nvSpPr>
        <p:spPr>
          <a:xfrm>
            <a:off x="274320" y="1097280"/>
            <a:ext cx="2011680" cy="1645920"/>
          </a:xfrm>
          <a:prstGeom prst="roundRect">
            <a:avLst>
              <a:gd name="adj" fmla="val 5556"/>
            </a:avLst>
          </a:prstGeom>
          <a:solidFill>
            <a:srgbClr val="E8F5EE"/>
          </a:solidFill>
          <a:ln/>
          <a:effectLst>
            <a:outerShdw blurRad="101600" dist="38100" dir="2700000" algn="bl" rotWithShape="0">
              <a:srgbClr val="000000">
                <a:alpha val="10000"/>
              </a:srgbClr>
            </a:outerShdw>
          </a:effectLst>
        </p:spPr>
      </p:sp>
      <p:sp>
        <p:nvSpPr>
          <p:cNvPr id="7" name="Shape 5"/>
          <p:cNvSpPr/>
          <p:nvPr/>
        </p:nvSpPr>
        <p:spPr>
          <a:xfrm>
            <a:off x="1005840" y="1188720"/>
            <a:ext cx="594360" cy="594360"/>
          </a:xfrm>
          <a:prstGeom prst="ellipse">
            <a:avLst/>
          </a:prstGeom>
          <a:solidFill>
            <a:srgbClr val="1B7A4D"/>
          </a:solidFill>
          <a:ln/>
        </p:spPr>
      </p:sp>
      <p:sp>
        <p:nvSpPr>
          <p:cNvPr id="8" name="Text 6"/>
          <p:cNvSpPr/>
          <p:nvPr/>
        </p:nvSpPr>
        <p:spPr>
          <a:xfrm>
            <a:off x="1005840" y="1188720"/>
            <a:ext cx="594360" cy="59436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9" name="Text 7"/>
          <p:cNvSpPr/>
          <p:nvPr/>
        </p:nvSpPr>
        <p:spPr>
          <a:xfrm>
            <a:off x="411480" y="1828800"/>
            <a:ext cx="1737360" cy="320040"/>
          </a:xfrm>
          <a:prstGeom prst="rect">
            <a:avLst/>
          </a:prstGeom>
          <a:noFill/>
          <a:ln/>
        </p:spPr>
        <p:txBody>
          <a:bodyPr wrap="square" lIns="0" tIns="0" rIns="0" bIns="0" rtlCol="0" anchor="ctr"/>
          <a:lstStyle/>
          <a:p>
            <a:pPr marL="0" indent="0" algn="ctr">
              <a:buNone/>
            </a:pPr>
            <a:r>
              <a:rPr lang="en-US" sz="1100" b="1" dirty="0">
                <a:solidFill>
                  <a:srgbClr val="1A2A22"/>
                </a:solidFill>
              </a:rPr>
              <a:t>Readable Formulas</a:t>
            </a:r>
            <a:endParaRPr lang="en-US" sz="1100" dirty="0"/>
          </a:p>
        </p:txBody>
      </p:sp>
      <p:sp>
        <p:nvSpPr>
          <p:cNvPr id="10" name="Text 8"/>
          <p:cNvSpPr/>
          <p:nvPr/>
        </p:nvSpPr>
        <p:spPr>
          <a:xfrm>
            <a:off x="365760" y="2176272"/>
            <a:ext cx="1828800" cy="502920"/>
          </a:xfrm>
          <a:prstGeom prst="rect">
            <a:avLst/>
          </a:prstGeom>
          <a:noFill/>
          <a:ln/>
        </p:spPr>
        <p:txBody>
          <a:bodyPr wrap="square" lIns="0" tIns="0" rIns="0" bIns="0" rtlCol="0" anchor="ctr"/>
          <a:lstStyle/>
          <a:p>
            <a:pPr marL="0" indent="0" algn="ctr">
              <a:buNone/>
            </a:pPr>
            <a:r>
              <a:rPr lang="en-US" sz="900" dirty="0">
                <a:solidFill>
                  <a:srgbClr val="5A6B62"/>
                </a:solidFill>
              </a:rPr>
              <a:t>=SUM(Revenue) instead of</a:t>
            </a:r>
            <a:endParaRPr lang="en-US" sz="900" dirty="0"/>
          </a:p>
          <a:p>
            <a:pPr marL="0" indent="0" algn="ctr">
              <a:buNone/>
            </a:pPr>
            <a:r>
              <a:rPr lang="en-US" sz="900" dirty="0">
                <a:solidFill>
                  <a:srgbClr val="5A6B62"/>
                </a:solidFill>
              </a:rPr>
              <a:t>=SUM(B2:B100)</a:t>
            </a:r>
            <a:endParaRPr lang="en-US" sz="900" dirty="0"/>
          </a:p>
        </p:txBody>
      </p:sp>
      <p:sp>
        <p:nvSpPr>
          <p:cNvPr id="11" name="Shape 9"/>
          <p:cNvSpPr/>
          <p:nvPr/>
        </p:nvSpPr>
        <p:spPr>
          <a:xfrm>
            <a:off x="2468880" y="1097280"/>
            <a:ext cx="2011680" cy="1645920"/>
          </a:xfrm>
          <a:prstGeom prst="roundRect">
            <a:avLst>
              <a:gd name="adj" fmla="val 5556"/>
            </a:avLst>
          </a:prstGeom>
          <a:solidFill>
            <a:srgbClr val="FFFFFF"/>
          </a:solidFill>
          <a:ln/>
          <a:effectLst>
            <a:outerShdw blurRad="101600" dist="38100" dir="2700000" algn="bl" rotWithShape="0">
              <a:srgbClr val="000000">
                <a:alpha val="10000"/>
              </a:srgbClr>
            </a:outerShdw>
          </a:effectLst>
        </p:spPr>
      </p:sp>
      <p:sp>
        <p:nvSpPr>
          <p:cNvPr id="12" name="Shape 10"/>
          <p:cNvSpPr/>
          <p:nvPr/>
        </p:nvSpPr>
        <p:spPr>
          <a:xfrm>
            <a:off x="3200400" y="1188720"/>
            <a:ext cx="594360" cy="594360"/>
          </a:xfrm>
          <a:prstGeom prst="ellipse">
            <a:avLst/>
          </a:prstGeom>
          <a:solidFill>
            <a:srgbClr val="1B7A4D"/>
          </a:solidFill>
          <a:ln/>
        </p:spPr>
      </p:sp>
      <p:sp>
        <p:nvSpPr>
          <p:cNvPr id="13" name="Text 11"/>
          <p:cNvSpPr/>
          <p:nvPr/>
        </p:nvSpPr>
        <p:spPr>
          <a:xfrm>
            <a:off x="3200400" y="1188720"/>
            <a:ext cx="594360" cy="59436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4" name="Text 12"/>
          <p:cNvSpPr/>
          <p:nvPr/>
        </p:nvSpPr>
        <p:spPr>
          <a:xfrm>
            <a:off x="2606040" y="1828800"/>
            <a:ext cx="1737360" cy="320040"/>
          </a:xfrm>
          <a:prstGeom prst="rect">
            <a:avLst/>
          </a:prstGeom>
          <a:noFill/>
          <a:ln/>
        </p:spPr>
        <p:txBody>
          <a:bodyPr wrap="square" lIns="0" tIns="0" rIns="0" bIns="0" rtlCol="0" anchor="ctr"/>
          <a:lstStyle/>
          <a:p>
            <a:pPr marL="0" indent="0" algn="ctr">
              <a:buNone/>
            </a:pPr>
            <a:r>
              <a:rPr lang="en-US" sz="1100" b="1" dirty="0">
                <a:solidFill>
                  <a:srgbClr val="1A2A22"/>
                </a:solidFill>
              </a:rPr>
              <a:t>Auto-Refresh</a:t>
            </a:r>
            <a:endParaRPr lang="en-US" sz="1100" dirty="0"/>
          </a:p>
        </p:txBody>
      </p:sp>
      <p:sp>
        <p:nvSpPr>
          <p:cNvPr id="15" name="Text 13"/>
          <p:cNvSpPr/>
          <p:nvPr/>
        </p:nvSpPr>
        <p:spPr>
          <a:xfrm>
            <a:off x="2560320" y="2176272"/>
            <a:ext cx="1828800" cy="502920"/>
          </a:xfrm>
          <a:prstGeom prst="rect">
            <a:avLst/>
          </a:prstGeom>
          <a:noFill/>
          <a:ln/>
        </p:spPr>
        <p:txBody>
          <a:bodyPr wrap="square" lIns="0" tIns="0" rIns="0" bIns="0" rtlCol="0" anchor="ctr"/>
          <a:lstStyle/>
          <a:p>
            <a:pPr marL="0" indent="0" algn="ctr">
              <a:buNone/>
            </a:pPr>
            <a:r>
              <a:rPr lang="en-US" sz="900" dirty="0">
                <a:solidFill>
                  <a:srgbClr val="5A6B62"/>
                </a:solidFill>
              </a:rPr>
              <a:t>Update range once,</a:t>
            </a:r>
            <a:endParaRPr lang="en-US" sz="900" dirty="0"/>
          </a:p>
          <a:p>
            <a:pPr marL="0" indent="0" algn="ctr">
              <a:buNone/>
            </a:pPr>
            <a:r>
              <a:rPr lang="en-US" sz="900" dirty="0">
                <a:solidFill>
                  <a:srgbClr val="5A6B62"/>
                </a:solidFill>
              </a:rPr>
              <a:t>all formulas update instantly</a:t>
            </a:r>
            <a:endParaRPr lang="en-US" sz="900" dirty="0"/>
          </a:p>
        </p:txBody>
      </p:sp>
      <p:sp>
        <p:nvSpPr>
          <p:cNvPr id="16" name="Shape 14"/>
          <p:cNvSpPr/>
          <p:nvPr/>
        </p:nvSpPr>
        <p:spPr>
          <a:xfrm>
            <a:off x="4663440" y="1097280"/>
            <a:ext cx="2011680" cy="1645920"/>
          </a:xfrm>
          <a:prstGeom prst="roundRect">
            <a:avLst>
              <a:gd name="adj" fmla="val 5556"/>
            </a:avLst>
          </a:prstGeom>
          <a:solidFill>
            <a:srgbClr val="E8F5EE"/>
          </a:solidFill>
          <a:ln/>
          <a:effectLst>
            <a:outerShdw blurRad="101600" dist="38100" dir="2700000" algn="bl" rotWithShape="0">
              <a:srgbClr val="000000">
                <a:alpha val="10000"/>
              </a:srgbClr>
            </a:outerShdw>
          </a:effectLst>
        </p:spPr>
      </p:sp>
      <p:sp>
        <p:nvSpPr>
          <p:cNvPr id="17" name="Shape 15"/>
          <p:cNvSpPr/>
          <p:nvPr/>
        </p:nvSpPr>
        <p:spPr>
          <a:xfrm>
            <a:off x="5394960" y="1188720"/>
            <a:ext cx="594360" cy="594360"/>
          </a:xfrm>
          <a:prstGeom prst="ellipse">
            <a:avLst/>
          </a:prstGeom>
          <a:solidFill>
            <a:srgbClr val="1B7A4D"/>
          </a:solidFill>
          <a:ln/>
        </p:spPr>
      </p:sp>
      <p:sp>
        <p:nvSpPr>
          <p:cNvPr id="18" name="Text 16"/>
          <p:cNvSpPr/>
          <p:nvPr/>
        </p:nvSpPr>
        <p:spPr>
          <a:xfrm>
            <a:off x="5394960" y="1188720"/>
            <a:ext cx="594360" cy="59436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9" name="Text 17"/>
          <p:cNvSpPr/>
          <p:nvPr/>
        </p:nvSpPr>
        <p:spPr>
          <a:xfrm>
            <a:off x="4800600" y="1828800"/>
            <a:ext cx="1737360" cy="320040"/>
          </a:xfrm>
          <a:prstGeom prst="rect">
            <a:avLst/>
          </a:prstGeom>
          <a:noFill/>
          <a:ln/>
        </p:spPr>
        <p:txBody>
          <a:bodyPr wrap="square" lIns="0" tIns="0" rIns="0" bIns="0" rtlCol="0" anchor="ctr"/>
          <a:lstStyle/>
          <a:p>
            <a:pPr marL="0" indent="0" algn="ctr">
              <a:buNone/>
            </a:pPr>
            <a:r>
              <a:rPr lang="en-US" sz="1100" b="1" dirty="0">
                <a:solidFill>
                  <a:srgbClr val="1A2A22"/>
                </a:solidFill>
              </a:rPr>
              <a:t>Dynamic Dropdowns</a:t>
            </a:r>
            <a:endParaRPr lang="en-US" sz="1100" dirty="0"/>
          </a:p>
        </p:txBody>
      </p:sp>
      <p:sp>
        <p:nvSpPr>
          <p:cNvPr id="20" name="Text 18"/>
          <p:cNvSpPr/>
          <p:nvPr/>
        </p:nvSpPr>
        <p:spPr>
          <a:xfrm>
            <a:off x="4754880" y="2176272"/>
            <a:ext cx="1828800" cy="502920"/>
          </a:xfrm>
          <a:prstGeom prst="rect">
            <a:avLst/>
          </a:prstGeom>
          <a:noFill/>
          <a:ln/>
        </p:spPr>
        <p:txBody>
          <a:bodyPr wrap="square" lIns="0" tIns="0" rIns="0" bIns="0" rtlCol="0" anchor="ctr"/>
          <a:lstStyle/>
          <a:p>
            <a:pPr marL="0" indent="0" algn="ctr">
              <a:buNone/>
            </a:pPr>
            <a:r>
              <a:rPr lang="en-US" sz="900" dirty="0">
                <a:solidFill>
                  <a:srgbClr val="5A6B62"/>
                </a:solidFill>
              </a:rPr>
              <a:t>Dropdown lists always stay</a:t>
            </a:r>
            <a:endParaRPr lang="en-US" sz="900" dirty="0"/>
          </a:p>
          <a:p>
            <a:pPr marL="0" indent="0" algn="ctr">
              <a:buNone/>
            </a:pPr>
            <a:r>
              <a:rPr lang="en-US" sz="900" dirty="0">
                <a:solidFill>
                  <a:srgbClr val="5A6B62"/>
                </a:solidFill>
              </a:rPr>
              <a:t>synchronized with source data</a:t>
            </a:r>
            <a:endParaRPr lang="en-US" sz="900" dirty="0"/>
          </a:p>
        </p:txBody>
      </p:sp>
      <p:sp>
        <p:nvSpPr>
          <p:cNvPr id="21" name="Shape 19"/>
          <p:cNvSpPr/>
          <p:nvPr/>
        </p:nvSpPr>
        <p:spPr>
          <a:xfrm>
            <a:off x="6858000" y="1097280"/>
            <a:ext cx="2011680" cy="1645920"/>
          </a:xfrm>
          <a:prstGeom prst="roundRect">
            <a:avLst>
              <a:gd name="adj" fmla="val 5556"/>
            </a:avLst>
          </a:prstGeom>
          <a:solidFill>
            <a:srgbClr val="FFFFFF"/>
          </a:solidFill>
          <a:ln/>
          <a:effectLst>
            <a:outerShdw blurRad="101600" dist="38100" dir="2700000" algn="bl" rotWithShape="0">
              <a:srgbClr val="000000">
                <a:alpha val="10000"/>
              </a:srgbClr>
            </a:outerShdw>
          </a:effectLst>
        </p:spPr>
      </p:sp>
      <p:sp>
        <p:nvSpPr>
          <p:cNvPr id="22" name="Shape 20"/>
          <p:cNvSpPr/>
          <p:nvPr/>
        </p:nvSpPr>
        <p:spPr>
          <a:xfrm>
            <a:off x="7589520" y="1188720"/>
            <a:ext cx="594360" cy="594360"/>
          </a:xfrm>
          <a:prstGeom prst="ellipse">
            <a:avLst/>
          </a:prstGeom>
          <a:solidFill>
            <a:srgbClr val="1B7A4D"/>
          </a:solidFill>
          <a:ln/>
        </p:spPr>
      </p:sp>
      <p:sp>
        <p:nvSpPr>
          <p:cNvPr id="23" name="Text 21"/>
          <p:cNvSpPr/>
          <p:nvPr/>
        </p:nvSpPr>
        <p:spPr>
          <a:xfrm>
            <a:off x="7589520" y="1188720"/>
            <a:ext cx="594360" cy="59436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24" name="Text 22"/>
          <p:cNvSpPr/>
          <p:nvPr/>
        </p:nvSpPr>
        <p:spPr>
          <a:xfrm>
            <a:off x="6995160" y="1828800"/>
            <a:ext cx="1737360" cy="320040"/>
          </a:xfrm>
          <a:prstGeom prst="rect">
            <a:avLst/>
          </a:prstGeom>
          <a:noFill/>
          <a:ln/>
        </p:spPr>
        <p:txBody>
          <a:bodyPr wrap="square" lIns="0" tIns="0" rIns="0" bIns="0" rtlCol="0" anchor="ctr"/>
          <a:lstStyle/>
          <a:p>
            <a:pPr marL="0" indent="0" algn="ctr">
              <a:buNone/>
            </a:pPr>
            <a:r>
              <a:rPr lang="en-US" sz="1100" b="1" dirty="0">
                <a:solidFill>
                  <a:srgbClr val="1A2A22"/>
                </a:solidFill>
              </a:rPr>
              <a:t>Fewer Errors</a:t>
            </a:r>
            <a:endParaRPr lang="en-US" sz="1100" dirty="0"/>
          </a:p>
        </p:txBody>
      </p:sp>
      <p:sp>
        <p:nvSpPr>
          <p:cNvPr id="25" name="Text 23"/>
          <p:cNvSpPr/>
          <p:nvPr/>
        </p:nvSpPr>
        <p:spPr>
          <a:xfrm>
            <a:off x="6949440" y="2176272"/>
            <a:ext cx="1828800" cy="502920"/>
          </a:xfrm>
          <a:prstGeom prst="rect">
            <a:avLst/>
          </a:prstGeom>
          <a:noFill/>
          <a:ln/>
        </p:spPr>
        <p:txBody>
          <a:bodyPr wrap="square" lIns="0" tIns="0" rIns="0" bIns="0" rtlCol="0" anchor="ctr"/>
          <a:lstStyle/>
          <a:p>
            <a:pPr marL="0" indent="0" algn="ctr">
              <a:buNone/>
            </a:pPr>
            <a:r>
              <a:rPr lang="en-US" sz="900" dirty="0">
                <a:solidFill>
                  <a:srgbClr val="5A6B62"/>
                </a:solidFill>
              </a:rPr>
              <a:t>No broken references when</a:t>
            </a:r>
            <a:endParaRPr lang="en-US" sz="900" dirty="0"/>
          </a:p>
          <a:p>
            <a:pPr marL="0" indent="0" algn="ctr">
              <a:buNone/>
            </a:pPr>
            <a:r>
              <a:rPr lang="en-US" sz="900" dirty="0">
                <a:solidFill>
                  <a:srgbClr val="5A6B62"/>
                </a:solidFill>
              </a:rPr>
              <a:t>rows or columns shift</a:t>
            </a:r>
            <a:endParaRPr lang="en-US" sz="900" dirty="0"/>
          </a:p>
        </p:txBody>
      </p:sp>
      <p:sp>
        <p:nvSpPr>
          <p:cNvPr id="26" name="Text 24"/>
          <p:cNvSpPr/>
          <p:nvPr/>
        </p:nvSpPr>
        <p:spPr>
          <a:xfrm>
            <a:off x="274320" y="2880360"/>
            <a:ext cx="8229600" cy="320040"/>
          </a:xfrm>
          <a:prstGeom prst="rect">
            <a:avLst/>
          </a:prstGeom>
          <a:noFill/>
          <a:ln/>
        </p:spPr>
        <p:txBody>
          <a:bodyPr wrap="square" lIns="0" tIns="0" rIns="0" bIns="0" rtlCol="0" anchor="ctr"/>
          <a:lstStyle/>
          <a:p>
            <a:pPr marL="0" indent="0">
              <a:buNone/>
            </a:pPr>
            <a:r>
              <a:rPr lang="en-US" sz="1300" b="1" dirty="0">
                <a:solidFill>
                  <a:srgbClr val="1B7A4D"/>
                </a:solidFill>
              </a:rPr>
              <a:t>Before vs After: Named Ranges</a:t>
            </a:r>
            <a:endParaRPr lang="en-US" sz="1300" dirty="0"/>
          </a:p>
        </p:txBody>
      </p:sp>
      <p:sp>
        <p:nvSpPr>
          <p:cNvPr id="27" name="Shape 25"/>
          <p:cNvSpPr/>
          <p:nvPr/>
        </p:nvSpPr>
        <p:spPr>
          <a:xfrm>
            <a:off x="274320" y="3246120"/>
            <a:ext cx="4114800" cy="1463040"/>
          </a:xfrm>
          <a:prstGeom prst="roundRect">
            <a:avLst>
              <a:gd name="adj" fmla="val 5000"/>
            </a:avLst>
          </a:prstGeom>
          <a:solidFill>
            <a:srgbClr val="FFF3F3"/>
          </a:solidFill>
          <a:ln/>
        </p:spPr>
      </p:sp>
      <p:sp>
        <p:nvSpPr>
          <p:cNvPr id="28" name="Shape 26"/>
          <p:cNvSpPr/>
          <p:nvPr/>
        </p:nvSpPr>
        <p:spPr>
          <a:xfrm>
            <a:off x="274320" y="3246120"/>
            <a:ext cx="4114800" cy="320040"/>
          </a:xfrm>
          <a:prstGeom prst="roundRect">
            <a:avLst>
              <a:gd name="adj" fmla="val 22857"/>
            </a:avLst>
          </a:prstGeom>
          <a:solidFill>
            <a:srgbClr val="CC3333"/>
          </a:solidFill>
          <a:ln/>
        </p:spPr>
      </p:sp>
      <p:sp>
        <p:nvSpPr>
          <p:cNvPr id="29" name="Text 27"/>
          <p:cNvSpPr/>
          <p:nvPr/>
        </p:nvSpPr>
        <p:spPr>
          <a:xfrm>
            <a:off x="365760" y="3246120"/>
            <a:ext cx="3931920" cy="320040"/>
          </a:xfrm>
          <a:prstGeom prst="rect">
            <a:avLst/>
          </a:prstGeom>
          <a:noFill/>
          <a:ln/>
        </p:spPr>
        <p:txBody>
          <a:bodyPr wrap="square" rtlCol="0" anchor="ctr"/>
          <a:lstStyle/>
          <a:p>
            <a:pPr marL="0" indent="0">
              <a:buNone/>
            </a:pPr>
            <a:r>
              <a:rPr lang="en-US" sz="1100" b="1" dirty="0">
                <a:solidFill>
                  <a:srgbClr val="FFFFFF"/>
                </a:solidFill>
              </a:rPr>
              <a:t>✗  WITHOUT Named Ranges</a:t>
            </a:r>
            <a:endParaRPr lang="en-US" sz="1100" dirty="0"/>
          </a:p>
        </p:txBody>
      </p:sp>
      <p:sp>
        <p:nvSpPr>
          <p:cNvPr id="30" name="Text 28"/>
          <p:cNvSpPr/>
          <p:nvPr/>
        </p:nvSpPr>
        <p:spPr>
          <a:xfrm>
            <a:off x="411480" y="3657600"/>
            <a:ext cx="3840480" cy="1005840"/>
          </a:xfrm>
          <a:prstGeom prst="rect">
            <a:avLst/>
          </a:prstGeom>
          <a:noFill/>
          <a:ln/>
        </p:spPr>
        <p:txBody>
          <a:bodyPr wrap="square" rtlCol="0" anchor="ctr"/>
          <a:lstStyle/>
          <a:p>
            <a:pPr marL="0" indent="0">
              <a:buNone/>
            </a:pPr>
            <a:r>
              <a:rPr lang="en-US" sz="1000" b="1" dirty="0">
                <a:solidFill>
                  <a:srgbClr val="CC3333"/>
                </a:solidFill>
              </a:rPr>
              <a:t>=VLOOKUP(A2,$D$2:$G$100,2,FALSE)
=SUMIF($B$2:$B$100,"East",$C$2:$C$100)
</a:t>
            </a:r>
            <a:r>
              <a:rPr lang="en-US" sz="1000" i="1" dirty="0">
                <a:solidFill>
                  <a:srgbClr val="5A6B62"/>
                </a:solidFill>
              </a:rPr>
              <a:t>Hard to read • Breaks when columns shift • Error-prone</a:t>
            </a:r>
            <a:endParaRPr lang="en-US" sz="1000" dirty="0"/>
          </a:p>
        </p:txBody>
      </p:sp>
      <p:sp>
        <p:nvSpPr>
          <p:cNvPr id="31" name="Shape 29"/>
          <p:cNvSpPr/>
          <p:nvPr/>
        </p:nvSpPr>
        <p:spPr>
          <a:xfrm>
            <a:off x="4754880" y="3246120"/>
            <a:ext cx="4114800" cy="1463040"/>
          </a:xfrm>
          <a:prstGeom prst="roundRect">
            <a:avLst>
              <a:gd name="adj" fmla="val 5000"/>
            </a:avLst>
          </a:prstGeom>
          <a:solidFill>
            <a:srgbClr val="F0F9F4"/>
          </a:solidFill>
          <a:ln/>
        </p:spPr>
      </p:sp>
      <p:sp>
        <p:nvSpPr>
          <p:cNvPr id="32" name="Shape 30"/>
          <p:cNvSpPr/>
          <p:nvPr/>
        </p:nvSpPr>
        <p:spPr>
          <a:xfrm>
            <a:off x="4754880" y="3246120"/>
            <a:ext cx="4114800" cy="320040"/>
          </a:xfrm>
          <a:prstGeom prst="roundRect">
            <a:avLst>
              <a:gd name="adj" fmla="val 22857"/>
            </a:avLst>
          </a:prstGeom>
          <a:solidFill>
            <a:srgbClr val="1B7A4D"/>
          </a:solidFill>
          <a:ln/>
        </p:spPr>
      </p:sp>
      <p:sp>
        <p:nvSpPr>
          <p:cNvPr id="33" name="Text 31"/>
          <p:cNvSpPr/>
          <p:nvPr/>
        </p:nvSpPr>
        <p:spPr>
          <a:xfrm>
            <a:off x="4846320" y="3246120"/>
            <a:ext cx="3931920" cy="320040"/>
          </a:xfrm>
          <a:prstGeom prst="rect">
            <a:avLst/>
          </a:prstGeom>
          <a:noFill/>
          <a:ln/>
        </p:spPr>
        <p:txBody>
          <a:bodyPr wrap="square" rtlCol="0" anchor="ctr"/>
          <a:lstStyle/>
          <a:p>
            <a:pPr marL="0" indent="0">
              <a:buNone/>
            </a:pPr>
            <a:r>
              <a:rPr lang="en-US" sz="1100" b="1" dirty="0">
                <a:solidFill>
                  <a:srgbClr val="FFFFFF"/>
                </a:solidFill>
              </a:rPr>
              <a:t>✓  WITH Named Ranges</a:t>
            </a:r>
            <a:endParaRPr lang="en-US" sz="1100" dirty="0"/>
          </a:p>
        </p:txBody>
      </p:sp>
      <p:sp>
        <p:nvSpPr>
          <p:cNvPr id="34" name="Text 32"/>
          <p:cNvSpPr/>
          <p:nvPr/>
        </p:nvSpPr>
        <p:spPr>
          <a:xfrm>
            <a:off x="4846320" y="3657600"/>
            <a:ext cx="3840480" cy="1005840"/>
          </a:xfrm>
          <a:prstGeom prst="rect">
            <a:avLst/>
          </a:prstGeom>
          <a:noFill/>
          <a:ln/>
        </p:spPr>
        <p:txBody>
          <a:bodyPr wrap="square" rtlCol="0" anchor="ctr"/>
          <a:lstStyle/>
          <a:p>
            <a:pPr marL="0" indent="0">
              <a:buNone/>
            </a:pPr>
            <a:r>
              <a:rPr lang="en-US" sz="1000" b="1" dirty="0">
                <a:solidFill>
                  <a:srgbClr val="1B7A4D"/>
                </a:solidFill>
              </a:rPr>
              <a:t>=VLOOKUP(EmpID, EmployeeTable, 2, FALSE)
=SUMIF(Region,"East", Revenue)
</a:t>
            </a:r>
            <a:r>
              <a:rPr lang="en-US" sz="1000" i="1" dirty="0">
                <a:solidFill>
                  <a:srgbClr val="5A6B62"/>
                </a:solidFill>
              </a:rPr>
              <a:t>Self-documenting • Flexible • Easy to maintain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7A4D"/>
          </a:solidFill>
          <a:ln/>
        </p:spPr>
      </p:sp>
      <p:sp>
        <p:nvSpPr>
          <p:cNvPr id="3" name="Text 1"/>
          <p:cNvSpPr/>
          <p:nvPr/>
        </p:nvSpPr>
        <p:spPr>
          <a:xfrm>
            <a:off x="274320" y="91440"/>
            <a:ext cx="731520" cy="365760"/>
          </a:xfrm>
          <a:prstGeom prst="rect">
            <a:avLst/>
          </a:prstGeom>
          <a:noFill/>
          <a:ln/>
        </p:spPr>
        <p:txBody>
          <a:bodyPr wrap="square" lIns="0" tIns="0" rIns="0" bIns="0" rtlCol="0" anchor="ctr"/>
          <a:lstStyle/>
          <a:p>
            <a:pPr marL="0" indent="0">
              <a:buNone/>
            </a:pPr>
            <a:r>
              <a:rPr lang="en-US" sz="1100" b="1" dirty="0">
                <a:solidFill>
                  <a:srgbClr val="A8D5BA"/>
                </a:solidFill>
              </a:rPr>
              <a:t>03</a:t>
            </a:r>
            <a:endParaRPr lang="en-US" sz="1100" dirty="0"/>
          </a:p>
        </p:txBody>
      </p:sp>
      <p:sp>
        <p:nvSpPr>
          <p:cNvPr id="4" name="Text 2"/>
          <p:cNvSpPr/>
          <p:nvPr/>
        </p:nvSpPr>
        <p:spPr>
          <a:xfrm>
            <a:off x="274320" y="411480"/>
            <a:ext cx="8229600" cy="50292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Conditional Formatting for Data Intelligence</a:t>
            </a:r>
            <a:endParaRPr lang="en-US" sz="2000" dirty="0"/>
          </a:p>
        </p:txBody>
      </p:sp>
      <p:sp>
        <p:nvSpPr>
          <p:cNvPr id="5" name="Text 3"/>
          <p:cNvSpPr/>
          <p:nvPr/>
        </p:nvSpPr>
        <p:spPr>
          <a:xfrm>
            <a:off x="274320" y="770206"/>
            <a:ext cx="8229600" cy="228600"/>
          </a:xfrm>
          <a:prstGeom prst="rect">
            <a:avLst/>
          </a:prstGeom>
          <a:noFill/>
          <a:ln/>
        </p:spPr>
        <p:txBody>
          <a:bodyPr wrap="square" lIns="0" tIns="0" rIns="0" bIns="0" rtlCol="0" anchor="ctr"/>
          <a:lstStyle/>
          <a:p>
            <a:pPr marL="0" indent="0">
              <a:buNone/>
            </a:pPr>
            <a:r>
              <a:rPr lang="en-US" sz="1000" dirty="0">
                <a:solidFill>
                  <a:srgbClr val="A8D5BA"/>
                </a:solidFill>
              </a:rPr>
              <a:t>Make your data speak visually — highlight patterns and outliers automatically</a:t>
            </a:r>
            <a:endParaRPr lang="en-US" sz="1000" dirty="0"/>
          </a:p>
        </p:txBody>
      </p:sp>
      <p:sp>
        <p:nvSpPr>
          <p:cNvPr id="6" name="Shape 4"/>
          <p:cNvSpPr/>
          <p:nvPr/>
        </p:nvSpPr>
        <p:spPr>
          <a:xfrm>
            <a:off x="274320" y="1097280"/>
            <a:ext cx="2011680" cy="1371600"/>
          </a:xfrm>
          <a:prstGeom prst="roundRect">
            <a:avLst>
              <a:gd name="adj" fmla="val 6667"/>
            </a:avLst>
          </a:prstGeom>
          <a:solidFill>
            <a:srgbClr val="FFF3F3"/>
          </a:solidFill>
          <a:ln/>
          <a:effectLst>
            <a:outerShdw blurRad="101600" dist="38100" dir="2700000" algn="bl" rotWithShape="0">
              <a:srgbClr val="000000">
                <a:alpha val="10000"/>
              </a:srgbClr>
            </a:outerShdw>
          </a:effectLst>
        </p:spPr>
      </p:sp>
      <p:sp>
        <p:nvSpPr>
          <p:cNvPr id="7" name="Shape 5"/>
          <p:cNvSpPr/>
          <p:nvPr/>
        </p:nvSpPr>
        <p:spPr>
          <a:xfrm>
            <a:off x="960120" y="1161288"/>
            <a:ext cx="640080" cy="640080"/>
          </a:xfrm>
          <a:prstGeom prst="ellipse">
            <a:avLst/>
          </a:prstGeom>
          <a:solidFill>
            <a:srgbClr val="EF4444"/>
          </a:solidFill>
          <a:ln/>
        </p:spPr>
      </p:sp>
      <p:sp>
        <p:nvSpPr>
          <p:cNvPr id="8" name="Text 6"/>
          <p:cNvSpPr/>
          <p:nvPr/>
        </p:nvSpPr>
        <p:spPr>
          <a:xfrm>
            <a:off x="960120" y="1161288"/>
            <a:ext cx="640080" cy="640080"/>
          </a:xfrm>
          <a:prstGeom prst="rect">
            <a:avLst/>
          </a:prstGeom>
          <a:noFill/>
          <a:ln/>
        </p:spPr>
        <p:txBody>
          <a:bodyPr wrap="square" rtlCol="0" anchor="ctr"/>
          <a:lstStyle/>
          <a:p>
            <a:pPr marL="0" indent="0" algn="ctr">
              <a:buNone/>
            </a:pPr>
            <a:r>
              <a:rPr lang="en-US" sz="1500" b="1" dirty="0">
                <a:solidFill>
                  <a:srgbClr val="FFFFFF"/>
                </a:solidFill>
              </a:rPr>
              <a:t>H</a:t>
            </a:r>
            <a:endParaRPr lang="en-US" sz="1500" dirty="0"/>
          </a:p>
        </p:txBody>
      </p:sp>
      <p:sp>
        <p:nvSpPr>
          <p:cNvPr id="9" name="Text 7"/>
          <p:cNvSpPr/>
          <p:nvPr/>
        </p:nvSpPr>
        <p:spPr>
          <a:xfrm>
            <a:off x="365760" y="1874520"/>
            <a:ext cx="1828800" cy="274320"/>
          </a:xfrm>
          <a:prstGeom prst="rect">
            <a:avLst/>
          </a:prstGeom>
          <a:noFill/>
          <a:ln/>
        </p:spPr>
        <p:txBody>
          <a:bodyPr wrap="square" lIns="0" tIns="0" rIns="0" bIns="0" rtlCol="0" anchor="ctr"/>
          <a:lstStyle/>
          <a:p>
            <a:pPr marL="0" indent="0" algn="ctr">
              <a:buNone/>
            </a:pPr>
            <a:r>
              <a:rPr lang="en-US" sz="1100" b="1" dirty="0">
                <a:solidFill>
                  <a:srgbClr val="1A2A22"/>
                </a:solidFill>
              </a:rPr>
              <a:t>Highlight Rules</a:t>
            </a:r>
            <a:endParaRPr lang="en-US" sz="1100" dirty="0"/>
          </a:p>
        </p:txBody>
      </p:sp>
      <p:sp>
        <p:nvSpPr>
          <p:cNvPr id="10" name="Text 8"/>
          <p:cNvSpPr/>
          <p:nvPr/>
        </p:nvSpPr>
        <p:spPr>
          <a:xfrm>
            <a:off x="372794" y="2029968"/>
            <a:ext cx="1828800" cy="411480"/>
          </a:xfrm>
          <a:prstGeom prst="rect">
            <a:avLst/>
          </a:prstGeom>
          <a:noFill/>
          <a:ln/>
        </p:spPr>
        <p:txBody>
          <a:bodyPr wrap="square" lIns="0" tIns="0" rIns="0" bIns="0" rtlCol="0" anchor="ctr"/>
          <a:lstStyle/>
          <a:p>
            <a:pPr marL="0" indent="0" algn="ctr">
              <a:buNone/>
            </a:pPr>
            <a:r>
              <a:rPr lang="en-US" sz="900" dirty="0">
                <a:solidFill>
                  <a:srgbClr val="5A6B62"/>
                </a:solidFill>
              </a:rPr>
              <a:t>Greater Than, Less Than,</a:t>
            </a:r>
            <a:endParaRPr lang="en-US" sz="900" dirty="0"/>
          </a:p>
          <a:p>
            <a:pPr marL="0" indent="0" algn="ctr">
              <a:buNone/>
            </a:pPr>
            <a:r>
              <a:rPr lang="en-US" sz="900" dirty="0">
                <a:solidFill>
                  <a:srgbClr val="5A6B62"/>
                </a:solidFill>
              </a:rPr>
              <a:t>Between, Duplicates</a:t>
            </a:r>
            <a:endParaRPr lang="en-US" sz="900" dirty="0"/>
          </a:p>
        </p:txBody>
      </p:sp>
      <p:sp>
        <p:nvSpPr>
          <p:cNvPr id="11" name="Shape 9"/>
          <p:cNvSpPr/>
          <p:nvPr/>
        </p:nvSpPr>
        <p:spPr>
          <a:xfrm>
            <a:off x="2468880" y="1097280"/>
            <a:ext cx="2011680" cy="1371600"/>
          </a:xfrm>
          <a:prstGeom prst="roundRect">
            <a:avLst>
              <a:gd name="adj" fmla="val 6667"/>
            </a:avLst>
          </a:prstGeom>
          <a:solidFill>
            <a:srgbClr val="F0F9F4"/>
          </a:solidFill>
          <a:ln/>
          <a:effectLst>
            <a:outerShdw blurRad="101600" dist="38100" dir="2700000" algn="bl" rotWithShape="0">
              <a:srgbClr val="000000">
                <a:alpha val="10000"/>
              </a:srgbClr>
            </a:outerShdw>
          </a:effectLst>
        </p:spPr>
      </p:sp>
      <p:sp>
        <p:nvSpPr>
          <p:cNvPr id="12" name="Shape 10"/>
          <p:cNvSpPr/>
          <p:nvPr/>
        </p:nvSpPr>
        <p:spPr>
          <a:xfrm>
            <a:off x="3154680" y="1161288"/>
            <a:ext cx="640080" cy="640080"/>
          </a:xfrm>
          <a:prstGeom prst="ellipse">
            <a:avLst/>
          </a:prstGeom>
          <a:solidFill>
            <a:srgbClr val="2EAD6C"/>
          </a:solidFill>
          <a:ln/>
        </p:spPr>
      </p:sp>
      <p:sp>
        <p:nvSpPr>
          <p:cNvPr id="13" name="Text 11"/>
          <p:cNvSpPr/>
          <p:nvPr/>
        </p:nvSpPr>
        <p:spPr>
          <a:xfrm>
            <a:off x="3154680" y="1161288"/>
            <a:ext cx="640080" cy="640080"/>
          </a:xfrm>
          <a:prstGeom prst="rect">
            <a:avLst/>
          </a:prstGeom>
          <a:noFill/>
          <a:ln/>
        </p:spPr>
        <p:txBody>
          <a:bodyPr wrap="square" rtlCol="0" anchor="ctr"/>
          <a:lstStyle/>
          <a:p>
            <a:pPr marL="0" indent="0" algn="ctr">
              <a:buNone/>
            </a:pPr>
            <a:r>
              <a:rPr lang="en-US" sz="1500" b="1" dirty="0">
                <a:solidFill>
                  <a:srgbClr val="FFFFFF"/>
                </a:solidFill>
              </a:rPr>
              <a:t>B</a:t>
            </a:r>
            <a:endParaRPr lang="en-US" sz="1500" dirty="0"/>
          </a:p>
        </p:txBody>
      </p:sp>
      <p:sp>
        <p:nvSpPr>
          <p:cNvPr id="14" name="Text 12"/>
          <p:cNvSpPr/>
          <p:nvPr/>
        </p:nvSpPr>
        <p:spPr>
          <a:xfrm>
            <a:off x="2560320" y="1874520"/>
            <a:ext cx="1828800" cy="274320"/>
          </a:xfrm>
          <a:prstGeom prst="rect">
            <a:avLst/>
          </a:prstGeom>
          <a:noFill/>
          <a:ln/>
        </p:spPr>
        <p:txBody>
          <a:bodyPr wrap="square" lIns="0" tIns="0" rIns="0" bIns="0" rtlCol="0" anchor="ctr"/>
          <a:lstStyle/>
          <a:p>
            <a:pPr marL="0" indent="0" algn="ctr">
              <a:buNone/>
            </a:pPr>
            <a:r>
              <a:rPr lang="en-US" sz="1100" b="1" dirty="0">
                <a:solidFill>
                  <a:srgbClr val="1A2A22"/>
                </a:solidFill>
              </a:rPr>
              <a:t>Data Bars</a:t>
            </a:r>
            <a:endParaRPr lang="en-US" sz="1100" dirty="0"/>
          </a:p>
        </p:txBody>
      </p:sp>
      <p:sp>
        <p:nvSpPr>
          <p:cNvPr id="15" name="Text 13"/>
          <p:cNvSpPr/>
          <p:nvPr/>
        </p:nvSpPr>
        <p:spPr>
          <a:xfrm>
            <a:off x="2651760" y="2029968"/>
            <a:ext cx="1828800" cy="411480"/>
          </a:xfrm>
          <a:prstGeom prst="rect">
            <a:avLst/>
          </a:prstGeom>
          <a:noFill/>
          <a:ln/>
        </p:spPr>
        <p:txBody>
          <a:bodyPr wrap="square" lIns="0" tIns="0" rIns="0" bIns="0" rtlCol="0" anchor="ctr"/>
          <a:lstStyle/>
          <a:p>
            <a:pPr marL="0" indent="0" algn="ctr">
              <a:buNone/>
            </a:pPr>
            <a:r>
              <a:rPr lang="en-US" sz="900" dirty="0">
                <a:solidFill>
                  <a:srgbClr val="5A6B62"/>
                </a:solidFill>
              </a:rPr>
              <a:t>Gradient or solid fill bars</a:t>
            </a:r>
            <a:endParaRPr lang="en-US" sz="900" dirty="0"/>
          </a:p>
          <a:p>
            <a:pPr marL="0" indent="0" algn="ctr">
              <a:buNone/>
            </a:pPr>
            <a:r>
              <a:rPr lang="en-US" sz="900" dirty="0">
                <a:solidFill>
                  <a:srgbClr val="5A6B62"/>
                </a:solidFill>
              </a:rPr>
              <a:t>proportional to cell value</a:t>
            </a:r>
            <a:endParaRPr lang="en-US" sz="900" dirty="0"/>
          </a:p>
        </p:txBody>
      </p:sp>
      <p:sp>
        <p:nvSpPr>
          <p:cNvPr id="16" name="Shape 14"/>
          <p:cNvSpPr/>
          <p:nvPr/>
        </p:nvSpPr>
        <p:spPr>
          <a:xfrm>
            <a:off x="4663440" y="1097280"/>
            <a:ext cx="2011680" cy="1371600"/>
          </a:xfrm>
          <a:prstGeom prst="roundRect">
            <a:avLst>
              <a:gd name="adj" fmla="val 6667"/>
            </a:avLst>
          </a:prstGeom>
          <a:solidFill>
            <a:srgbClr val="FFFBEB"/>
          </a:solidFill>
          <a:ln/>
          <a:effectLst>
            <a:outerShdw blurRad="101600" dist="38100" dir="2700000" algn="bl" rotWithShape="0">
              <a:srgbClr val="000000">
                <a:alpha val="10000"/>
              </a:srgbClr>
            </a:outerShdw>
          </a:effectLst>
        </p:spPr>
      </p:sp>
      <p:sp>
        <p:nvSpPr>
          <p:cNvPr id="17" name="Shape 15"/>
          <p:cNvSpPr/>
          <p:nvPr/>
        </p:nvSpPr>
        <p:spPr>
          <a:xfrm>
            <a:off x="5349240" y="1161288"/>
            <a:ext cx="640080" cy="640080"/>
          </a:xfrm>
          <a:prstGeom prst="ellipse">
            <a:avLst/>
          </a:prstGeom>
          <a:solidFill>
            <a:srgbClr val="F59E0B"/>
          </a:solidFill>
          <a:ln/>
        </p:spPr>
      </p:sp>
      <p:sp>
        <p:nvSpPr>
          <p:cNvPr id="18" name="Text 16"/>
          <p:cNvSpPr/>
          <p:nvPr/>
        </p:nvSpPr>
        <p:spPr>
          <a:xfrm>
            <a:off x="5349240" y="1161288"/>
            <a:ext cx="640080" cy="640080"/>
          </a:xfrm>
          <a:prstGeom prst="rect">
            <a:avLst/>
          </a:prstGeom>
          <a:noFill/>
          <a:ln/>
        </p:spPr>
        <p:txBody>
          <a:bodyPr wrap="square" rtlCol="0" anchor="ctr"/>
          <a:lstStyle/>
          <a:p>
            <a:pPr marL="0" indent="0" algn="ctr">
              <a:buNone/>
            </a:pPr>
            <a:r>
              <a:rPr lang="en-US" sz="1500" b="1" dirty="0">
                <a:solidFill>
                  <a:srgbClr val="FFFFFF"/>
                </a:solidFill>
              </a:rPr>
              <a:t>C</a:t>
            </a:r>
            <a:endParaRPr lang="en-US" sz="1500" dirty="0"/>
          </a:p>
        </p:txBody>
      </p:sp>
      <p:sp>
        <p:nvSpPr>
          <p:cNvPr id="19" name="Text 17"/>
          <p:cNvSpPr/>
          <p:nvPr/>
        </p:nvSpPr>
        <p:spPr>
          <a:xfrm>
            <a:off x="4754880" y="1874520"/>
            <a:ext cx="1828800" cy="274320"/>
          </a:xfrm>
          <a:prstGeom prst="rect">
            <a:avLst/>
          </a:prstGeom>
          <a:noFill/>
          <a:ln/>
        </p:spPr>
        <p:txBody>
          <a:bodyPr wrap="square" lIns="0" tIns="0" rIns="0" bIns="0" rtlCol="0" anchor="ctr"/>
          <a:lstStyle/>
          <a:p>
            <a:pPr marL="0" indent="0" algn="ctr">
              <a:buNone/>
            </a:pPr>
            <a:r>
              <a:rPr lang="en-US" sz="1100" b="1" dirty="0">
                <a:solidFill>
                  <a:srgbClr val="1A2A22"/>
                </a:solidFill>
              </a:rPr>
              <a:t>Color Scales</a:t>
            </a:r>
            <a:endParaRPr lang="en-US" sz="1100" dirty="0"/>
          </a:p>
        </p:txBody>
      </p:sp>
      <p:sp>
        <p:nvSpPr>
          <p:cNvPr id="20" name="Text 18"/>
          <p:cNvSpPr/>
          <p:nvPr/>
        </p:nvSpPr>
        <p:spPr>
          <a:xfrm>
            <a:off x="4846320" y="2029968"/>
            <a:ext cx="1828800" cy="411480"/>
          </a:xfrm>
          <a:prstGeom prst="rect">
            <a:avLst/>
          </a:prstGeom>
          <a:noFill/>
          <a:ln/>
        </p:spPr>
        <p:txBody>
          <a:bodyPr wrap="square" lIns="0" tIns="0" rIns="0" bIns="0" rtlCol="0" anchor="ctr"/>
          <a:lstStyle/>
          <a:p>
            <a:pPr marL="0" indent="0" algn="ctr">
              <a:buNone/>
            </a:pPr>
            <a:r>
              <a:rPr lang="en-US" sz="900" dirty="0">
                <a:solidFill>
                  <a:srgbClr val="5A6B62"/>
                </a:solidFill>
              </a:rPr>
              <a:t>2 or 3-color gradient</a:t>
            </a:r>
            <a:endParaRPr lang="en-US" sz="900" dirty="0"/>
          </a:p>
          <a:p>
            <a:pPr marL="0" indent="0" algn="ctr">
              <a:buNone/>
            </a:pPr>
            <a:r>
              <a:rPr lang="en-US" sz="900" dirty="0">
                <a:solidFill>
                  <a:srgbClr val="5A6B62"/>
                </a:solidFill>
              </a:rPr>
              <a:t>across a range of values</a:t>
            </a:r>
            <a:endParaRPr lang="en-US" sz="900" dirty="0"/>
          </a:p>
        </p:txBody>
      </p:sp>
      <p:sp>
        <p:nvSpPr>
          <p:cNvPr id="21" name="Shape 19"/>
          <p:cNvSpPr/>
          <p:nvPr/>
        </p:nvSpPr>
        <p:spPr>
          <a:xfrm>
            <a:off x="6858000" y="1097280"/>
            <a:ext cx="2011680" cy="1371600"/>
          </a:xfrm>
          <a:prstGeom prst="roundRect">
            <a:avLst>
              <a:gd name="adj" fmla="val 6667"/>
            </a:avLst>
          </a:prstGeom>
          <a:solidFill>
            <a:srgbClr val="F5F3FF"/>
          </a:solidFill>
          <a:ln/>
          <a:effectLst>
            <a:outerShdw blurRad="101600" dist="38100" dir="2700000" algn="bl" rotWithShape="0">
              <a:srgbClr val="000000">
                <a:alpha val="10000"/>
              </a:srgbClr>
            </a:outerShdw>
          </a:effectLst>
        </p:spPr>
      </p:sp>
      <p:sp>
        <p:nvSpPr>
          <p:cNvPr id="22" name="Shape 20"/>
          <p:cNvSpPr/>
          <p:nvPr/>
        </p:nvSpPr>
        <p:spPr>
          <a:xfrm>
            <a:off x="7543800" y="1161288"/>
            <a:ext cx="640080" cy="640080"/>
          </a:xfrm>
          <a:prstGeom prst="ellipse">
            <a:avLst/>
          </a:prstGeom>
          <a:solidFill>
            <a:srgbClr val="8B5CF6"/>
          </a:solidFill>
          <a:ln/>
        </p:spPr>
      </p:sp>
      <p:sp>
        <p:nvSpPr>
          <p:cNvPr id="23" name="Text 21"/>
          <p:cNvSpPr/>
          <p:nvPr/>
        </p:nvSpPr>
        <p:spPr>
          <a:xfrm>
            <a:off x="7543800" y="1161288"/>
            <a:ext cx="640080" cy="640080"/>
          </a:xfrm>
          <a:prstGeom prst="rect">
            <a:avLst/>
          </a:prstGeom>
          <a:noFill/>
          <a:ln/>
        </p:spPr>
        <p:txBody>
          <a:bodyPr wrap="square" rtlCol="0" anchor="ctr"/>
          <a:lstStyle/>
          <a:p>
            <a:pPr marL="0" indent="0" algn="ctr">
              <a:buNone/>
            </a:pPr>
            <a:r>
              <a:rPr lang="en-US" sz="1500" b="1" dirty="0">
                <a:solidFill>
                  <a:srgbClr val="FFFFFF"/>
                </a:solidFill>
              </a:rPr>
              <a:t>I</a:t>
            </a:r>
            <a:endParaRPr lang="en-US" sz="1500" dirty="0"/>
          </a:p>
        </p:txBody>
      </p:sp>
      <p:sp>
        <p:nvSpPr>
          <p:cNvPr id="24" name="Text 22"/>
          <p:cNvSpPr/>
          <p:nvPr/>
        </p:nvSpPr>
        <p:spPr>
          <a:xfrm>
            <a:off x="6949440" y="1874520"/>
            <a:ext cx="1828800" cy="274320"/>
          </a:xfrm>
          <a:prstGeom prst="rect">
            <a:avLst/>
          </a:prstGeom>
          <a:noFill/>
          <a:ln/>
        </p:spPr>
        <p:txBody>
          <a:bodyPr wrap="square" lIns="0" tIns="0" rIns="0" bIns="0" rtlCol="0" anchor="ctr"/>
          <a:lstStyle/>
          <a:p>
            <a:pPr marL="0" indent="0" algn="ctr">
              <a:buNone/>
            </a:pPr>
            <a:r>
              <a:rPr lang="en-US" sz="1100" b="1" dirty="0">
                <a:solidFill>
                  <a:srgbClr val="1A2A22"/>
                </a:solidFill>
              </a:rPr>
              <a:t>Icon Sets</a:t>
            </a:r>
            <a:endParaRPr lang="en-US" sz="1100" dirty="0"/>
          </a:p>
        </p:txBody>
      </p:sp>
      <p:sp>
        <p:nvSpPr>
          <p:cNvPr id="25" name="Text 23"/>
          <p:cNvSpPr/>
          <p:nvPr/>
        </p:nvSpPr>
        <p:spPr>
          <a:xfrm>
            <a:off x="6949440" y="2029968"/>
            <a:ext cx="1828800" cy="411480"/>
          </a:xfrm>
          <a:prstGeom prst="rect">
            <a:avLst/>
          </a:prstGeom>
          <a:noFill/>
          <a:ln/>
        </p:spPr>
        <p:txBody>
          <a:bodyPr wrap="square" lIns="0" tIns="0" rIns="0" bIns="0" rtlCol="0" anchor="ctr"/>
          <a:lstStyle/>
          <a:p>
            <a:pPr marL="0" indent="0" algn="ctr">
              <a:buNone/>
            </a:pPr>
            <a:r>
              <a:rPr lang="en-US" sz="900" dirty="0">
                <a:solidFill>
                  <a:srgbClr val="5A6B62"/>
                </a:solidFill>
              </a:rPr>
              <a:t>Arrows, traffic lights,</a:t>
            </a:r>
            <a:endParaRPr lang="en-US" sz="900" dirty="0"/>
          </a:p>
          <a:p>
            <a:pPr marL="0" indent="0" algn="ctr">
              <a:buNone/>
            </a:pPr>
            <a:r>
              <a:rPr lang="en-US" sz="900" dirty="0">
                <a:solidFill>
                  <a:srgbClr val="5A6B62"/>
                </a:solidFill>
              </a:rPr>
              <a:t>stars based on thresholds</a:t>
            </a:r>
            <a:endParaRPr lang="en-US" sz="900" dirty="0"/>
          </a:p>
        </p:txBody>
      </p:sp>
      <p:sp>
        <p:nvSpPr>
          <p:cNvPr id="26" name="Text 24"/>
          <p:cNvSpPr/>
          <p:nvPr/>
        </p:nvSpPr>
        <p:spPr>
          <a:xfrm>
            <a:off x="274320" y="2651760"/>
            <a:ext cx="8229600" cy="320040"/>
          </a:xfrm>
          <a:prstGeom prst="rect">
            <a:avLst/>
          </a:prstGeom>
          <a:noFill/>
          <a:ln/>
        </p:spPr>
        <p:txBody>
          <a:bodyPr wrap="square" lIns="0" tIns="0" rIns="0" bIns="0" rtlCol="0" anchor="ctr"/>
          <a:lstStyle/>
          <a:p>
            <a:pPr marL="0" indent="0">
              <a:buNone/>
            </a:pPr>
            <a:r>
              <a:rPr lang="en-US" sz="1300" b="1" dirty="0">
                <a:solidFill>
                  <a:srgbClr val="1B7A4D"/>
                </a:solidFill>
              </a:rPr>
              <a:t>Custom Formula Power Examples</a:t>
            </a:r>
            <a:endParaRPr lang="en-US" sz="1300" dirty="0"/>
          </a:p>
        </p:txBody>
      </p:sp>
      <p:sp>
        <p:nvSpPr>
          <p:cNvPr id="27" name="Shape 25"/>
          <p:cNvSpPr/>
          <p:nvPr/>
        </p:nvSpPr>
        <p:spPr>
          <a:xfrm>
            <a:off x="274320" y="3063240"/>
            <a:ext cx="8595360" cy="347472"/>
          </a:xfrm>
          <a:prstGeom prst="roundRect">
            <a:avLst>
              <a:gd name="adj" fmla="val 13158"/>
            </a:avLst>
          </a:prstGeom>
          <a:solidFill>
            <a:srgbClr val="E8F5EE"/>
          </a:solidFill>
          <a:ln/>
        </p:spPr>
      </p:sp>
      <p:sp>
        <p:nvSpPr>
          <p:cNvPr id="28" name="Text 26"/>
          <p:cNvSpPr/>
          <p:nvPr/>
        </p:nvSpPr>
        <p:spPr>
          <a:xfrm>
            <a:off x="411480" y="3108960"/>
            <a:ext cx="2926080" cy="256032"/>
          </a:xfrm>
          <a:prstGeom prst="rect">
            <a:avLst/>
          </a:prstGeom>
          <a:noFill/>
          <a:ln/>
        </p:spPr>
        <p:txBody>
          <a:bodyPr wrap="square" lIns="0" tIns="0" rIns="0" bIns="0" rtlCol="0" anchor="ctr"/>
          <a:lstStyle/>
          <a:p>
            <a:pPr marL="0" indent="0">
              <a:buNone/>
            </a:pPr>
            <a:r>
              <a:rPr lang="en-US" sz="1000" b="1" dirty="0">
                <a:solidFill>
                  <a:srgbClr val="0A5C38"/>
                </a:solidFill>
                <a:latin typeface="Courier New" pitchFamily="34" charset="0"/>
                <a:ea typeface="Courier New" pitchFamily="34" charset="-122"/>
                <a:cs typeface="Courier New" pitchFamily="34" charset="-120"/>
              </a:rPr>
              <a:t>=$C2&gt;1000</a:t>
            </a:r>
            <a:endParaRPr lang="en-US" sz="1000" dirty="0"/>
          </a:p>
        </p:txBody>
      </p:sp>
      <p:sp>
        <p:nvSpPr>
          <p:cNvPr id="29" name="Text 27"/>
          <p:cNvSpPr/>
          <p:nvPr/>
        </p:nvSpPr>
        <p:spPr>
          <a:xfrm>
            <a:off x="3429000" y="3108960"/>
            <a:ext cx="5303520" cy="256032"/>
          </a:xfrm>
          <a:prstGeom prst="rect">
            <a:avLst/>
          </a:prstGeom>
          <a:noFill/>
          <a:ln/>
        </p:spPr>
        <p:txBody>
          <a:bodyPr wrap="square" lIns="0" tIns="0" rIns="0" bIns="0" rtlCol="0" anchor="ctr"/>
          <a:lstStyle/>
          <a:p>
            <a:pPr marL="0" indent="0">
              <a:buNone/>
            </a:pPr>
            <a:r>
              <a:rPr lang="en-US" sz="1000" dirty="0">
                <a:solidFill>
                  <a:srgbClr val="1A2A22"/>
                </a:solidFill>
              </a:rPr>
              <a:t>Highlight entire row where column C exceeds 1,000</a:t>
            </a:r>
            <a:endParaRPr lang="en-US" sz="1000" dirty="0"/>
          </a:p>
        </p:txBody>
      </p:sp>
      <p:sp>
        <p:nvSpPr>
          <p:cNvPr id="30" name="Shape 28"/>
          <p:cNvSpPr/>
          <p:nvPr/>
        </p:nvSpPr>
        <p:spPr>
          <a:xfrm>
            <a:off x="274320" y="3465576"/>
            <a:ext cx="8595360" cy="347472"/>
          </a:xfrm>
          <a:prstGeom prst="roundRect">
            <a:avLst>
              <a:gd name="adj" fmla="val 13158"/>
            </a:avLst>
          </a:prstGeom>
          <a:solidFill>
            <a:srgbClr val="FFFFFF"/>
          </a:solidFill>
          <a:ln/>
        </p:spPr>
      </p:sp>
      <p:sp>
        <p:nvSpPr>
          <p:cNvPr id="31" name="Text 29"/>
          <p:cNvSpPr/>
          <p:nvPr/>
        </p:nvSpPr>
        <p:spPr>
          <a:xfrm>
            <a:off x="411480" y="3511296"/>
            <a:ext cx="2926080" cy="256032"/>
          </a:xfrm>
          <a:prstGeom prst="rect">
            <a:avLst/>
          </a:prstGeom>
          <a:noFill/>
          <a:ln/>
        </p:spPr>
        <p:txBody>
          <a:bodyPr wrap="square" lIns="0" tIns="0" rIns="0" bIns="0" rtlCol="0" anchor="ctr"/>
          <a:lstStyle/>
          <a:p>
            <a:pPr marL="0" indent="0">
              <a:buNone/>
            </a:pPr>
            <a:r>
              <a:rPr lang="en-US" sz="1000" b="1" dirty="0">
                <a:solidFill>
                  <a:srgbClr val="0A5C38"/>
                </a:solidFill>
                <a:latin typeface="Courier New" pitchFamily="34" charset="0"/>
                <a:ea typeface="Courier New" pitchFamily="34" charset="-122"/>
                <a:cs typeface="Courier New" pitchFamily="34" charset="-120"/>
              </a:rPr>
              <a:t>=TODAY()-$B2&gt;30</a:t>
            </a:r>
            <a:endParaRPr lang="en-US" sz="1000" dirty="0"/>
          </a:p>
        </p:txBody>
      </p:sp>
      <p:sp>
        <p:nvSpPr>
          <p:cNvPr id="32" name="Text 30"/>
          <p:cNvSpPr/>
          <p:nvPr/>
        </p:nvSpPr>
        <p:spPr>
          <a:xfrm>
            <a:off x="3429000" y="3511296"/>
            <a:ext cx="5303520" cy="256032"/>
          </a:xfrm>
          <a:prstGeom prst="rect">
            <a:avLst/>
          </a:prstGeom>
          <a:noFill/>
          <a:ln/>
        </p:spPr>
        <p:txBody>
          <a:bodyPr wrap="square" lIns="0" tIns="0" rIns="0" bIns="0" rtlCol="0" anchor="ctr"/>
          <a:lstStyle/>
          <a:p>
            <a:pPr marL="0" indent="0">
              <a:buNone/>
            </a:pPr>
            <a:r>
              <a:rPr lang="en-US" sz="1000" dirty="0">
                <a:solidFill>
                  <a:srgbClr val="1A2A22"/>
                </a:solidFill>
              </a:rPr>
              <a:t>Flag items overdue by more than 30 days</a:t>
            </a:r>
            <a:endParaRPr lang="en-US" sz="1000" dirty="0"/>
          </a:p>
        </p:txBody>
      </p:sp>
      <p:sp>
        <p:nvSpPr>
          <p:cNvPr id="33" name="Shape 31"/>
          <p:cNvSpPr/>
          <p:nvPr/>
        </p:nvSpPr>
        <p:spPr>
          <a:xfrm>
            <a:off x="274320" y="3867912"/>
            <a:ext cx="8595360" cy="347472"/>
          </a:xfrm>
          <a:prstGeom prst="roundRect">
            <a:avLst>
              <a:gd name="adj" fmla="val 13158"/>
            </a:avLst>
          </a:prstGeom>
          <a:solidFill>
            <a:srgbClr val="E8F5EE"/>
          </a:solidFill>
          <a:ln/>
        </p:spPr>
      </p:sp>
      <p:sp>
        <p:nvSpPr>
          <p:cNvPr id="34" name="Text 32"/>
          <p:cNvSpPr/>
          <p:nvPr/>
        </p:nvSpPr>
        <p:spPr>
          <a:xfrm>
            <a:off x="411480" y="3913632"/>
            <a:ext cx="2926080" cy="256032"/>
          </a:xfrm>
          <a:prstGeom prst="rect">
            <a:avLst/>
          </a:prstGeom>
          <a:noFill/>
          <a:ln/>
        </p:spPr>
        <p:txBody>
          <a:bodyPr wrap="square" lIns="0" tIns="0" rIns="0" bIns="0" rtlCol="0" anchor="ctr"/>
          <a:lstStyle/>
          <a:p>
            <a:pPr marL="0" indent="0">
              <a:buNone/>
            </a:pPr>
            <a:r>
              <a:rPr lang="en-US" sz="1000" b="1" dirty="0">
                <a:solidFill>
                  <a:srgbClr val="0A5C38"/>
                </a:solidFill>
                <a:latin typeface="Courier New" pitchFamily="34" charset="0"/>
                <a:ea typeface="Courier New" pitchFamily="34" charset="-122"/>
                <a:cs typeface="Courier New" pitchFamily="34" charset="-120"/>
              </a:rPr>
              <a:t>=AND($C2&gt;0,$D2="Pending")</a:t>
            </a:r>
            <a:endParaRPr lang="en-US" sz="1000" dirty="0"/>
          </a:p>
        </p:txBody>
      </p:sp>
      <p:sp>
        <p:nvSpPr>
          <p:cNvPr id="35" name="Text 33"/>
          <p:cNvSpPr/>
          <p:nvPr/>
        </p:nvSpPr>
        <p:spPr>
          <a:xfrm>
            <a:off x="3429000" y="3913632"/>
            <a:ext cx="5303520" cy="256032"/>
          </a:xfrm>
          <a:prstGeom prst="rect">
            <a:avLst/>
          </a:prstGeom>
          <a:noFill/>
          <a:ln/>
        </p:spPr>
        <p:txBody>
          <a:bodyPr wrap="square" lIns="0" tIns="0" rIns="0" bIns="0" rtlCol="0" anchor="ctr"/>
          <a:lstStyle/>
          <a:p>
            <a:pPr marL="0" indent="0">
              <a:buNone/>
            </a:pPr>
            <a:r>
              <a:rPr lang="en-US" sz="1000" dirty="0">
                <a:solidFill>
                  <a:srgbClr val="1A2A22"/>
                </a:solidFill>
              </a:rPr>
              <a:t>Highlight rows: sales &gt; 0 AND status is Pending</a:t>
            </a:r>
            <a:endParaRPr lang="en-US" sz="1000" dirty="0"/>
          </a:p>
        </p:txBody>
      </p:sp>
      <p:sp>
        <p:nvSpPr>
          <p:cNvPr id="36" name="Shape 34"/>
          <p:cNvSpPr/>
          <p:nvPr/>
        </p:nvSpPr>
        <p:spPr>
          <a:xfrm>
            <a:off x="274320" y="4270248"/>
            <a:ext cx="8595360" cy="347472"/>
          </a:xfrm>
          <a:prstGeom prst="roundRect">
            <a:avLst>
              <a:gd name="adj" fmla="val 13158"/>
            </a:avLst>
          </a:prstGeom>
          <a:solidFill>
            <a:srgbClr val="FFFFFF"/>
          </a:solidFill>
          <a:ln/>
        </p:spPr>
      </p:sp>
      <p:sp>
        <p:nvSpPr>
          <p:cNvPr id="37" name="Text 35"/>
          <p:cNvSpPr/>
          <p:nvPr/>
        </p:nvSpPr>
        <p:spPr>
          <a:xfrm>
            <a:off x="411480" y="4315968"/>
            <a:ext cx="2926080" cy="256032"/>
          </a:xfrm>
          <a:prstGeom prst="rect">
            <a:avLst/>
          </a:prstGeom>
          <a:noFill/>
          <a:ln/>
        </p:spPr>
        <p:txBody>
          <a:bodyPr wrap="square" lIns="0" tIns="0" rIns="0" bIns="0" rtlCol="0" anchor="ctr"/>
          <a:lstStyle/>
          <a:p>
            <a:pPr marL="0" indent="0">
              <a:buNone/>
            </a:pPr>
            <a:r>
              <a:rPr lang="en-US" sz="1000" b="1" dirty="0">
                <a:solidFill>
                  <a:srgbClr val="0A5C38"/>
                </a:solidFill>
                <a:latin typeface="Courier New" pitchFamily="34" charset="0"/>
                <a:ea typeface="Courier New" pitchFamily="34" charset="-122"/>
                <a:cs typeface="Courier New" pitchFamily="34" charset="-120"/>
              </a:rPr>
              <a:t>=MOD(ROW(),2)=0</a:t>
            </a:r>
            <a:endParaRPr lang="en-US" sz="1000" dirty="0"/>
          </a:p>
        </p:txBody>
      </p:sp>
      <p:sp>
        <p:nvSpPr>
          <p:cNvPr id="38" name="Text 36"/>
          <p:cNvSpPr/>
          <p:nvPr/>
        </p:nvSpPr>
        <p:spPr>
          <a:xfrm>
            <a:off x="3429000" y="4315968"/>
            <a:ext cx="5303520" cy="256032"/>
          </a:xfrm>
          <a:prstGeom prst="rect">
            <a:avLst/>
          </a:prstGeom>
          <a:noFill/>
          <a:ln/>
        </p:spPr>
        <p:txBody>
          <a:bodyPr wrap="square" lIns="0" tIns="0" rIns="0" bIns="0" rtlCol="0" anchor="ctr"/>
          <a:lstStyle/>
          <a:p>
            <a:pPr marL="0" indent="0">
              <a:buNone/>
            </a:pPr>
            <a:r>
              <a:rPr lang="en-US" sz="1000" dirty="0">
                <a:solidFill>
                  <a:srgbClr val="1A2A22"/>
                </a:solidFill>
              </a:rPr>
              <a:t>Alternate row shading for readability (zebra stripes)</a:t>
            </a:r>
            <a:endParaRPr lang="en-US" sz="1000" dirty="0"/>
          </a:p>
        </p:txBody>
      </p:sp>
      <p:sp>
        <p:nvSpPr>
          <p:cNvPr id="39" name="Shape 37"/>
          <p:cNvSpPr/>
          <p:nvPr/>
        </p:nvSpPr>
        <p:spPr>
          <a:xfrm>
            <a:off x="274320" y="4672584"/>
            <a:ext cx="8595360" cy="347472"/>
          </a:xfrm>
          <a:prstGeom prst="roundRect">
            <a:avLst>
              <a:gd name="adj" fmla="val 13158"/>
            </a:avLst>
          </a:prstGeom>
          <a:solidFill>
            <a:srgbClr val="E8F5EE"/>
          </a:solidFill>
          <a:ln/>
        </p:spPr>
      </p:sp>
      <p:sp>
        <p:nvSpPr>
          <p:cNvPr id="40" name="Text 38"/>
          <p:cNvSpPr/>
          <p:nvPr/>
        </p:nvSpPr>
        <p:spPr>
          <a:xfrm>
            <a:off x="411480" y="4718304"/>
            <a:ext cx="2926080" cy="256032"/>
          </a:xfrm>
          <a:prstGeom prst="rect">
            <a:avLst/>
          </a:prstGeom>
          <a:noFill/>
          <a:ln/>
        </p:spPr>
        <p:txBody>
          <a:bodyPr wrap="square" lIns="0" tIns="0" rIns="0" bIns="0" rtlCol="0" anchor="ctr"/>
          <a:lstStyle/>
          <a:p>
            <a:pPr marL="0" indent="0">
              <a:buNone/>
            </a:pPr>
            <a:r>
              <a:rPr lang="en-US" sz="1000" b="1" dirty="0">
                <a:solidFill>
                  <a:srgbClr val="0A5C38"/>
                </a:solidFill>
                <a:latin typeface="Courier New" pitchFamily="34" charset="0"/>
                <a:ea typeface="Courier New" pitchFamily="34" charset="-122"/>
                <a:cs typeface="Courier New" pitchFamily="34" charset="-120"/>
              </a:rPr>
              <a:t>=RANK($B2,$B$2:$B$100)&lt;=3</a:t>
            </a:r>
            <a:endParaRPr lang="en-US" sz="1000" dirty="0"/>
          </a:p>
        </p:txBody>
      </p:sp>
      <p:sp>
        <p:nvSpPr>
          <p:cNvPr id="41" name="Text 39"/>
          <p:cNvSpPr/>
          <p:nvPr/>
        </p:nvSpPr>
        <p:spPr>
          <a:xfrm>
            <a:off x="3429000" y="4718304"/>
            <a:ext cx="5303520" cy="256032"/>
          </a:xfrm>
          <a:prstGeom prst="rect">
            <a:avLst/>
          </a:prstGeom>
          <a:noFill/>
          <a:ln/>
        </p:spPr>
        <p:txBody>
          <a:bodyPr wrap="square" lIns="0" tIns="0" rIns="0" bIns="0" rtlCol="0" anchor="ctr"/>
          <a:lstStyle/>
          <a:p>
            <a:pPr marL="0" indent="0">
              <a:buNone/>
            </a:pPr>
            <a:r>
              <a:rPr lang="en-US" sz="1000" dirty="0">
                <a:solidFill>
                  <a:srgbClr val="1A2A22"/>
                </a:solidFill>
              </a:rPr>
              <a:t>Highlight the top 3 performers in column B</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7A4D"/>
          </a:solidFill>
          <a:ln/>
        </p:spPr>
      </p:sp>
      <p:sp>
        <p:nvSpPr>
          <p:cNvPr id="3" name="Text 1"/>
          <p:cNvSpPr/>
          <p:nvPr/>
        </p:nvSpPr>
        <p:spPr>
          <a:xfrm>
            <a:off x="274320" y="91440"/>
            <a:ext cx="731520" cy="365760"/>
          </a:xfrm>
          <a:prstGeom prst="rect">
            <a:avLst/>
          </a:prstGeom>
          <a:noFill/>
          <a:ln/>
        </p:spPr>
        <p:txBody>
          <a:bodyPr wrap="square" lIns="0" tIns="0" rIns="0" bIns="0" rtlCol="0" anchor="ctr"/>
          <a:lstStyle/>
          <a:p>
            <a:pPr marL="0" indent="0">
              <a:buNone/>
            </a:pPr>
            <a:r>
              <a:rPr lang="en-US" sz="1100" b="1" dirty="0">
                <a:solidFill>
                  <a:srgbClr val="A8D5BA"/>
                </a:solidFill>
              </a:rPr>
              <a:t>04</a:t>
            </a:r>
            <a:endParaRPr lang="en-US" sz="1100" dirty="0"/>
          </a:p>
        </p:txBody>
      </p:sp>
      <p:sp>
        <p:nvSpPr>
          <p:cNvPr id="4" name="Text 2"/>
          <p:cNvSpPr/>
          <p:nvPr/>
        </p:nvSpPr>
        <p:spPr>
          <a:xfrm>
            <a:off x="407963" y="239151"/>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Lookup Functions Ecosystem</a:t>
            </a:r>
            <a:endParaRPr lang="en-US" sz="2200" dirty="0"/>
          </a:p>
        </p:txBody>
      </p:sp>
      <p:sp>
        <p:nvSpPr>
          <p:cNvPr id="5" name="Text 3"/>
          <p:cNvSpPr/>
          <p:nvPr/>
        </p:nvSpPr>
        <p:spPr>
          <a:xfrm>
            <a:off x="443132" y="629529"/>
            <a:ext cx="8229600" cy="228600"/>
          </a:xfrm>
          <a:prstGeom prst="rect">
            <a:avLst/>
          </a:prstGeom>
          <a:noFill/>
          <a:ln/>
        </p:spPr>
        <p:txBody>
          <a:bodyPr wrap="square" lIns="0" tIns="0" rIns="0" bIns="0" rtlCol="0" anchor="ctr"/>
          <a:lstStyle/>
          <a:p>
            <a:pPr marL="0" indent="0">
              <a:buNone/>
            </a:pPr>
            <a:r>
              <a:rPr lang="en-US" sz="1000" dirty="0">
                <a:solidFill>
                  <a:srgbClr val="A8D5BA"/>
                </a:solidFill>
              </a:rPr>
              <a:t>Find, retrieve, and cross-reference data across spreadsheets</a:t>
            </a:r>
            <a:endParaRPr lang="en-US" sz="1000" dirty="0"/>
          </a:p>
        </p:txBody>
      </p:sp>
      <p:sp>
        <p:nvSpPr>
          <p:cNvPr id="6" name="Shape 4"/>
          <p:cNvSpPr/>
          <p:nvPr/>
        </p:nvSpPr>
        <p:spPr>
          <a:xfrm>
            <a:off x="3566160" y="1645920"/>
            <a:ext cx="2011680" cy="2011680"/>
          </a:xfrm>
          <a:prstGeom prst="ellipse">
            <a:avLst/>
          </a:prstGeom>
          <a:solidFill>
            <a:srgbClr val="1B7A4D"/>
          </a:solidFill>
          <a:ln/>
        </p:spPr>
      </p:sp>
      <p:sp>
        <p:nvSpPr>
          <p:cNvPr id="7" name="Text 5"/>
          <p:cNvSpPr/>
          <p:nvPr/>
        </p:nvSpPr>
        <p:spPr>
          <a:xfrm>
            <a:off x="3566160" y="1645920"/>
            <a:ext cx="2011680" cy="2011680"/>
          </a:xfrm>
          <a:prstGeom prst="rect">
            <a:avLst/>
          </a:prstGeom>
          <a:noFill/>
          <a:ln/>
        </p:spPr>
        <p:txBody>
          <a:bodyPr wrap="square" rtlCol="0" anchor="ctr"/>
          <a:lstStyle/>
          <a:p>
            <a:pPr marL="0" indent="0" algn="ctr">
              <a:buNone/>
            </a:pPr>
            <a:r>
              <a:rPr lang="en-US" sz="1300" b="1" dirty="0">
                <a:solidFill>
                  <a:srgbClr val="FFFFFF"/>
                </a:solidFill>
              </a:rPr>
              <a:t>LOOKUP</a:t>
            </a:r>
            <a:endParaRPr lang="en-US" sz="1300" dirty="0"/>
          </a:p>
          <a:p>
            <a:pPr marL="0" indent="0" algn="ctr">
              <a:buNone/>
            </a:pPr>
            <a:r>
              <a:rPr lang="en-US" sz="1300" b="1" dirty="0">
                <a:solidFill>
                  <a:srgbClr val="FFFFFF"/>
                </a:solidFill>
              </a:rPr>
              <a:t>FUNCTIONS</a:t>
            </a:r>
            <a:endParaRPr lang="en-US" sz="1300" dirty="0"/>
          </a:p>
        </p:txBody>
      </p:sp>
      <p:sp>
        <p:nvSpPr>
          <p:cNvPr id="8" name="Shape 6"/>
          <p:cNvSpPr/>
          <p:nvPr/>
        </p:nvSpPr>
        <p:spPr>
          <a:xfrm>
            <a:off x="1097280" y="914400"/>
            <a:ext cx="2011680" cy="960120"/>
          </a:xfrm>
          <a:prstGeom prst="roundRect">
            <a:avLst>
              <a:gd name="adj" fmla="val 9524"/>
            </a:avLst>
          </a:prstGeom>
          <a:solidFill>
            <a:srgbClr val="1B7A4D"/>
          </a:solidFill>
          <a:ln/>
          <a:effectLst>
            <a:outerShdw blurRad="101600" dist="38100" dir="2700000" algn="bl" rotWithShape="0">
              <a:srgbClr val="000000">
                <a:alpha val="10000"/>
              </a:srgbClr>
            </a:outerShdw>
          </a:effectLst>
        </p:spPr>
      </p:sp>
      <p:sp>
        <p:nvSpPr>
          <p:cNvPr id="9" name="Text 7"/>
          <p:cNvSpPr/>
          <p:nvPr/>
        </p:nvSpPr>
        <p:spPr>
          <a:xfrm>
            <a:off x="1097280" y="987552"/>
            <a:ext cx="2011680" cy="320040"/>
          </a:xfrm>
          <a:prstGeom prst="rect">
            <a:avLst/>
          </a:prstGeom>
          <a:noFill/>
          <a:ln/>
        </p:spPr>
        <p:txBody>
          <a:bodyPr wrap="square" lIns="0" tIns="0" rIns="0" bIns="0" rtlCol="0" anchor="ctr"/>
          <a:lstStyle/>
          <a:p>
            <a:pPr marL="0" indent="0" algn="ctr">
              <a:buNone/>
            </a:pPr>
            <a:r>
              <a:rPr lang="en-US" sz="1200" b="1" dirty="0">
                <a:solidFill>
                  <a:srgbClr val="FFFFFF"/>
                </a:solidFill>
              </a:rPr>
              <a:t>VLOOKUP</a:t>
            </a:r>
            <a:endParaRPr lang="en-US" sz="1200" dirty="0"/>
          </a:p>
        </p:txBody>
      </p:sp>
      <p:sp>
        <p:nvSpPr>
          <p:cNvPr id="10" name="Text 8"/>
          <p:cNvSpPr/>
          <p:nvPr/>
        </p:nvSpPr>
        <p:spPr>
          <a:xfrm>
            <a:off x="1097280" y="1316736"/>
            <a:ext cx="2011680" cy="457200"/>
          </a:xfrm>
          <a:prstGeom prst="rect">
            <a:avLst/>
          </a:prstGeom>
          <a:noFill/>
          <a:ln/>
        </p:spPr>
        <p:txBody>
          <a:bodyPr wrap="square" lIns="0" tIns="0" rIns="0" bIns="0" rtlCol="0" anchor="ctr"/>
          <a:lstStyle/>
          <a:p>
            <a:pPr marL="0" indent="0" algn="ctr">
              <a:buNone/>
            </a:pPr>
            <a:r>
              <a:rPr lang="en-US" sz="900" dirty="0">
                <a:solidFill>
                  <a:srgbClr val="D4EDD9"/>
                </a:solidFill>
              </a:rPr>
              <a:t>Vertical search</a:t>
            </a:r>
            <a:endParaRPr lang="en-US" sz="900" dirty="0"/>
          </a:p>
          <a:p>
            <a:pPr marL="0" indent="0" algn="ctr">
              <a:buNone/>
            </a:pPr>
            <a:r>
              <a:rPr lang="en-US" sz="900" dirty="0">
                <a:solidFill>
                  <a:srgbClr val="D4EDD9"/>
                </a:solidFill>
              </a:rPr>
              <a:t>down columns</a:t>
            </a:r>
            <a:endParaRPr lang="en-US" sz="900" dirty="0"/>
          </a:p>
        </p:txBody>
      </p:sp>
      <p:sp>
        <p:nvSpPr>
          <p:cNvPr id="11" name="Shape 9"/>
          <p:cNvSpPr/>
          <p:nvPr/>
        </p:nvSpPr>
        <p:spPr>
          <a:xfrm>
            <a:off x="5943600" y="914400"/>
            <a:ext cx="2011680" cy="960120"/>
          </a:xfrm>
          <a:prstGeom prst="roundRect">
            <a:avLst>
              <a:gd name="adj" fmla="val 9524"/>
            </a:avLst>
          </a:prstGeom>
          <a:solidFill>
            <a:srgbClr val="1B7A4D"/>
          </a:solidFill>
          <a:ln/>
          <a:effectLst>
            <a:outerShdw blurRad="101600" dist="38100" dir="2700000" algn="bl" rotWithShape="0">
              <a:srgbClr val="000000">
                <a:alpha val="10000"/>
              </a:srgbClr>
            </a:outerShdw>
          </a:effectLst>
        </p:spPr>
      </p:sp>
      <p:sp>
        <p:nvSpPr>
          <p:cNvPr id="12" name="Text 10"/>
          <p:cNvSpPr/>
          <p:nvPr/>
        </p:nvSpPr>
        <p:spPr>
          <a:xfrm>
            <a:off x="5943600" y="987552"/>
            <a:ext cx="2011680" cy="320040"/>
          </a:xfrm>
          <a:prstGeom prst="rect">
            <a:avLst/>
          </a:prstGeom>
          <a:noFill/>
          <a:ln/>
        </p:spPr>
        <p:txBody>
          <a:bodyPr wrap="square" lIns="0" tIns="0" rIns="0" bIns="0" rtlCol="0" anchor="ctr"/>
          <a:lstStyle/>
          <a:p>
            <a:pPr marL="0" indent="0" algn="ctr">
              <a:buNone/>
            </a:pPr>
            <a:r>
              <a:rPr lang="en-US" sz="1200" b="1" dirty="0">
                <a:solidFill>
                  <a:srgbClr val="FFFFFF"/>
                </a:solidFill>
              </a:rPr>
              <a:t>HLOOKUP</a:t>
            </a:r>
            <a:endParaRPr lang="en-US" sz="1200" dirty="0"/>
          </a:p>
        </p:txBody>
      </p:sp>
      <p:sp>
        <p:nvSpPr>
          <p:cNvPr id="13" name="Text 11"/>
          <p:cNvSpPr/>
          <p:nvPr/>
        </p:nvSpPr>
        <p:spPr>
          <a:xfrm>
            <a:off x="5943600" y="1316736"/>
            <a:ext cx="2011680" cy="457200"/>
          </a:xfrm>
          <a:prstGeom prst="rect">
            <a:avLst/>
          </a:prstGeom>
          <a:noFill/>
          <a:ln/>
        </p:spPr>
        <p:txBody>
          <a:bodyPr wrap="square" lIns="0" tIns="0" rIns="0" bIns="0" rtlCol="0" anchor="ctr"/>
          <a:lstStyle/>
          <a:p>
            <a:pPr marL="0" indent="0" algn="ctr">
              <a:buNone/>
            </a:pPr>
            <a:r>
              <a:rPr lang="en-US" sz="900" dirty="0">
                <a:solidFill>
                  <a:srgbClr val="D4EDD9"/>
                </a:solidFill>
              </a:rPr>
              <a:t>Horizontal search</a:t>
            </a:r>
            <a:endParaRPr lang="en-US" sz="900" dirty="0"/>
          </a:p>
          <a:p>
            <a:pPr marL="0" indent="0" algn="ctr">
              <a:buNone/>
            </a:pPr>
            <a:r>
              <a:rPr lang="en-US" sz="900" dirty="0">
                <a:solidFill>
                  <a:srgbClr val="D4EDD9"/>
                </a:solidFill>
              </a:rPr>
              <a:t>across rows</a:t>
            </a:r>
            <a:endParaRPr lang="en-US" sz="900" dirty="0"/>
          </a:p>
        </p:txBody>
      </p:sp>
      <p:sp>
        <p:nvSpPr>
          <p:cNvPr id="14" name="Shape 12"/>
          <p:cNvSpPr/>
          <p:nvPr/>
        </p:nvSpPr>
        <p:spPr>
          <a:xfrm>
            <a:off x="274320" y="2606040"/>
            <a:ext cx="2011680" cy="960120"/>
          </a:xfrm>
          <a:prstGeom prst="roundRect">
            <a:avLst>
              <a:gd name="adj" fmla="val 9524"/>
            </a:avLst>
          </a:prstGeom>
          <a:solidFill>
            <a:srgbClr val="2EAD6C"/>
          </a:solidFill>
          <a:ln/>
          <a:effectLst>
            <a:outerShdw blurRad="101600" dist="38100" dir="2700000" algn="bl" rotWithShape="0">
              <a:srgbClr val="000000">
                <a:alpha val="10000"/>
              </a:srgbClr>
            </a:outerShdw>
          </a:effectLst>
        </p:spPr>
      </p:sp>
      <p:sp>
        <p:nvSpPr>
          <p:cNvPr id="15" name="Text 13"/>
          <p:cNvSpPr/>
          <p:nvPr/>
        </p:nvSpPr>
        <p:spPr>
          <a:xfrm>
            <a:off x="274320" y="2679192"/>
            <a:ext cx="2011680" cy="320040"/>
          </a:xfrm>
          <a:prstGeom prst="rect">
            <a:avLst/>
          </a:prstGeom>
          <a:noFill/>
          <a:ln/>
        </p:spPr>
        <p:txBody>
          <a:bodyPr wrap="square" lIns="0" tIns="0" rIns="0" bIns="0" rtlCol="0" anchor="ctr"/>
          <a:lstStyle/>
          <a:p>
            <a:pPr marL="0" indent="0" algn="ctr">
              <a:buNone/>
            </a:pPr>
            <a:r>
              <a:rPr lang="en-US" sz="1200" b="1" dirty="0">
                <a:solidFill>
                  <a:srgbClr val="FFFFFF"/>
                </a:solidFill>
              </a:rPr>
              <a:t>INDEX</a:t>
            </a:r>
            <a:endParaRPr lang="en-US" sz="1200" dirty="0"/>
          </a:p>
        </p:txBody>
      </p:sp>
      <p:sp>
        <p:nvSpPr>
          <p:cNvPr id="16" name="Text 14"/>
          <p:cNvSpPr/>
          <p:nvPr/>
        </p:nvSpPr>
        <p:spPr>
          <a:xfrm>
            <a:off x="274320" y="3008376"/>
            <a:ext cx="2011680" cy="457200"/>
          </a:xfrm>
          <a:prstGeom prst="rect">
            <a:avLst/>
          </a:prstGeom>
          <a:noFill/>
          <a:ln/>
        </p:spPr>
        <p:txBody>
          <a:bodyPr wrap="square" lIns="0" tIns="0" rIns="0" bIns="0" rtlCol="0" anchor="ctr"/>
          <a:lstStyle/>
          <a:p>
            <a:pPr marL="0" indent="0" algn="ctr">
              <a:buNone/>
            </a:pPr>
            <a:r>
              <a:rPr lang="en-US" sz="900" dirty="0">
                <a:solidFill>
                  <a:srgbClr val="D4EDD9"/>
                </a:solidFill>
              </a:rPr>
              <a:t>Return value at</a:t>
            </a:r>
            <a:endParaRPr lang="en-US" sz="900" dirty="0"/>
          </a:p>
          <a:p>
            <a:pPr marL="0" indent="0" algn="ctr">
              <a:buNone/>
            </a:pPr>
            <a:r>
              <a:rPr lang="en-US" sz="900" dirty="0">
                <a:solidFill>
                  <a:srgbClr val="D4EDD9"/>
                </a:solidFill>
              </a:rPr>
              <a:t>row/col position</a:t>
            </a:r>
            <a:endParaRPr lang="en-US" sz="900" dirty="0"/>
          </a:p>
        </p:txBody>
      </p:sp>
      <p:sp>
        <p:nvSpPr>
          <p:cNvPr id="17" name="Shape 15"/>
          <p:cNvSpPr/>
          <p:nvPr/>
        </p:nvSpPr>
        <p:spPr>
          <a:xfrm>
            <a:off x="6675120" y="2606040"/>
            <a:ext cx="2011680" cy="960120"/>
          </a:xfrm>
          <a:prstGeom prst="roundRect">
            <a:avLst>
              <a:gd name="adj" fmla="val 9524"/>
            </a:avLst>
          </a:prstGeom>
          <a:solidFill>
            <a:srgbClr val="2EAD6C"/>
          </a:solidFill>
          <a:ln/>
          <a:effectLst>
            <a:outerShdw blurRad="101600" dist="38100" dir="2700000" algn="bl" rotWithShape="0">
              <a:srgbClr val="000000">
                <a:alpha val="10000"/>
              </a:srgbClr>
            </a:outerShdw>
          </a:effectLst>
        </p:spPr>
      </p:sp>
      <p:sp>
        <p:nvSpPr>
          <p:cNvPr id="18" name="Text 16"/>
          <p:cNvSpPr/>
          <p:nvPr/>
        </p:nvSpPr>
        <p:spPr>
          <a:xfrm>
            <a:off x="6675120" y="2679192"/>
            <a:ext cx="2011680" cy="320040"/>
          </a:xfrm>
          <a:prstGeom prst="rect">
            <a:avLst/>
          </a:prstGeom>
          <a:noFill/>
          <a:ln/>
        </p:spPr>
        <p:txBody>
          <a:bodyPr wrap="square" lIns="0" tIns="0" rIns="0" bIns="0" rtlCol="0" anchor="ctr"/>
          <a:lstStyle/>
          <a:p>
            <a:pPr marL="0" indent="0" algn="ctr">
              <a:buNone/>
            </a:pPr>
            <a:r>
              <a:rPr lang="en-US" sz="1200" b="1" dirty="0">
                <a:solidFill>
                  <a:srgbClr val="FFFFFF"/>
                </a:solidFill>
              </a:rPr>
              <a:t>MATCH</a:t>
            </a:r>
            <a:endParaRPr lang="en-US" sz="1200" dirty="0"/>
          </a:p>
        </p:txBody>
      </p:sp>
      <p:sp>
        <p:nvSpPr>
          <p:cNvPr id="19" name="Text 17"/>
          <p:cNvSpPr/>
          <p:nvPr/>
        </p:nvSpPr>
        <p:spPr>
          <a:xfrm>
            <a:off x="6675120" y="3008376"/>
            <a:ext cx="2011680" cy="457200"/>
          </a:xfrm>
          <a:prstGeom prst="rect">
            <a:avLst/>
          </a:prstGeom>
          <a:noFill/>
          <a:ln/>
        </p:spPr>
        <p:txBody>
          <a:bodyPr wrap="square" lIns="0" tIns="0" rIns="0" bIns="0" rtlCol="0" anchor="ctr"/>
          <a:lstStyle/>
          <a:p>
            <a:pPr marL="0" indent="0" algn="ctr">
              <a:buNone/>
            </a:pPr>
            <a:r>
              <a:rPr lang="en-US" sz="900" dirty="0">
                <a:solidFill>
                  <a:srgbClr val="D4EDD9"/>
                </a:solidFill>
              </a:rPr>
              <a:t>Find position</a:t>
            </a:r>
            <a:endParaRPr lang="en-US" sz="900" dirty="0"/>
          </a:p>
          <a:p>
            <a:pPr marL="0" indent="0" algn="ctr">
              <a:buNone/>
            </a:pPr>
            <a:r>
              <a:rPr lang="en-US" sz="900" dirty="0">
                <a:solidFill>
                  <a:srgbClr val="D4EDD9"/>
                </a:solidFill>
              </a:rPr>
              <a:t>of a value</a:t>
            </a:r>
            <a:endParaRPr lang="en-US" sz="900" dirty="0"/>
          </a:p>
        </p:txBody>
      </p:sp>
      <p:sp>
        <p:nvSpPr>
          <p:cNvPr id="20" name="Shape 18"/>
          <p:cNvSpPr/>
          <p:nvPr/>
        </p:nvSpPr>
        <p:spPr>
          <a:xfrm>
            <a:off x="1097280" y="4114800"/>
            <a:ext cx="2011680" cy="960120"/>
          </a:xfrm>
          <a:prstGeom prst="roundRect">
            <a:avLst>
              <a:gd name="adj" fmla="val 9524"/>
            </a:avLst>
          </a:prstGeom>
          <a:solidFill>
            <a:srgbClr val="0A5C38"/>
          </a:solidFill>
          <a:ln/>
          <a:effectLst>
            <a:outerShdw blurRad="101600" dist="38100" dir="2700000" algn="bl" rotWithShape="0">
              <a:srgbClr val="000000">
                <a:alpha val="10000"/>
              </a:srgbClr>
            </a:outerShdw>
          </a:effectLst>
        </p:spPr>
      </p:sp>
      <p:sp>
        <p:nvSpPr>
          <p:cNvPr id="21" name="Text 19"/>
          <p:cNvSpPr/>
          <p:nvPr/>
        </p:nvSpPr>
        <p:spPr>
          <a:xfrm>
            <a:off x="1097280" y="4187952"/>
            <a:ext cx="2011680" cy="320040"/>
          </a:xfrm>
          <a:prstGeom prst="rect">
            <a:avLst/>
          </a:prstGeom>
          <a:noFill/>
          <a:ln/>
        </p:spPr>
        <p:txBody>
          <a:bodyPr wrap="square" lIns="0" tIns="0" rIns="0" bIns="0" rtlCol="0" anchor="ctr"/>
          <a:lstStyle/>
          <a:p>
            <a:pPr marL="0" indent="0" algn="ctr">
              <a:buNone/>
            </a:pPr>
            <a:r>
              <a:rPr lang="en-US" sz="1200" b="1" dirty="0">
                <a:solidFill>
                  <a:srgbClr val="FFFFFF"/>
                </a:solidFill>
              </a:rPr>
              <a:t>INDEX+MATCH</a:t>
            </a:r>
            <a:endParaRPr lang="en-US" sz="1200" dirty="0"/>
          </a:p>
        </p:txBody>
      </p:sp>
      <p:sp>
        <p:nvSpPr>
          <p:cNvPr id="22" name="Text 20"/>
          <p:cNvSpPr/>
          <p:nvPr/>
        </p:nvSpPr>
        <p:spPr>
          <a:xfrm>
            <a:off x="1097280" y="4517136"/>
            <a:ext cx="2011680" cy="457200"/>
          </a:xfrm>
          <a:prstGeom prst="rect">
            <a:avLst/>
          </a:prstGeom>
          <a:noFill/>
          <a:ln/>
        </p:spPr>
        <p:txBody>
          <a:bodyPr wrap="square" lIns="0" tIns="0" rIns="0" bIns="0" rtlCol="0" anchor="ctr"/>
          <a:lstStyle/>
          <a:p>
            <a:pPr marL="0" indent="0" algn="ctr">
              <a:buNone/>
            </a:pPr>
            <a:r>
              <a:rPr lang="en-US" sz="900" dirty="0">
                <a:solidFill>
                  <a:srgbClr val="D4EDD9"/>
                </a:solidFill>
              </a:rPr>
              <a:t>Power combo:</a:t>
            </a:r>
            <a:endParaRPr lang="en-US" sz="900" dirty="0"/>
          </a:p>
          <a:p>
            <a:pPr marL="0" indent="0" algn="ctr">
              <a:buNone/>
            </a:pPr>
            <a:r>
              <a:rPr lang="en-US" sz="900" dirty="0">
                <a:solidFill>
                  <a:srgbClr val="D4EDD9"/>
                </a:solidFill>
              </a:rPr>
              <a:t>most flexible</a:t>
            </a:r>
            <a:endParaRPr lang="en-US" sz="900" dirty="0"/>
          </a:p>
        </p:txBody>
      </p:sp>
      <p:sp>
        <p:nvSpPr>
          <p:cNvPr id="23" name="Shape 21"/>
          <p:cNvSpPr/>
          <p:nvPr/>
        </p:nvSpPr>
        <p:spPr>
          <a:xfrm>
            <a:off x="5760720" y="4114800"/>
            <a:ext cx="2011680" cy="960120"/>
          </a:xfrm>
          <a:prstGeom prst="roundRect">
            <a:avLst>
              <a:gd name="adj" fmla="val 9524"/>
            </a:avLst>
          </a:prstGeom>
          <a:solidFill>
            <a:srgbClr val="0A5C38"/>
          </a:solidFill>
          <a:ln/>
          <a:effectLst>
            <a:outerShdw blurRad="101600" dist="38100" dir="2700000" algn="bl" rotWithShape="0">
              <a:srgbClr val="000000">
                <a:alpha val="10000"/>
              </a:srgbClr>
            </a:outerShdw>
          </a:effectLst>
        </p:spPr>
      </p:sp>
      <p:sp>
        <p:nvSpPr>
          <p:cNvPr id="24" name="Text 22"/>
          <p:cNvSpPr/>
          <p:nvPr/>
        </p:nvSpPr>
        <p:spPr>
          <a:xfrm>
            <a:off x="5760720" y="4187952"/>
            <a:ext cx="2011680" cy="320040"/>
          </a:xfrm>
          <a:prstGeom prst="rect">
            <a:avLst/>
          </a:prstGeom>
          <a:noFill/>
          <a:ln/>
        </p:spPr>
        <p:txBody>
          <a:bodyPr wrap="square" lIns="0" tIns="0" rIns="0" bIns="0" rtlCol="0" anchor="ctr"/>
          <a:lstStyle/>
          <a:p>
            <a:pPr marL="0" indent="0" algn="ctr">
              <a:buNone/>
            </a:pPr>
            <a:r>
              <a:rPr lang="en-US" sz="1200" b="1" dirty="0">
                <a:solidFill>
                  <a:srgbClr val="FFFFFF"/>
                </a:solidFill>
              </a:rPr>
              <a:t>XLOOKUP</a:t>
            </a:r>
            <a:endParaRPr lang="en-US" sz="1200" dirty="0"/>
          </a:p>
        </p:txBody>
      </p:sp>
      <p:sp>
        <p:nvSpPr>
          <p:cNvPr id="25" name="Text 23"/>
          <p:cNvSpPr/>
          <p:nvPr/>
        </p:nvSpPr>
        <p:spPr>
          <a:xfrm>
            <a:off x="5760720" y="4517136"/>
            <a:ext cx="2011680" cy="457200"/>
          </a:xfrm>
          <a:prstGeom prst="rect">
            <a:avLst/>
          </a:prstGeom>
          <a:noFill/>
          <a:ln/>
        </p:spPr>
        <p:txBody>
          <a:bodyPr wrap="square" lIns="0" tIns="0" rIns="0" bIns="0" rtlCol="0" anchor="ctr"/>
          <a:lstStyle/>
          <a:p>
            <a:pPr marL="0" indent="0" algn="ctr">
              <a:buNone/>
            </a:pPr>
            <a:r>
              <a:rPr lang="en-US" sz="900" dirty="0">
                <a:solidFill>
                  <a:srgbClr val="D4EDD9"/>
                </a:solidFill>
              </a:rPr>
              <a:t>Modern standard</a:t>
            </a:r>
            <a:endParaRPr lang="en-US" sz="900" dirty="0"/>
          </a:p>
          <a:p>
            <a:pPr marL="0" indent="0" algn="ctr">
              <a:buNone/>
            </a:pPr>
            <a:r>
              <a:rPr lang="en-US" sz="900" dirty="0">
                <a:solidFill>
                  <a:srgbClr val="D4EDD9"/>
                </a:solidFill>
              </a:rPr>
              <a:t>Excel 365+</a:t>
            </a:r>
            <a:endParaRPr lang="en-US" sz="900" dirty="0"/>
          </a:p>
        </p:txBody>
      </p:sp>
      <p:sp>
        <p:nvSpPr>
          <p:cNvPr id="27" name="Text 25"/>
          <p:cNvSpPr/>
          <p:nvPr/>
        </p:nvSpPr>
        <p:spPr>
          <a:xfrm>
            <a:off x="3186332" y="4820294"/>
            <a:ext cx="2574388" cy="274320"/>
          </a:xfrm>
          <a:prstGeom prst="rect">
            <a:avLst/>
          </a:prstGeom>
          <a:noFill/>
          <a:ln/>
        </p:spPr>
        <p:txBody>
          <a:bodyPr wrap="square" rtlCol="0" anchor="ctr"/>
          <a:lstStyle/>
          <a:p>
            <a:pPr marL="0" indent="0">
              <a:buNone/>
            </a:pPr>
            <a:r>
              <a:rPr lang="en-US" sz="1000" b="1" dirty="0">
                <a:solidFill>
                  <a:srgbClr val="1B7A4D"/>
                </a:solidFill>
              </a:rPr>
              <a:t>■ </a:t>
            </a:r>
            <a:r>
              <a:rPr lang="en-US" sz="1000" dirty="0">
                <a:solidFill>
                  <a:srgbClr val="1A2A22"/>
                </a:solidFill>
              </a:rPr>
              <a:t>Classic  </a:t>
            </a:r>
            <a:r>
              <a:rPr lang="en-US" sz="1000" b="1" dirty="0">
                <a:solidFill>
                  <a:srgbClr val="2EAD6C"/>
                </a:solidFill>
              </a:rPr>
              <a:t>■ </a:t>
            </a:r>
            <a:r>
              <a:rPr lang="en-US" sz="1000" dirty="0">
                <a:solidFill>
                  <a:srgbClr val="1A2A22"/>
                </a:solidFill>
              </a:rPr>
              <a:t>Positional  </a:t>
            </a:r>
            <a:r>
              <a:rPr lang="en-US" sz="1000" b="1" dirty="0">
                <a:solidFill>
                  <a:srgbClr val="0A5C38"/>
                </a:solidFill>
              </a:rPr>
              <a:t>■ </a:t>
            </a:r>
            <a:r>
              <a:rPr lang="en-US" sz="1000" dirty="0">
                <a:solidFill>
                  <a:srgbClr val="1A2A22"/>
                </a:solidFill>
              </a:rPr>
              <a:t>Advanced / Modern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7A4D"/>
          </a:solidFill>
          <a:ln/>
        </p:spPr>
      </p:sp>
      <p:sp>
        <p:nvSpPr>
          <p:cNvPr id="3" name="Text 1"/>
          <p:cNvSpPr/>
          <p:nvPr/>
        </p:nvSpPr>
        <p:spPr>
          <a:xfrm>
            <a:off x="274320" y="91440"/>
            <a:ext cx="731520" cy="365760"/>
          </a:xfrm>
          <a:prstGeom prst="rect">
            <a:avLst/>
          </a:prstGeom>
          <a:noFill/>
          <a:ln/>
        </p:spPr>
        <p:txBody>
          <a:bodyPr wrap="square" lIns="0" tIns="0" rIns="0" bIns="0" rtlCol="0" anchor="ctr"/>
          <a:lstStyle/>
          <a:p>
            <a:pPr marL="0" indent="0">
              <a:buNone/>
            </a:pPr>
            <a:r>
              <a:rPr lang="en-US" sz="1100" b="1" dirty="0">
                <a:solidFill>
                  <a:srgbClr val="A8D5BA"/>
                </a:solidFill>
              </a:rPr>
              <a:t>05</a:t>
            </a:r>
            <a:endParaRPr lang="en-US" sz="1100" dirty="0"/>
          </a:p>
        </p:txBody>
      </p:sp>
      <p:sp>
        <p:nvSpPr>
          <p:cNvPr id="4" name="Text 2"/>
          <p:cNvSpPr/>
          <p:nvPr/>
        </p:nvSpPr>
        <p:spPr>
          <a:xfrm>
            <a:off x="274320" y="41148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VLOOKUP — Vertical Lookup</a:t>
            </a:r>
            <a:endParaRPr lang="en-US" sz="2200" dirty="0"/>
          </a:p>
        </p:txBody>
      </p:sp>
      <p:sp>
        <p:nvSpPr>
          <p:cNvPr id="5" name="Text 3"/>
          <p:cNvSpPr/>
          <p:nvPr/>
        </p:nvSpPr>
        <p:spPr>
          <a:xfrm>
            <a:off x="274320" y="769854"/>
            <a:ext cx="8229600" cy="228600"/>
          </a:xfrm>
          <a:prstGeom prst="rect">
            <a:avLst/>
          </a:prstGeom>
          <a:noFill/>
          <a:ln/>
        </p:spPr>
        <p:txBody>
          <a:bodyPr wrap="square" lIns="0" tIns="0" rIns="0" bIns="0" rtlCol="0" anchor="ctr"/>
          <a:lstStyle/>
          <a:p>
            <a:pPr marL="0" indent="0">
              <a:buNone/>
            </a:pPr>
            <a:r>
              <a:rPr lang="en-US" sz="1000" dirty="0">
                <a:solidFill>
                  <a:srgbClr val="A8D5BA"/>
                </a:solidFill>
              </a:rPr>
              <a:t>Search down a column and return a value from the same row</a:t>
            </a:r>
            <a:endParaRPr lang="en-US" sz="1000" dirty="0"/>
          </a:p>
        </p:txBody>
      </p:sp>
      <p:sp>
        <p:nvSpPr>
          <p:cNvPr id="6" name="Shape 4"/>
          <p:cNvSpPr/>
          <p:nvPr/>
        </p:nvSpPr>
        <p:spPr>
          <a:xfrm>
            <a:off x="274320" y="1097280"/>
            <a:ext cx="8595360" cy="566928"/>
          </a:xfrm>
          <a:prstGeom prst="roundRect">
            <a:avLst>
              <a:gd name="adj" fmla="val 12903"/>
            </a:avLst>
          </a:prstGeom>
          <a:solidFill>
            <a:srgbClr val="0A5C38"/>
          </a:solidFill>
          <a:ln/>
        </p:spPr>
      </p:sp>
      <p:sp>
        <p:nvSpPr>
          <p:cNvPr id="7" name="Text 5"/>
          <p:cNvSpPr/>
          <p:nvPr/>
        </p:nvSpPr>
        <p:spPr>
          <a:xfrm>
            <a:off x="457200" y="1143000"/>
            <a:ext cx="8229600" cy="475488"/>
          </a:xfrm>
          <a:prstGeom prst="rect">
            <a:avLst/>
          </a:prstGeom>
          <a:noFill/>
          <a:ln/>
        </p:spPr>
        <p:txBody>
          <a:bodyPr wrap="square"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=VLOOKUP(lookup_value,  table_array,  col_index_num,  [range_lookup])</a:t>
            </a:r>
            <a:endParaRPr lang="en-US" sz="1400" dirty="0"/>
          </a:p>
        </p:txBody>
      </p:sp>
      <p:sp>
        <p:nvSpPr>
          <p:cNvPr id="8" name="Shape 6"/>
          <p:cNvSpPr/>
          <p:nvPr/>
        </p:nvSpPr>
        <p:spPr>
          <a:xfrm>
            <a:off x="274320" y="1783080"/>
            <a:ext cx="8595360" cy="329184"/>
          </a:xfrm>
          <a:prstGeom prst="roundRect">
            <a:avLst>
              <a:gd name="adj" fmla="val 13889"/>
            </a:avLst>
          </a:prstGeom>
          <a:solidFill>
            <a:srgbClr val="E8F5EE"/>
          </a:solidFill>
          <a:ln/>
        </p:spPr>
      </p:sp>
      <p:sp>
        <p:nvSpPr>
          <p:cNvPr id="9" name="Text 7"/>
          <p:cNvSpPr/>
          <p:nvPr/>
        </p:nvSpPr>
        <p:spPr>
          <a:xfrm>
            <a:off x="411480" y="1828800"/>
            <a:ext cx="2194560" cy="237744"/>
          </a:xfrm>
          <a:prstGeom prst="rect">
            <a:avLst/>
          </a:prstGeom>
          <a:noFill/>
          <a:ln/>
        </p:spPr>
        <p:txBody>
          <a:bodyPr wrap="square" lIns="0" tIns="0" rIns="0" bIns="0" rtlCol="0" anchor="ctr"/>
          <a:lstStyle/>
          <a:p>
            <a:pPr marL="0" indent="0">
              <a:buNone/>
            </a:pPr>
            <a:r>
              <a:rPr lang="en-US" sz="1000" b="1" dirty="0">
                <a:solidFill>
                  <a:srgbClr val="1B7A4D"/>
                </a:solidFill>
                <a:latin typeface="Courier New" pitchFamily="34" charset="0"/>
                <a:ea typeface="Courier New" pitchFamily="34" charset="-122"/>
                <a:cs typeface="Courier New" pitchFamily="34" charset="-120"/>
              </a:rPr>
              <a:t>lookup_value</a:t>
            </a:r>
            <a:endParaRPr lang="en-US" sz="1000" dirty="0"/>
          </a:p>
        </p:txBody>
      </p:sp>
      <p:sp>
        <p:nvSpPr>
          <p:cNvPr id="10" name="Text 8"/>
          <p:cNvSpPr/>
          <p:nvPr/>
        </p:nvSpPr>
        <p:spPr>
          <a:xfrm>
            <a:off x="2651760" y="1828800"/>
            <a:ext cx="6126480" cy="237744"/>
          </a:xfrm>
          <a:prstGeom prst="rect">
            <a:avLst/>
          </a:prstGeom>
          <a:noFill/>
          <a:ln/>
        </p:spPr>
        <p:txBody>
          <a:bodyPr wrap="square" lIns="0" tIns="0" rIns="0" bIns="0" rtlCol="0" anchor="ctr"/>
          <a:lstStyle/>
          <a:p>
            <a:pPr marL="0" indent="0">
              <a:buNone/>
            </a:pPr>
            <a:r>
              <a:rPr lang="en-US" sz="1000" dirty="0">
                <a:solidFill>
                  <a:srgbClr val="1A2A22"/>
                </a:solidFill>
              </a:rPr>
              <a:t>The value to find — text, number, or cell reference</a:t>
            </a:r>
            <a:endParaRPr lang="en-US" sz="1000" dirty="0"/>
          </a:p>
        </p:txBody>
      </p:sp>
      <p:sp>
        <p:nvSpPr>
          <p:cNvPr id="11" name="Shape 9"/>
          <p:cNvSpPr/>
          <p:nvPr/>
        </p:nvSpPr>
        <p:spPr>
          <a:xfrm>
            <a:off x="274320" y="2167128"/>
            <a:ext cx="8595360" cy="329184"/>
          </a:xfrm>
          <a:prstGeom prst="roundRect">
            <a:avLst>
              <a:gd name="adj" fmla="val 13889"/>
            </a:avLst>
          </a:prstGeom>
          <a:solidFill>
            <a:srgbClr val="FFFFFF"/>
          </a:solidFill>
          <a:ln/>
        </p:spPr>
      </p:sp>
      <p:sp>
        <p:nvSpPr>
          <p:cNvPr id="12" name="Text 10"/>
          <p:cNvSpPr/>
          <p:nvPr/>
        </p:nvSpPr>
        <p:spPr>
          <a:xfrm>
            <a:off x="411480" y="2212848"/>
            <a:ext cx="2194560" cy="237744"/>
          </a:xfrm>
          <a:prstGeom prst="rect">
            <a:avLst/>
          </a:prstGeom>
          <a:noFill/>
          <a:ln/>
        </p:spPr>
        <p:txBody>
          <a:bodyPr wrap="square" lIns="0" tIns="0" rIns="0" bIns="0" rtlCol="0" anchor="ctr"/>
          <a:lstStyle/>
          <a:p>
            <a:pPr marL="0" indent="0">
              <a:buNone/>
            </a:pPr>
            <a:r>
              <a:rPr lang="en-US" sz="1000" b="1" dirty="0">
                <a:solidFill>
                  <a:srgbClr val="1B7A4D"/>
                </a:solidFill>
                <a:latin typeface="Courier New" pitchFamily="34" charset="0"/>
                <a:ea typeface="Courier New" pitchFamily="34" charset="-122"/>
                <a:cs typeface="Courier New" pitchFamily="34" charset="-120"/>
              </a:rPr>
              <a:t>table_array</a:t>
            </a:r>
            <a:endParaRPr lang="en-US" sz="1000" dirty="0"/>
          </a:p>
        </p:txBody>
      </p:sp>
      <p:sp>
        <p:nvSpPr>
          <p:cNvPr id="13" name="Text 11"/>
          <p:cNvSpPr/>
          <p:nvPr/>
        </p:nvSpPr>
        <p:spPr>
          <a:xfrm>
            <a:off x="2651760" y="2212848"/>
            <a:ext cx="6126480" cy="237744"/>
          </a:xfrm>
          <a:prstGeom prst="rect">
            <a:avLst/>
          </a:prstGeom>
          <a:noFill/>
          <a:ln/>
        </p:spPr>
        <p:txBody>
          <a:bodyPr wrap="square" lIns="0" tIns="0" rIns="0" bIns="0" rtlCol="0" anchor="ctr"/>
          <a:lstStyle/>
          <a:p>
            <a:pPr marL="0" indent="0">
              <a:buNone/>
            </a:pPr>
            <a:r>
              <a:rPr lang="en-US" sz="1000" dirty="0">
                <a:solidFill>
                  <a:srgbClr val="1A2A22"/>
                </a:solidFill>
              </a:rPr>
              <a:t>Data range — first column MUST hold the lookup values</a:t>
            </a:r>
            <a:endParaRPr lang="en-US" sz="1000" dirty="0"/>
          </a:p>
        </p:txBody>
      </p:sp>
      <p:sp>
        <p:nvSpPr>
          <p:cNvPr id="14" name="Shape 12"/>
          <p:cNvSpPr/>
          <p:nvPr/>
        </p:nvSpPr>
        <p:spPr>
          <a:xfrm>
            <a:off x="274320" y="2551176"/>
            <a:ext cx="8595360" cy="329184"/>
          </a:xfrm>
          <a:prstGeom prst="roundRect">
            <a:avLst>
              <a:gd name="adj" fmla="val 13889"/>
            </a:avLst>
          </a:prstGeom>
          <a:solidFill>
            <a:srgbClr val="E8F5EE"/>
          </a:solidFill>
          <a:ln/>
        </p:spPr>
      </p:sp>
      <p:sp>
        <p:nvSpPr>
          <p:cNvPr id="15" name="Text 13"/>
          <p:cNvSpPr/>
          <p:nvPr/>
        </p:nvSpPr>
        <p:spPr>
          <a:xfrm>
            <a:off x="411480" y="2596896"/>
            <a:ext cx="2194560" cy="237744"/>
          </a:xfrm>
          <a:prstGeom prst="rect">
            <a:avLst/>
          </a:prstGeom>
          <a:noFill/>
          <a:ln/>
        </p:spPr>
        <p:txBody>
          <a:bodyPr wrap="square" lIns="0" tIns="0" rIns="0" bIns="0" rtlCol="0" anchor="ctr"/>
          <a:lstStyle/>
          <a:p>
            <a:pPr marL="0" indent="0">
              <a:buNone/>
            </a:pPr>
            <a:r>
              <a:rPr lang="en-US" sz="1000" b="1" dirty="0">
                <a:solidFill>
                  <a:srgbClr val="1B7A4D"/>
                </a:solidFill>
                <a:latin typeface="Courier New" pitchFamily="34" charset="0"/>
                <a:ea typeface="Courier New" pitchFamily="34" charset="-122"/>
                <a:cs typeface="Courier New" pitchFamily="34" charset="-120"/>
              </a:rPr>
              <a:t>col_index_num</a:t>
            </a:r>
            <a:endParaRPr lang="en-US" sz="1000" dirty="0"/>
          </a:p>
        </p:txBody>
      </p:sp>
      <p:sp>
        <p:nvSpPr>
          <p:cNvPr id="16" name="Text 14"/>
          <p:cNvSpPr/>
          <p:nvPr/>
        </p:nvSpPr>
        <p:spPr>
          <a:xfrm>
            <a:off x="2651760" y="2596896"/>
            <a:ext cx="6126480" cy="237744"/>
          </a:xfrm>
          <a:prstGeom prst="rect">
            <a:avLst/>
          </a:prstGeom>
          <a:noFill/>
          <a:ln/>
        </p:spPr>
        <p:txBody>
          <a:bodyPr wrap="square" lIns="0" tIns="0" rIns="0" bIns="0" rtlCol="0" anchor="ctr"/>
          <a:lstStyle/>
          <a:p>
            <a:pPr marL="0" indent="0">
              <a:buNone/>
            </a:pPr>
            <a:r>
              <a:rPr lang="en-US" sz="1000" dirty="0">
                <a:solidFill>
                  <a:srgbClr val="1A2A22"/>
                </a:solidFill>
              </a:rPr>
              <a:t>Column number to return (1 = first column of table_array)</a:t>
            </a:r>
            <a:endParaRPr lang="en-US" sz="1000" dirty="0"/>
          </a:p>
        </p:txBody>
      </p:sp>
      <p:sp>
        <p:nvSpPr>
          <p:cNvPr id="17" name="Shape 15"/>
          <p:cNvSpPr/>
          <p:nvPr/>
        </p:nvSpPr>
        <p:spPr>
          <a:xfrm>
            <a:off x="274320" y="2935224"/>
            <a:ext cx="8595360" cy="329184"/>
          </a:xfrm>
          <a:prstGeom prst="roundRect">
            <a:avLst>
              <a:gd name="adj" fmla="val 13889"/>
            </a:avLst>
          </a:prstGeom>
          <a:solidFill>
            <a:srgbClr val="FFFFFF"/>
          </a:solidFill>
          <a:ln/>
        </p:spPr>
      </p:sp>
      <p:sp>
        <p:nvSpPr>
          <p:cNvPr id="18" name="Text 16"/>
          <p:cNvSpPr/>
          <p:nvPr/>
        </p:nvSpPr>
        <p:spPr>
          <a:xfrm>
            <a:off x="411480" y="2980944"/>
            <a:ext cx="2194560" cy="237744"/>
          </a:xfrm>
          <a:prstGeom prst="rect">
            <a:avLst/>
          </a:prstGeom>
          <a:noFill/>
          <a:ln/>
        </p:spPr>
        <p:txBody>
          <a:bodyPr wrap="square" lIns="0" tIns="0" rIns="0" bIns="0" rtlCol="0" anchor="ctr"/>
          <a:lstStyle/>
          <a:p>
            <a:pPr marL="0" indent="0">
              <a:buNone/>
            </a:pPr>
            <a:r>
              <a:rPr lang="en-US" sz="1000" b="1" dirty="0">
                <a:solidFill>
                  <a:srgbClr val="1B7A4D"/>
                </a:solidFill>
                <a:latin typeface="Courier New" pitchFamily="34" charset="0"/>
                <a:ea typeface="Courier New" pitchFamily="34" charset="-122"/>
                <a:cs typeface="Courier New" pitchFamily="34" charset="-120"/>
              </a:rPr>
              <a:t>range_lookup</a:t>
            </a:r>
            <a:endParaRPr lang="en-US" sz="1000" dirty="0"/>
          </a:p>
        </p:txBody>
      </p:sp>
      <p:sp>
        <p:nvSpPr>
          <p:cNvPr id="19" name="Text 17"/>
          <p:cNvSpPr/>
          <p:nvPr/>
        </p:nvSpPr>
        <p:spPr>
          <a:xfrm>
            <a:off x="2651760" y="2980944"/>
            <a:ext cx="6126480" cy="237744"/>
          </a:xfrm>
          <a:prstGeom prst="rect">
            <a:avLst/>
          </a:prstGeom>
          <a:noFill/>
          <a:ln/>
        </p:spPr>
        <p:txBody>
          <a:bodyPr wrap="square" lIns="0" tIns="0" rIns="0" bIns="0" rtlCol="0" anchor="ctr"/>
          <a:lstStyle/>
          <a:p>
            <a:pPr marL="0" indent="0">
              <a:buNone/>
            </a:pPr>
            <a:r>
              <a:rPr lang="en-US" sz="1000" dirty="0">
                <a:solidFill>
                  <a:srgbClr val="1A2A22"/>
                </a:solidFill>
              </a:rPr>
              <a:t>FALSE = exact match (recommended)  |  TRUE = approximate</a:t>
            </a:r>
            <a:endParaRPr lang="en-US" sz="1000" dirty="0"/>
          </a:p>
        </p:txBody>
      </p:sp>
      <p:sp>
        <p:nvSpPr>
          <p:cNvPr id="20" name="Text 18"/>
          <p:cNvSpPr/>
          <p:nvPr/>
        </p:nvSpPr>
        <p:spPr>
          <a:xfrm>
            <a:off x="274320" y="3401568"/>
            <a:ext cx="8229600" cy="320040"/>
          </a:xfrm>
          <a:prstGeom prst="rect">
            <a:avLst/>
          </a:prstGeom>
          <a:noFill/>
          <a:ln/>
        </p:spPr>
        <p:txBody>
          <a:bodyPr wrap="square" lIns="0" tIns="0" rIns="0" bIns="0" rtlCol="0" anchor="ctr"/>
          <a:lstStyle/>
          <a:p>
            <a:pPr marL="0" indent="0">
              <a:buNone/>
            </a:pPr>
            <a:r>
              <a:rPr lang="en-US" sz="1300" b="1" dirty="0">
                <a:solidFill>
                  <a:srgbClr val="1B7A4D"/>
                </a:solidFill>
              </a:rPr>
              <a:t>Real-World Formula Examples</a:t>
            </a:r>
            <a:endParaRPr lang="en-US" sz="1300" dirty="0"/>
          </a:p>
        </p:txBody>
      </p:sp>
      <p:sp>
        <p:nvSpPr>
          <p:cNvPr id="21" name="Shape 19"/>
          <p:cNvSpPr/>
          <p:nvPr/>
        </p:nvSpPr>
        <p:spPr>
          <a:xfrm>
            <a:off x="274320" y="3794760"/>
            <a:ext cx="8595360" cy="256032"/>
          </a:xfrm>
          <a:prstGeom prst="roundRect">
            <a:avLst>
              <a:gd name="adj" fmla="val 14286"/>
            </a:avLst>
          </a:prstGeom>
          <a:solidFill>
            <a:srgbClr val="E8F5EE"/>
          </a:solidFill>
          <a:ln/>
        </p:spPr>
      </p:sp>
      <p:sp>
        <p:nvSpPr>
          <p:cNvPr id="22" name="Text 20"/>
          <p:cNvSpPr/>
          <p:nvPr/>
        </p:nvSpPr>
        <p:spPr>
          <a:xfrm>
            <a:off x="411480" y="3822192"/>
            <a:ext cx="4572000" cy="201168"/>
          </a:xfrm>
          <a:prstGeom prst="rect">
            <a:avLst/>
          </a:prstGeom>
          <a:noFill/>
          <a:ln/>
        </p:spPr>
        <p:txBody>
          <a:bodyPr wrap="square" lIns="0" tIns="0" rIns="0" bIns="0" rtlCol="0" anchor="ctr"/>
          <a:lstStyle/>
          <a:p>
            <a:pPr marL="0" indent="0">
              <a:buNone/>
            </a:pPr>
            <a:r>
              <a:rPr lang="en-US" sz="900" b="1" dirty="0">
                <a:solidFill>
                  <a:srgbClr val="0A5C38"/>
                </a:solidFill>
                <a:latin typeface="Courier New" pitchFamily="34" charset="0"/>
                <a:ea typeface="Courier New" pitchFamily="34" charset="-122"/>
                <a:cs typeface="Courier New" pitchFamily="34" charset="-120"/>
              </a:rPr>
              <a:t>=VLOOKUP(A2, $D$2:$G$100, 2, FALSE)</a:t>
            </a:r>
            <a:endParaRPr lang="en-US" sz="900" dirty="0"/>
          </a:p>
        </p:txBody>
      </p:sp>
      <p:sp>
        <p:nvSpPr>
          <p:cNvPr id="23" name="Text 21"/>
          <p:cNvSpPr/>
          <p:nvPr/>
        </p:nvSpPr>
        <p:spPr>
          <a:xfrm>
            <a:off x="5029200" y="3822192"/>
            <a:ext cx="3749040" cy="201168"/>
          </a:xfrm>
          <a:prstGeom prst="rect">
            <a:avLst/>
          </a:prstGeom>
          <a:noFill/>
          <a:ln/>
        </p:spPr>
        <p:txBody>
          <a:bodyPr wrap="square" lIns="0" tIns="0" rIns="0" bIns="0" rtlCol="0" anchor="ctr"/>
          <a:lstStyle/>
          <a:p>
            <a:pPr marL="0" indent="0">
              <a:buNone/>
            </a:pPr>
            <a:r>
              <a:rPr lang="en-US" sz="950" dirty="0">
                <a:solidFill>
                  <a:srgbClr val="5A6B62"/>
                </a:solidFill>
              </a:rPr>
              <a:t>Exact match: find A2 in D:G, return column 2</a:t>
            </a:r>
            <a:endParaRPr lang="en-US" sz="950" dirty="0"/>
          </a:p>
        </p:txBody>
      </p:sp>
      <p:sp>
        <p:nvSpPr>
          <p:cNvPr id="24" name="Shape 22"/>
          <p:cNvSpPr/>
          <p:nvPr/>
        </p:nvSpPr>
        <p:spPr>
          <a:xfrm>
            <a:off x="274320" y="4105656"/>
            <a:ext cx="8595360" cy="256032"/>
          </a:xfrm>
          <a:prstGeom prst="roundRect">
            <a:avLst>
              <a:gd name="adj" fmla="val 14286"/>
            </a:avLst>
          </a:prstGeom>
          <a:solidFill>
            <a:srgbClr val="FFFFFF"/>
          </a:solidFill>
          <a:ln/>
        </p:spPr>
      </p:sp>
      <p:sp>
        <p:nvSpPr>
          <p:cNvPr id="25" name="Text 23"/>
          <p:cNvSpPr/>
          <p:nvPr/>
        </p:nvSpPr>
        <p:spPr>
          <a:xfrm>
            <a:off x="411480" y="4133088"/>
            <a:ext cx="4572000" cy="201168"/>
          </a:xfrm>
          <a:prstGeom prst="rect">
            <a:avLst/>
          </a:prstGeom>
          <a:noFill/>
          <a:ln/>
        </p:spPr>
        <p:txBody>
          <a:bodyPr wrap="square" lIns="0" tIns="0" rIns="0" bIns="0" rtlCol="0" anchor="ctr"/>
          <a:lstStyle/>
          <a:p>
            <a:pPr marL="0" indent="0">
              <a:buNone/>
            </a:pPr>
            <a:r>
              <a:rPr lang="en-US" sz="900" b="1" dirty="0">
                <a:solidFill>
                  <a:srgbClr val="0A5C38"/>
                </a:solidFill>
                <a:latin typeface="Courier New" pitchFamily="34" charset="0"/>
                <a:ea typeface="Courier New" pitchFamily="34" charset="-122"/>
                <a:cs typeface="Courier New" pitchFamily="34" charset="-120"/>
              </a:rPr>
              <a:t>=VLOOKUP("EMP001", EmployeeTable, 3, FALSE)</a:t>
            </a:r>
            <a:endParaRPr lang="en-US" sz="900" dirty="0"/>
          </a:p>
        </p:txBody>
      </p:sp>
      <p:sp>
        <p:nvSpPr>
          <p:cNvPr id="26" name="Text 24"/>
          <p:cNvSpPr/>
          <p:nvPr/>
        </p:nvSpPr>
        <p:spPr>
          <a:xfrm>
            <a:off x="5029200" y="4133088"/>
            <a:ext cx="3749040" cy="201168"/>
          </a:xfrm>
          <a:prstGeom prst="rect">
            <a:avLst/>
          </a:prstGeom>
          <a:noFill/>
          <a:ln/>
        </p:spPr>
        <p:txBody>
          <a:bodyPr wrap="square" lIns="0" tIns="0" rIns="0" bIns="0" rtlCol="0" anchor="ctr"/>
          <a:lstStyle/>
          <a:p>
            <a:pPr marL="0" indent="0">
              <a:buNone/>
            </a:pPr>
            <a:r>
              <a:rPr lang="en-US" sz="950" dirty="0">
                <a:solidFill>
                  <a:srgbClr val="5A6B62"/>
                </a:solidFill>
              </a:rPr>
              <a:t>Employee ID → Department lookup via Named Range</a:t>
            </a:r>
            <a:endParaRPr lang="en-US" sz="950" dirty="0"/>
          </a:p>
        </p:txBody>
      </p:sp>
      <p:sp>
        <p:nvSpPr>
          <p:cNvPr id="27" name="Shape 25"/>
          <p:cNvSpPr/>
          <p:nvPr/>
        </p:nvSpPr>
        <p:spPr>
          <a:xfrm>
            <a:off x="274320" y="4416552"/>
            <a:ext cx="8595360" cy="256032"/>
          </a:xfrm>
          <a:prstGeom prst="roundRect">
            <a:avLst>
              <a:gd name="adj" fmla="val 14286"/>
            </a:avLst>
          </a:prstGeom>
          <a:solidFill>
            <a:srgbClr val="E8F5EE"/>
          </a:solidFill>
          <a:ln/>
        </p:spPr>
      </p:sp>
      <p:sp>
        <p:nvSpPr>
          <p:cNvPr id="28" name="Text 26"/>
          <p:cNvSpPr/>
          <p:nvPr/>
        </p:nvSpPr>
        <p:spPr>
          <a:xfrm>
            <a:off x="411480" y="4443984"/>
            <a:ext cx="4572000" cy="201168"/>
          </a:xfrm>
          <a:prstGeom prst="rect">
            <a:avLst/>
          </a:prstGeom>
          <a:noFill/>
          <a:ln/>
        </p:spPr>
        <p:txBody>
          <a:bodyPr wrap="square" lIns="0" tIns="0" rIns="0" bIns="0" rtlCol="0" anchor="ctr"/>
          <a:lstStyle/>
          <a:p>
            <a:pPr marL="0" indent="0">
              <a:buNone/>
            </a:pPr>
            <a:r>
              <a:rPr lang="en-US" sz="900" b="1" dirty="0">
                <a:solidFill>
                  <a:srgbClr val="0A5C38"/>
                </a:solidFill>
                <a:latin typeface="Courier New" pitchFamily="34" charset="0"/>
                <a:ea typeface="Courier New" pitchFamily="34" charset="-122"/>
                <a:cs typeface="Courier New" pitchFamily="34" charset="-120"/>
              </a:rPr>
              <a:t>=IFERROR(VLOOKUP(A2,$D$2:$G$100,2,FALSE),"Not Found")</a:t>
            </a:r>
            <a:endParaRPr lang="en-US" sz="900" dirty="0"/>
          </a:p>
        </p:txBody>
      </p:sp>
      <p:sp>
        <p:nvSpPr>
          <p:cNvPr id="29" name="Text 27"/>
          <p:cNvSpPr/>
          <p:nvPr/>
        </p:nvSpPr>
        <p:spPr>
          <a:xfrm>
            <a:off x="5029200" y="4443984"/>
            <a:ext cx="3749040" cy="201168"/>
          </a:xfrm>
          <a:prstGeom prst="rect">
            <a:avLst/>
          </a:prstGeom>
          <a:noFill/>
          <a:ln/>
        </p:spPr>
        <p:txBody>
          <a:bodyPr wrap="square" lIns="0" tIns="0" rIns="0" bIns="0" rtlCol="0" anchor="ctr"/>
          <a:lstStyle/>
          <a:p>
            <a:pPr marL="0" indent="0">
              <a:buNone/>
            </a:pPr>
            <a:r>
              <a:rPr lang="en-US" sz="950" dirty="0">
                <a:solidFill>
                  <a:srgbClr val="5A6B62"/>
                </a:solidFill>
              </a:rPr>
              <a:t>Show 'Not Found' instead of #N/A error</a:t>
            </a:r>
            <a:endParaRPr lang="en-US" sz="950" dirty="0"/>
          </a:p>
        </p:txBody>
      </p:sp>
      <p:sp>
        <p:nvSpPr>
          <p:cNvPr id="30" name="Shape 28"/>
          <p:cNvSpPr/>
          <p:nvPr/>
        </p:nvSpPr>
        <p:spPr>
          <a:xfrm>
            <a:off x="274320" y="4727448"/>
            <a:ext cx="8595360" cy="256032"/>
          </a:xfrm>
          <a:prstGeom prst="roundRect">
            <a:avLst>
              <a:gd name="adj" fmla="val 14286"/>
            </a:avLst>
          </a:prstGeom>
          <a:solidFill>
            <a:srgbClr val="FFFFFF"/>
          </a:solidFill>
          <a:ln/>
        </p:spPr>
      </p:sp>
      <p:sp>
        <p:nvSpPr>
          <p:cNvPr id="31" name="Text 29"/>
          <p:cNvSpPr/>
          <p:nvPr/>
        </p:nvSpPr>
        <p:spPr>
          <a:xfrm>
            <a:off x="411480" y="4754880"/>
            <a:ext cx="4572000" cy="201168"/>
          </a:xfrm>
          <a:prstGeom prst="rect">
            <a:avLst/>
          </a:prstGeom>
          <a:noFill/>
          <a:ln/>
        </p:spPr>
        <p:txBody>
          <a:bodyPr wrap="square" lIns="0" tIns="0" rIns="0" bIns="0" rtlCol="0" anchor="ctr"/>
          <a:lstStyle/>
          <a:p>
            <a:pPr marL="0" indent="0">
              <a:buNone/>
            </a:pPr>
            <a:r>
              <a:rPr lang="en-US" sz="900" b="1" dirty="0">
                <a:solidFill>
                  <a:srgbClr val="0A5C38"/>
                </a:solidFill>
                <a:latin typeface="Courier New" pitchFamily="34" charset="0"/>
                <a:ea typeface="Courier New" pitchFamily="34" charset="-122"/>
                <a:cs typeface="Courier New" pitchFamily="34" charset="-120"/>
              </a:rPr>
              <a:t>=VLOOKUP(A2, Sheet2!$A:$D, 3, FALSE)</a:t>
            </a:r>
            <a:endParaRPr lang="en-US" sz="900" dirty="0"/>
          </a:p>
        </p:txBody>
      </p:sp>
      <p:sp>
        <p:nvSpPr>
          <p:cNvPr id="32" name="Text 30"/>
          <p:cNvSpPr/>
          <p:nvPr/>
        </p:nvSpPr>
        <p:spPr>
          <a:xfrm>
            <a:off x="5029200" y="4754880"/>
            <a:ext cx="3749040" cy="201168"/>
          </a:xfrm>
          <a:prstGeom prst="rect">
            <a:avLst/>
          </a:prstGeom>
          <a:noFill/>
          <a:ln/>
        </p:spPr>
        <p:txBody>
          <a:bodyPr wrap="square" lIns="0" tIns="0" rIns="0" bIns="0" rtlCol="0" anchor="ctr"/>
          <a:lstStyle/>
          <a:p>
            <a:pPr marL="0" indent="0">
              <a:buNone/>
            </a:pPr>
            <a:r>
              <a:rPr lang="en-US" sz="950" dirty="0">
                <a:solidFill>
                  <a:srgbClr val="5A6B62"/>
                </a:solidFill>
              </a:rPr>
              <a:t>Cross-sheet lookup from Sheet2</a:t>
            </a:r>
            <a:endParaRPr lang="en-US" sz="950" dirty="0"/>
          </a:p>
        </p:txBody>
      </p:sp>
      <p:sp>
        <p:nvSpPr>
          <p:cNvPr id="33" name="Shape 31"/>
          <p:cNvSpPr/>
          <p:nvPr/>
        </p:nvSpPr>
        <p:spPr>
          <a:xfrm>
            <a:off x="274320" y="4709160"/>
            <a:ext cx="8595360" cy="329184"/>
          </a:xfrm>
          <a:prstGeom prst="roundRect">
            <a:avLst>
              <a:gd name="adj" fmla="val 16667"/>
            </a:avLst>
          </a:prstGeom>
          <a:solidFill>
            <a:srgbClr val="E8F5EE"/>
          </a:solidFill>
          <a:ln/>
        </p:spPr>
      </p:sp>
      <p:sp>
        <p:nvSpPr>
          <p:cNvPr id="34" name="Text 32"/>
          <p:cNvSpPr/>
          <p:nvPr/>
        </p:nvSpPr>
        <p:spPr>
          <a:xfrm>
            <a:off x="411480" y="4709160"/>
            <a:ext cx="8321040" cy="329184"/>
          </a:xfrm>
          <a:prstGeom prst="rect">
            <a:avLst/>
          </a:prstGeom>
          <a:noFill/>
          <a:ln/>
        </p:spPr>
        <p:txBody>
          <a:bodyPr wrap="square" rtlCol="0" anchor="ctr"/>
          <a:lstStyle/>
          <a:p>
            <a:pPr marL="0" indent="0">
              <a:buNone/>
            </a:pPr>
            <a:r>
              <a:rPr lang="en-US" sz="950" i="1" dirty="0">
                <a:solidFill>
                  <a:srgbClr val="0A5C38"/>
                </a:solidFill>
              </a:rPr>
              <a:t>💡  Always lock table_array with $ — use $D$2:$G$100 so references don't shift when copying formulas down.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7A4D"/>
          </a:solidFill>
          <a:ln/>
        </p:spPr>
      </p:sp>
      <p:sp>
        <p:nvSpPr>
          <p:cNvPr id="3" name="Text 1"/>
          <p:cNvSpPr/>
          <p:nvPr/>
        </p:nvSpPr>
        <p:spPr>
          <a:xfrm>
            <a:off x="274320" y="91440"/>
            <a:ext cx="731520" cy="365760"/>
          </a:xfrm>
          <a:prstGeom prst="rect">
            <a:avLst/>
          </a:prstGeom>
          <a:noFill/>
          <a:ln/>
        </p:spPr>
        <p:txBody>
          <a:bodyPr wrap="square" lIns="0" tIns="0" rIns="0" bIns="0" rtlCol="0" anchor="ctr"/>
          <a:lstStyle/>
          <a:p>
            <a:pPr marL="0" indent="0">
              <a:buNone/>
            </a:pPr>
            <a:r>
              <a:rPr lang="en-US" sz="1100" b="1" dirty="0">
                <a:solidFill>
                  <a:srgbClr val="A8D5BA"/>
                </a:solidFill>
              </a:rPr>
              <a:t>06</a:t>
            </a:r>
            <a:endParaRPr lang="en-US" sz="1100" dirty="0"/>
          </a:p>
        </p:txBody>
      </p:sp>
      <p:sp>
        <p:nvSpPr>
          <p:cNvPr id="4" name="Text 2"/>
          <p:cNvSpPr/>
          <p:nvPr/>
        </p:nvSpPr>
        <p:spPr>
          <a:xfrm>
            <a:off x="274320" y="41148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HLOOKUP — Horizontal Lookup</a:t>
            </a:r>
            <a:endParaRPr lang="en-US" sz="2200" dirty="0"/>
          </a:p>
        </p:txBody>
      </p:sp>
      <p:sp>
        <p:nvSpPr>
          <p:cNvPr id="5" name="Text 3"/>
          <p:cNvSpPr/>
          <p:nvPr/>
        </p:nvSpPr>
        <p:spPr>
          <a:xfrm>
            <a:off x="274320" y="749808"/>
            <a:ext cx="8229600" cy="228600"/>
          </a:xfrm>
          <a:prstGeom prst="rect">
            <a:avLst/>
          </a:prstGeom>
          <a:noFill/>
          <a:ln/>
        </p:spPr>
        <p:txBody>
          <a:bodyPr wrap="square" lIns="0" tIns="0" rIns="0" bIns="0" rtlCol="0" anchor="ctr"/>
          <a:lstStyle/>
          <a:p>
            <a:pPr marL="0" indent="0">
              <a:buNone/>
            </a:pPr>
            <a:r>
              <a:rPr lang="en-US" sz="1000" dirty="0">
                <a:solidFill>
                  <a:srgbClr val="A8D5BA"/>
                </a:solidFill>
              </a:rPr>
              <a:t>Search across a row and return a value from the same column</a:t>
            </a:r>
            <a:endParaRPr lang="en-US" sz="1000" dirty="0"/>
          </a:p>
        </p:txBody>
      </p:sp>
      <p:sp>
        <p:nvSpPr>
          <p:cNvPr id="6" name="Shape 4"/>
          <p:cNvSpPr/>
          <p:nvPr/>
        </p:nvSpPr>
        <p:spPr>
          <a:xfrm>
            <a:off x="274320" y="1097280"/>
            <a:ext cx="8595360" cy="566928"/>
          </a:xfrm>
          <a:prstGeom prst="roundRect">
            <a:avLst>
              <a:gd name="adj" fmla="val 12903"/>
            </a:avLst>
          </a:prstGeom>
          <a:solidFill>
            <a:srgbClr val="0A5C38"/>
          </a:solidFill>
          <a:ln/>
        </p:spPr>
      </p:sp>
      <p:sp>
        <p:nvSpPr>
          <p:cNvPr id="7" name="Text 5"/>
          <p:cNvSpPr/>
          <p:nvPr/>
        </p:nvSpPr>
        <p:spPr>
          <a:xfrm>
            <a:off x="457200" y="1143000"/>
            <a:ext cx="8229600" cy="475488"/>
          </a:xfrm>
          <a:prstGeom prst="rect">
            <a:avLst/>
          </a:prstGeom>
          <a:noFill/>
          <a:ln/>
        </p:spPr>
        <p:txBody>
          <a:bodyPr wrap="square"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=HLOOKUP(lookup_value,  table_array,  row_index_num,  [range_lookup])</a:t>
            </a:r>
            <a:endParaRPr lang="en-US" sz="1400" dirty="0"/>
          </a:p>
        </p:txBody>
      </p:sp>
      <p:sp>
        <p:nvSpPr>
          <p:cNvPr id="8" name="Text 6"/>
          <p:cNvSpPr/>
          <p:nvPr/>
        </p:nvSpPr>
        <p:spPr>
          <a:xfrm>
            <a:off x="274320" y="1676517"/>
            <a:ext cx="8229600" cy="320040"/>
          </a:xfrm>
          <a:prstGeom prst="rect">
            <a:avLst/>
          </a:prstGeom>
          <a:noFill/>
          <a:ln/>
        </p:spPr>
        <p:txBody>
          <a:bodyPr wrap="square" lIns="0" tIns="0" rIns="0" bIns="0" rtlCol="0" anchor="ctr"/>
          <a:lstStyle/>
          <a:p>
            <a:pPr marL="0" indent="0">
              <a:buNone/>
            </a:pPr>
            <a:r>
              <a:rPr lang="en-US" sz="1200" b="1" dirty="0">
                <a:solidFill>
                  <a:srgbClr val="1B7A4D"/>
                </a:solidFill>
              </a:rPr>
              <a:t>Monthly Sales Dataset — HLOOKUP in Action</a:t>
            </a:r>
            <a:endParaRPr lang="en-US" sz="1200" dirty="0"/>
          </a:p>
        </p:txBody>
      </p:sp>
      <p:sp>
        <p:nvSpPr>
          <p:cNvPr id="9" name="Shape 7"/>
          <p:cNvSpPr/>
          <p:nvPr/>
        </p:nvSpPr>
        <p:spPr>
          <a:xfrm>
            <a:off x="274320" y="1930087"/>
            <a:ext cx="1280160" cy="347472"/>
          </a:xfrm>
          <a:prstGeom prst="rect">
            <a:avLst/>
          </a:prstGeom>
          <a:solidFill>
            <a:srgbClr val="1B7A4D"/>
          </a:solidFill>
          <a:ln/>
        </p:spPr>
      </p:sp>
      <p:sp>
        <p:nvSpPr>
          <p:cNvPr id="10" name="Text 8"/>
          <p:cNvSpPr/>
          <p:nvPr/>
        </p:nvSpPr>
        <p:spPr>
          <a:xfrm>
            <a:off x="320040" y="1951541"/>
            <a:ext cx="1280160" cy="347472"/>
          </a:xfrm>
          <a:prstGeom prst="rect">
            <a:avLst/>
          </a:prstGeom>
          <a:noFill/>
          <a:ln/>
        </p:spPr>
        <p:txBody>
          <a:bodyPr wrap="square" rtlCol="0" anchor="ctr"/>
          <a:lstStyle/>
          <a:p>
            <a:pPr marL="0" indent="0" algn="ctr">
              <a:buNone/>
            </a:pPr>
            <a:r>
              <a:rPr lang="en-US" sz="1000" b="1" dirty="0">
                <a:solidFill>
                  <a:srgbClr val="FFFFFF"/>
                </a:solidFill>
              </a:rPr>
              <a:t>Region</a:t>
            </a:r>
            <a:endParaRPr lang="en-US" sz="1000" dirty="0"/>
          </a:p>
        </p:txBody>
      </p:sp>
      <p:sp>
        <p:nvSpPr>
          <p:cNvPr id="11" name="Shape 9"/>
          <p:cNvSpPr/>
          <p:nvPr/>
        </p:nvSpPr>
        <p:spPr>
          <a:xfrm>
            <a:off x="1554480" y="1930087"/>
            <a:ext cx="1371600" cy="347472"/>
          </a:xfrm>
          <a:prstGeom prst="rect">
            <a:avLst/>
          </a:prstGeom>
          <a:solidFill>
            <a:srgbClr val="1B7A4D"/>
          </a:solidFill>
          <a:ln/>
        </p:spPr>
      </p:sp>
      <p:sp>
        <p:nvSpPr>
          <p:cNvPr id="12" name="Text 10"/>
          <p:cNvSpPr/>
          <p:nvPr/>
        </p:nvSpPr>
        <p:spPr>
          <a:xfrm>
            <a:off x="1508760" y="1943451"/>
            <a:ext cx="1371600" cy="347472"/>
          </a:xfrm>
          <a:prstGeom prst="rect">
            <a:avLst/>
          </a:prstGeom>
          <a:noFill/>
          <a:ln/>
        </p:spPr>
        <p:txBody>
          <a:bodyPr wrap="square" rtlCol="0" anchor="ctr"/>
          <a:lstStyle/>
          <a:p>
            <a:pPr marL="0" indent="0" algn="ctr">
              <a:buNone/>
            </a:pPr>
            <a:r>
              <a:rPr lang="en-US" sz="1000" b="1" dirty="0">
                <a:solidFill>
                  <a:srgbClr val="FFFFFF"/>
                </a:solidFill>
              </a:rPr>
              <a:t>Jan</a:t>
            </a:r>
            <a:endParaRPr lang="en-US" sz="1000" dirty="0"/>
          </a:p>
        </p:txBody>
      </p:sp>
      <p:sp>
        <p:nvSpPr>
          <p:cNvPr id="13" name="Shape 11"/>
          <p:cNvSpPr/>
          <p:nvPr/>
        </p:nvSpPr>
        <p:spPr>
          <a:xfrm>
            <a:off x="2926080" y="1930087"/>
            <a:ext cx="1371600" cy="347472"/>
          </a:xfrm>
          <a:prstGeom prst="rect">
            <a:avLst/>
          </a:prstGeom>
          <a:solidFill>
            <a:srgbClr val="1B7A4D"/>
          </a:solidFill>
          <a:ln/>
        </p:spPr>
      </p:sp>
      <p:sp>
        <p:nvSpPr>
          <p:cNvPr id="14" name="Text 12"/>
          <p:cNvSpPr/>
          <p:nvPr/>
        </p:nvSpPr>
        <p:spPr>
          <a:xfrm>
            <a:off x="2926080" y="1930087"/>
            <a:ext cx="1371600" cy="347472"/>
          </a:xfrm>
          <a:prstGeom prst="rect">
            <a:avLst/>
          </a:prstGeom>
          <a:noFill/>
          <a:ln/>
        </p:spPr>
        <p:txBody>
          <a:bodyPr wrap="square" rtlCol="0" anchor="ctr"/>
          <a:lstStyle/>
          <a:p>
            <a:pPr marL="0" indent="0" algn="ctr">
              <a:buNone/>
            </a:pPr>
            <a:r>
              <a:rPr lang="en-US" sz="1000" b="1" dirty="0">
                <a:solidFill>
                  <a:srgbClr val="FFFFFF"/>
                </a:solidFill>
              </a:rPr>
              <a:t>Feb</a:t>
            </a:r>
            <a:endParaRPr lang="en-US" sz="1000" dirty="0"/>
          </a:p>
        </p:txBody>
      </p:sp>
      <p:sp>
        <p:nvSpPr>
          <p:cNvPr id="15" name="Shape 13"/>
          <p:cNvSpPr/>
          <p:nvPr/>
        </p:nvSpPr>
        <p:spPr>
          <a:xfrm>
            <a:off x="4297680" y="1930087"/>
            <a:ext cx="1371600" cy="347472"/>
          </a:xfrm>
          <a:prstGeom prst="rect">
            <a:avLst/>
          </a:prstGeom>
          <a:solidFill>
            <a:srgbClr val="1B7A4D"/>
          </a:solidFill>
          <a:ln/>
        </p:spPr>
      </p:sp>
      <p:sp>
        <p:nvSpPr>
          <p:cNvPr id="16" name="Text 14"/>
          <p:cNvSpPr/>
          <p:nvPr/>
        </p:nvSpPr>
        <p:spPr>
          <a:xfrm>
            <a:off x="4206240" y="1917778"/>
            <a:ext cx="1371600" cy="347472"/>
          </a:xfrm>
          <a:prstGeom prst="rect">
            <a:avLst/>
          </a:prstGeom>
          <a:noFill/>
          <a:ln/>
        </p:spPr>
        <p:txBody>
          <a:bodyPr wrap="square" rtlCol="0" anchor="ctr"/>
          <a:lstStyle/>
          <a:p>
            <a:pPr marL="0" indent="0" algn="ctr">
              <a:buNone/>
            </a:pPr>
            <a:r>
              <a:rPr lang="en-US" sz="1000" b="1" dirty="0">
                <a:solidFill>
                  <a:srgbClr val="FFFFFF"/>
                </a:solidFill>
              </a:rPr>
              <a:t>Mar</a:t>
            </a:r>
            <a:endParaRPr lang="en-US" sz="1000" dirty="0"/>
          </a:p>
        </p:txBody>
      </p:sp>
      <p:sp>
        <p:nvSpPr>
          <p:cNvPr id="17" name="Shape 15"/>
          <p:cNvSpPr/>
          <p:nvPr/>
        </p:nvSpPr>
        <p:spPr>
          <a:xfrm>
            <a:off x="5669280" y="1930087"/>
            <a:ext cx="1554480" cy="347472"/>
          </a:xfrm>
          <a:prstGeom prst="rect">
            <a:avLst/>
          </a:prstGeom>
          <a:solidFill>
            <a:srgbClr val="1B7A4D"/>
          </a:solidFill>
          <a:ln/>
        </p:spPr>
        <p:txBody>
          <a:bodyPr/>
          <a:lstStyle/>
          <a:p>
            <a:endParaRPr lang="en-IN" dirty="0"/>
          </a:p>
        </p:txBody>
      </p:sp>
      <p:sp>
        <p:nvSpPr>
          <p:cNvPr id="18" name="Text 16"/>
          <p:cNvSpPr/>
          <p:nvPr/>
        </p:nvSpPr>
        <p:spPr>
          <a:xfrm>
            <a:off x="5669280" y="1957168"/>
            <a:ext cx="1554480" cy="347472"/>
          </a:xfrm>
          <a:prstGeom prst="rect">
            <a:avLst/>
          </a:prstGeom>
          <a:noFill/>
          <a:ln/>
        </p:spPr>
        <p:txBody>
          <a:bodyPr wrap="square" rtlCol="0" anchor="ctr"/>
          <a:lstStyle/>
          <a:p>
            <a:pPr marL="0" indent="0" algn="ctr">
              <a:buNone/>
            </a:pPr>
            <a:r>
              <a:rPr lang="en-US" sz="1000" b="1" dirty="0">
                <a:solidFill>
                  <a:srgbClr val="FFFFFF"/>
                </a:solidFill>
              </a:rPr>
              <a:t>Q1 Total</a:t>
            </a:r>
            <a:endParaRPr lang="en-US" sz="1000" dirty="0"/>
          </a:p>
        </p:txBody>
      </p:sp>
      <p:sp>
        <p:nvSpPr>
          <p:cNvPr id="19" name="Shape 17"/>
          <p:cNvSpPr/>
          <p:nvPr/>
        </p:nvSpPr>
        <p:spPr>
          <a:xfrm>
            <a:off x="274320" y="2290923"/>
            <a:ext cx="1280160" cy="310896"/>
          </a:xfrm>
          <a:prstGeom prst="rect">
            <a:avLst/>
          </a:prstGeom>
          <a:solidFill>
            <a:srgbClr val="FFFFFF"/>
          </a:solidFill>
          <a:ln w="12700">
            <a:solidFill>
              <a:srgbClr val="DDEEEE"/>
            </a:solidFill>
            <a:prstDash val="solid"/>
          </a:ln>
        </p:spPr>
        <p:txBody>
          <a:bodyPr/>
          <a:lstStyle/>
          <a:p>
            <a:endParaRPr lang="en-IN" dirty="0"/>
          </a:p>
        </p:txBody>
      </p:sp>
      <p:sp>
        <p:nvSpPr>
          <p:cNvPr id="20" name="Text 18"/>
          <p:cNvSpPr/>
          <p:nvPr/>
        </p:nvSpPr>
        <p:spPr>
          <a:xfrm>
            <a:off x="274320" y="2314135"/>
            <a:ext cx="1280160" cy="310896"/>
          </a:xfrm>
          <a:prstGeom prst="rect">
            <a:avLst/>
          </a:prstGeom>
          <a:noFill/>
          <a:ln/>
        </p:spPr>
        <p:txBody>
          <a:bodyPr wrap="square" rtlCol="0" anchor="ctr"/>
          <a:lstStyle/>
          <a:p>
            <a:pPr marL="0" indent="0" algn="ctr">
              <a:buNone/>
            </a:pPr>
            <a:r>
              <a:rPr lang="en-US" sz="950" dirty="0">
                <a:solidFill>
                  <a:srgbClr val="1A2A22"/>
                </a:solidFill>
              </a:rPr>
              <a:t>North</a:t>
            </a:r>
            <a:endParaRPr lang="en-US" sz="950" dirty="0"/>
          </a:p>
        </p:txBody>
      </p:sp>
      <p:sp>
        <p:nvSpPr>
          <p:cNvPr id="21" name="Shape 19"/>
          <p:cNvSpPr/>
          <p:nvPr/>
        </p:nvSpPr>
        <p:spPr>
          <a:xfrm>
            <a:off x="1554480" y="2290923"/>
            <a:ext cx="1371600" cy="310896"/>
          </a:xfrm>
          <a:prstGeom prst="rect">
            <a:avLst/>
          </a:prstGeom>
          <a:solidFill>
            <a:srgbClr val="FFFFFF"/>
          </a:solidFill>
          <a:ln w="12700">
            <a:solidFill>
              <a:srgbClr val="DDEEEE"/>
            </a:solidFill>
            <a:prstDash val="solid"/>
          </a:ln>
        </p:spPr>
      </p:sp>
      <p:sp>
        <p:nvSpPr>
          <p:cNvPr id="22" name="Text 20"/>
          <p:cNvSpPr/>
          <p:nvPr/>
        </p:nvSpPr>
        <p:spPr>
          <a:xfrm>
            <a:off x="1508760" y="2312376"/>
            <a:ext cx="1371600" cy="310896"/>
          </a:xfrm>
          <a:prstGeom prst="rect">
            <a:avLst/>
          </a:prstGeom>
          <a:noFill/>
          <a:ln/>
        </p:spPr>
        <p:txBody>
          <a:bodyPr wrap="square" rtlCol="0" anchor="ctr"/>
          <a:lstStyle/>
          <a:p>
            <a:pPr marL="0" indent="0" algn="ctr">
              <a:buNone/>
            </a:pPr>
            <a:r>
              <a:rPr lang="en-US" sz="950" dirty="0">
                <a:solidFill>
                  <a:srgbClr val="1A2A22"/>
                </a:solidFill>
              </a:rPr>
              <a:t>45,200</a:t>
            </a:r>
            <a:endParaRPr lang="en-US" sz="950" dirty="0"/>
          </a:p>
        </p:txBody>
      </p:sp>
      <p:sp>
        <p:nvSpPr>
          <p:cNvPr id="23" name="Shape 21"/>
          <p:cNvSpPr/>
          <p:nvPr/>
        </p:nvSpPr>
        <p:spPr>
          <a:xfrm>
            <a:off x="2880360" y="2290925"/>
            <a:ext cx="1371600" cy="310896"/>
          </a:xfrm>
          <a:prstGeom prst="rect">
            <a:avLst/>
          </a:prstGeom>
          <a:solidFill>
            <a:srgbClr val="FFFFFF"/>
          </a:solidFill>
          <a:ln w="12700">
            <a:solidFill>
              <a:srgbClr val="DDEEEE"/>
            </a:solidFill>
            <a:prstDash val="solid"/>
          </a:ln>
        </p:spPr>
      </p:sp>
      <p:sp>
        <p:nvSpPr>
          <p:cNvPr id="24" name="Text 22"/>
          <p:cNvSpPr/>
          <p:nvPr/>
        </p:nvSpPr>
        <p:spPr>
          <a:xfrm>
            <a:off x="2914650" y="2305343"/>
            <a:ext cx="1371600" cy="310896"/>
          </a:xfrm>
          <a:prstGeom prst="rect">
            <a:avLst/>
          </a:prstGeom>
          <a:noFill/>
          <a:ln/>
        </p:spPr>
        <p:txBody>
          <a:bodyPr wrap="square" rtlCol="0" anchor="ctr"/>
          <a:lstStyle/>
          <a:p>
            <a:pPr marL="0" indent="0" algn="ctr">
              <a:buNone/>
            </a:pPr>
            <a:r>
              <a:rPr lang="en-US" sz="950" dirty="0">
                <a:solidFill>
                  <a:srgbClr val="1A2A22"/>
                </a:solidFill>
              </a:rPr>
              <a:t>51,300</a:t>
            </a:r>
            <a:endParaRPr lang="en-US" sz="950" dirty="0"/>
          </a:p>
        </p:txBody>
      </p:sp>
      <p:sp>
        <p:nvSpPr>
          <p:cNvPr id="25" name="Shape 23"/>
          <p:cNvSpPr/>
          <p:nvPr/>
        </p:nvSpPr>
        <p:spPr>
          <a:xfrm>
            <a:off x="4274820" y="2290925"/>
            <a:ext cx="1371600" cy="310896"/>
          </a:xfrm>
          <a:prstGeom prst="rect">
            <a:avLst/>
          </a:prstGeom>
          <a:solidFill>
            <a:srgbClr val="FFFFFF"/>
          </a:solidFill>
          <a:ln w="12700">
            <a:solidFill>
              <a:srgbClr val="DDEEEE"/>
            </a:solidFill>
            <a:prstDash val="solid"/>
          </a:ln>
        </p:spPr>
      </p:sp>
      <p:sp>
        <p:nvSpPr>
          <p:cNvPr id="26" name="Text 24"/>
          <p:cNvSpPr/>
          <p:nvPr/>
        </p:nvSpPr>
        <p:spPr>
          <a:xfrm>
            <a:off x="4199206" y="2290925"/>
            <a:ext cx="1371600" cy="310896"/>
          </a:xfrm>
          <a:prstGeom prst="rect">
            <a:avLst/>
          </a:prstGeom>
          <a:noFill/>
          <a:ln/>
        </p:spPr>
        <p:txBody>
          <a:bodyPr wrap="square" rtlCol="0" anchor="ctr"/>
          <a:lstStyle/>
          <a:p>
            <a:pPr marL="0" indent="0" algn="ctr">
              <a:buNone/>
            </a:pPr>
            <a:r>
              <a:rPr lang="en-US" sz="950" dirty="0">
                <a:solidFill>
                  <a:srgbClr val="1A2A22"/>
                </a:solidFill>
              </a:rPr>
              <a:t>48,700</a:t>
            </a:r>
            <a:endParaRPr lang="en-US" sz="950" dirty="0"/>
          </a:p>
        </p:txBody>
      </p:sp>
      <p:sp>
        <p:nvSpPr>
          <p:cNvPr id="27" name="Shape 25"/>
          <p:cNvSpPr/>
          <p:nvPr/>
        </p:nvSpPr>
        <p:spPr>
          <a:xfrm>
            <a:off x="5669280" y="2290923"/>
            <a:ext cx="1554480" cy="310896"/>
          </a:xfrm>
          <a:prstGeom prst="rect">
            <a:avLst/>
          </a:prstGeom>
          <a:solidFill>
            <a:srgbClr val="FFFFFF"/>
          </a:solidFill>
          <a:ln w="12700">
            <a:solidFill>
              <a:srgbClr val="DDEEEE"/>
            </a:solidFill>
            <a:prstDash val="solid"/>
          </a:ln>
        </p:spPr>
      </p:sp>
      <p:sp>
        <p:nvSpPr>
          <p:cNvPr id="28" name="Text 26"/>
          <p:cNvSpPr/>
          <p:nvPr/>
        </p:nvSpPr>
        <p:spPr>
          <a:xfrm>
            <a:off x="5646420" y="2284945"/>
            <a:ext cx="1554480" cy="310896"/>
          </a:xfrm>
          <a:prstGeom prst="rect">
            <a:avLst/>
          </a:prstGeom>
          <a:noFill/>
          <a:ln/>
        </p:spPr>
        <p:txBody>
          <a:bodyPr wrap="square" rtlCol="0" anchor="ctr"/>
          <a:lstStyle/>
          <a:p>
            <a:pPr marL="0" indent="0" algn="ctr">
              <a:buNone/>
            </a:pPr>
            <a:r>
              <a:rPr lang="en-US" sz="950" dirty="0">
                <a:solidFill>
                  <a:srgbClr val="1A2A22"/>
                </a:solidFill>
              </a:rPr>
              <a:t>145,200</a:t>
            </a:r>
            <a:endParaRPr lang="en-US" sz="950" dirty="0"/>
          </a:p>
        </p:txBody>
      </p:sp>
      <p:sp>
        <p:nvSpPr>
          <p:cNvPr id="29" name="Shape 27"/>
          <p:cNvSpPr/>
          <p:nvPr/>
        </p:nvSpPr>
        <p:spPr>
          <a:xfrm>
            <a:off x="268165" y="2616239"/>
            <a:ext cx="1280160" cy="310896"/>
          </a:xfrm>
          <a:prstGeom prst="rect">
            <a:avLst/>
          </a:prstGeom>
          <a:solidFill>
            <a:srgbClr val="E8F5EE"/>
          </a:solidFill>
          <a:ln w="12700">
            <a:solidFill>
              <a:srgbClr val="DDEEEE"/>
            </a:solidFill>
            <a:prstDash val="solid"/>
          </a:ln>
        </p:spPr>
      </p:sp>
      <p:sp>
        <p:nvSpPr>
          <p:cNvPr id="30" name="Text 28"/>
          <p:cNvSpPr/>
          <p:nvPr/>
        </p:nvSpPr>
        <p:spPr>
          <a:xfrm>
            <a:off x="280035" y="2601821"/>
            <a:ext cx="1280160" cy="310896"/>
          </a:xfrm>
          <a:prstGeom prst="rect">
            <a:avLst/>
          </a:prstGeom>
          <a:noFill/>
          <a:ln/>
        </p:spPr>
        <p:txBody>
          <a:bodyPr wrap="square" rtlCol="0" anchor="ctr"/>
          <a:lstStyle/>
          <a:p>
            <a:pPr marL="0" indent="0" algn="ctr">
              <a:buNone/>
            </a:pPr>
            <a:r>
              <a:rPr lang="en-US" sz="950" dirty="0">
                <a:solidFill>
                  <a:srgbClr val="1A2A22"/>
                </a:solidFill>
              </a:rPr>
              <a:t>South</a:t>
            </a:r>
            <a:endParaRPr lang="en-US" sz="950" dirty="0"/>
          </a:p>
        </p:txBody>
      </p:sp>
      <p:sp>
        <p:nvSpPr>
          <p:cNvPr id="31" name="Shape 29"/>
          <p:cNvSpPr/>
          <p:nvPr/>
        </p:nvSpPr>
        <p:spPr>
          <a:xfrm>
            <a:off x="1554481" y="2609909"/>
            <a:ext cx="1325880" cy="310896"/>
          </a:xfrm>
          <a:prstGeom prst="rect">
            <a:avLst/>
          </a:prstGeom>
          <a:solidFill>
            <a:srgbClr val="E8F5EE"/>
          </a:solidFill>
          <a:ln w="12700">
            <a:solidFill>
              <a:srgbClr val="DDEEEE"/>
            </a:solidFill>
            <a:prstDash val="solid"/>
          </a:ln>
        </p:spPr>
      </p:sp>
      <p:sp>
        <p:nvSpPr>
          <p:cNvPr id="32" name="Text 30"/>
          <p:cNvSpPr/>
          <p:nvPr/>
        </p:nvSpPr>
        <p:spPr>
          <a:xfrm>
            <a:off x="1528763" y="2609381"/>
            <a:ext cx="1371600" cy="310896"/>
          </a:xfrm>
          <a:prstGeom prst="rect">
            <a:avLst/>
          </a:prstGeom>
          <a:noFill/>
          <a:ln/>
        </p:spPr>
        <p:txBody>
          <a:bodyPr wrap="square" rtlCol="0" anchor="ctr"/>
          <a:lstStyle/>
          <a:p>
            <a:pPr marL="0" indent="0" algn="ctr">
              <a:buNone/>
            </a:pPr>
            <a:r>
              <a:rPr lang="en-US" sz="950" dirty="0">
                <a:solidFill>
                  <a:srgbClr val="1A2A22"/>
                </a:solidFill>
              </a:rPr>
              <a:t>38,900</a:t>
            </a:r>
            <a:endParaRPr lang="en-US" sz="950" dirty="0"/>
          </a:p>
        </p:txBody>
      </p:sp>
      <p:sp>
        <p:nvSpPr>
          <p:cNvPr id="33" name="Shape 31"/>
          <p:cNvSpPr/>
          <p:nvPr/>
        </p:nvSpPr>
        <p:spPr>
          <a:xfrm>
            <a:off x="2886075" y="2609909"/>
            <a:ext cx="1371600" cy="310896"/>
          </a:xfrm>
          <a:prstGeom prst="rect">
            <a:avLst/>
          </a:prstGeom>
          <a:solidFill>
            <a:srgbClr val="E8F5EE"/>
          </a:solidFill>
          <a:ln w="12700">
            <a:solidFill>
              <a:srgbClr val="DDEEEE"/>
            </a:solidFill>
            <a:prstDash val="solid"/>
          </a:ln>
        </p:spPr>
      </p:sp>
      <p:sp>
        <p:nvSpPr>
          <p:cNvPr id="34" name="Text 32"/>
          <p:cNvSpPr/>
          <p:nvPr/>
        </p:nvSpPr>
        <p:spPr>
          <a:xfrm>
            <a:off x="2890362" y="2623272"/>
            <a:ext cx="1371600" cy="310896"/>
          </a:xfrm>
          <a:prstGeom prst="rect">
            <a:avLst/>
          </a:prstGeom>
          <a:noFill/>
          <a:ln/>
        </p:spPr>
        <p:txBody>
          <a:bodyPr wrap="square" rtlCol="0" anchor="ctr"/>
          <a:lstStyle/>
          <a:p>
            <a:pPr marL="0" indent="0" algn="ctr">
              <a:buNone/>
            </a:pPr>
            <a:r>
              <a:rPr lang="en-US" sz="950" dirty="0">
                <a:solidFill>
                  <a:srgbClr val="1A2A22"/>
                </a:solidFill>
              </a:rPr>
              <a:t>42,100</a:t>
            </a:r>
            <a:endParaRPr lang="en-US" sz="950" dirty="0"/>
          </a:p>
        </p:txBody>
      </p:sp>
      <p:sp>
        <p:nvSpPr>
          <p:cNvPr id="35" name="Shape 33"/>
          <p:cNvSpPr/>
          <p:nvPr/>
        </p:nvSpPr>
        <p:spPr>
          <a:xfrm>
            <a:off x="4274820" y="2601821"/>
            <a:ext cx="1371600" cy="310896"/>
          </a:xfrm>
          <a:prstGeom prst="rect">
            <a:avLst/>
          </a:prstGeom>
          <a:solidFill>
            <a:srgbClr val="E8F5EE"/>
          </a:solidFill>
          <a:ln w="12700">
            <a:solidFill>
              <a:srgbClr val="DDEEEE"/>
            </a:solidFill>
            <a:prstDash val="solid"/>
          </a:ln>
        </p:spPr>
      </p:sp>
      <p:sp>
        <p:nvSpPr>
          <p:cNvPr id="36" name="Text 34"/>
          <p:cNvSpPr/>
          <p:nvPr/>
        </p:nvSpPr>
        <p:spPr>
          <a:xfrm>
            <a:off x="4256247" y="2601821"/>
            <a:ext cx="1371600" cy="310896"/>
          </a:xfrm>
          <a:prstGeom prst="rect">
            <a:avLst/>
          </a:prstGeom>
          <a:noFill/>
          <a:ln/>
        </p:spPr>
        <p:txBody>
          <a:bodyPr wrap="square" rtlCol="0" anchor="ctr"/>
          <a:lstStyle/>
          <a:p>
            <a:pPr marL="0" indent="0" algn="ctr">
              <a:buNone/>
            </a:pPr>
            <a:r>
              <a:rPr lang="en-US" sz="950" dirty="0">
                <a:solidFill>
                  <a:srgbClr val="1A2A22"/>
                </a:solidFill>
              </a:rPr>
              <a:t>55,600</a:t>
            </a:r>
            <a:endParaRPr lang="en-US" sz="950" dirty="0"/>
          </a:p>
        </p:txBody>
      </p:sp>
      <p:sp>
        <p:nvSpPr>
          <p:cNvPr id="37" name="Shape 35"/>
          <p:cNvSpPr/>
          <p:nvPr/>
        </p:nvSpPr>
        <p:spPr>
          <a:xfrm>
            <a:off x="5669280" y="2616239"/>
            <a:ext cx="1554480" cy="310896"/>
          </a:xfrm>
          <a:prstGeom prst="rect">
            <a:avLst/>
          </a:prstGeom>
          <a:solidFill>
            <a:srgbClr val="E8F5EE"/>
          </a:solidFill>
          <a:ln w="12700">
            <a:solidFill>
              <a:srgbClr val="DDEEEE"/>
            </a:solidFill>
            <a:prstDash val="solid"/>
          </a:ln>
        </p:spPr>
      </p:sp>
      <p:sp>
        <p:nvSpPr>
          <p:cNvPr id="38" name="Text 36"/>
          <p:cNvSpPr/>
          <p:nvPr/>
        </p:nvSpPr>
        <p:spPr>
          <a:xfrm>
            <a:off x="5613559" y="2623272"/>
            <a:ext cx="1554480" cy="310896"/>
          </a:xfrm>
          <a:prstGeom prst="rect">
            <a:avLst/>
          </a:prstGeom>
          <a:noFill/>
          <a:ln/>
        </p:spPr>
        <p:txBody>
          <a:bodyPr wrap="square" rtlCol="0" anchor="ctr"/>
          <a:lstStyle/>
          <a:p>
            <a:pPr marL="0" indent="0" algn="ctr">
              <a:buNone/>
            </a:pPr>
            <a:r>
              <a:rPr lang="en-US" sz="950" dirty="0">
                <a:solidFill>
                  <a:srgbClr val="1A2A22"/>
                </a:solidFill>
              </a:rPr>
              <a:t>136,600</a:t>
            </a:r>
            <a:endParaRPr lang="en-US" sz="950" dirty="0"/>
          </a:p>
        </p:txBody>
      </p:sp>
      <p:sp>
        <p:nvSpPr>
          <p:cNvPr id="39" name="Shape 37"/>
          <p:cNvSpPr/>
          <p:nvPr/>
        </p:nvSpPr>
        <p:spPr>
          <a:xfrm>
            <a:off x="268165" y="2948061"/>
            <a:ext cx="1280160" cy="310896"/>
          </a:xfrm>
          <a:prstGeom prst="rect">
            <a:avLst/>
          </a:prstGeom>
          <a:solidFill>
            <a:srgbClr val="FFFFFF"/>
          </a:solidFill>
          <a:ln w="12700">
            <a:solidFill>
              <a:srgbClr val="DDEEEE"/>
            </a:solidFill>
            <a:prstDash val="solid"/>
          </a:ln>
        </p:spPr>
      </p:sp>
      <p:sp>
        <p:nvSpPr>
          <p:cNvPr id="40" name="Text 38"/>
          <p:cNvSpPr/>
          <p:nvPr/>
        </p:nvSpPr>
        <p:spPr>
          <a:xfrm>
            <a:off x="262010" y="2956150"/>
            <a:ext cx="1280160" cy="310896"/>
          </a:xfrm>
          <a:prstGeom prst="rect">
            <a:avLst/>
          </a:prstGeom>
          <a:noFill/>
          <a:ln/>
        </p:spPr>
        <p:txBody>
          <a:bodyPr wrap="square" rtlCol="0" anchor="ctr"/>
          <a:lstStyle/>
          <a:p>
            <a:pPr marL="0" indent="0" algn="ctr">
              <a:buNone/>
            </a:pPr>
            <a:r>
              <a:rPr lang="en-US" sz="950" dirty="0">
                <a:solidFill>
                  <a:srgbClr val="1A2A22"/>
                </a:solidFill>
              </a:rPr>
              <a:t>East</a:t>
            </a:r>
            <a:endParaRPr lang="en-US" sz="950" dirty="0"/>
          </a:p>
        </p:txBody>
      </p:sp>
      <p:sp>
        <p:nvSpPr>
          <p:cNvPr id="41" name="Shape 39"/>
          <p:cNvSpPr/>
          <p:nvPr/>
        </p:nvSpPr>
        <p:spPr>
          <a:xfrm>
            <a:off x="1567339" y="2941201"/>
            <a:ext cx="1325880" cy="310896"/>
          </a:xfrm>
          <a:prstGeom prst="rect">
            <a:avLst/>
          </a:prstGeom>
          <a:solidFill>
            <a:srgbClr val="FFFFFF"/>
          </a:solidFill>
          <a:ln w="12700">
            <a:solidFill>
              <a:srgbClr val="DDEEEE"/>
            </a:solidFill>
            <a:prstDash val="solid"/>
          </a:ln>
        </p:spPr>
        <p:txBody>
          <a:bodyPr/>
          <a:lstStyle/>
          <a:p>
            <a:endParaRPr lang="en-IN" dirty="0"/>
          </a:p>
        </p:txBody>
      </p:sp>
      <p:sp>
        <p:nvSpPr>
          <p:cNvPr id="42" name="Text 40"/>
          <p:cNvSpPr/>
          <p:nvPr/>
        </p:nvSpPr>
        <p:spPr>
          <a:xfrm>
            <a:off x="1513047" y="2941201"/>
            <a:ext cx="1371600" cy="310896"/>
          </a:xfrm>
          <a:prstGeom prst="rect">
            <a:avLst/>
          </a:prstGeom>
          <a:noFill/>
          <a:ln/>
        </p:spPr>
        <p:txBody>
          <a:bodyPr wrap="square" rtlCol="0" anchor="ctr"/>
          <a:lstStyle/>
          <a:p>
            <a:pPr marL="0" indent="0" algn="ctr">
              <a:buNone/>
            </a:pPr>
            <a:r>
              <a:rPr lang="en-US" sz="950" dirty="0">
                <a:solidFill>
                  <a:srgbClr val="1A2A22"/>
                </a:solidFill>
              </a:rPr>
              <a:t>62,400</a:t>
            </a:r>
            <a:endParaRPr lang="en-US" sz="950" dirty="0"/>
          </a:p>
        </p:txBody>
      </p:sp>
      <p:sp>
        <p:nvSpPr>
          <p:cNvPr id="43" name="Shape 41"/>
          <p:cNvSpPr/>
          <p:nvPr/>
        </p:nvSpPr>
        <p:spPr>
          <a:xfrm>
            <a:off x="2909649" y="2941201"/>
            <a:ext cx="1346598" cy="310896"/>
          </a:xfrm>
          <a:prstGeom prst="rect">
            <a:avLst/>
          </a:prstGeom>
          <a:solidFill>
            <a:srgbClr val="FFFFFF"/>
          </a:solidFill>
          <a:ln w="12700">
            <a:solidFill>
              <a:srgbClr val="DDEEEE"/>
            </a:solidFill>
            <a:prstDash val="solid"/>
          </a:ln>
        </p:spPr>
      </p:sp>
      <p:sp>
        <p:nvSpPr>
          <p:cNvPr id="44" name="Text 42"/>
          <p:cNvSpPr/>
          <p:nvPr/>
        </p:nvSpPr>
        <p:spPr>
          <a:xfrm>
            <a:off x="2879646" y="2962125"/>
            <a:ext cx="1371600" cy="310896"/>
          </a:xfrm>
          <a:prstGeom prst="rect">
            <a:avLst/>
          </a:prstGeom>
          <a:noFill/>
          <a:ln/>
        </p:spPr>
        <p:txBody>
          <a:bodyPr wrap="square" rtlCol="0" anchor="ctr"/>
          <a:lstStyle/>
          <a:p>
            <a:pPr marL="0" indent="0" algn="ctr">
              <a:buNone/>
            </a:pPr>
            <a:r>
              <a:rPr lang="en-US" sz="950" dirty="0">
                <a:solidFill>
                  <a:srgbClr val="1A2A22"/>
                </a:solidFill>
              </a:rPr>
              <a:t>58,200</a:t>
            </a:r>
            <a:endParaRPr lang="en-US" sz="950" dirty="0"/>
          </a:p>
        </p:txBody>
      </p:sp>
      <p:sp>
        <p:nvSpPr>
          <p:cNvPr id="45" name="Shape 43"/>
          <p:cNvSpPr/>
          <p:nvPr/>
        </p:nvSpPr>
        <p:spPr>
          <a:xfrm>
            <a:off x="4286250" y="2934168"/>
            <a:ext cx="1371600" cy="310896"/>
          </a:xfrm>
          <a:prstGeom prst="rect">
            <a:avLst/>
          </a:prstGeom>
          <a:solidFill>
            <a:srgbClr val="FFFFFF"/>
          </a:solidFill>
          <a:ln w="12700">
            <a:solidFill>
              <a:srgbClr val="DDEEEE"/>
            </a:solidFill>
            <a:prstDash val="solid"/>
          </a:ln>
        </p:spPr>
      </p:sp>
      <p:sp>
        <p:nvSpPr>
          <p:cNvPr id="46" name="Text 44"/>
          <p:cNvSpPr/>
          <p:nvPr/>
        </p:nvSpPr>
        <p:spPr>
          <a:xfrm>
            <a:off x="4271962" y="2955619"/>
            <a:ext cx="1371600" cy="310896"/>
          </a:xfrm>
          <a:prstGeom prst="rect">
            <a:avLst/>
          </a:prstGeom>
          <a:noFill/>
          <a:ln/>
        </p:spPr>
        <p:txBody>
          <a:bodyPr wrap="square" rtlCol="0" anchor="ctr"/>
          <a:lstStyle/>
          <a:p>
            <a:pPr marL="0" indent="0" algn="ctr">
              <a:buNone/>
            </a:pPr>
            <a:r>
              <a:rPr lang="en-US" sz="950" dirty="0">
                <a:solidFill>
                  <a:srgbClr val="1A2A22"/>
                </a:solidFill>
              </a:rPr>
              <a:t>70,100</a:t>
            </a:r>
            <a:endParaRPr lang="en-US" sz="950" dirty="0"/>
          </a:p>
        </p:txBody>
      </p:sp>
      <p:sp>
        <p:nvSpPr>
          <p:cNvPr id="47" name="Shape 45"/>
          <p:cNvSpPr/>
          <p:nvPr/>
        </p:nvSpPr>
        <p:spPr>
          <a:xfrm>
            <a:off x="5680710" y="2948061"/>
            <a:ext cx="1543050" cy="310896"/>
          </a:xfrm>
          <a:prstGeom prst="rect">
            <a:avLst/>
          </a:prstGeom>
          <a:solidFill>
            <a:srgbClr val="FFFFFF"/>
          </a:solidFill>
          <a:ln w="12700">
            <a:solidFill>
              <a:srgbClr val="DDEEEE"/>
            </a:solidFill>
            <a:prstDash val="solid"/>
          </a:ln>
        </p:spPr>
      </p:sp>
      <p:sp>
        <p:nvSpPr>
          <p:cNvPr id="48" name="Text 46"/>
          <p:cNvSpPr/>
          <p:nvPr/>
        </p:nvSpPr>
        <p:spPr>
          <a:xfrm>
            <a:off x="5627847" y="2934168"/>
            <a:ext cx="1554480" cy="310896"/>
          </a:xfrm>
          <a:prstGeom prst="rect">
            <a:avLst/>
          </a:prstGeom>
          <a:noFill/>
          <a:ln/>
        </p:spPr>
        <p:txBody>
          <a:bodyPr wrap="square" rtlCol="0" anchor="ctr"/>
          <a:lstStyle/>
          <a:p>
            <a:pPr marL="0" indent="0" algn="ctr">
              <a:buNone/>
            </a:pPr>
            <a:r>
              <a:rPr lang="en-US" sz="950" dirty="0">
                <a:solidFill>
                  <a:srgbClr val="1A2A22"/>
                </a:solidFill>
              </a:rPr>
              <a:t>190,700</a:t>
            </a:r>
            <a:endParaRPr lang="en-US" sz="950" dirty="0"/>
          </a:p>
        </p:txBody>
      </p:sp>
      <p:sp>
        <p:nvSpPr>
          <p:cNvPr id="49" name="Shape 47"/>
          <p:cNvSpPr/>
          <p:nvPr/>
        </p:nvSpPr>
        <p:spPr>
          <a:xfrm>
            <a:off x="268165" y="3281289"/>
            <a:ext cx="1280160" cy="310896"/>
          </a:xfrm>
          <a:prstGeom prst="rect">
            <a:avLst/>
          </a:prstGeom>
          <a:solidFill>
            <a:srgbClr val="E8F5EE"/>
          </a:solidFill>
          <a:ln w="12700">
            <a:solidFill>
              <a:srgbClr val="DDEEEE"/>
            </a:solidFill>
            <a:prstDash val="solid"/>
          </a:ln>
        </p:spPr>
      </p:sp>
      <p:sp>
        <p:nvSpPr>
          <p:cNvPr id="50" name="Text 48"/>
          <p:cNvSpPr/>
          <p:nvPr/>
        </p:nvSpPr>
        <p:spPr>
          <a:xfrm>
            <a:off x="260748" y="3281289"/>
            <a:ext cx="1280160" cy="310896"/>
          </a:xfrm>
          <a:prstGeom prst="rect">
            <a:avLst/>
          </a:prstGeom>
          <a:noFill/>
          <a:ln/>
        </p:spPr>
        <p:txBody>
          <a:bodyPr wrap="square" rtlCol="0" anchor="ctr"/>
          <a:lstStyle/>
          <a:p>
            <a:pPr marL="0" indent="0" algn="ctr">
              <a:buNone/>
            </a:pPr>
            <a:r>
              <a:rPr lang="en-US" sz="950" dirty="0">
                <a:solidFill>
                  <a:srgbClr val="1A2A22"/>
                </a:solidFill>
              </a:rPr>
              <a:t>West</a:t>
            </a:r>
            <a:endParaRPr lang="en-US" sz="950" dirty="0"/>
          </a:p>
        </p:txBody>
      </p:sp>
      <p:sp>
        <p:nvSpPr>
          <p:cNvPr id="51" name="Shape 49"/>
          <p:cNvSpPr/>
          <p:nvPr/>
        </p:nvSpPr>
        <p:spPr>
          <a:xfrm>
            <a:off x="1575114" y="3281289"/>
            <a:ext cx="1318022" cy="310896"/>
          </a:xfrm>
          <a:prstGeom prst="rect">
            <a:avLst/>
          </a:prstGeom>
          <a:solidFill>
            <a:srgbClr val="E8F5EE"/>
          </a:solidFill>
          <a:ln w="12700">
            <a:solidFill>
              <a:srgbClr val="DDEEEE"/>
            </a:solidFill>
            <a:prstDash val="solid"/>
          </a:ln>
        </p:spPr>
      </p:sp>
      <p:sp>
        <p:nvSpPr>
          <p:cNvPr id="52" name="Text 50"/>
          <p:cNvSpPr/>
          <p:nvPr/>
        </p:nvSpPr>
        <p:spPr>
          <a:xfrm>
            <a:off x="1512965" y="3259308"/>
            <a:ext cx="1371600" cy="310896"/>
          </a:xfrm>
          <a:prstGeom prst="rect">
            <a:avLst/>
          </a:prstGeom>
          <a:noFill/>
          <a:ln/>
        </p:spPr>
        <p:txBody>
          <a:bodyPr wrap="square" rtlCol="0" anchor="ctr"/>
          <a:lstStyle/>
          <a:p>
            <a:pPr marL="0" indent="0" algn="ctr">
              <a:buNone/>
            </a:pPr>
            <a:r>
              <a:rPr lang="en-US" sz="950" dirty="0">
                <a:solidFill>
                  <a:srgbClr val="1A2A22"/>
                </a:solidFill>
              </a:rPr>
              <a:t>29,800</a:t>
            </a:r>
            <a:endParaRPr lang="en-US" sz="950" dirty="0"/>
          </a:p>
        </p:txBody>
      </p:sp>
      <p:sp>
        <p:nvSpPr>
          <p:cNvPr id="53" name="Shape 51"/>
          <p:cNvSpPr/>
          <p:nvPr/>
        </p:nvSpPr>
        <p:spPr>
          <a:xfrm>
            <a:off x="2914650" y="3273021"/>
            <a:ext cx="1371600" cy="310896"/>
          </a:xfrm>
          <a:prstGeom prst="rect">
            <a:avLst/>
          </a:prstGeom>
          <a:solidFill>
            <a:srgbClr val="E8F5EE"/>
          </a:solidFill>
          <a:ln w="12700">
            <a:solidFill>
              <a:srgbClr val="DDEEEE"/>
            </a:solidFill>
            <a:prstDash val="solid"/>
          </a:ln>
        </p:spPr>
      </p:sp>
      <p:sp>
        <p:nvSpPr>
          <p:cNvPr id="54" name="Text 52"/>
          <p:cNvSpPr/>
          <p:nvPr/>
        </p:nvSpPr>
        <p:spPr>
          <a:xfrm>
            <a:off x="2900280" y="3273021"/>
            <a:ext cx="1371600" cy="310896"/>
          </a:xfrm>
          <a:prstGeom prst="rect">
            <a:avLst/>
          </a:prstGeom>
          <a:noFill/>
          <a:ln/>
        </p:spPr>
        <p:txBody>
          <a:bodyPr wrap="square" rtlCol="0" anchor="ctr"/>
          <a:lstStyle/>
          <a:p>
            <a:pPr marL="0" indent="0" algn="ctr">
              <a:buNone/>
            </a:pPr>
            <a:r>
              <a:rPr lang="en-US" sz="950" dirty="0">
                <a:solidFill>
                  <a:srgbClr val="1A2A22"/>
                </a:solidFill>
              </a:rPr>
              <a:t>33,500</a:t>
            </a:r>
            <a:endParaRPr lang="en-US" sz="950" dirty="0"/>
          </a:p>
        </p:txBody>
      </p:sp>
      <p:sp>
        <p:nvSpPr>
          <p:cNvPr id="55" name="Shape 53"/>
          <p:cNvSpPr/>
          <p:nvPr/>
        </p:nvSpPr>
        <p:spPr>
          <a:xfrm>
            <a:off x="4313395" y="3266515"/>
            <a:ext cx="1339180" cy="310896"/>
          </a:xfrm>
          <a:prstGeom prst="rect">
            <a:avLst/>
          </a:prstGeom>
          <a:solidFill>
            <a:srgbClr val="E8F5EE"/>
          </a:solidFill>
          <a:ln w="12700">
            <a:solidFill>
              <a:srgbClr val="DDEEEE"/>
            </a:solidFill>
            <a:prstDash val="solid"/>
          </a:ln>
        </p:spPr>
      </p:sp>
      <p:sp>
        <p:nvSpPr>
          <p:cNvPr id="56" name="Text 54"/>
          <p:cNvSpPr/>
          <p:nvPr/>
        </p:nvSpPr>
        <p:spPr>
          <a:xfrm>
            <a:off x="4283612" y="3266515"/>
            <a:ext cx="1371600" cy="310896"/>
          </a:xfrm>
          <a:prstGeom prst="rect">
            <a:avLst/>
          </a:prstGeom>
          <a:noFill/>
          <a:ln/>
        </p:spPr>
        <p:txBody>
          <a:bodyPr wrap="square" rtlCol="0" anchor="ctr"/>
          <a:lstStyle/>
          <a:p>
            <a:pPr marL="0" indent="0" algn="ctr">
              <a:buNone/>
            </a:pPr>
            <a:r>
              <a:rPr lang="en-US" sz="950" dirty="0">
                <a:solidFill>
                  <a:srgbClr val="1A2A22"/>
                </a:solidFill>
              </a:rPr>
              <a:t>37,200</a:t>
            </a:r>
            <a:endParaRPr lang="en-US" sz="950" dirty="0"/>
          </a:p>
        </p:txBody>
      </p:sp>
      <p:sp>
        <p:nvSpPr>
          <p:cNvPr id="57" name="Shape 55"/>
          <p:cNvSpPr/>
          <p:nvPr/>
        </p:nvSpPr>
        <p:spPr>
          <a:xfrm>
            <a:off x="5684995" y="3281289"/>
            <a:ext cx="1554480" cy="310896"/>
          </a:xfrm>
          <a:prstGeom prst="rect">
            <a:avLst/>
          </a:prstGeom>
          <a:solidFill>
            <a:srgbClr val="E8F5EE"/>
          </a:solidFill>
          <a:ln w="12700">
            <a:solidFill>
              <a:srgbClr val="DDEEEE"/>
            </a:solidFill>
            <a:prstDash val="solid"/>
          </a:ln>
        </p:spPr>
      </p:sp>
      <p:sp>
        <p:nvSpPr>
          <p:cNvPr id="58" name="Text 56"/>
          <p:cNvSpPr/>
          <p:nvPr/>
        </p:nvSpPr>
        <p:spPr>
          <a:xfrm>
            <a:off x="5646420" y="3294653"/>
            <a:ext cx="1554480" cy="310896"/>
          </a:xfrm>
          <a:prstGeom prst="rect">
            <a:avLst/>
          </a:prstGeom>
          <a:noFill/>
          <a:ln/>
        </p:spPr>
        <p:txBody>
          <a:bodyPr wrap="square" rtlCol="0" anchor="ctr"/>
          <a:lstStyle/>
          <a:p>
            <a:pPr marL="0" indent="0" algn="ctr">
              <a:buNone/>
            </a:pPr>
            <a:r>
              <a:rPr lang="en-US" sz="950" dirty="0">
                <a:solidFill>
                  <a:srgbClr val="1A2A22"/>
                </a:solidFill>
              </a:rPr>
              <a:t>100,500</a:t>
            </a:r>
            <a:endParaRPr lang="en-US" sz="950" dirty="0"/>
          </a:p>
        </p:txBody>
      </p:sp>
      <p:sp>
        <p:nvSpPr>
          <p:cNvPr id="59" name="Text 57"/>
          <p:cNvSpPr/>
          <p:nvPr/>
        </p:nvSpPr>
        <p:spPr>
          <a:xfrm>
            <a:off x="320040" y="3570204"/>
            <a:ext cx="8229600" cy="274320"/>
          </a:xfrm>
          <a:prstGeom prst="rect">
            <a:avLst/>
          </a:prstGeom>
          <a:noFill/>
          <a:ln/>
        </p:spPr>
        <p:txBody>
          <a:bodyPr wrap="square" lIns="0" tIns="0" rIns="0" bIns="0" rtlCol="0" anchor="ctr"/>
          <a:lstStyle/>
          <a:p>
            <a:pPr marL="0" indent="0">
              <a:buNone/>
            </a:pPr>
            <a:r>
              <a:rPr lang="en-US" sz="1100" b="1" dirty="0">
                <a:solidFill>
                  <a:srgbClr val="1B7A4D"/>
                </a:solidFill>
              </a:rPr>
              <a:t>Formula Examples:</a:t>
            </a:r>
            <a:endParaRPr lang="en-US" sz="1100" dirty="0"/>
          </a:p>
        </p:txBody>
      </p:sp>
      <p:sp>
        <p:nvSpPr>
          <p:cNvPr id="60" name="Shape 58"/>
          <p:cNvSpPr/>
          <p:nvPr/>
        </p:nvSpPr>
        <p:spPr>
          <a:xfrm>
            <a:off x="274320" y="3822192"/>
            <a:ext cx="8595360" cy="292608"/>
          </a:xfrm>
          <a:prstGeom prst="roundRect">
            <a:avLst>
              <a:gd name="adj" fmla="val 12500"/>
            </a:avLst>
          </a:prstGeom>
          <a:solidFill>
            <a:srgbClr val="E8F5EE"/>
          </a:solidFill>
          <a:ln/>
        </p:spPr>
      </p:sp>
      <p:sp>
        <p:nvSpPr>
          <p:cNvPr id="61" name="Text 59"/>
          <p:cNvSpPr/>
          <p:nvPr/>
        </p:nvSpPr>
        <p:spPr>
          <a:xfrm>
            <a:off x="411480" y="3849624"/>
            <a:ext cx="4389120" cy="237744"/>
          </a:xfrm>
          <a:prstGeom prst="rect">
            <a:avLst/>
          </a:prstGeom>
          <a:noFill/>
          <a:ln/>
        </p:spPr>
        <p:txBody>
          <a:bodyPr wrap="square" lIns="0" tIns="0" rIns="0" bIns="0" rtlCol="0" anchor="ctr"/>
          <a:lstStyle/>
          <a:p>
            <a:pPr marL="0" indent="0">
              <a:buNone/>
            </a:pPr>
            <a:r>
              <a:rPr lang="en-US" sz="900" b="1" dirty="0">
                <a:solidFill>
                  <a:srgbClr val="0A5C38"/>
                </a:solidFill>
                <a:latin typeface="Courier New" pitchFamily="34" charset="0"/>
                <a:ea typeface="Courier New" pitchFamily="34" charset="-122"/>
                <a:cs typeface="Courier New" pitchFamily="34" charset="-120"/>
              </a:rPr>
              <a:t>=HLOOKUP("Feb", $A$1:$E$5, 3, FALSE)</a:t>
            </a:r>
            <a:endParaRPr lang="en-US" sz="900" dirty="0"/>
          </a:p>
        </p:txBody>
      </p:sp>
      <p:sp>
        <p:nvSpPr>
          <p:cNvPr id="62" name="Text 60"/>
          <p:cNvSpPr/>
          <p:nvPr/>
        </p:nvSpPr>
        <p:spPr>
          <a:xfrm>
            <a:off x="4846320" y="3849624"/>
            <a:ext cx="3931920" cy="237744"/>
          </a:xfrm>
          <a:prstGeom prst="rect">
            <a:avLst/>
          </a:prstGeom>
          <a:noFill/>
          <a:ln/>
        </p:spPr>
        <p:txBody>
          <a:bodyPr wrap="square" lIns="0" tIns="0" rIns="0" bIns="0" rtlCol="0" anchor="ctr"/>
          <a:lstStyle/>
          <a:p>
            <a:pPr marL="0" indent="0">
              <a:buNone/>
            </a:pPr>
            <a:r>
              <a:rPr lang="en-US" sz="950" b="1" dirty="0">
                <a:solidFill>
                  <a:srgbClr val="1B7A4D"/>
                </a:solidFill>
              </a:rPr>
              <a:t>→  South's Feb sales = 42,100  (row 3 = South)</a:t>
            </a:r>
            <a:endParaRPr lang="en-US" sz="950" dirty="0"/>
          </a:p>
        </p:txBody>
      </p:sp>
      <p:sp>
        <p:nvSpPr>
          <p:cNvPr id="63" name="Shape 61"/>
          <p:cNvSpPr/>
          <p:nvPr/>
        </p:nvSpPr>
        <p:spPr>
          <a:xfrm>
            <a:off x="274320" y="4169664"/>
            <a:ext cx="8595360" cy="292608"/>
          </a:xfrm>
          <a:prstGeom prst="roundRect">
            <a:avLst>
              <a:gd name="adj" fmla="val 12500"/>
            </a:avLst>
          </a:prstGeom>
          <a:solidFill>
            <a:srgbClr val="FFFFFF"/>
          </a:solidFill>
          <a:ln/>
        </p:spPr>
      </p:sp>
      <p:sp>
        <p:nvSpPr>
          <p:cNvPr id="64" name="Text 62"/>
          <p:cNvSpPr/>
          <p:nvPr/>
        </p:nvSpPr>
        <p:spPr>
          <a:xfrm>
            <a:off x="411480" y="4197096"/>
            <a:ext cx="4389120" cy="237744"/>
          </a:xfrm>
          <a:prstGeom prst="rect">
            <a:avLst/>
          </a:prstGeom>
          <a:noFill/>
          <a:ln/>
        </p:spPr>
        <p:txBody>
          <a:bodyPr wrap="square" lIns="0" tIns="0" rIns="0" bIns="0" rtlCol="0" anchor="ctr"/>
          <a:lstStyle/>
          <a:p>
            <a:pPr marL="0" indent="0">
              <a:buNone/>
            </a:pPr>
            <a:r>
              <a:rPr lang="en-US" sz="900" b="1" dirty="0">
                <a:solidFill>
                  <a:srgbClr val="0A5C38"/>
                </a:solidFill>
                <a:latin typeface="Courier New" pitchFamily="34" charset="0"/>
                <a:ea typeface="Courier New" pitchFamily="34" charset="-122"/>
                <a:cs typeface="Courier New" pitchFamily="34" charset="-120"/>
              </a:rPr>
              <a:t>=HLOOKUP("Q1 Total", $A$1:$E$5, 4, FALSE)</a:t>
            </a:r>
            <a:endParaRPr lang="en-US" sz="900" dirty="0"/>
          </a:p>
        </p:txBody>
      </p:sp>
      <p:sp>
        <p:nvSpPr>
          <p:cNvPr id="65" name="Text 63"/>
          <p:cNvSpPr/>
          <p:nvPr/>
        </p:nvSpPr>
        <p:spPr>
          <a:xfrm>
            <a:off x="4846320" y="4197096"/>
            <a:ext cx="3931920" cy="237744"/>
          </a:xfrm>
          <a:prstGeom prst="rect">
            <a:avLst/>
          </a:prstGeom>
          <a:noFill/>
          <a:ln/>
        </p:spPr>
        <p:txBody>
          <a:bodyPr wrap="square" lIns="0" tIns="0" rIns="0" bIns="0" rtlCol="0" anchor="ctr"/>
          <a:lstStyle/>
          <a:p>
            <a:pPr marL="0" indent="0">
              <a:buNone/>
            </a:pPr>
            <a:r>
              <a:rPr lang="en-US" sz="950" b="1" dirty="0">
                <a:solidFill>
                  <a:srgbClr val="1B7A4D"/>
                </a:solidFill>
              </a:rPr>
              <a:t>→  East's Q1 Total = 190,700  (row 4 = East)</a:t>
            </a:r>
            <a:endParaRPr lang="en-US" sz="950" dirty="0"/>
          </a:p>
        </p:txBody>
      </p:sp>
      <p:sp>
        <p:nvSpPr>
          <p:cNvPr id="66" name="Shape 64"/>
          <p:cNvSpPr/>
          <p:nvPr/>
        </p:nvSpPr>
        <p:spPr>
          <a:xfrm>
            <a:off x="274320" y="4517136"/>
            <a:ext cx="8595360" cy="292608"/>
          </a:xfrm>
          <a:prstGeom prst="roundRect">
            <a:avLst>
              <a:gd name="adj" fmla="val 12500"/>
            </a:avLst>
          </a:prstGeom>
          <a:solidFill>
            <a:srgbClr val="E8F5EE"/>
          </a:solidFill>
          <a:ln/>
        </p:spPr>
      </p:sp>
      <p:sp>
        <p:nvSpPr>
          <p:cNvPr id="67" name="Text 65"/>
          <p:cNvSpPr/>
          <p:nvPr/>
        </p:nvSpPr>
        <p:spPr>
          <a:xfrm>
            <a:off x="411480" y="4544568"/>
            <a:ext cx="4389120" cy="237744"/>
          </a:xfrm>
          <a:prstGeom prst="rect">
            <a:avLst/>
          </a:prstGeom>
          <a:noFill/>
          <a:ln/>
        </p:spPr>
        <p:txBody>
          <a:bodyPr wrap="square" lIns="0" tIns="0" rIns="0" bIns="0" rtlCol="0" anchor="ctr"/>
          <a:lstStyle/>
          <a:p>
            <a:pPr marL="0" indent="0">
              <a:buNone/>
            </a:pPr>
            <a:r>
              <a:rPr lang="en-US" sz="900" b="1" dirty="0">
                <a:solidFill>
                  <a:srgbClr val="0A5C38"/>
                </a:solidFill>
                <a:latin typeface="Courier New" pitchFamily="34" charset="0"/>
                <a:ea typeface="Courier New" pitchFamily="34" charset="-122"/>
                <a:cs typeface="Courier New" pitchFamily="34" charset="-120"/>
              </a:rPr>
              <a:t>=HLOOKUP(D1, MonthlyData, 4, FALSE)</a:t>
            </a:r>
            <a:endParaRPr lang="en-US" sz="900" dirty="0"/>
          </a:p>
        </p:txBody>
      </p:sp>
      <p:sp>
        <p:nvSpPr>
          <p:cNvPr id="68" name="Text 66"/>
          <p:cNvSpPr/>
          <p:nvPr/>
        </p:nvSpPr>
        <p:spPr>
          <a:xfrm>
            <a:off x="4846320" y="4544568"/>
            <a:ext cx="3931920" cy="237744"/>
          </a:xfrm>
          <a:prstGeom prst="rect">
            <a:avLst/>
          </a:prstGeom>
          <a:noFill/>
          <a:ln/>
        </p:spPr>
        <p:txBody>
          <a:bodyPr wrap="square" lIns="0" tIns="0" rIns="0" bIns="0" rtlCol="0" anchor="ctr"/>
          <a:lstStyle/>
          <a:p>
            <a:pPr marL="0" indent="0">
              <a:buNone/>
            </a:pPr>
            <a:r>
              <a:rPr lang="en-US" sz="950" b="1" dirty="0">
                <a:solidFill>
                  <a:srgbClr val="1B7A4D"/>
                </a:solidFill>
              </a:rPr>
              <a:t>→  Dynamic: D1 contains month name, returns row 4</a:t>
            </a:r>
            <a:endParaRPr lang="en-US" sz="950" dirty="0"/>
          </a:p>
        </p:txBody>
      </p:sp>
      <p:sp>
        <p:nvSpPr>
          <p:cNvPr id="70" name="Text 68"/>
          <p:cNvSpPr/>
          <p:nvPr/>
        </p:nvSpPr>
        <p:spPr>
          <a:xfrm>
            <a:off x="280035" y="4808337"/>
            <a:ext cx="8321040" cy="329184"/>
          </a:xfrm>
          <a:prstGeom prst="rect">
            <a:avLst/>
          </a:prstGeom>
          <a:noFill/>
          <a:ln/>
        </p:spPr>
        <p:txBody>
          <a:bodyPr wrap="square" rtlCol="0" anchor="ctr"/>
          <a:lstStyle/>
          <a:p>
            <a:pPr marL="0" indent="0">
              <a:buNone/>
            </a:pPr>
            <a:r>
              <a:rPr lang="en-US" sz="950" i="1" dirty="0">
                <a:solidFill>
                  <a:srgbClr val="0A5C38"/>
                </a:solidFill>
              </a:rPr>
              <a:t>💡  HLOOKUP shines in financial models where months/quarters are column headers. If you find yourself using it often, consider transposing data to a vertical layout for easier analysis.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7A4D"/>
          </a:solidFill>
          <a:ln/>
        </p:spPr>
      </p:sp>
      <p:sp>
        <p:nvSpPr>
          <p:cNvPr id="3" name="Text 1"/>
          <p:cNvSpPr/>
          <p:nvPr/>
        </p:nvSpPr>
        <p:spPr>
          <a:xfrm>
            <a:off x="274320" y="91440"/>
            <a:ext cx="731520" cy="365760"/>
          </a:xfrm>
          <a:prstGeom prst="rect">
            <a:avLst/>
          </a:prstGeom>
          <a:noFill/>
          <a:ln/>
        </p:spPr>
        <p:txBody>
          <a:bodyPr wrap="square" lIns="0" tIns="0" rIns="0" bIns="0" rtlCol="0" anchor="ctr"/>
          <a:lstStyle/>
          <a:p>
            <a:pPr marL="0" indent="0">
              <a:buNone/>
            </a:pPr>
            <a:r>
              <a:rPr lang="en-US" sz="1100" b="1" dirty="0">
                <a:solidFill>
                  <a:srgbClr val="A8D5BA"/>
                </a:solidFill>
              </a:rPr>
              <a:t>07</a:t>
            </a:r>
            <a:endParaRPr lang="en-US" sz="1100" dirty="0"/>
          </a:p>
        </p:txBody>
      </p:sp>
      <p:sp>
        <p:nvSpPr>
          <p:cNvPr id="4" name="Text 2"/>
          <p:cNvSpPr/>
          <p:nvPr/>
        </p:nvSpPr>
        <p:spPr>
          <a:xfrm>
            <a:off x="274320" y="411480"/>
            <a:ext cx="8229600" cy="50292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INDEX + MATCH: The Professional Standard</a:t>
            </a:r>
            <a:endParaRPr lang="en-US" sz="2000" dirty="0"/>
          </a:p>
        </p:txBody>
      </p:sp>
      <p:sp>
        <p:nvSpPr>
          <p:cNvPr id="5" name="Text 3"/>
          <p:cNvSpPr/>
          <p:nvPr/>
        </p:nvSpPr>
        <p:spPr>
          <a:xfrm>
            <a:off x="274320" y="758952"/>
            <a:ext cx="8229600" cy="228600"/>
          </a:xfrm>
          <a:prstGeom prst="rect">
            <a:avLst/>
          </a:prstGeom>
          <a:noFill/>
          <a:ln/>
        </p:spPr>
        <p:txBody>
          <a:bodyPr wrap="square" lIns="0" tIns="0" rIns="0" bIns="0" rtlCol="0" anchor="ctr"/>
          <a:lstStyle/>
          <a:p>
            <a:pPr marL="0" indent="0">
              <a:buNone/>
            </a:pPr>
            <a:r>
              <a:rPr lang="en-US" sz="1000" dirty="0">
                <a:solidFill>
                  <a:srgbClr val="A8D5BA"/>
                </a:solidFill>
              </a:rPr>
              <a:t>The analyst's go-to for complex, flexible lookups — unlimited direction, faster performance</a:t>
            </a:r>
            <a:endParaRPr lang="en-US" sz="1000" dirty="0"/>
          </a:p>
        </p:txBody>
      </p:sp>
      <p:sp>
        <p:nvSpPr>
          <p:cNvPr id="6" name="Shape 4"/>
          <p:cNvSpPr/>
          <p:nvPr/>
        </p:nvSpPr>
        <p:spPr>
          <a:xfrm>
            <a:off x="274320" y="1097280"/>
            <a:ext cx="8595360" cy="1005840"/>
          </a:xfrm>
          <a:prstGeom prst="roundRect">
            <a:avLst>
              <a:gd name="adj" fmla="val 7273"/>
            </a:avLst>
          </a:prstGeom>
          <a:solidFill>
            <a:srgbClr val="E8F5EE"/>
          </a:solidFill>
          <a:ln/>
        </p:spPr>
      </p:sp>
      <p:sp>
        <p:nvSpPr>
          <p:cNvPr id="7" name="Shape 5"/>
          <p:cNvSpPr/>
          <p:nvPr/>
        </p:nvSpPr>
        <p:spPr>
          <a:xfrm>
            <a:off x="365760" y="1371600"/>
            <a:ext cx="548640" cy="457200"/>
          </a:xfrm>
          <a:prstGeom prst="ellipse">
            <a:avLst/>
          </a:prstGeom>
          <a:solidFill>
            <a:srgbClr val="1B7A4D"/>
          </a:solidFill>
          <a:ln/>
        </p:spPr>
      </p:sp>
      <p:sp>
        <p:nvSpPr>
          <p:cNvPr id="8" name="Text 6"/>
          <p:cNvSpPr/>
          <p:nvPr/>
        </p:nvSpPr>
        <p:spPr>
          <a:xfrm>
            <a:off x="365760" y="1371600"/>
            <a:ext cx="548640" cy="457200"/>
          </a:xfrm>
          <a:prstGeom prst="rect">
            <a:avLst/>
          </a:prstGeom>
          <a:noFill/>
          <a:ln/>
        </p:spPr>
        <p:txBody>
          <a:bodyPr wrap="square" rtlCol="0" anchor="ctr"/>
          <a:lstStyle/>
          <a:p>
            <a:pPr marL="0" indent="0" algn="ctr">
              <a:buNone/>
            </a:pPr>
            <a:r>
              <a:rPr lang="en-US" sz="1000" b="1" dirty="0">
                <a:solidFill>
                  <a:srgbClr val="FFFFFF"/>
                </a:solidFill>
              </a:rPr>
              <a:t>MATCH</a:t>
            </a:r>
            <a:endParaRPr lang="en-US" sz="1000" dirty="0"/>
          </a:p>
        </p:txBody>
      </p:sp>
      <p:sp>
        <p:nvSpPr>
          <p:cNvPr id="9" name="Text 7"/>
          <p:cNvSpPr/>
          <p:nvPr/>
        </p:nvSpPr>
        <p:spPr>
          <a:xfrm>
            <a:off x="1005840" y="1188720"/>
            <a:ext cx="7680960" cy="292608"/>
          </a:xfrm>
          <a:prstGeom prst="rect">
            <a:avLst/>
          </a:prstGeom>
          <a:noFill/>
          <a:ln/>
        </p:spPr>
        <p:txBody>
          <a:bodyPr wrap="square" lIns="0" tIns="0" rIns="0" bIns="0" rtlCol="0" anchor="ctr"/>
          <a:lstStyle/>
          <a:p>
            <a:pPr marL="0" indent="0">
              <a:buNone/>
            </a:pPr>
            <a:r>
              <a:rPr lang="en-US" sz="1000" b="1" dirty="0">
                <a:solidFill>
                  <a:srgbClr val="0A5C38"/>
                </a:solidFill>
                <a:latin typeface="Courier New" pitchFamily="34" charset="0"/>
                <a:ea typeface="Courier New" pitchFamily="34" charset="-122"/>
                <a:cs typeface="Courier New" pitchFamily="34" charset="-120"/>
              </a:rPr>
              <a:t>=MATCH(lookup_value, lookup_array, [match_type])</a:t>
            </a:r>
            <a:endParaRPr lang="en-US" sz="1000" dirty="0"/>
          </a:p>
        </p:txBody>
      </p:sp>
      <p:sp>
        <p:nvSpPr>
          <p:cNvPr id="10" name="Text 8"/>
          <p:cNvSpPr/>
          <p:nvPr/>
        </p:nvSpPr>
        <p:spPr>
          <a:xfrm>
            <a:off x="1005840" y="1572768"/>
            <a:ext cx="7680960" cy="438912"/>
          </a:xfrm>
          <a:prstGeom prst="rect">
            <a:avLst/>
          </a:prstGeom>
          <a:noFill/>
          <a:ln/>
        </p:spPr>
        <p:txBody>
          <a:bodyPr wrap="square" lIns="0" tIns="0" rIns="0" bIns="0" rtlCol="0" anchor="ctr"/>
          <a:lstStyle/>
          <a:p>
            <a:pPr marL="0" indent="0">
              <a:buNone/>
            </a:pPr>
            <a:r>
              <a:rPr lang="en-US" sz="1050" dirty="0">
                <a:solidFill>
                  <a:srgbClr val="1A2A22"/>
                </a:solidFill>
              </a:rPr>
              <a:t>Finds the POSITION (row or column number) of a value in a range. Returns a number.</a:t>
            </a:r>
            <a:endParaRPr lang="en-US" sz="1050" dirty="0"/>
          </a:p>
        </p:txBody>
      </p:sp>
      <p:sp>
        <p:nvSpPr>
          <p:cNvPr id="11" name="Shape 9"/>
          <p:cNvSpPr/>
          <p:nvPr/>
        </p:nvSpPr>
        <p:spPr>
          <a:xfrm>
            <a:off x="274320" y="2240280"/>
            <a:ext cx="8595360" cy="1005840"/>
          </a:xfrm>
          <a:prstGeom prst="roundRect">
            <a:avLst>
              <a:gd name="adj" fmla="val 7273"/>
            </a:avLst>
          </a:prstGeom>
          <a:solidFill>
            <a:srgbClr val="F0EEFC"/>
          </a:solidFill>
          <a:ln/>
        </p:spPr>
      </p:sp>
      <p:sp>
        <p:nvSpPr>
          <p:cNvPr id="12" name="Shape 10"/>
          <p:cNvSpPr/>
          <p:nvPr/>
        </p:nvSpPr>
        <p:spPr>
          <a:xfrm>
            <a:off x="365760" y="2514600"/>
            <a:ext cx="548640" cy="457200"/>
          </a:xfrm>
          <a:prstGeom prst="ellipse">
            <a:avLst/>
          </a:prstGeom>
          <a:solidFill>
            <a:srgbClr val="7C3AED"/>
          </a:solidFill>
          <a:ln/>
        </p:spPr>
      </p:sp>
      <p:sp>
        <p:nvSpPr>
          <p:cNvPr id="13" name="Text 11"/>
          <p:cNvSpPr/>
          <p:nvPr/>
        </p:nvSpPr>
        <p:spPr>
          <a:xfrm>
            <a:off x="365760" y="2514600"/>
            <a:ext cx="548640" cy="457200"/>
          </a:xfrm>
          <a:prstGeom prst="rect">
            <a:avLst/>
          </a:prstGeom>
          <a:noFill/>
          <a:ln/>
        </p:spPr>
        <p:txBody>
          <a:bodyPr wrap="square" rtlCol="0" anchor="ctr"/>
          <a:lstStyle/>
          <a:p>
            <a:pPr marL="0" indent="0" algn="ctr">
              <a:buNone/>
            </a:pPr>
            <a:r>
              <a:rPr lang="en-US" sz="1000" b="1" dirty="0">
                <a:solidFill>
                  <a:srgbClr val="FFFFFF"/>
                </a:solidFill>
              </a:rPr>
              <a:t>INDEX</a:t>
            </a:r>
            <a:endParaRPr lang="en-US" sz="1000" dirty="0"/>
          </a:p>
        </p:txBody>
      </p:sp>
      <p:sp>
        <p:nvSpPr>
          <p:cNvPr id="14" name="Text 12"/>
          <p:cNvSpPr/>
          <p:nvPr/>
        </p:nvSpPr>
        <p:spPr>
          <a:xfrm>
            <a:off x="1005840" y="2331720"/>
            <a:ext cx="7680960" cy="292608"/>
          </a:xfrm>
          <a:prstGeom prst="rect">
            <a:avLst/>
          </a:prstGeom>
          <a:noFill/>
          <a:ln/>
        </p:spPr>
        <p:txBody>
          <a:bodyPr wrap="square" lIns="0" tIns="0" rIns="0" bIns="0" rtlCol="0" anchor="ctr"/>
          <a:lstStyle/>
          <a:p>
            <a:pPr marL="0" indent="0">
              <a:buNone/>
            </a:pPr>
            <a:r>
              <a:rPr lang="en-US" sz="1000" b="1" dirty="0">
                <a:solidFill>
                  <a:srgbClr val="5B21B6"/>
                </a:solidFill>
                <a:latin typeface="Courier New" pitchFamily="34" charset="0"/>
                <a:ea typeface="Courier New" pitchFamily="34" charset="-122"/>
                <a:cs typeface="Courier New" pitchFamily="34" charset="-120"/>
              </a:rPr>
              <a:t>=INDEX(array, row_num, [col_num])</a:t>
            </a:r>
            <a:endParaRPr lang="en-US" sz="1000" dirty="0"/>
          </a:p>
        </p:txBody>
      </p:sp>
      <p:sp>
        <p:nvSpPr>
          <p:cNvPr id="15" name="Text 13"/>
          <p:cNvSpPr/>
          <p:nvPr/>
        </p:nvSpPr>
        <p:spPr>
          <a:xfrm>
            <a:off x="1005840" y="2715768"/>
            <a:ext cx="7680960" cy="438912"/>
          </a:xfrm>
          <a:prstGeom prst="rect">
            <a:avLst/>
          </a:prstGeom>
          <a:noFill/>
          <a:ln/>
        </p:spPr>
        <p:txBody>
          <a:bodyPr wrap="square" lIns="0" tIns="0" rIns="0" bIns="0" rtlCol="0" anchor="ctr"/>
          <a:lstStyle/>
          <a:p>
            <a:pPr marL="0" indent="0">
              <a:buNone/>
            </a:pPr>
            <a:r>
              <a:rPr lang="en-US" sz="1050" dirty="0">
                <a:solidFill>
                  <a:srgbClr val="1A2A22"/>
                </a:solidFill>
              </a:rPr>
              <a:t>Returns the VALUE at a specific row and column intersection within a range.</a:t>
            </a:r>
            <a:endParaRPr lang="en-US" sz="1050" dirty="0"/>
          </a:p>
        </p:txBody>
      </p:sp>
      <p:sp>
        <p:nvSpPr>
          <p:cNvPr id="16" name="Shape 14"/>
          <p:cNvSpPr/>
          <p:nvPr/>
        </p:nvSpPr>
        <p:spPr>
          <a:xfrm>
            <a:off x="274320" y="3401568"/>
            <a:ext cx="8595360" cy="475488"/>
          </a:xfrm>
          <a:prstGeom prst="roundRect">
            <a:avLst>
              <a:gd name="adj" fmla="val 15385"/>
            </a:avLst>
          </a:prstGeom>
          <a:solidFill>
            <a:srgbClr val="0A5C38"/>
          </a:solidFill>
          <a:ln/>
        </p:spPr>
      </p:sp>
      <p:sp>
        <p:nvSpPr>
          <p:cNvPr id="17" name="Text 15"/>
          <p:cNvSpPr/>
          <p:nvPr/>
        </p:nvSpPr>
        <p:spPr>
          <a:xfrm>
            <a:off x="411480" y="3419856"/>
            <a:ext cx="8321040" cy="438912"/>
          </a:xfrm>
          <a:prstGeom prst="rect">
            <a:avLst/>
          </a:prstGeom>
          <a:noFill/>
          <a:ln/>
        </p:spPr>
        <p:txBody>
          <a:bodyPr wrap="square"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  COMBINED:  =INDEX(C2:C100,  MATCH("Alice", A2:A100, 0))</a:t>
            </a:r>
            <a:endParaRPr lang="en-US" sz="1300" dirty="0"/>
          </a:p>
        </p:txBody>
      </p:sp>
      <p:sp>
        <p:nvSpPr>
          <p:cNvPr id="18" name="Text 16"/>
          <p:cNvSpPr/>
          <p:nvPr/>
        </p:nvSpPr>
        <p:spPr>
          <a:xfrm>
            <a:off x="274320" y="3977640"/>
            <a:ext cx="8229600" cy="292608"/>
          </a:xfrm>
          <a:prstGeom prst="rect">
            <a:avLst/>
          </a:prstGeom>
          <a:noFill/>
          <a:ln/>
        </p:spPr>
        <p:txBody>
          <a:bodyPr wrap="square" lIns="0" tIns="0" rIns="0" bIns="0" rtlCol="0" anchor="ctr"/>
          <a:lstStyle/>
          <a:p>
            <a:pPr marL="0" indent="0">
              <a:buNone/>
            </a:pPr>
            <a:r>
              <a:rPr lang="en-US" sz="1200" b="1" dirty="0">
                <a:solidFill>
                  <a:srgbClr val="1B7A4D"/>
                </a:solidFill>
              </a:rPr>
              <a:t>Why Analysts Prefer INDEX+MATCH</a:t>
            </a:r>
            <a:endParaRPr lang="en-US" sz="1200" dirty="0"/>
          </a:p>
        </p:txBody>
      </p:sp>
      <p:sp>
        <p:nvSpPr>
          <p:cNvPr id="19" name="Shape 17"/>
          <p:cNvSpPr/>
          <p:nvPr/>
        </p:nvSpPr>
        <p:spPr>
          <a:xfrm>
            <a:off x="274320" y="4343400"/>
            <a:ext cx="4114800" cy="310896"/>
          </a:xfrm>
          <a:prstGeom prst="roundRect">
            <a:avLst>
              <a:gd name="adj" fmla="val 14706"/>
            </a:avLst>
          </a:prstGeom>
          <a:solidFill>
            <a:srgbClr val="E8F5EE"/>
          </a:solidFill>
          <a:ln/>
        </p:spPr>
      </p:sp>
      <p:sp>
        <p:nvSpPr>
          <p:cNvPr id="20" name="Text 18"/>
          <p:cNvSpPr/>
          <p:nvPr/>
        </p:nvSpPr>
        <p:spPr>
          <a:xfrm>
            <a:off x="365760" y="4379976"/>
            <a:ext cx="731520" cy="237744"/>
          </a:xfrm>
          <a:prstGeom prst="rect">
            <a:avLst/>
          </a:prstGeom>
          <a:noFill/>
          <a:ln/>
        </p:spPr>
        <p:txBody>
          <a:bodyPr wrap="square" lIns="0" tIns="0" rIns="0" bIns="0" rtlCol="0" anchor="ctr"/>
          <a:lstStyle/>
          <a:p>
            <a:pPr marL="0" indent="0">
              <a:buNone/>
            </a:pPr>
            <a:r>
              <a:rPr lang="en-US" sz="1000" b="1" dirty="0">
                <a:solidFill>
                  <a:srgbClr val="1B7A4D"/>
                </a:solidFill>
              </a:rPr>
              <a:t>↔ Look Left</a:t>
            </a:r>
            <a:endParaRPr lang="en-US" sz="1000" dirty="0"/>
          </a:p>
        </p:txBody>
      </p:sp>
      <p:sp>
        <p:nvSpPr>
          <p:cNvPr id="21" name="Text 19"/>
          <p:cNvSpPr/>
          <p:nvPr/>
        </p:nvSpPr>
        <p:spPr>
          <a:xfrm>
            <a:off x="1051560" y="4379976"/>
            <a:ext cx="3246120" cy="237744"/>
          </a:xfrm>
          <a:prstGeom prst="rect">
            <a:avLst/>
          </a:prstGeom>
          <a:noFill/>
          <a:ln/>
        </p:spPr>
        <p:txBody>
          <a:bodyPr wrap="square" lIns="0" tIns="0" rIns="0" bIns="0" rtlCol="0" anchor="ctr"/>
          <a:lstStyle/>
          <a:p>
            <a:pPr marL="0" indent="0">
              <a:buNone/>
            </a:pPr>
            <a:r>
              <a:rPr lang="en-US" sz="950" dirty="0">
                <a:solidFill>
                  <a:srgbClr val="1A2A22"/>
                </a:solidFill>
              </a:rPr>
              <a:t>Can return columns to the LEFT of the lookup column (VLOOKUP can't)</a:t>
            </a:r>
            <a:endParaRPr lang="en-US" sz="950" dirty="0"/>
          </a:p>
        </p:txBody>
      </p:sp>
      <p:sp>
        <p:nvSpPr>
          <p:cNvPr id="22" name="Shape 20"/>
          <p:cNvSpPr/>
          <p:nvPr/>
        </p:nvSpPr>
        <p:spPr>
          <a:xfrm>
            <a:off x="4663440" y="4343400"/>
            <a:ext cx="4114800" cy="310896"/>
          </a:xfrm>
          <a:prstGeom prst="roundRect">
            <a:avLst>
              <a:gd name="adj" fmla="val 14706"/>
            </a:avLst>
          </a:prstGeom>
          <a:solidFill>
            <a:srgbClr val="E8F5EE"/>
          </a:solidFill>
          <a:ln/>
        </p:spPr>
      </p:sp>
      <p:sp>
        <p:nvSpPr>
          <p:cNvPr id="23" name="Text 21"/>
          <p:cNvSpPr/>
          <p:nvPr/>
        </p:nvSpPr>
        <p:spPr>
          <a:xfrm>
            <a:off x="4754880" y="4379976"/>
            <a:ext cx="731520" cy="237744"/>
          </a:xfrm>
          <a:prstGeom prst="rect">
            <a:avLst/>
          </a:prstGeom>
          <a:noFill/>
          <a:ln/>
        </p:spPr>
        <p:txBody>
          <a:bodyPr wrap="square" lIns="0" tIns="0" rIns="0" bIns="0" rtlCol="0" anchor="ctr"/>
          <a:lstStyle/>
          <a:p>
            <a:pPr marL="0" indent="0">
              <a:buNone/>
            </a:pPr>
            <a:r>
              <a:rPr lang="en-US" sz="1000" b="1" dirty="0">
                <a:solidFill>
                  <a:srgbClr val="1B7A4D"/>
                </a:solidFill>
              </a:rPr>
              <a:t>⚡ Faster</a:t>
            </a:r>
            <a:endParaRPr lang="en-US" sz="1000" dirty="0"/>
          </a:p>
        </p:txBody>
      </p:sp>
      <p:sp>
        <p:nvSpPr>
          <p:cNvPr id="24" name="Text 22"/>
          <p:cNvSpPr/>
          <p:nvPr/>
        </p:nvSpPr>
        <p:spPr>
          <a:xfrm>
            <a:off x="5440680" y="4379976"/>
            <a:ext cx="3246120" cy="237744"/>
          </a:xfrm>
          <a:prstGeom prst="rect">
            <a:avLst/>
          </a:prstGeom>
          <a:noFill/>
          <a:ln/>
        </p:spPr>
        <p:txBody>
          <a:bodyPr wrap="square" lIns="0" tIns="0" rIns="0" bIns="0" rtlCol="0" anchor="ctr"/>
          <a:lstStyle/>
          <a:p>
            <a:pPr marL="0" indent="0">
              <a:buNone/>
            </a:pPr>
            <a:r>
              <a:rPr lang="en-US" sz="950" dirty="0">
                <a:solidFill>
                  <a:srgbClr val="1A2A22"/>
                </a:solidFill>
              </a:rPr>
              <a:t>Searches one column/row only vs VLOOKUP scanning entire table array</a:t>
            </a:r>
            <a:endParaRPr lang="en-US" sz="950" dirty="0"/>
          </a:p>
        </p:txBody>
      </p:sp>
      <p:sp>
        <p:nvSpPr>
          <p:cNvPr id="25" name="Shape 23"/>
          <p:cNvSpPr/>
          <p:nvPr/>
        </p:nvSpPr>
        <p:spPr>
          <a:xfrm>
            <a:off x="274320" y="4709160"/>
            <a:ext cx="4114800" cy="310896"/>
          </a:xfrm>
          <a:prstGeom prst="roundRect">
            <a:avLst>
              <a:gd name="adj" fmla="val 14706"/>
            </a:avLst>
          </a:prstGeom>
          <a:solidFill>
            <a:srgbClr val="E8F5EE"/>
          </a:solidFill>
          <a:ln/>
        </p:spPr>
      </p:sp>
      <p:sp>
        <p:nvSpPr>
          <p:cNvPr id="26" name="Text 24"/>
          <p:cNvSpPr/>
          <p:nvPr/>
        </p:nvSpPr>
        <p:spPr>
          <a:xfrm>
            <a:off x="365760" y="4745736"/>
            <a:ext cx="731520" cy="237744"/>
          </a:xfrm>
          <a:prstGeom prst="rect">
            <a:avLst/>
          </a:prstGeom>
          <a:noFill/>
          <a:ln/>
        </p:spPr>
        <p:txBody>
          <a:bodyPr wrap="square" lIns="0" tIns="0" rIns="0" bIns="0" rtlCol="0" anchor="ctr"/>
          <a:lstStyle/>
          <a:p>
            <a:pPr marL="0" indent="0">
              <a:buNone/>
            </a:pPr>
            <a:r>
              <a:rPr lang="en-US" sz="1000" b="1" dirty="0">
                <a:solidFill>
                  <a:srgbClr val="1B7A4D"/>
                </a:solidFill>
              </a:rPr>
              <a:t>🔒 Stable</a:t>
            </a:r>
            <a:endParaRPr lang="en-US" sz="1000" dirty="0"/>
          </a:p>
        </p:txBody>
      </p:sp>
      <p:sp>
        <p:nvSpPr>
          <p:cNvPr id="27" name="Text 25"/>
          <p:cNvSpPr/>
          <p:nvPr/>
        </p:nvSpPr>
        <p:spPr>
          <a:xfrm>
            <a:off x="1051560" y="4745736"/>
            <a:ext cx="3246120" cy="237744"/>
          </a:xfrm>
          <a:prstGeom prst="rect">
            <a:avLst/>
          </a:prstGeom>
          <a:noFill/>
          <a:ln/>
        </p:spPr>
        <p:txBody>
          <a:bodyPr wrap="square" lIns="0" tIns="0" rIns="0" bIns="0" rtlCol="0" anchor="ctr"/>
          <a:lstStyle/>
          <a:p>
            <a:pPr marL="0" indent="0">
              <a:buNone/>
            </a:pPr>
            <a:r>
              <a:rPr lang="en-US" sz="950" dirty="0">
                <a:solidFill>
                  <a:srgbClr val="1A2A22"/>
                </a:solidFill>
              </a:rPr>
              <a:t>Column insertions/deletions don't break the formula</a:t>
            </a:r>
            <a:endParaRPr lang="en-US" sz="950" dirty="0"/>
          </a:p>
        </p:txBody>
      </p:sp>
      <p:sp>
        <p:nvSpPr>
          <p:cNvPr id="28" name="Shape 26"/>
          <p:cNvSpPr/>
          <p:nvPr/>
        </p:nvSpPr>
        <p:spPr>
          <a:xfrm>
            <a:off x="4663440" y="4709160"/>
            <a:ext cx="4114800" cy="310896"/>
          </a:xfrm>
          <a:prstGeom prst="roundRect">
            <a:avLst>
              <a:gd name="adj" fmla="val 14706"/>
            </a:avLst>
          </a:prstGeom>
          <a:solidFill>
            <a:srgbClr val="E8F5EE"/>
          </a:solidFill>
          <a:ln/>
        </p:spPr>
      </p:sp>
      <p:sp>
        <p:nvSpPr>
          <p:cNvPr id="29" name="Text 27"/>
          <p:cNvSpPr/>
          <p:nvPr/>
        </p:nvSpPr>
        <p:spPr>
          <a:xfrm>
            <a:off x="4754880" y="4745736"/>
            <a:ext cx="731520" cy="237744"/>
          </a:xfrm>
          <a:prstGeom prst="rect">
            <a:avLst/>
          </a:prstGeom>
          <a:noFill/>
          <a:ln/>
        </p:spPr>
        <p:txBody>
          <a:bodyPr wrap="square" lIns="0" tIns="0" rIns="0" bIns="0" rtlCol="0" anchor="ctr"/>
          <a:lstStyle/>
          <a:p>
            <a:pPr marL="0" indent="0">
              <a:buNone/>
            </a:pPr>
            <a:r>
              <a:rPr lang="en-US" sz="1000" b="1" dirty="0">
                <a:solidFill>
                  <a:srgbClr val="1B7A4D"/>
                </a:solidFill>
              </a:rPr>
              <a:t>🗺 2D Lookup</a:t>
            </a:r>
            <a:endParaRPr lang="en-US" sz="1000" dirty="0"/>
          </a:p>
        </p:txBody>
      </p:sp>
      <p:sp>
        <p:nvSpPr>
          <p:cNvPr id="30" name="Text 28"/>
          <p:cNvSpPr/>
          <p:nvPr/>
        </p:nvSpPr>
        <p:spPr>
          <a:xfrm>
            <a:off x="5440680" y="4745736"/>
            <a:ext cx="3246120" cy="237744"/>
          </a:xfrm>
          <a:prstGeom prst="rect">
            <a:avLst/>
          </a:prstGeom>
          <a:noFill/>
          <a:ln/>
        </p:spPr>
        <p:txBody>
          <a:bodyPr wrap="square" lIns="0" tIns="0" rIns="0" bIns="0" rtlCol="0" anchor="ctr"/>
          <a:lstStyle/>
          <a:p>
            <a:pPr marL="0" indent="0">
              <a:buNone/>
            </a:pPr>
            <a:r>
              <a:rPr lang="en-US" sz="950" dirty="0">
                <a:solidFill>
                  <a:srgbClr val="1A2A22"/>
                </a:solidFill>
              </a:rPr>
              <a:t>Combine two MATCH functions for row AND column lookup simultaneously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7A4D"/>
          </a:solidFill>
          <a:ln/>
        </p:spPr>
      </p:sp>
      <p:sp>
        <p:nvSpPr>
          <p:cNvPr id="3" name="Text 1"/>
          <p:cNvSpPr/>
          <p:nvPr/>
        </p:nvSpPr>
        <p:spPr>
          <a:xfrm>
            <a:off x="274320" y="91440"/>
            <a:ext cx="731520" cy="365760"/>
          </a:xfrm>
          <a:prstGeom prst="rect">
            <a:avLst/>
          </a:prstGeom>
          <a:noFill/>
          <a:ln/>
        </p:spPr>
        <p:txBody>
          <a:bodyPr wrap="square" lIns="0" tIns="0" rIns="0" bIns="0" rtlCol="0" anchor="ctr"/>
          <a:lstStyle/>
          <a:p>
            <a:pPr marL="0" indent="0">
              <a:buNone/>
            </a:pPr>
            <a:r>
              <a:rPr lang="en-US" sz="1100" b="1" dirty="0">
                <a:solidFill>
                  <a:srgbClr val="A8D5BA"/>
                </a:solidFill>
              </a:rPr>
              <a:t>08</a:t>
            </a:r>
            <a:endParaRPr lang="en-US" sz="1100" dirty="0"/>
          </a:p>
        </p:txBody>
      </p:sp>
      <p:sp>
        <p:nvSpPr>
          <p:cNvPr id="4" name="Text 2"/>
          <p:cNvSpPr/>
          <p:nvPr/>
        </p:nvSpPr>
        <p:spPr>
          <a:xfrm>
            <a:off x="274320" y="41148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XLOOKUP — The Modern Standard</a:t>
            </a:r>
            <a:endParaRPr lang="en-US" sz="2200" dirty="0"/>
          </a:p>
        </p:txBody>
      </p:sp>
      <p:sp>
        <p:nvSpPr>
          <p:cNvPr id="5" name="Text 3"/>
          <p:cNvSpPr/>
          <p:nvPr/>
        </p:nvSpPr>
        <p:spPr>
          <a:xfrm>
            <a:off x="274320" y="746643"/>
            <a:ext cx="8229600" cy="228600"/>
          </a:xfrm>
          <a:prstGeom prst="rect">
            <a:avLst/>
          </a:prstGeom>
          <a:noFill/>
          <a:ln/>
        </p:spPr>
        <p:txBody>
          <a:bodyPr wrap="square" lIns="0" tIns="0" rIns="0" bIns="0" rtlCol="0" anchor="ctr"/>
          <a:lstStyle/>
          <a:p>
            <a:pPr marL="0" indent="0">
              <a:buNone/>
            </a:pPr>
            <a:r>
              <a:rPr lang="en-US" sz="1000" dirty="0">
                <a:solidFill>
                  <a:srgbClr val="A8D5BA"/>
                </a:solidFill>
              </a:rPr>
              <a:t>Microsoft's official replacement for VLOOKUP and HLOOKUP in Excel 365 / 2021+</a:t>
            </a:r>
            <a:endParaRPr lang="en-US" sz="1000" dirty="0"/>
          </a:p>
        </p:txBody>
      </p:sp>
      <p:sp>
        <p:nvSpPr>
          <p:cNvPr id="6" name="Shape 4"/>
          <p:cNvSpPr/>
          <p:nvPr/>
        </p:nvSpPr>
        <p:spPr>
          <a:xfrm>
            <a:off x="731520" y="1097280"/>
            <a:ext cx="2286000" cy="914400"/>
          </a:xfrm>
          <a:prstGeom prst="roundRect">
            <a:avLst>
              <a:gd name="adj" fmla="val 10000"/>
            </a:avLst>
          </a:prstGeom>
          <a:solidFill>
            <a:srgbClr val="2EAD6C"/>
          </a:solidFill>
          <a:ln/>
        </p:spPr>
      </p:sp>
      <p:sp>
        <p:nvSpPr>
          <p:cNvPr id="7" name="Text 5"/>
          <p:cNvSpPr/>
          <p:nvPr/>
        </p:nvSpPr>
        <p:spPr>
          <a:xfrm>
            <a:off x="731520" y="1188720"/>
            <a:ext cx="2286000" cy="347472"/>
          </a:xfrm>
          <a:prstGeom prst="rect">
            <a:avLst/>
          </a:prstGeom>
          <a:noFill/>
          <a:ln/>
        </p:spPr>
        <p:txBody>
          <a:bodyPr wrap="square" lIns="0" tIns="0" rIns="0" bIns="0" rtlCol="0" anchor="ctr"/>
          <a:lstStyle/>
          <a:p>
            <a:pPr marL="0" indent="0" algn="ctr">
              <a:buNone/>
            </a:pPr>
            <a:r>
              <a:rPr lang="en-US" sz="1400" b="1" dirty="0">
                <a:solidFill>
                  <a:srgbClr val="FFFFFF"/>
                </a:solidFill>
              </a:rPr>
              <a:t>VLOOKUP</a:t>
            </a:r>
            <a:endParaRPr lang="en-US" sz="1400" dirty="0"/>
          </a:p>
        </p:txBody>
      </p:sp>
      <p:sp>
        <p:nvSpPr>
          <p:cNvPr id="8" name="Text 6"/>
          <p:cNvSpPr/>
          <p:nvPr/>
        </p:nvSpPr>
        <p:spPr>
          <a:xfrm>
            <a:off x="731520" y="1536192"/>
            <a:ext cx="2286000" cy="256032"/>
          </a:xfrm>
          <a:prstGeom prst="rect">
            <a:avLst/>
          </a:prstGeom>
          <a:noFill/>
          <a:ln/>
        </p:spPr>
        <p:txBody>
          <a:bodyPr wrap="square" lIns="0" tIns="0" rIns="0" bIns="0" rtlCol="0" anchor="ctr"/>
          <a:lstStyle/>
          <a:p>
            <a:pPr marL="0" indent="0" algn="ctr">
              <a:buNone/>
            </a:pPr>
            <a:r>
              <a:rPr lang="en-US" sz="1000" dirty="0">
                <a:solidFill>
                  <a:srgbClr val="D4EDD9"/>
                </a:solidFill>
              </a:rPr>
              <a:t>Classic</a:t>
            </a:r>
            <a:endParaRPr lang="en-US" sz="1000" dirty="0"/>
          </a:p>
        </p:txBody>
      </p:sp>
      <p:sp>
        <p:nvSpPr>
          <p:cNvPr id="9" name="Text 7"/>
          <p:cNvSpPr/>
          <p:nvPr/>
        </p:nvSpPr>
        <p:spPr>
          <a:xfrm>
            <a:off x="731520" y="1783080"/>
            <a:ext cx="2286000" cy="182880"/>
          </a:xfrm>
          <a:prstGeom prst="rect">
            <a:avLst/>
          </a:prstGeom>
          <a:noFill/>
          <a:ln/>
        </p:spPr>
        <p:txBody>
          <a:bodyPr wrap="square" lIns="0" tIns="0" rIns="0" bIns="0" rtlCol="0" anchor="ctr"/>
          <a:lstStyle/>
          <a:p>
            <a:pPr marL="0" indent="0" algn="ctr">
              <a:buNone/>
            </a:pPr>
            <a:r>
              <a:rPr lang="en-US" sz="900" dirty="0">
                <a:solidFill>
                  <a:srgbClr val="A8D5BA"/>
                </a:solidFill>
              </a:rPr>
              <a:t>1985+</a:t>
            </a:r>
            <a:endParaRPr lang="en-US" sz="900" dirty="0"/>
          </a:p>
        </p:txBody>
      </p:sp>
      <p:sp>
        <p:nvSpPr>
          <p:cNvPr id="10" name="Text 8"/>
          <p:cNvSpPr/>
          <p:nvPr/>
        </p:nvSpPr>
        <p:spPr>
          <a:xfrm>
            <a:off x="3017520" y="1371600"/>
            <a:ext cx="457200" cy="457200"/>
          </a:xfrm>
          <a:prstGeom prst="rect">
            <a:avLst/>
          </a:prstGeom>
          <a:noFill/>
          <a:ln/>
        </p:spPr>
        <p:txBody>
          <a:bodyPr wrap="square" rtlCol="0" anchor="ctr"/>
          <a:lstStyle/>
          <a:p>
            <a:pPr marL="0" indent="0" algn="ctr">
              <a:buNone/>
            </a:pPr>
            <a:r>
              <a:rPr lang="en-US" sz="2200" b="1" dirty="0">
                <a:solidFill>
                  <a:srgbClr val="1B7A4D"/>
                </a:solidFill>
              </a:rPr>
              <a:t>→</a:t>
            </a:r>
            <a:endParaRPr lang="en-US" sz="2200" dirty="0"/>
          </a:p>
        </p:txBody>
      </p:sp>
      <p:sp>
        <p:nvSpPr>
          <p:cNvPr id="11" name="Shape 9"/>
          <p:cNvSpPr/>
          <p:nvPr/>
        </p:nvSpPr>
        <p:spPr>
          <a:xfrm>
            <a:off x="3474720" y="1097280"/>
            <a:ext cx="2286000" cy="914400"/>
          </a:xfrm>
          <a:prstGeom prst="roundRect">
            <a:avLst>
              <a:gd name="adj" fmla="val 10000"/>
            </a:avLst>
          </a:prstGeom>
          <a:solidFill>
            <a:srgbClr val="1B7A4D"/>
          </a:solidFill>
          <a:ln/>
        </p:spPr>
      </p:sp>
      <p:sp>
        <p:nvSpPr>
          <p:cNvPr id="12" name="Text 10"/>
          <p:cNvSpPr/>
          <p:nvPr/>
        </p:nvSpPr>
        <p:spPr>
          <a:xfrm>
            <a:off x="3474720" y="1188720"/>
            <a:ext cx="2286000" cy="347472"/>
          </a:xfrm>
          <a:prstGeom prst="rect">
            <a:avLst/>
          </a:prstGeom>
          <a:noFill/>
          <a:ln/>
        </p:spPr>
        <p:txBody>
          <a:bodyPr wrap="square" lIns="0" tIns="0" rIns="0" bIns="0" rtlCol="0" anchor="ctr"/>
          <a:lstStyle/>
          <a:p>
            <a:pPr marL="0" indent="0" algn="ctr">
              <a:buNone/>
            </a:pPr>
            <a:r>
              <a:rPr lang="en-US" sz="1400" b="1" dirty="0">
                <a:solidFill>
                  <a:srgbClr val="FFFFFF"/>
                </a:solidFill>
              </a:rPr>
              <a:t>INDEX+MATCH</a:t>
            </a:r>
            <a:endParaRPr lang="en-US" sz="1400" dirty="0"/>
          </a:p>
        </p:txBody>
      </p:sp>
      <p:sp>
        <p:nvSpPr>
          <p:cNvPr id="13" name="Text 11"/>
          <p:cNvSpPr/>
          <p:nvPr/>
        </p:nvSpPr>
        <p:spPr>
          <a:xfrm>
            <a:off x="3474720" y="1536192"/>
            <a:ext cx="2286000" cy="256032"/>
          </a:xfrm>
          <a:prstGeom prst="rect">
            <a:avLst/>
          </a:prstGeom>
          <a:noFill/>
          <a:ln/>
        </p:spPr>
        <p:txBody>
          <a:bodyPr wrap="square" lIns="0" tIns="0" rIns="0" bIns="0" rtlCol="0" anchor="ctr"/>
          <a:lstStyle/>
          <a:p>
            <a:pPr marL="0" indent="0" algn="ctr">
              <a:buNone/>
            </a:pPr>
            <a:r>
              <a:rPr lang="en-US" sz="1000" dirty="0">
                <a:solidFill>
                  <a:srgbClr val="D4EDD9"/>
                </a:solidFill>
              </a:rPr>
              <a:t>Power Combo</a:t>
            </a:r>
            <a:endParaRPr lang="en-US" sz="1000" dirty="0"/>
          </a:p>
        </p:txBody>
      </p:sp>
      <p:sp>
        <p:nvSpPr>
          <p:cNvPr id="14" name="Text 12"/>
          <p:cNvSpPr/>
          <p:nvPr/>
        </p:nvSpPr>
        <p:spPr>
          <a:xfrm>
            <a:off x="3474720" y="1783080"/>
            <a:ext cx="2286000" cy="182880"/>
          </a:xfrm>
          <a:prstGeom prst="rect">
            <a:avLst/>
          </a:prstGeom>
          <a:noFill/>
          <a:ln/>
        </p:spPr>
        <p:txBody>
          <a:bodyPr wrap="square" lIns="0" tIns="0" rIns="0" bIns="0" rtlCol="0" anchor="ctr"/>
          <a:lstStyle/>
          <a:p>
            <a:pPr marL="0" indent="0" algn="ctr">
              <a:buNone/>
            </a:pPr>
            <a:r>
              <a:rPr lang="en-US" sz="900" dirty="0">
                <a:solidFill>
                  <a:srgbClr val="A8D5BA"/>
                </a:solidFill>
              </a:rPr>
              <a:t>2000s</a:t>
            </a:r>
            <a:endParaRPr lang="en-US" sz="900" dirty="0"/>
          </a:p>
        </p:txBody>
      </p:sp>
      <p:sp>
        <p:nvSpPr>
          <p:cNvPr id="15" name="Text 13"/>
          <p:cNvSpPr/>
          <p:nvPr/>
        </p:nvSpPr>
        <p:spPr>
          <a:xfrm>
            <a:off x="5760720" y="1371600"/>
            <a:ext cx="457200" cy="457200"/>
          </a:xfrm>
          <a:prstGeom prst="rect">
            <a:avLst/>
          </a:prstGeom>
          <a:noFill/>
          <a:ln/>
        </p:spPr>
        <p:txBody>
          <a:bodyPr wrap="square" rtlCol="0" anchor="ctr"/>
          <a:lstStyle/>
          <a:p>
            <a:pPr marL="0" indent="0" algn="ctr">
              <a:buNone/>
            </a:pPr>
            <a:r>
              <a:rPr lang="en-US" sz="2200" b="1" dirty="0">
                <a:solidFill>
                  <a:srgbClr val="1B7A4D"/>
                </a:solidFill>
              </a:rPr>
              <a:t>→</a:t>
            </a:r>
            <a:endParaRPr lang="en-US" sz="2200" dirty="0"/>
          </a:p>
        </p:txBody>
      </p:sp>
      <p:sp>
        <p:nvSpPr>
          <p:cNvPr id="16" name="Shape 14"/>
          <p:cNvSpPr/>
          <p:nvPr/>
        </p:nvSpPr>
        <p:spPr>
          <a:xfrm>
            <a:off x="6217920" y="1097280"/>
            <a:ext cx="2286000" cy="914400"/>
          </a:xfrm>
          <a:prstGeom prst="roundRect">
            <a:avLst>
              <a:gd name="adj" fmla="val 10000"/>
            </a:avLst>
          </a:prstGeom>
          <a:solidFill>
            <a:srgbClr val="0A5C38"/>
          </a:solidFill>
          <a:ln/>
        </p:spPr>
      </p:sp>
      <p:sp>
        <p:nvSpPr>
          <p:cNvPr id="17" name="Text 15"/>
          <p:cNvSpPr/>
          <p:nvPr/>
        </p:nvSpPr>
        <p:spPr>
          <a:xfrm>
            <a:off x="6217920" y="1188720"/>
            <a:ext cx="2286000" cy="347472"/>
          </a:xfrm>
          <a:prstGeom prst="rect">
            <a:avLst/>
          </a:prstGeom>
          <a:noFill/>
          <a:ln/>
        </p:spPr>
        <p:txBody>
          <a:bodyPr wrap="square" lIns="0" tIns="0" rIns="0" bIns="0" rtlCol="0" anchor="ctr"/>
          <a:lstStyle/>
          <a:p>
            <a:pPr marL="0" indent="0" algn="ctr">
              <a:buNone/>
            </a:pPr>
            <a:r>
              <a:rPr lang="en-US" sz="1400" b="1" dirty="0">
                <a:solidFill>
                  <a:srgbClr val="FFFFFF"/>
                </a:solidFill>
              </a:rPr>
              <a:t>XLOOKUP</a:t>
            </a:r>
            <a:endParaRPr lang="en-US" sz="1400" dirty="0"/>
          </a:p>
        </p:txBody>
      </p:sp>
      <p:sp>
        <p:nvSpPr>
          <p:cNvPr id="18" name="Text 16"/>
          <p:cNvSpPr/>
          <p:nvPr/>
        </p:nvSpPr>
        <p:spPr>
          <a:xfrm>
            <a:off x="6217920" y="1536192"/>
            <a:ext cx="2286000" cy="256032"/>
          </a:xfrm>
          <a:prstGeom prst="rect">
            <a:avLst/>
          </a:prstGeom>
          <a:noFill/>
          <a:ln/>
        </p:spPr>
        <p:txBody>
          <a:bodyPr wrap="square" lIns="0" tIns="0" rIns="0" bIns="0" rtlCol="0" anchor="ctr"/>
          <a:lstStyle/>
          <a:p>
            <a:pPr marL="0" indent="0" algn="ctr">
              <a:buNone/>
            </a:pPr>
            <a:r>
              <a:rPr lang="en-US" sz="1000" dirty="0">
                <a:solidFill>
                  <a:srgbClr val="D4EDD9"/>
                </a:solidFill>
              </a:rPr>
              <a:t>Modern Standard</a:t>
            </a:r>
            <a:endParaRPr lang="en-US" sz="1000" dirty="0"/>
          </a:p>
        </p:txBody>
      </p:sp>
      <p:sp>
        <p:nvSpPr>
          <p:cNvPr id="19" name="Text 17"/>
          <p:cNvSpPr/>
          <p:nvPr/>
        </p:nvSpPr>
        <p:spPr>
          <a:xfrm>
            <a:off x="6217920" y="1783080"/>
            <a:ext cx="2286000" cy="182880"/>
          </a:xfrm>
          <a:prstGeom prst="rect">
            <a:avLst/>
          </a:prstGeom>
          <a:noFill/>
          <a:ln/>
        </p:spPr>
        <p:txBody>
          <a:bodyPr wrap="square" lIns="0" tIns="0" rIns="0" bIns="0" rtlCol="0" anchor="ctr"/>
          <a:lstStyle/>
          <a:p>
            <a:pPr marL="0" indent="0" algn="ctr">
              <a:buNone/>
            </a:pPr>
            <a:r>
              <a:rPr lang="en-US" sz="900" dirty="0">
                <a:solidFill>
                  <a:srgbClr val="A8D5BA"/>
                </a:solidFill>
              </a:rPr>
              <a:t>Excel 365+</a:t>
            </a:r>
            <a:endParaRPr lang="en-US" sz="900" dirty="0"/>
          </a:p>
        </p:txBody>
      </p:sp>
      <p:sp>
        <p:nvSpPr>
          <p:cNvPr id="20" name="Shape 18"/>
          <p:cNvSpPr/>
          <p:nvPr/>
        </p:nvSpPr>
        <p:spPr>
          <a:xfrm>
            <a:off x="274320" y="2176272"/>
            <a:ext cx="8595360" cy="502920"/>
          </a:xfrm>
          <a:prstGeom prst="roundRect">
            <a:avLst>
              <a:gd name="adj" fmla="val 14545"/>
            </a:avLst>
          </a:prstGeom>
          <a:solidFill>
            <a:srgbClr val="0A5C38"/>
          </a:solidFill>
          <a:ln/>
        </p:spPr>
      </p:sp>
      <p:sp>
        <p:nvSpPr>
          <p:cNvPr id="21" name="Text 19"/>
          <p:cNvSpPr/>
          <p:nvPr/>
        </p:nvSpPr>
        <p:spPr>
          <a:xfrm>
            <a:off x="411480" y="2212848"/>
            <a:ext cx="8321040" cy="429768"/>
          </a:xfrm>
          <a:prstGeom prst="rect">
            <a:avLst/>
          </a:prstGeom>
          <a:no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=XLOOKUP(lookup_value, lookup_array, return_array, [not_found], [match_mode], [search_mode])</a:t>
            </a:r>
            <a:endParaRPr lang="en-US" sz="1100" dirty="0"/>
          </a:p>
        </p:txBody>
      </p:sp>
      <p:sp>
        <p:nvSpPr>
          <p:cNvPr id="22" name="Text 20"/>
          <p:cNvSpPr/>
          <p:nvPr/>
        </p:nvSpPr>
        <p:spPr>
          <a:xfrm>
            <a:off x="274320" y="2788920"/>
            <a:ext cx="8229600" cy="292608"/>
          </a:xfrm>
          <a:prstGeom prst="rect">
            <a:avLst/>
          </a:prstGeom>
          <a:noFill/>
          <a:ln/>
        </p:spPr>
        <p:txBody>
          <a:bodyPr wrap="square" lIns="0" tIns="0" rIns="0" bIns="0" rtlCol="0" anchor="ctr"/>
          <a:lstStyle/>
          <a:p>
            <a:pPr marL="0" indent="0">
              <a:buNone/>
            </a:pPr>
            <a:r>
              <a:rPr lang="en-US" sz="1200" b="1" dirty="0">
                <a:solidFill>
                  <a:srgbClr val="1B7A4D"/>
                </a:solidFill>
              </a:rPr>
              <a:t>Key Advantages Over VLOOKUP</a:t>
            </a:r>
            <a:endParaRPr lang="en-US" sz="1200" dirty="0"/>
          </a:p>
        </p:txBody>
      </p:sp>
      <p:sp>
        <p:nvSpPr>
          <p:cNvPr id="23" name="Shape 21"/>
          <p:cNvSpPr/>
          <p:nvPr/>
        </p:nvSpPr>
        <p:spPr>
          <a:xfrm>
            <a:off x="274320" y="3154680"/>
            <a:ext cx="8595360" cy="310896"/>
          </a:xfrm>
          <a:prstGeom prst="roundRect">
            <a:avLst>
              <a:gd name="adj" fmla="val 11765"/>
            </a:avLst>
          </a:prstGeom>
          <a:solidFill>
            <a:srgbClr val="E8F5EE"/>
          </a:solidFill>
          <a:ln/>
        </p:spPr>
      </p:sp>
      <p:sp>
        <p:nvSpPr>
          <p:cNvPr id="24" name="Text 22"/>
          <p:cNvSpPr/>
          <p:nvPr/>
        </p:nvSpPr>
        <p:spPr>
          <a:xfrm>
            <a:off x="411480" y="3200400"/>
            <a:ext cx="2560320" cy="219456"/>
          </a:xfrm>
          <a:prstGeom prst="rect">
            <a:avLst/>
          </a:prstGeom>
          <a:noFill/>
          <a:ln/>
        </p:spPr>
        <p:txBody>
          <a:bodyPr wrap="square" lIns="0" tIns="0" rIns="0" bIns="0" rtlCol="0" anchor="ctr"/>
          <a:lstStyle/>
          <a:p>
            <a:pPr marL="0" indent="0">
              <a:buNone/>
            </a:pPr>
            <a:r>
              <a:rPr lang="en-US" sz="1000" b="1" dirty="0">
                <a:solidFill>
                  <a:srgbClr val="1B7A4D"/>
                </a:solidFill>
              </a:rPr>
              <a:t>✓ Built-in Error Handling</a:t>
            </a:r>
            <a:endParaRPr lang="en-US" sz="1000" dirty="0"/>
          </a:p>
        </p:txBody>
      </p:sp>
      <p:sp>
        <p:nvSpPr>
          <p:cNvPr id="25" name="Text 23"/>
          <p:cNvSpPr/>
          <p:nvPr/>
        </p:nvSpPr>
        <p:spPr>
          <a:xfrm>
            <a:off x="3017520" y="3200400"/>
            <a:ext cx="5760720" cy="219456"/>
          </a:xfrm>
          <a:prstGeom prst="rect">
            <a:avLst/>
          </a:prstGeom>
          <a:noFill/>
          <a:ln/>
        </p:spPr>
        <p:txBody>
          <a:bodyPr wrap="square" lIns="0" tIns="0" rIns="0" bIns="0" rtlCol="0" anchor="ctr"/>
          <a:lstStyle/>
          <a:p>
            <a:pPr marL="0" indent="0">
              <a:buNone/>
            </a:pPr>
            <a:r>
              <a:rPr lang="en-US" sz="950" dirty="0">
                <a:solidFill>
                  <a:srgbClr val="1A2A22"/>
                </a:solidFill>
                <a:latin typeface="Courier New" pitchFamily="34" charset="0"/>
                <a:ea typeface="Courier New" pitchFamily="34" charset="-122"/>
                <a:cs typeface="Courier New" pitchFamily="34" charset="-120"/>
              </a:rPr>
              <a:t>=XLOOKUP(A2,A:A,B:B,"Not Found")  — no IFERROR needed</a:t>
            </a:r>
            <a:endParaRPr lang="en-US" sz="950" dirty="0"/>
          </a:p>
        </p:txBody>
      </p:sp>
      <p:sp>
        <p:nvSpPr>
          <p:cNvPr id="26" name="Shape 24"/>
          <p:cNvSpPr/>
          <p:nvPr/>
        </p:nvSpPr>
        <p:spPr>
          <a:xfrm>
            <a:off x="274320" y="3520440"/>
            <a:ext cx="8595360" cy="310896"/>
          </a:xfrm>
          <a:prstGeom prst="roundRect">
            <a:avLst>
              <a:gd name="adj" fmla="val 11765"/>
            </a:avLst>
          </a:prstGeom>
          <a:solidFill>
            <a:srgbClr val="FFFFFF"/>
          </a:solidFill>
          <a:ln/>
        </p:spPr>
      </p:sp>
      <p:sp>
        <p:nvSpPr>
          <p:cNvPr id="27" name="Text 25"/>
          <p:cNvSpPr/>
          <p:nvPr/>
        </p:nvSpPr>
        <p:spPr>
          <a:xfrm>
            <a:off x="411480" y="3566160"/>
            <a:ext cx="2560320" cy="219456"/>
          </a:xfrm>
          <a:prstGeom prst="rect">
            <a:avLst/>
          </a:prstGeom>
          <a:noFill/>
          <a:ln/>
        </p:spPr>
        <p:txBody>
          <a:bodyPr wrap="square" lIns="0" tIns="0" rIns="0" bIns="0" rtlCol="0" anchor="ctr"/>
          <a:lstStyle/>
          <a:p>
            <a:pPr marL="0" indent="0">
              <a:buNone/>
            </a:pPr>
            <a:r>
              <a:rPr lang="en-US" sz="1000" b="1" dirty="0">
                <a:solidFill>
                  <a:srgbClr val="1B7A4D"/>
                </a:solidFill>
              </a:rPr>
              <a:t>✓ Look Left / Any Direction</a:t>
            </a:r>
            <a:endParaRPr lang="en-US" sz="1000" dirty="0"/>
          </a:p>
        </p:txBody>
      </p:sp>
      <p:sp>
        <p:nvSpPr>
          <p:cNvPr id="28" name="Text 26"/>
          <p:cNvSpPr/>
          <p:nvPr/>
        </p:nvSpPr>
        <p:spPr>
          <a:xfrm>
            <a:off x="3017520" y="3566160"/>
            <a:ext cx="5760720" cy="219456"/>
          </a:xfrm>
          <a:prstGeom prst="rect">
            <a:avLst/>
          </a:prstGeom>
          <a:noFill/>
          <a:ln/>
        </p:spPr>
        <p:txBody>
          <a:bodyPr wrap="square" lIns="0" tIns="0" rIns="0" bIns="0" rtlCol="0" anchor="ctr"/>
          <a:lstStyle/>
          <a:p>
            <a:pPr marL="0" indent="0">
              <a:buNone/>
            </a:pPr>
            <a:r>
              <a:rPr lang="en-US" sz="950" dirty="0">
                <a:solidFill>
                  <a:srgbClr val="1A2A22"/>
                </a:solidFill>
                <a:latin typeface="Courier New" pitchFamily="34" charset="0"/>
                <a:ea typeface="Courier New" pitchFamily="34" charset="-122"/>
                <a:cs typeface="Courier New" pitchFamily="34" charset="-120"/>
              </a:rPr>
              <a:t>return_array can be to the LEFT of lookup_array</a:t>
            </a:r>
            <a:endParaRPr lang="en-US" sz="950" dirty="0"/>
          </a:p>
        </p:txBody>
      </p:sp>
      <p:sp>
        <p:nvSpPr>
          <p:cNvPr id="29" name="Shape 27"/>
          <p:cNvSpPr/>
          <p:nvPr/>
        </p:nvSpPr>
        <p:spPr>
          <a:xfrm>
            <a:off x="274320" y="3886200"/>
            <a:ext cx="8595360" cy="310896"/>
          </a:xfrm>
          <a:prstGeom prst="roundRect">
            <a:avLst>
              <a:gd name="adj" fmla="val 11765"/>
            </a:avLst>
          </a:prstGeom>
          <a:solidFill>
            <a:srgbClr val="E8F5EE"/>
          </a:solidFill>
          <a:ln/>
        </p:spPr>
      </p:sp>
      <p:sp>
        <p:nvSpPr>
          <p:cNvPr id="30" name="Text 28"/>
          <p:cNvSpPr/>
          <p:nvPr/>
        </p:nvSpPr>
        <p:spPr>
          <a:xfrm>
            <a:off x="411480" y="3931920"/>
            <a:ext cx="2560320" cy="219456"/>
          </a:xfrm>
          <a:prstGeom prst="rect">
            <a:avLst/>
          </a:prstGeom>
          <a:noFill/>
          <a:ln/>
        </p:spPr>
        <p:txBody>
          <a:bodyPr wrap="square" lIns="0" tIns="0" rIns="0" bIns="0" rtlCol="0" anchor="ctr"/>
          <a:lstStyle/>
          <a:p>
            <a:pPr marL="0" indent="0">
              <a:buNone/>
            </a:pPr>
            <a:r>
              <a:rPr lang="en-US" sz="1000" b="1" dirty="0">
                <a:solidFill>
                  <a:srgbClr val="1B7A4D"/>
                </a:solidFill>
              </a:rPr>
              <a:t>✓ Multiple Return Values</a:t>
            </a:r>
            <a:endParaRPr lang="en-US" sz="1000" dirty="0"/>
          </a:p>
        </p:txBody>
      </p:sp>
      <p:sp>
        <p:nvSpPr>
          <p:cNvPr id="31" name="Text 29"/>
          <p:cNvSpPr/>
          <p:nvPr/>
        </p:nvSpPr>
        <p:spPr>
          <a:xfrm>
            <a:off x="3017520" y="3931920"/>
            <a:ext cx="5760720" cy="219456"/>
          </a:xfrm>
          <a:prstGeom prst="rect">
            <a:avLst/>
          </a:prstGeom>
          <a:noFill/>
          <a:ln/>
        </p:spPr>
        <p:txBody>
          <a:bodyPr wrap="square" lIns="0" tIns="0" rIns="0" bIns="0" rtlCol="0" anchor="ctr"/>
          <a:lstStyle/>
          <a:p>
            <a:pPr marL="0" indent="0">
              <a:buNone/>
            </a:pPr>
            <a:r>
              <a:rPr lang="en-US" sz="950" dirty="0">
                <a:solidFill>
                  <a:srgbClr val="1A2A22"/>
                </a:solidFill>
                <a:latin typeface="Courier New" pitchFamily="34" charset="0"/>
                <a:ea typeface="Courier New" pitchFamily="34" charset="-122"/>
                <a:cs typeface="Courier New" pitchFamily="34" charset="-120"/>
              </a:rPr>
              <a:t>=XLOOKUP("Alice",A:A,B:D)  — returns columns B, C, and D at once</a:t>
            </a:r>
            <a:endParaRPr lang="en-US" sz="950" dirty="0"/>
          </a:p>
        </p:txBody>
      </p:sp>
      <p:sp>
        <p:nvSpPr>
          <p:cNvPr id="32" name="Shape 30"/>
          <p:cNvSpPr/>
          <p:nvPr/>
        </p:nvSpPr>
        <p:spPr>
          <a:xfrm>
            <a:off x="274320" y="4251960"/>
            <a:ext cx="8595360" cy="310896"/>
          </a:xfrm>
          <a:prstGeom prst="roundRect">
            <a:avLst>
              <a:gd name="adj" fmla="val 11765"/>
            </a:avLst>
          </a:prstGeom>
          <a:solidFill>
            <a:srgbClr val="FFFFFF"/>
          </a:solidFill>
          <a:ln/>
        </p:spPr>
      </p:sp>
      <p:sp>
        <p:nvSpPr>
          <p:cNvPr id="33" name="Text 31"/>
          <p:cNvSpPr/>
          <p:nvPr/>
        </p:nvSpPr>
        <p:spPr>
          <a:xfrm>
            <a:off x="411480" y="4297680"/>
            <a:ext cx="2560320" cy="219456"/>
          </a:xfrm>
          <a:prstGeom prst="rect">
            <a:avLst/>
          </a:prstGeom>
          <a:noFill/>
          <a:ln/>
        </p:spPr>
        <p:txBody>
          <a:bodyPr wrap="square" lIns="0" tIns="0" rIns="0" bIns="0" rtlCol="0" anchor="ctr"/>
          <a:lstStyle/>
          <a:p>
            <a:pPr marL="0" indent="0">
              <a:buNone/>
            </a:pPr>
            <a:r>
              <a:rPr lang="en-US" sz="1000" b="1" dirty="0">
                <a:solidFill>
                  <a:srgbClr val="1B7A4D"/>
                </a:solidFill>
              </a:rPr>
              <a:t>✓ Simpler Syntax</a:t>
            </a:r>
            <a:endParaRPr lang="en-US" sz="1000" dirty="0"/>
          </a:p>
        </p:txBody>
      </p:sp>
      <p:sp>
        <p:nvSpPr>
          <p:cNvPr id="34" name="Text 32"/>
          <p:cNvSpPr/>
          <p:nvPr/>
        </p:nvSpPr>
        <p:spPr>
          <a:xfrm>
            <a:off x="3017520" y="4297680"/>
            <a:ext cx="5760720" cy="219456"/>
          </a:xfrm>
          <a:prstGeom prst="rect">
            <a:avLst/>
          </a:prstGeom>
          <a:noFill/>
          <a:ln/>
        </p:spPr>
        <p:txBody>
          <a:bodyPr wrap="square" lIns="0" tIns="0" rIns="0" bIns="0" rtlCol="0" anchor="ctr"/>
          <a:lstStyle/>
          <a:p>
            <a:pPr marL="0" indent="0">
              <a:buNone/>
            </a:pPr>
            <a:r>
              <a:rPr lang="en-US" sz="950" dirty="0">
                <a:solidFill>
                  <a:srgbClr val="1A2A22"/>
                </a:solidFill>
                <a:latin typeface="Courier New" pitchFamily="34" charset="0"/>
                <a:ea typeface="Courier New" pitchFamily="34" charset="-122"/>
                <a:cs typeface="Courier New" pitchFamily="34" charset="-120"/>
              </a:rPr>
              <a:t>No col_index_num to count — just specify the return range directly</a:t>
            </a:r>
            <a:endParaRPr lang="en-US" sz="950" dirty="0"/>
          </a:p>
        </p:txBody>
      </p:sp>
      <p:sp>
        <p:nvSpPr>
          <p:cNvPr id="35" name="Shape 33"/>
          <p:cNvSpPr/>
          <p:nvPr/>
        </p:nvSpPr>
        <p:spPr>
          <a:xfrm>
            <a:off x="274320" y="4617720"/>
            <a:ext cx="8595360" cy="310896"/>
          </a:xfrm>
          <a:prstGeom prst="roundRect">
            <a:avLst>
              <a:gd name="adj" fmla="val 11765"/>
            </a:avLst>
          </a:prstGeom>
          <a:solidFill>
            <a:srgbClr val="E8F5EE"/>
          </a:solidFill>
          <a:ln/>
        </p:spPr>
      </p:sp>
      <p:sp>
        <p:nvSpPr>
          <p:cNvPr id="36" name="Text 34"/>
          <p:cNvSpPr/>
          <p:nvPr/>
        </p:nvSpPr>
        <p:spPr>
          <a:xfrm>
            <a:off x="411480" y="4663440"/>
            <a:ext cx="2560320" cy="219456"/>
          </a:xfrm>
          <a:prstGeom prst="rect">
            <a:avLst/>
          </a:prstGeom>
          <a:noFill/>
          <a:ln/>
        </p:spPr>
        <p:txBody>
          <a:bodyPr wrap="square" lIns="0" tIns="0" rIns="0" bIns="0" rtlCol="0" anchor="ctr"/>
          <a:lstStyle/>
          <a:p>
            <a:pPr marL="0" indent="0">
              <a:buNone/>
            </a:pPr>
            <a:r>
              <a:rPr lang="en-US" sz="1000" b="1" dirty="0">
                <a:solidFill>
                  <a:srgbClr val="1B7A4D"/>
                </a:solidFill>
              </a:rPr>
              <a:t>✓ Reverse Search</a:t>
            </a:r>
            <a:endParaRPr lang="en-US" sz="1000" dirty="0"/>
          </a:p>
        </p:txBody>
      </p:sp>
      <p:sp>
        <p:nvSpPr>
          <p:cNvPr id="37" name="Text 35"/>
          <p:cNvSpPr/>
          <p:nvPr/>
        </p:nvSpPr>
        <p:spPr>
          <a:xfrm>
            <a:off x="3017520" y="4663440"/>
            <a:ext cx="5760720" cy="219456"/>
          </a:xfrm>
          <a:prstGeom prst="rect">
            <a:avLst/>
          </a:prstGeom>
          <a:noFill/>
          <a:ln/>
        </p:spPr>
        <p:txBody>
          <a:bodyPr wrap="square" lIns="0" tIns="0" rIns="0" bIns="0" rtlCol="0" anchor="ctr"/>
          <a:lstStyle/>
          <a:p>
            <a:pPr marL="0" indent="0">
              <a:buNone/>
            </a:pPr>
            <a:r>
              <a:rPr lang="en-US" sz="950" dirty="0">
                <a:solidFill>
                  <a:srgbClr val="1A2A22"/>
                </a:solidFill>
                <a:latin typeface="Courier New" pitchFamily="34" charset="0"/>
                <a:ea typeface="Courier New" pitchFamily="34" charset="-122"/>
                <a:cs typeface="Courier New" pitchFamily="34" charset="-120"/>
              </a:rPr>
              <a:t>Search from last to first with search_mode = -1</a:t>
            </a:r>
            <a:endParaRPr lang="en-US" sz="950" dirty="0"/>
          </a:p>
        </p:txBody>
      </p:sp>
      <p:sp>
        <p:nvSpPr>
          <p:cNvPr id="38" name="Shape 36"/>
          <p:cNvSpPr/>
          <p:nvPr/>
        </p:nvSpPr>
        <p:spPr>
          <a:xfrm>
            <a:off x="274320" y="4709160"/>
            <a:ext cx="8595360" cy="329184"/>
          </a:xfrm>
          <a:prstGeom prst="roundRect">
            <a:avLst>
              <a:gd name="adj" fmla="val 16667"/>
            </a:avLst>
          </a:prstGeom>
          <a:solidFill>
            <a:srgbClr val="E8F5EE"/>
          </a:solidFill>
          <a:ln/>
        </p:spPr>
      </p:sp>
      <p:sp>
        <p:nvSpPr>
          <p:cNvPr id="39" name="Text 37"/>
          <p:cNvSpPr/>
          <p:nvPr/>
        </p:nvSpPr>
        <p:spPr>
          <a:xfrm>
            <a:off x="411480" y="4709160"/>
            <a:ext cx="8321040" cy="329184"/>
          </a:xfrm>
          <a:prstGeom prst="rect">
            <a:avLst/>
          </a:prstGeom>
          <a:noFill/>
          <a:ln/>
        </p:spPr>
        <p:txBody>
          <a:bodyPr wrap="square" rtlCol="0" anchor="ctr"/>
          <a:lstStyle/>
          <a:p>
            <a:pPr marL="0" indent="0">
              <a:buNone/>
            </a:pPr>
            <a:r>
              <a:rPr lang="en-US" sz="950" i="1" dirty="0">
                <a:solidFill>
                  <a:srgbClr val="0A5C38"/>
                </a:solidFill>
              </a:rPr>
              <a:t>🚀  Microsoft officially recommends XLOOKUP as the replacement for both VLOOKUP and HLOOKUP. Start migrating today if you use Excel 365 or Excel 2021+.</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7A4D"/>
          </a:solidFill>
          <a:ln/>
        </p:spPr>
      </p:sp>
      <p:sp>
        <p:nvSpPr>
          <p:cNvPr id="3" name="Text 1"/>
          <p:cNvSpPr/>
          <p:nvPr/>
        </p:nvSpPr>
        <p:spPr>
          <a:xfrm>
            <a:off x="274320" y="91440"/>
            <a:ext cx="731520" cy="365760"/>
          </a:xfrm>
          <a:prstGeom prst="rect">
            <a:avLst/>
          </a:prstGeom>
          <a:noFill/>
          <a:ln/>
        </p:spPr>
        <p:txBody>
          <a:bodyPr wrap="square" lIns="0" tIns="0" rIns="0" bIns="0" rtlCol="0" anchor="ctr"/>
          <a:lstStyle/>
          <a:p>
            <a:pPr marL="0" indent="0">
              <a:buNone/>
            </a:pPr>
            <a:r>
              <a:rPr lang="en-US" sz="1100" b="1" dirty="0">
                <a:solidFill>
                  <a:srgbClr val="A8D5BA"/>
                </a:solidFill>
              </a:rPr>
              <a:t>09</a:t>
            </a:r>
            <a:endParaRPr lang="en-US" sz="1100" dirty="0"/>
          </a:p>
        </p:txBody>
      </p:sp>
      <p:sp>
        <p:nvSpPr>
          <p:cNvPr id="4" name="Text 2"/>
          <p:cNvSpPr/>
          <p:nvPr/>
        </p:nvSpPr>
        <p:spPr>
          <a:xfrm>
            <a:off x="274320" y="411480"/>
            <a:ext cx="8229600" cy="50292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Comparative Analysis &amp; Decision Matrix</a:t>
            </a:r>
            <a:endParaRPr lang="en-US" sz="2000" dirty="0"/>
          </a:p>
        </p:txBody>
      </p:sp>
      <p:sp>
        <p:nvSpPr>
          <p:cNvPr id="5" name="Text 3"/>
          <p:cNvSpPr/>
          <p:nvPr/>
        </p:nvSpPr>
        <p:spPr>
          <a:xfrm>
            <a:off x="274320" y="745236"/>
            <a:ext cx="8229600" cy="228600"/>
          </a:xfrm>
          <a:prstGeom prst="rect">
            <a:avLst/>
          </a:prstGeom>
          <a:noFill/>
          <a:ln/>
        </p:spPr>
        <p:txBody>
          <a:bodyPr wrap="square" lIns="0" tIns="0" rIns="0" bIns="0" rtlCol="0" anchor="ctr"/>
          <a:lstStyle/>
          <a:p>
            <a:pPr marL="0" indent="0">
              <a:buNone/>
            </a:pPr>
            <a:r>
              <a:rPr lang="en-US" sz="1000" dirty="0">
                <a:solidFill>
                  <a:srgbClr val="A8D5BA"/>
                </a:solidFill>
              </a:rPr>
              <a:t>Choose the right lookup tool for every business scenario</a:t>
            </a:r>
            <a:endParaRPr lang="en-US" sz="1000" dirty="0"/>
          </a:p>
        </p:txBody>
      </p:sp>
      <p:sp>
        <p:nvSpPr>
          <p:cNvPr id="6" name="Shape 4"/>
          <p:cNvSpPr/>
          <p:nvPr/>
        </p:nvSpPr>
        <p:spPr>
          <a:xfrm>
            <a:off x="274320" y="1143000"/>
            <a:ext cx="1828800" cy="411480"/>
          </a:xfrm>
          <a:prstGeom prst="rect">
            <a:avLst/>
          </a:prstGeom>
          <a:solidFill>
            <a:srgbClr val="0A5C38"/>
          </a:solidFill>
          <a:ln/>
        </p:spPr>
      </p:sp>
      <p:sp>
        <p:nvSpPr>
          <p:cNvPr id="7" name="Text 5"/>
          <p:cNvSpPr/>
          <p:nvPr/>
        </p:nvSpPr>
        <p:spPr>
          <a:xfrm>
            <a:off x="274320" y="1143000"/>
            <a:ext cx="1828800" cy="411480"/>
          </a:xfrm>
          <a:prstGeom prst="rect">
            <a:avLst/>
          </a:prstGeom>
          <a:noFill/>
          <a:ln/>
        </p:spPr>
        <p:txBody>
          <a:bodyPr wrap="square" rtlCol="0" anchor="ctr"/>
          <a:lstStyle/>
          <a:p>
            <a:pPr marL="0" indent="0" algn="ctr">
              <a:buNone/>
            </a:pPr>
            <a:r>
              <a:rPr lang="en-US" sz="1000" b="1" dirty="0">
                <a:solidFill>
                  <a:srgbClr val="FFFFFF"/>
                </a:solidFill>
              </a:rPr>
              <a:t>Feature</a:t>
            </a:r>
            <a:endParaRPr lang="en-US" sz="1000" dirty="0"/>
          </a:p>
        </p:txBody>
      </p:sp>
      <p:sp>
        <p:nvSpPr>
          <p:cNvPr id="8" name="Shape 6"/>
          <p:cNvSpPr/>
          <p:nvPr/>
        </p:nvSpPr>
        <p:spPr>
          <a:xfrm>
            <a:off x="2103120" y="1143000"/>
            <a:ext cx="1691640" cy="411480"/>
          </a:xfrm>
          <a:prstGeom prst="rect">
            <a:avLst/>
          </a:prstGeom>
          <a:solidFill>
            <a:srgbClr val="1B7A4D"/>
          </a:solidFill>
          <a:ln/>
        </p:spPr>
      </p:sp>
      <p:sp>
        <p:nvSpPr>
          <p:cNvPr id="9" name="Text 7"/>
          <p:cNvSpPr/>
          <p:nvPr/>
        </p:nvSpPr>
        <p:spPr>
          <a:xfrm>
            <a:off x="2103120" y="1143000"/>
            <a:ext cx="1691640" cy="411480"/>
          </a:xfrm>
          <a:prstGeom prst="rect">
            <a:avLst/>
          </a:prstGeom>
          <a:noFill/>
          <a:ln/>
        </p:spPr>
        <p:txBody>
          <a:bodyPr wrap="square" rtlCol="0" anchor="ctr"/>
          <a:lstStyle/>
          <a:p>
            <a:pPr marL="0" indent="0" algn="ctr">
              <a:buNone/>
            </a:pPr>
            <a:r>
              <a:rPr lang="en-US" sz="1100" b="1" dirty="0">
                <a:solidFill>
                  <a:srgbClr val="FFFFFF"/>
                </a:solidFill>
              </a:rPr>
              <a:t>VLOOKUP</a:t>
            </a:r>
            <a:endParaRPr lang="en-US" sz="1100" dirty="0"/>
          </a:p>
        </p:txBody>
      </p:sp>
      <p:sp>
        <p:nvSpPr>
          <p:cNvPr id="10" name="Shape 8"/>
          <p:cNvSpPr/>
          <p:nvPr/>
        </p:nvSpPr>
        <p:spPr>
          <a:xfrm>
            <a:off x="3794760" y="1143000"/>
            <a:ext cx="1691640" cy="411480"/>
          </a:xfrm>
          <a:prstGeom prst="rect">
            <a:avLst/>
          </a:prstGeom>
          <a:solidFill>
            <a:srgbClr val="1B7A4D"/>
          </a:solidFill>
          <a:ln/>
        </p:spPr>
      </p:sp>
      <p:sp>
        <p:nvSpPr>
          <p:cNvPr id="11" name="Text 9"/>
          <p:cNvSpPr/>
          <p:nvPr/>
        </p:nvSpPr>
        <p:spPr>
          <a:xfrm>
            <a:off x="3794760" y="1143000"/>
            <a:ext cx="1691640" cy="411480"/>
          </a:xfrm>
          <a:prstGeom prst="rect">
            <a:avLst/>
          </a:prstGeom>
          <a:noFill/>
          <a:ln/>
        </p:spPr>
        <p:txBody>
          <a:bodyPr wrap="square" rtlCol="0" anchor="ctr"/>
          <a:lstStyle/>
          <a:p>
            <a:pPr marL="0" indent="0" algn="ctr">
              <a:buNone/>
            </a:pPr>
            <a:r>
              <a:rPr lang="en-US" sz="1100" b="1" dirty="0">
                <a:solidFill>
                  <a:srgbClr val="FFFFFF"/>
                </a:solidFill>
              </a:rPr>
              <a:t>HLOOKUP</a:t>
            </a:r>
            <a:endParaRPr lang="en-US" sz="1100" dirty="0"/>
          </a:p>
        </p:txBody>
      </p:sp>
      <p:sp>
        <p:nvSpPr>
          <p:cNvPr id="12" name="Shape 10"/>
          <p:cNvSpPr/>
          <p:nvPr/>
        </p:nvSpPr>
        <p:spPr>
          <a:xfrm>
            <a:off x="5486400" y="1143000"/>
            <a:ext cx="1691640" cy="411480"/>
          </a:xfrm>
          <a:prstGeom prst="rect">
            <a:avLst/>
          </a:prstGeom>
          <a:solidFill>
            <a:srgbClr val="1B7A4D"/>
          </a:solidFill>
          <a:ln/>
        </p:spPr>
      </p:sp>
      <p:sp>
        <p:nvSpPr>
          <p:cNvPr id="13" name="Text 11"/>
          <p:cNvSpPr/>
          <p:nvPr/>
        </p:nvSpPr>
        <p:spPr>
          <a:xfrm>
            <a:off x="5486400" y="1143000"/>
            <a:ext cx="1691640" cy="411480"/>
          </a:xfrm>
          <a:prstGeom prst="rect">
            <a:avLst/>
          </a:prstGeom>
          <a:noFill/>
          <a:ln/>
        </p:spPr>
        <p:txBody>
          <a:bodyPr wrap="square" rtlCol="0" anchor="ctr"/>
          <a:lstStyle/>
          <a:p>
            <a:pPr marL="0" indent="0" algn="ctr">
              <a:buNone/>
            </a:pPr>
            <a:r>
              <a:rPr lang="en-US" sz="1100" b="1" dirty="0">
                <a:solidFill>
                  <a:srgbClr val="FFFFFF"/>
                </a:solidFill>
              </a:rPr>
              <a:t>INDEX+MATCH</a:t>
            </a:r>
            <a:endParaRPr lang="en-US" sz="1100" dirty="0"/>
          </a:p>
        </p:txBody>
      </p:sp>
      <p:sp>
        <p:nvSpPr>
          <p:cNvPr id="14" name="Shape 12"/>
          <p:cNvSpPr/>
          <p:nvPr/>
        </p:nvSpPr>
        <p:spPr>
          <a:xfrm>
            <a:off x="7178040" y="1143000"/>
            <a:ext cx="1737360" cy="411480"/>
          </a:xfrm>
          <a:prstGeom prst="rect">
            <a:avLst/>
          </a:prstGeom>
          <a:solidFill>
            <a:srgbClr val="1B7A4D"/>
          </a:solidFill>
          <a:ln/>
        </p:spPr>
      </p:sp>
      <p:sp>
        <p:nvSpPr>
          <p:cNvPr id="15" name="Text 13"/>
          <p:cNvSpPr/>
          <p:nvPr/>
        </p:nvSpPr>
        <p:spPr>
          <a:xfrm>
            <a:off x="7178040" y="1143000"/>
            <a:ext cx="1737360" cy="411480"/>
          </a:xfrm>
          <a:prstGeom prst="rect">
            <a:avLst/>
          </a:prstGeom>
          <a:noFill/>
          <a:ln/>
        </p:spPr>
        <p:txBody>
          <a:bodyPr wrap="square" rtlCol="0" anchor="ctr"/>
          <a:lstStyle/>
          <a:p>
            <a:pPr marL="0" indent="0" algn="ctr">
              <a:buNone/>
            </a:pPr>
            <a:r>
              <a:rPr lang="en-US" sz="1100" b="1" dirty="0">
                <a:solidFill>
                  <a:srgbClr val="FFFFFF"/>
                </a:solidFill>
              </a:rPr>
              <a:t>XLOOKUP</a:t>
            </a:r>
            <a:endParaRPr lang="en-US" sz="1100" dirty="0"/>
          </a:p>
        </p:txBody>
      </p:sp>
      <p:sp>
        <p:nvSpPr>
          <p:cNvPr id="16" name="Shape 14"/>
          <p:cNvSpPr/>
          <p:nvPr/>
        </p:nvSpPr>
        <p:spPr>
          <a:xfrm>
            <a:off x="274320" y="1554480"/>
            <a:ext cx="1828800" cy="347472"/>
          </a:xfrm>
          <a:prstGeom prst="rect">
            <a:avLst/>
          </a:prstGeom>
          <a:solidFill>
            <a:srgbClr val="FFFFFF"/>
          </a:solidFill>
          <a:ln w="12700">
            <a:solidFill>
              <a:srgbClr val="DDEEDD"/>
            </a:solidFill>
            <a:prstDash val="solid"/>
          </a:ln>
        </p:spPr>
      </p:sp>
      <p:sp>
        <p:nvSpPr>
          <p:cNvPr id="17" name="Text 15"/>
          <p:cNvSpPr/>
          <p:nvPr/>
        </p:nvSpPr>
        <p:spPr>
          <a:xfrm>
            <a:off x="320040" y="1591056"/>
            <a:ext cx="1737360" cy="274320"/>
          </a:xfrm>
          <a:prstGeom prst="rect">
            <a:avLst/>
          </a:prstGeom>
          <a:noFill/>
          <a:ln/>
        </p:spPr>
        <p:txBody>
          <a:bodyPr wrap="square" rtlCol="0" anchor="ctr"/>
          <a:lstStyle/>
          <a:p>
            <a:pPr marL="0" indent="0" algn="ctr">
              <a:buNone/>
            </a:pPr>
            <a:r>
              <a:rPr lang="en-US" sz="900" b="1" dirty="0">
                <a:solidFill>
                  <a:srgbClr val="1A2A22"/>
                </a:solidFill>
              </a:rPr>
              <a:t>Search Direction</a:t>
            </a:r>
            <a:endParaRPr lang="en-US" sz="900" dirty="0"/>
          </a:p>
        </p:txBody>
      </p:sp>
      <p:sp>
        <p:nvSpPr>
          <p:cNvPr id="18" name="Shape 16"/>
          <p:cNvSpPr/>
          <p:nvPr/>
        </p:nvSpPr>
        <p:spPr>
          <a:xfrm>
            <a:off x="2103120" y="1554480"/>
            <a:ext cx="1691640" cy="347472"/>
          </a:xfrm>
          <a:prstGeom prst="rect">
            <a:avLst/>
          </a:prstGeom>
          <a:solidFill>
            <a:srgbClr val="FFFFFF"/>
          </a:solidFill>
          <a:ln w="12700">
            <a:solidFill>
              <a:srgbClr val="DDEEDD"/>
            </a:solidFill>
            <a:prstDash val="solid"/>
          </a:ln>
        </p:spPr>
      </p:sp>
      <p:sp>
        <p:nvSpPr>
          <p:cNvPr id="19" name="Text 17"/>
          <p:cNvSpPr/>
          <p:nvPr/>
        </p:nvSpPr>
        <p:spPr>
          <a:xfrm>
            <a:off x="2148840" y="1591056"/>
            <a:ext cx="1600200" cy="274320"/>
          </a:xfrm>
          <a:prstGeom prst="rect">
            <a:avLst/>
          </a:prstGeom>
          <a:noFill/>
          <a:ln/>
        </p:spPr>
        <p:txBody>
          <a:bodyPr wrap="square" rtlCol="0" anchor="ctr"/>
          <a:lstStyle/>
          <a:p>
            <a:pPr marL="0" indent="0" algn="ctr">
              <a:buNone/>
            </a:pPr>
            <a:r>
              <a:rPr lang="en-US" sz="900" dirty="0">
                <a:solidFill>
                  <a:srgbClr val="5A6B62"/>
                </a:solidFill>
              </a:rPr>
              <a:t>Vertical ↓</a:t>
            </a:r>
            <a:endParaRPr lang="en-US" sz="900" dirty="0"/>
          </a:p>
        </p:txBody>
      </p:sp>
      <p:sp>
        <p:nvSpPr>
          <p:cNvPr id="20" name="Shape 18"/>
          <p:cNvSpPr/>
          <p:nvPr/>
        </p:nvSpPr>
        <p:spPr>
          <a:xfrm>
            <a:off x="3794760" y="1554480"/>
            <a:ext cx="1691640" cy="347472"/>
          </a:xfrm>
          <a:prstGeom prst="rect">
            <a:avLst/>
          </a:prstGeom>
          <a:solidFill>
            <a:srgbClr val="FFFFFF"/>
          </a:solidFill>
          <a:ln w="12700">
            <a:solidFill>
              <a:srgbClr val="DDEEDD"/>
            </a:solidFill>
            <a:prstDash val="solid"/>
          </a:ln>
        </p:spPr>
      </p:sp>
      <p:sp>
        <p:nvSpPr>
          <p:cNvPr id="21" name="Text 19"/>
          <p:cNvSpPr/>
          <p:nvPr/>
        </p:nvSpPr>
        <p:spPr>
          <a:xfrm>
            <a:off x="3840480" y="1591056"/>
            <a:ext cx="1600200" cy="274320"/>
          </a:xfrm>
          <a:prstGeom prst="rect">
            <a:avLst/>
          </a:prstGeom>
          <a:noFill/>
          <a:ln/>
        </p:spPr>
        <p:txBody>
          <a:bodyPr wrap="square" rtlCol="0" anchor="ctr"/>
          <a:lstStyle/>
          <a:p>
            <a:pPr marL="0" indent="0" algn="ctr">
              <a:buNone/>
            </a:pPr>
            <a:r>
              <a:rPr lang="en-US" sz="900" dirty="0">
                <a:solidFill>
                  <a:srgbClr val="5A6B62"/>
                </a:solidFill>
              </a:rPr>
              <a:t>Horizontal →</a:t>
            </a:r>
            <a:endParaRPr lang="en-US" sz="900" dirty="0"/>
          </a:p>
        </p:txBody>
      </p:sp>
      <p:sp>
        <p:nvSpPr>
          <p:cNvPr id="22" name="Shape 20"/>
          <p:cNvSpPr/>
          <p:nvPr/>
        </p:nvSpPr>
        <p:spPr>
          <a:xfrm>
            <a:off x="5486400" y="1554480"/>
            <a:ext cx="1691640" cy="347472"/>
          </a:xfrm>
          <a:prstGeom prst="rect">
            <a:avLst/>
          </a:prstGeom>
          <a:solidFill>
            <a:srgbClr val="FFFFFF"/>
          </a:solidFill>
          <a:ln w="12700">
            <a:solidFill>
              <a:srgbClr val="DDEEDD"/>
            </a:solidFill>
            <a:prstDash val="solid"/>
          </a:ln>
        </p:spPr>
      </p:sp>
      <p:sp>
        <p:nvSpPr>
          <p:cNvPr id="23" name="Text 21"/>
          <p:cNvSpPr/>
          <p:nvPr/>
        </p:nvSpPr>
        <p:spPr>
          <a:xfrm>
            <a:off x="5532120" y="1591056"/>
            <a:ext cx="1600200" cy="274320"/>
          </a:xfrm>
          <a:prstGeom prst="rect">
            <a:avLst/>
          </a:prstGeom>
          <a:noFill/>
          <a:ln/>
        </p:spPr>
        <p:txBody>
          <a:bodyPr wrap="square" rtlCol="0" anchor="ctr"/>
          <a:lstStyle/>
          <a:p>
            <a:pPr marL="0" indent="0" algn="ctr">
              <a:buNone/>
            </a:pPr>
            <a:r>
              <a:rPr lang="en-US" sz="900" dirty="0">
                <a:solidFill>
                  <a:srgbClr val="5A6B62"/>
                </a:solidFill>
              </a:rPr>
              <a:t>Both ↕↔</a:t>
            </a:r>
            <a:endParaRPr lang="en-US" sz="900" dirty="0"/>
          </a:p>
        </p:txBody>
      </p:sp>
      <p:sp>
        <p:nvSpPr>
          <p:cNvPr id="24" name="Shape 22"/>
          <p:cNvSpPr/>
          <p:nvPr/>
        </p:nvSpPr>
        <p:spPr>
          <a:xfrm>
            <a:off x="7178040" y="1554480"/>
            <a:ext cx="1737360" cy="347472"/>
          </a:xfrm>
          <a:prstGeom prst="rect">
            <a:avLst/>
          </a:prstGeom>
          <a:solidFill>
            <a:srgbClr val="FFFFFF"/>
          </a:solidFill>
          <a:ln w="12700">
            <a:solidFill>
              <a:srgbClr val="DDEEDD"/>
            </a:solidFill>
            <a:prstDash val="solid"/>
          </a:ln>
        </p:spPr>
      </p:sp>
      <p:sp>
        <p:nvSpPr>
          <p:cNvPr id="25" name="Text 23"/>
          <p:cNvSpPr/>
          <p:nvPr/>
        </p:nvSpPr>
        <p:spPr>
          <a:xfrm>
            <a:off x="7223760" y="1591056"/>
            <a:ext cx="1645920" cy="274320"/>
          </a:xfrm>
          <a:prstGeom prst="rect">
            <a:avLst/>
          </a:prstGeom>
          <a:noFill/>
          <a:ln/>
        </p:spPr>
        <p:txBody>
          <a:bodyPr wrap="square" rtlCol="0" anchor="ctr"/>
          <a:lstStyle/>
          <a:p>
            <a:pPr marL="0" indent="0" algn="ctr">
              <a:buNone/>
            </a:pPr>
            <a:r>
              <a:rPr lang="en-US" sz="900" dirty="0">
                <a:solidFill>
                  <a:srgbClr val="5A6B62"/>
                </a:solidFill>
              </a:rPr>
              <a:t>Both ↕↔</a:t>
            </a:r>
            <a:endParaRPr lang="en-US" sz="900" dirty="0"/>
          </a:p>
        </p:txBody>
      </p:sp>
      <p:sp>
        <p:nvSpPr>
          <p:cNvPr id="26" name="Shape 24"/>
          <p:cNvSpPr/>
          <p:nvPr/>
        </p:nvSpPr>
        <p:spPr>
          <a:xfrm>
            <a:off x="274320" y="1938528"/>
            <a:ext cx="1828800" cy="347472"/>
          </a:xfrm>
          <a:prstGeom prst="rect">
            <a:avLst/>
          </a:prstGeom>
          <a:solidFill>
            <a:srgbClr val="E8F5EE"/>
          </a:solidFill>
          <a:ln w="12700">
            <a:solidFill>
              <a:srgbClr val="DDEEDD"/>
            </a:solidFill>
            <a:prstDash val="solid"/>
          </a:ln>
        </p:spPr>
      </p:sp>
      <p:sp>
        <p:nvSpPr>
          <p:cNvPr id="27" name="Text 25"/>
          <p:cNvSpPr/>
          <p:nvPr/>
        </p:nvSpPr>
        <p:spPr>
          <a:xfrm>
            <a:off x="320040" y="1975104"/>
            <a:ext cx="1737360" cy="274320"/>
          </a:xfrm>
          <a:prstGeom prst="rect">
            <a:avLst/>
          </a:prstGeom>
          <a:noFill/>
          <a:ln/>
        </p:spPr>
        <p:txBody>
          <a:bodyPr wrap="square" rtlCol="0" anchor="ctr"/>
          <a:lstStyle/>
          <a:p>
            <a:pPr marL="0" indent="0" algn="ctr">
              <a:buNone/>
            </a:pPr>
            <a:r>
              <a:rPr lang="en-US" sz="900" b="1" dirty="0">
                <a:solidFill>
                  <a:srgbClr val="1A2A22"/>
                </a:solidFill>
              </a:rPr>
              <a:t>Lookup Position</a:t>
            </a:r>
            <a:endParaRPr lang="en-US" sz="900" dirty="0"/>
          </a:p>
        </p:txBody>
      </p:sp>
      <p:sp>
        <p:nvSpPr>
          <p:cNvPr id="28" name="Shape 26"/>
          <p:cNvSpPr/>
          <p:nvPr/>
        </p:nvSpPr>
        <p:spPr>
          <a:xfrm>
            <a:off x="2103120" y="1938528"/>
            <a:ext cx="1691640" cy="347472"/>
          </a:xfrm>
          <a:prstGeom prst="rect">
            <a:avLst/>
          </a:prstGeom>
          <a:solidFill>
            <a:srgbClr val="E8F5EE"/>
          </a:solidFill>
          <a:ln w="12700">
            <a:solidFill>
              <a:srgbClr val="DDEEDD"/>
            </a:solidFill>
            <a:prstDash val="solid"/>
          </a:ln>
        </p:spPr>
      </p:sp>
      <p:sp>
        <p:nvSpPr>
          <p:cNvPr id="29" name="Text 27"/>
          <p:cNvSpPr/>
          <p:nvPr/>
        </p:nvSpPr>
        <p:spPr>
          <a:xfrm>
            <a:off x="2148840" y="1975104"/>
            <a:ext cx="1600200" cy="274320"/>
          </a:xfrm>
          <a:prstGeom prst="rect">
            <a:avLst/>
          </a:prstGeom>
          <a:noFill/>
          <a:ln/>
        </p:spPr>
        <p:txBody>
          <a:bodyPr wrap="square" rtlCol="0" anchor="ctr"/>
          <a:lstStyle/>
          <a:p>
            <a:pPr marL="0" indent="0" algn="ctr">
              <a:buNone/>
            </a:pPr>
            <a:r>
              <a:rPr lang="en-US" sz="900" dirty="0">
                <a:solidFill>
                  <a:srgbClr val="5A6B62"/>
                </a:solidFill>
              </a:rPr>
              <a:t>First col only</a:t>
            </a:r>
            <a:endParaRPr lang="en-US" sz="900" dirty="0"/>
          </a:p>
        </p:txBody>
      </p:sp>
      <p:sp>
        <p:nvSpPr>
          <p:cNvPr id="30" name="Shape 28"/>
          <p:cNvSpPr/>
          <p:nvPr/>
        </p:nvSpPr>
        <p:spPr>
          <a:xfrm>
            <a:off x="3794760" y="1938528"/>
            <a:ext cx="1691640" cy="347472"/>
          </a:xfrm>
          <a:prstGeom prst="rect">
            <a:avLst/>
          </a:prstGeom>
          <a:solidFill>
            <a:srgbClr val="E8F5EE"/>
          </a:solidFill>
          <a:ln w="12700">
            <a:solidFill>
              <a:srgbClr val="DDEEDD"/>
            </a:solidFill>
            <a:prstDash val="solid"/>
          </a:ln>
        </p:spPr>
      </p:sp>
      <p:sp>
        <p:nvSpPr>
          <p:cNvPr id="31" name="Text 29"/>
          <p:cNvSpPr/>
          <p:nvPr/>
        </p:nvSpPr>
        <p:spPr>
          <a:xfrm>
            <a:off x="3840480" y="1975104"/>
            <a:ext cx="1600200" cy="274320"/>
          </a:xfrm>
          <a:prstGeom prst="rect">
            <a:avLst/>
          </a:prstGeom>
          <a:noFill/>
          <a:ln/>
        </p:spPr>
        <p:txBody>
          <a:bodyPr wrap="square" rtlCol="0" anchor="ctr"/>
          <a:lstStyle/>
          <a:p>
            <a:pPr marL="0" indent="0" algn="ctr">
              <a:buNone/>
            </a:pPr>
            <a:r>
              <a:rPr lang="en-US" sz="900" dirty="0">
                <a:solidFill>
                  <a:srgbClr val="5A6B62"/>
                </a:solidFill>
              </a:rPr>
              <a:t>First row only</a:t>
            </a:r>
            <a:endParaRPr lang="en-US" sz="900" dirty="0"/>
          </a:p>
        </p:txBody>
      </p:sp>
      <p:sp>
        <p:nvSpPr>
          <p:cNvPr id="32" name="Shape 30"/>
          <p:cNvSpPr/>
          <p:nvPr/>
        </p:nvSpPr>
        <p:spPr>
          <a:xfrm>
            <a:off x="5486400" y="1938528"/>
            <a:ext cx="1691640" cy="347472"/>
          </a:xfrm>
          <a:prstGeom prst="rect">
            <a:avLst/>
          </a:prstGeom>
          <a:solidFill>
            <a:srgbClr val="E8F5EE"/>
          </a:solidFill>
          <a:ln w="12700">
            <a:solidFill>
              <a:srgbClr val="DDEEDD"/>
            </a:solidFill>
            <a:prstDash val="solid"/>
          </a:ln>
        </p:spPr>
      </p:sp>
      <p:sp>
        <p:nvSpPr>
          <p:cNvPr id="33" name="Text 31"/>
          <p:cNvSpPr/>
          <p:nvPr/>
        </p:nvSpPr>
        <p:spPr>
          <a:xfrm>
            <a:off x="5532120" y="1975104"/>
            <a:ext cx="1600200" cy="274320"/>
          </a:xfrm>
          <a:prstGeom prst="rect">
            <a:avLst/>
          </a:prstGeom>
          <a:noFill/>
          <a:ln/>
        </p:spPr>
        <p:txBody>
          <a:bodyPr wrap="square" rtlCol="0" anchor="ctr"/>
          <a:lstStyle/>
          <a:p>
            <a:pPr marL="0" indent="0" algn="ctr">
              <a:buNone/>
            </a:pPr>
            <a:r>
              <a:rPr lang="en-US" sz="900" dirty="0">
                <a:solidFill>
                  <a:srgbClr val="5A6B62"/>
                </a:solidFill>
              </a:rPr>
              <a:t>Any position</a:t>
            </a:r>
            <a:endParaRPr lang="en-US" sz="900" dirty="0"/>
          </a:p>
        </p:txBody>
      </p:sp>
      <p:sp>
        <p:nvSpPr>
          <p:cNvPr id="34" name="Shape 32"/>
          <p:cNvSpPr/>
          <p:nvPr/>
        </p:nvSpPr>
        <p:spPr>
          <a:xfrm>
            <a:off x="7178040" y="1938528"/>
            <a:ext cx="1737360" cy="347472"/>
          </a:xfrm>
          <a:prstGeom prst="rect">
            <a:avLst/>
          </a:prstGeom>
          <a:solidFill>
            <a:srgbClr val="E8F5EE"/>
          </a:solidFill>
          <a:ln w="12700">
            <a:solidFill>
              <a:srgbClr val="DDEEDD"/>
            </a:solidFill>
            <a:prstDash val="solid"/>
          </a:ln>
        </p:spPr>
      </p:sp>
      <p:sp>
        <p:nvSpPr>
          <p:cNvPr id="35" name="Text 33"/>
          <p:cNvSpPr/>
          <p:nvPr/>
        </p:nvSpPr>
        <p:spPr>
          <a:xfrm>
            <a:off x="7223760" y="1975104"/>
            <a:ext cx="1645920" cy="274320"/>
          </a:xfrm>
          <a:prstGeom prst="rect">
            <a:avLst/>
          </a:prstGeom>
          <a:noFill/>
          <a:ln/>
        </p:spPr>
        <p:txBody>
          <a:bodyPr wrap="square" rtlCol="0" anchor="ctr"/>
          <a:lstStyle/>
          <a:p>
            <a:pPr marL="0" indent="0" algn="ctr">
              <a:buNone/>
            </a:pPr>
            <a:r>
              <a:rPr lang="en-US" sz="900" dirty="0">
                <a:solidFill>
                  <a:srgbClr val="5A6B62"/>
                </a:solidFill>
              </a:rPr>
              <a:t>Any position</a:t>
            </a:r>
            <a:endParaRPr lang="en-US" sz="900" dirty="0"/>
          </a:p>
        </p:txBody>
      </p:sp>
      <p:sp>
        <p:nvSpPr>
          <p:cNvPr id="36" name="Shape 34"/>
          <p:cNvSpPr/>
          <p:nvPr/>
        </p:nvSpPr>
        <p:spPr>
          <a:xfrm>
            <a:off x="274320" y="2322576"/>
            <a:ext cx="1828800" cy="347472"/>
          </a:xfrm>
          <a:prstGeom prst="rect">
            <a:avLst/>
          </a:prstGeom>
          <a:solidFill>
            <a:srgbClr val="FFFFFF"/>
          </a:solidFill>
          <a:ln w="12700">
            <a:solidFill>
              <a:srgbClr val="DDEEDD"/>
            </a:solidFill>
            <a:prstDash val="solid"/>
          </a:ln>
        </p:spPr>
      </p:sp>
      <p:sp>
        <p:nvSpPr>
          <p:cNvPr id="37" name="Text 35"/>
          <p:cNvSpPr/>
          <p:nvPr/>
        </p:nvSpPr>
        <p:spPr>
          <a:xfrm>
            <a:off x="320040" y="2359152"/>
            <a:ext cx="1737360" cy="274320"/>
          </a:xfrm>
          <a:prstGeom prst="rect">
            <a:avLst/>
          </a:prstGeom>
          <a:noFill/>
          <a:ln/>
        </p:spPr>
        <p:txBody>
          <a:bodyPr wrap="square" rtlCol="0" anchor="ctr"/>
          <a:lstStyle/>
          <a:p>
            <a:pPr marL="0" indent="0" algn="ctr">
              <a:buNone/>
            </a:pPr>
            <a:r>
              <a:rPr lang="en-US" sz="900" b="1" dirty="0">
                <a:solidFill>
                  <a:srgbClr val="1A2A22"/>
                </a:solidFill>
              </a:rPr>
              <a:t>Return Direction</a:t>
            </a:r>
            <a:endParaRPr lang="en-US" sz="900" dirty="0"/>
          </a:p>
        </p:txBody>
      </p:sp>
      <p:sp>
        <p:nvSpPr>
          <p:cNvPr id="38" name="Shape 36"/>
          <p:cNvSpPr/>
          <p:nvPr/>
        </p:nvSpPr>
        <p:spPr>
          <a:xfrm>
            <a:off x="2103120" y="2322576"/>
            <a:ext cx="1691640" cy="347472"/>
          </a:xfrm>
          <a:prstGeom prst="rect">
            <a:avLst/>
          </a:prstGeom>
          <a:solidFill>
            <a:srgbClr val="FFFFFF"/>
          </a:solidFill>
          <a:ln w="12700">
            <a:solidFill>
              <a:srgbClr val="DDEEDD"/>
            </a:solidFill>
            <a:prstDash val="solid"/>
          </a:ln>
        </p:spPr>
      </p:sp>
      <p:sp>
        <p:nvSpPr>
          <p:cNvPr id="39" name="Text 37"/>
          <p:cNvSpPr/>
          <p:nvPr/>
        </p:nvSpPr>
        <p:spPr>
          <a:xfrm>
            <a:off x="2148840" y="2359152"/>
            <a:ext cx="1600200" cy="274320"/>
          </a:xfrm>
          <a:prstGeom prst="rect">
            <a:avLst/>
          </a:prstGeom>
          <a:noFill/>
          <a:ln/>
        </p:spPr>
        <p:txBody>
          <a:bodyPr wrap="square" rtlCol="0" anchor="ctr"/>
          <a:lstStyle/>
          <a:p>
            <a:pPr marL="0" indent="0" algn="ctr">
              <a:buNone/>
            </a:pPr>
            <a:r>
              <a:rPr lang="en-US" sz="900" dirty="0">
                <a:solidFill>
                  <a:srgbClr val="5A6B62"/>
                </a:solidFill>
              </a:rPr>
              <a:t>Right only →</a:t>
            </a:r>
            <a:endParaRPr lang="en-US" sz="900" dirty="0"/>
          </a:p>
        </p:txBody>
      </p:sp>
      <p:sp>
        <p:nvSpPr>
          <p:cNvPr id="40" name="Shape 38"/>
          <p:cNvSpPr/>
          <p:nvPr/>
        </p:nvSpPr>
        <p:spPr>
          <a:xfrm>
            <a:off x="3794760" y="2322576"/>
            <a:ext cx="1691640" cy="347472"/>
          </a:xfrm>
          <a:prstGeom prst="rect">
            <a:avLst/>
          </a:prstGeom>
          <a:solidFill>
            <a:srgbClr val="FFFFFF"/>
          </a:solidFill>
          <a:ln w="12700">
            <a:solidFill>
              <a:srgbClr val="DDEEDD"/>
            </a:solidFill>
            <a:prstDash val="solid"/>
          </a:ln>
        </p:spPr>
      </p:sp>
      <p:sp>
        <p:nvSpPr>
          <p:cNvPr id="41" name="Text 39"/>
          <p:cNvSpPr/>
          <p:nvPr/>
        </p:nvSpPr>
        <p:spPr>
          <a:xfrm>
            <a:off x="3840480" y="2359152"/>
            <a:ext cx="1600200" cy="274320"/>
          </a:xfrm>
          <a:prstGeom prst="rect">
            <a:avLst/>
          </a:prstGeom>
          <a:noFill/>
          <a:ln/>
        </p:spPr>
        <p:txBody>
          <a:bodyPr wrap="square" rtlCol="0" anchor="ctr"/>
          <a:lstStyle/>
          <a:p>
            <a:pPr marL="0" indent="0" algn="ctr">
              <a:buNone/>
            </a:pPr>
            <a:r>
              <a:rPr lang="en-US" sz="900" dirty="0">
                <a:solidFill>
                  <a:srgbClr val="5A6B62"/>
                </a:solidFill>
              </a:rPr>
              <a:t>Down only ↓</a:t>
            </a:r>
            <a:endParaRPr lang="en-US" sz="900" dirty="0"/>
          </a:p>
        </p:txBody>
      </p:sp>
      <p:sp>
        <p:nvSpPr>
          <p:cNvPr id="42" name="Shape 40"/>
          <p:cNvSpPr/>
          <p:nvPr/>
        </p:nvSpPr>
        <p:spPr>
          <a:xfrm>
            <a:off x="5486400" y="2322576"/>
            <a:ext cx="1691640" cy="347472"/>
          </a:xfrm>
          <a:prstGeom prst="rect">
            <a:avLst/>
          </a:prstGeom>
          <a:solidFill>
            <a:srgbClr val="FFFFFF"/>
          </a:solidFill>
          <a:ln w="12700">
            <a:solidFill>
              <a:srgbClr val="DDEEDD"/>
            </a:solidFill>
            <a:prstDash val="solid"/>
          </a:ln>
        </p:spPr>
      </p:sp>
      <p:sp>
        <p:nvSpPr>
          <p:cNvPr id="43" name="Text 41"/>
          <p:cNvSpPr/>
          <p:nvPr/>
        </p:nvSpPr>
        <p:spPr>
          <a:xfrm>
            <a:off x="5532120" y="2359152"/>
            <a:ext cx="1600200" cy="274320"/>
          </a:xfrm>
          <a:prstGeom prst="rect">
            <a:avLst/>
          </a:prstGeom>
          <a:noFill/>
          <a:ln/>
        </p:spPr>
        <p:txBody>
          <a:bodyPr wrap="square" rtlCol="0" anchor="ctr"/>
          <a:lstStyle/>
          <a:p>
            <a:pPr marL="0" indent="0" algn="ctr">
              <a:buNone/>
            </a:pPr>
            <a:r>
              <a:rPr lang="en-US" sz="900" dirty="0">
                <a:solidFill>
                  <a:srgbClr val="5A6B62"/>
                </a:solidFill>
              </a:rPr>
              <a:t>Any direction</a:t>
            </a:r>
            <a:endParaRPr lang="en-US" sz="900" dirty="0"/>
          </a:p>
        </p:txBody>
      </p:sp>
      <p:sp>
        <p:nvSpPr>
          <p:cNvPr id="44" name="Shape 42"/>
          <p:cNvSpPr/>
          <p:nvPr/>
        </p:nvSpPr>
        <p:spPr>
          <a:xfrm>
            <a:off x="7178040" y="2322576"/>
            <a:ext cx="1737360" cy="347472"/>
          </a:xfrm>
          <a:prstGeom prst="rect">
            <a:avLst/>
          </a:prstGeom>
          <a:solidFill>
            <a:srgbClr val="FFFFFF"/>
          </a:solidFill>
          <a:ln w="12700">
            <a:solidFill>
              <a:srgbClr val="DDEEDD"/>
            </a:solidFill>
            <a:prstDash val="solid"/>
          </a:ln>
        </p:spPr>
      </p:sp>
      <p:sp>
        <p:nvSpPr>
          <p:cNvPr id="45" name="Text 43"/>
          <p:cNvSpPr/>
          <p:nvPr/>
        </p:nvSpPr>
        <p:spPr>
          <a:xfrm>
            <a:off x="7223760" y="2359152"/>
            <a:ext cx="1645920" cy="274320"/>
          </a:xfrm>
          <a:prstGeom prst="rect">
            <a:avLst/>
          </a:prstGeom>
          <a:noFill/>
          <a:ln/>
        </p:spPr>
        <p:txBody>
          <a:bodyPr wrap="square" rtlCol="0" anchor="ctr"/>
          <a:lstStyle/>
          <a:p>
            <a:pPr marL="0" indent="0" algn="ctr">
              <a:buNone/>
            </a:pPr>
            <a:r>
              <a:rPr lang="en-US" sz="900" dirty="0">
                <a:solidFill>
                  <a:srgbClr val="5A6B62"/>
                </a:solidFill>
              </a:rPr>
              <a:t>Any direction</a:t>
            </a:r>
            <a:endParaRPr lang="en-US" sz="900" dirty="0"/>
          </a:p>
        </p:txBody>
      </p:sp>
      <p:sp>
        <p:nvSpPr>
          <p:cNvPr id="46" name="Shape 44"/>
          <p:cNvSpPr/>
          <p:nvPr/>
        </p:nvSpPr>
        <p:spPr>
          <a:xfrm>
            <a:off x="274320" y="2706624"/>
            <a:ext cx="1828800" cy="347472"/>
          </a:xfrm>
          <a:prstGeom prst="rect">
            <a:avLst/>
          </a:prstGeom>
          <a:solidFill>
            <a:srgbClr val="E8F5EE"/>
          </a:solidFill>
          <a:ln w="12700">
            <a:solidFill>
              <a:srgbClr val="DDEEDD"/>
            </a:solidFill>
            <a:prstDash val="solid"/>
          </a:ln>
        </p:spPr>
      </p:sp>
      <p:sp>
        <p:nvSpPr>
          <p:cNvPr id="47" name="Text 45"/>
          <p:cNvSpPr/>
          <p:nvPr/>
        </p:nvSpPr>
        <p:spPr>
          <a:xfrm>
            <a:off x="320040" y="2743200"/>
            <a:ext cx="1737360" cy="274320"/>
          </a:xfrm>
          <a:prstGeom prst="rect">
            <a:avLst/>
          </a:prstGeom>
          <a:noFill/>
          <a:ln/>
        </p:spPr>
        <p:txBody>
          <a:bodyPr wrap="square" rtlCol="0" anchor="ctr"/>
          <a:lstStyle/>
          <a:p>
            <a:pPr marL="0" indent="0" algn="ctr">
              <a:buNone/>
            </a:pPr>
            <a:r>
              <a:rPr lang="en-US" sz="900" b="1" dirty="0">
                <a:solidFill>
                  <a:srgbClr val="1A2A22"/>
                </a:solidFill>
              </a:rPr>
              <a:t>If Not Found</a:t>
            </a:r>
            <a:endParaRPr lang="en-US" sz="900" dirty="0"/>
          </a:p>
        </p:txBody>
      </p:sp>
      <p:sp>
        <p:nvSpPr>
          <p:cNvPr id="48" name="Shape 46"/>
          <p:cNvSpPr/>
          <p:nvPr/>
        </p:nvSpPr>
        <p:spPr>
          <a:xfrm>
            <a:off x="2103120" y="2706624"/>
            <a:ext cx="1691640" cy="347472"/>
          </a:xfrm>
          <a:prstGeom prst="rect">
            <a:avLst/>
          </a:prstGeom>
          <a:solidFill>
            <a:srgbClr val="E8F5EE"/>
          </a:solidFill>
          <a:ln w="12700">
            <a:solidFill>
              <a:srgbClr val="DDEEDD"/>
            </a:solidFill>
            <a:prstDash val="solid"/>
          </a:ln>
        </p:spPr>
      </p:sp>
      <p:sp>
        <p:nvSpPr>
          <p:cNvPr id="49" name="Text 47"/>
          <p:cNvSpPr/>
          <p:nvPr/>
        </p:nvSpPr>
        <p:spPr>
          <a:xfrm>
            <a:off x="2148840" y="2743200"/>
            <a:ext cx="1600200" cy="274320"/>
          </a:xfrm>
          <a:prstGeom prst="rect">
            <a:avLst/>
          </a:prstGeom>
          <a:noFill/>
          <a:ln/>
        </p:spPr>
        <p:txBody>
          <a:bodyPr wrap="square" rtlCol="0" anchor="ctr"/>
          <a:lstStyle/>
          <a:p>
            <a:pPr marL="0" indent="0" algn="ctr">
              <a:buNone/>
            </a:pPr>
            <a:r>
              <a:rPr lang="en-US" sz="900" dirty="0">
                <a:solidFill>
                  <a:srgbClr val="5A6B62"/>
                </a:solidFill>
              </a:rPr>
              <a:t>Needs IFERROR</a:t>
            </a:r>
            <a:endParaRPr lang="en-US" sz="900" dirty="0"/>
          </a:p>
        </p:txBody>
      </p:sp>
      <p:sp>
        <p:nvSpPr>
          <p:cNvPr id="50" name="Shape 48"/>
          <p:cNvSpPr/>
          <p:nvPr/>
        </p:nvSpPr>
        <p:spPr>
          <a:xfrm>
            <a:off x="3794760" y="2706624"/>
            <a:ext cx="1691640" cy="347472"/>
          </a:xfrm>
          <a:prstGeom prst="rect">
            <a:avLst/>
          </a:prstGeom>
          <a:solidFill>
            <a:srgbClr val="E8F5EE"/>
          </a:solidFill>
          <a:ln w="12700">
            <a:solidFill>
              <a:srgbClr val="DDEEDD"/>
            </a:solidFill>
            <a:prstDash val="solid"/>
          </a:ln>
        </p:spPr>
      </p:sp>
      <p:sp>
        <p:nvSpPr>
          <p:cNvPr id="51" name="Text 49"/>
          <p:cNvSpPr/>
          <p:nvPr/>
        </p:nvSpPr>
        <p:spPr>
          <a:xfrm>
            <a:off x="3840480" y="2743200"/>
            <a:ext cx="1600200" cy="274320"/>
          </a:xfrm>
          <a:prstGeom prst="rect">
            <a:avLst/>
          </a:prstGeom>
          <a:noFill/>
          <a:ln/>
        </p:spPr>
        <p:txBody>
          <a:bodyPr wrap="square" rtlCol="0" anchor="ctr"/>
          <a:lstStyle/>
          <a:p>
            <a:pPr marL="0" indent="0" algn="ctr">
              <a:buNone/>
            </a:pPr>
            <a:r>
              <a:rPr lang="en-US" sz="900" dirty="0">
                <a:solidFill>
                  <a:srgbClr val="5A6B62"/>
                </a:solidFill>
              </a:rPr>
              <a:t>Needs IFERROR</a:t>
            </a:r>
            <a:endParaRPr lang="en-US" sz="900" dirty="0"/>
          </a:p>
        </p:txBody>
      </p:sp>
      <p:sp>
        <p:nvSpPr>
          <p:cNvPr id="52" name="Shape 50"/>
          <p:cNvSpPr/>
          <p:nvPr/>
        </p:nvSpPr>
        <p:spPr>
          <a:xfrm>
            <a:off x="5486400" y="2706624"/>
            <a:ext cx="1691640" cy="347472"/>
          </a:xfrm>
          <a:prstGeom prst="rect">
            <a:avLst/>
          </a:prstGeom>
          <a:solidFill>
            <a:srgbClr val="E8F5EE"/>
          </a:solidFill>
          <a:ln w="12700">
            <a:solidFill>
              <a:srgbClr val="DDEEDD"/>
            </a:solidFill>
            <a:prstDash val="solid"/>
          </a:ln>
        </p:spPr>
      </p:sp>
      <p:sp>
        <p:nvSpPr>
          <p:cNvPr id="53" name="Text 51"/>
          <p:cNvSpPr/>
          <p:nvPr/>
        </p:nvSpPr>
        <p:spPr>
          <a:xfrm>
            <a:off x="5532120" y="2743200"/>
            <a:ext cx="1600200" cy="274320"/>
          </a:xfrm>
          <a:prstGeom prst="rect">
            <a:avLst/>
          </a:prstGeom>
          <a:noFill/>
          <a:ln/>
        </p:spPr>
        <p:txBody>
          <a:bodyPr wrap="square" rtlCol="0" anchor="ctr"/>
          <a:lstStyle/>
          <a:p>
            <a:pPr marL="0" indent="0" algn="ctr">
              <a:buNone/>
            </a:pPr>
            <a:r>
              <a:rPr lang="en-US" sz="900" dirty="0">
                <a:solidFill>
                  <a:srgbClr val="5A6B62"/>
                </a:solidFill>
              </a:rPr>
              <a:t>Needs IFERROR</a:t>
            </a:r>
            <a:endParaRPr lang="en-US" sz="900" dirty="0"/>
          </a:p>
        </p:txBody>
      </p:sp>
      <p:sp>
        <p:nvSpPr>
          <p:cNvPr id="54" name="Shape 52"/>
          <p:cNvSpPr/>
          <p:nvPr/>
        </p:nvSpPr>
        <p:spPr>
          <a:xfrm>
            <a:off x="7178040" y="2706624"/>
            <a:ext cx="1737360" cy="347472"/>
          </a:xfrm>
          <a:prstGeom prst="rect">
            <a:avLst/>
          </a:prstGeom>
          <a:solidFill>
            <a:srgbClr val="E8F5EE"/>
          </a:solidFill>
          <a:ln w="12700">
            <a:solidFill>
              <a:srgbClr val="DDEEDD"/>
            </a:solidFill>
            <a:prstDash val="solid"/>
          </a:ln>
        </p:spPr>
      </p:sp>
      <p:sp>
        <p:nvSpPr>
          <p:cNvPr id="55" name="Text 53"/>
          <p:cNvSpPr/>
          <p:nvPr/>
        </p:nvSpPr>
        <p:spPr>
          <a:xfrm>
            <a:off x="7223760" y="2743200"/>
            <a:ext cx="1645920" cy="274320"/>
          </a:xfrm>
          <a:prstGeom prst="rect">
            <a:avLst/>
          </a:prstGeom>
          <a:noFill/>
          <a:ln/>
        </p:spPr>
        <p:txBody>
          <a:bodyPr wrap="square" rtlCol="0" anchor="ctr"/>
          <a:lstStyle/>
          <a:p>
            <a:pPr marL="0" indent="0" algn="ctr">
              <a:buNone/>
            </a:pPr>
            <a:r>
              <a:rPr lang="en-US" sz="900" b="1" dirty="0">
                <a:solidFill>
                  <a:srgbClr val="1B7A4D"/>
                </a:solidFill>
              </a:rPr>
              <a:t>Built-in ✓</a:t>
            </a:r>
            <a:endParaRPr lang="en-US" sz="900" dirty="0"/>
          </a:p>
        </p:txBody>
      </p:sp>
      <p:sp>
        <p:nvSpPr>
          <p:cNvPr id="56" name="Shape 54"/>
          <p:cNvSpPr/>
          <p:nvPr/>
        </p:nvSpPr>
        <p:spPr>
          <a:xfrm>
            <a:off x="274320" y="3090672"/>
            <a:ext cx="1828800" cy="347472"/>
          </a:xfrm>
          <a:prstGeom prst="rect">
            <a:avLst/>
          </a:prstGeom>
          <a:solidFill>
            <a:srgbClr val="FFFFFF"/>
          </a:solidFill>
          <a:ln w="12700">
            <a:solidFill>
              <a:srgbClr val="DDEEDD"/>
            </a:solidFill>
            <a:prstDash val="solid"/>
          </a:ln>
        </p:spPr>
      </p:sp>
      <p:sp>
        <p:nvSpPr>
          <p:cNvPr id="57" name="Text 55"/>
          <p:cNvSpPr/>
          <p:nvPr/>
        </p:nvSpPr>
        <p:spPr>
          <a:xfrm>
            <a:off x="320040" y="3127248"/>
            <a:ext cx="1737360" cy="274320"/>
          </a:xfrm>
          <a:prstGeom prst="rect">
            <a:avLst/>
          </a:prstGeom>
          <a:noFill/>
          <a:ln/>
        </p:spPr>
        <p:txBody>
          <a:bodyPr wrap="square" rtlCol="0" anchor="ctr"/>
          <a:lstStyle/>
          <a:p>
            <a:pPr marL="0" indent="0" algn="ctr">
              <a:buNone/>
            </a:pPr>
            <a:r>
              <a:rPr lang="en-US" sz="900" b="1" dirty="0">
                <a:solidFill>
                  <a:srgbClr val="1A2A22"/>
                </a:solidFill>
              </a:rPr>
              <a:t>Performance</a:t>
            </a:r>
            <a:endParaRPr lang="en-US" sz="900" dirty="0"/>
          </a:p>
        </p:txBody>
      </p:sp>
      <p:sp>
        <p:nvSpPr>
          <p:cNvPr id="58" name="Shape 56"/>
          <p:cNvSpPr/>
          <p:nvPr/>
        </p:nvSpPr>
        <p:spPr>
          <a:xfrm>
            <a:off x="2103120" y="3090672"/>
            <a:ext cx="1691640" cy="347472"/>
          </a:xfrm>
          <a:prstGeom prst="rect">
            <a:avLst/>
          </a:prstGeom>
          <a:solidFill>
            <a:srgbClr val="FFFFFF"/>
          </a:solidFill>
          <a:ln w="12700">
            <a:solidFill>
              <a:srgbClr val="DDEEDD"/>
            </a:solidFill>
            <a:prstDash val="solid"/>
          </a:ln>
        </p:spPr>
      </p:sp>
      <p:sp>
        <p:nvSpPr>
          <p:cNvPr id="59" name="Text 57"/>
          <p:cNvSpPr/>
          <p:nvPr/>
        </p:nvSpPr>
        <p:spPr>
          <a:xfrm>
            <a:off x="2148840" y="3127248"/>
            <a:ext cx="1600200" cy="274320"/>
          </a:xfrm>
          <a:prstGeom prst="rect">
            <a:avLst/>
          </a:prstGeom>
          <a:noFill/>
          <a:ln/>
        </p:spPr>
        <p:txBody>
          <a:bodyPr wrap="square" rtlCol="0" anchor="ctr"/>
          <a:lstStyle/>
          <a:p>
            <a:pPr marL="0" indent="0" algn="ctr">
              <a:buNone/>
            </a:pPr>
            <a:r>
              <a:rPr lang="en-US" sz="900" dirty="0">
                <a:solidFill>
                  <a:srgbClr val="5A6B62"/>
                </a:solidFill>
              </a:rPr>
              <a:t>Moderate</a:t>
            </a:r>
            <a:endParaRPr lang="en-US" sz="900" dirty="0"/>
          </a:p>
        </p:txBody>
      </p:sp>
      <p:sp>
        <p:nvSpPr>
          <p:cNvPr id="60" name="Shape 58"/>
          <p:cNvSpPr/>
          <p:nvPr/>
        </p:nvSpPr>
        <p:spPr>
          <a:xfrm>
            <a:off x="3794760" y="3090672"/>
            <a:ext cx="1691640" cy="347472"/>
          </a:xfrm>
          <a:prstGeom prst="rect">
            <a:avLst/>
          </a:prstGeom>
          <a:solidFill>
            <a:srgbClr val="FFFFFF"/>
          </a:solidFill>
          <a:ln w="12700">
            <a:solidFill>
              <a:srgbClr val="DDEEDD"/>
            </a:solidFill>
            <a:prstDash val="solid"/>
          </a:ln>
        </p:spPr>
      </p:sp>
      <p:sp>
        <p:nvSpPr>
          <p:cNvPr id="61" name="Text 59"/>
          <p:cNvSpPr/>
          <p:nvPr/>
        </p:nvSpPr>
        <p:spPr>
          <a:xfrm>
            <a:off x="3840480" y="3127248"/>
            <a:ext cx="1600200" cy="274320"/>
          </a:xfrm>
          <a:prstGeom prst="rect">
            <a:avLst/>
          </a:prstGeom>
          <a:noFill/>
          <a:ln/>
        </p:spPr>
        <p:txBody>
          <a:bodyPr wrap="square" rtlCol="0" anchor="ctr"/>
          <a:lstStyle/>
          <a:p>
            <a:pPr marL="0" indent="0" algn="ctr">
              <a:buNone/>
            </a:pPr>
            <a:r>
              <a:rPr lang="en-US" sz="900" dirty="0">
                <a:solidFill>
                  <a:srgbClr val="5A6B62"/>
                </a:solidFill>
              </a:rPr>
              <a:t>Moderate</a:t>
            </a:r>
            <a:endParaRPr lang="en-US" sz="900" dirty="0"/>
          </a:p>
        </p:txBody>
      </p:sp>
      <p:sp>
        <p:nvSpPr>
          <p:cNvPr id="62" name="Shape 60"/>
          <p:cNvSpPr/>
          <p:nvPr/>
        </p:nvSpPr>
        <p:spPr>
          <a:xfrm>
            <a:off x="5486400" y="3090672"/>
            <a:ext cx="1691640" cy="347472"/>
          </a:xfrm>
          <a:prstGeom prst="rect">
            <a:avLst/>
          </a:prstGeom>
          <a:solidFill>
            <a:srgbClr val="FFFFFF"/>
          </a:solidFill>
          <a:ln w="12700">
            <a:solidFill>
              <a:srgbClr val="DDEEDD"/>
            </a:solidFill>
            <a:prstDash val="solid"/>
          </a:ln>
        </p:spPr>
      </p:sp>
      <p:sp>
        <p:nvSpPr>
          <p:cNvPr id="63" name="Text 61"/>
          <p:cNvSpPr/>
          <p:nvPr/>
        </p:nvSpPr>
        <p:spPr>
          <a:xfrm>
            <a:off x="5532120" y="3127248"/>
            <a:ext cx="1600200" cy="274320"/>
          </a:xfrm>
          <a:prstGeom prst="rect">
            <a:avLst/>
          </a:prstGeom>
          <a:noFill/>
          <a:ln/>
        </p:spPr>
        <p:txBody>
          <a:bodyPr wrap="square" rtlCol="0" anchor="ctr"/>
          <a:lstStyle/>
          <a:p>
            <a:pPr marL="0" indent="0" algn="ctr">
              <a:buNone/>
            </a:pPr>
            <a:r>
              <a:rPr lang="en-US" sz="900" dirty="0">
                <a:solidFill>
                  <a:srgbClr val="5A6B62"/>
                </a:solidFill>
              </a:rPr>
              <a:t>Fast ⚡</a:t>
            </a:r>
            <a:endParaRPr lang="en-US" sz="900" dirty="0"/>
          </a:p>
        </p:txBody>
      </p:sp>
      <p:sp>
        <p:nvSpPr>
          <p:cNvPr id="64" name="Shape 62"/>
          <p:cNvSpPr/>
          <p:nvPr/>
        </p:nvSpPr>
        <p:spPr>
          <a:xfrm>
            <a:off x="7178040" y="3090672"/>
            <a:ext cx="1737360" cy="347472"/>
          </a:xfrm>
          <a:prstGeom prst="rect">
            <a:avLst/>
          </a:prstGeom>
          <a:solidFill>
            <a:srgbClr val="FFFFFF"/>
          </a:solidFill>
          <a:ln w="12700">
            <a:solidFill>
              <a:srgbClr val="DDEEDD"/>
            </a:solidFill>
            <a:prstDash val="solid"/>
          </a:ln>
        </p:spPr>
      </p:sp>
      <p:sp>
        <p:nvSpPr>
          <p:cNvPr id="65" name="Text 63"/>
          <p:cNvSpPr/>
          <p:nvPr/>
        </p:nvSpPr>
        <p:spPr>
          <a:xfrm>
            <a:off x="7223760" y="3127248"/>
            <a:ext cx="1645920" cy="274320"/>
          </a:xfrm>
          <a:prstGeom prst="rect">
            <a:avLst/>
          </a:prstGeom>
          <a:noFill/>
          <a:ln/>
        </p:spPr>
        <p:txBody>
          <a:bodyPr wrap="square" rtlCol="0" anchor="ctr"/>
          <a:lstStyle/>
          <a:p>
            <a:pPr marL="0" indent="0" algn="ctr">
              <a:buNone/>
            </a:pPr>
            <a:r>
              <a:rPr lang="en-US" sz="900" b="1" dirty="0">
                <a:solidFill>
                  <a:srgbClr val="1B7A4D"/>
                </a:solidFill>
              </a:rPr>
              <a:t>Fast ⚡</a:t>
            </a:r>
            <a:endParaRPr lang="en-US" sz="900" dirty="0"/>
          </a:p>
        </p:txBody>
      </p:sp>
      <p:sp>
        <p:nvSpPr>
          <p:cNvPr id="66" name="Shape 64"/>
          <p:cNvSpPr/>
          <p:nvPr/>
        </p:nvSpPr>
        <p:spPr>
          <a:xfrm>
            <a:off x="274320" y="3474720"/>
            <a:ext cx="1828800" cy="347472"/>
          </a:xfrm>
          <a:prstGeom prst="rect">
            <a:avLst/>
          </a:prstGeom>
          <a:solidFill>
            <a:srgbClr val="E8F5EE"/>
          </a:solidFill>
          <a:ln w="12700">
            <a:solidFill>
              <a:srgbClr val="DDEEDD"/>
            </a:solidFill>
            <a:prstDash val="solid"/>
          </a:ln>
        </p:spPr>
      </p:sp>
      <p:sp>
        <p:nvSpPr>
          <p:cNvPr id="67" name="Text 65"/>
          <p:cNvSpPr/>
          <p:nvPr/>
        </p:nvSpPr>
        <p:spPr>
          <a:xfrm>
            <a:off x="320040" y="3511296"/>
            <a:ext cx="1737360" cy="274320"/>
          </a:xfrm>
          <a:prstGeom prst="rect">
            <a:avLst/>
          </a:prstGeom>
          <a:noFill/>
          <a:ln/>
        </p:spPr>
        <p:txBody>
          <a:bodyPr wrap="square" rtlCol="0" anchor="ctr"/>
          <a:lstStyle/>
          <a:p>
            <a:pPr marL="0" indent="0" algn="ctr">
              <a:buNone/>
            </a:pPr>
            <a:r>
              <a:rPr lang="en-US" sz="900" b="1" dirty="0">
                <a:solidFill>
                  <a:srgbClr val="1A2A22"/>
                </a:solidFill>
              </a:rPr>
              <a:t>Excel Version</a:t>
            </a:r>
            <a:endParaRPr lang="en-US" sz="900" dirty="0"/>
          </a:p>
        </p:txBody>
      </p:sp>
      <p:sp>
        <p:nvSpPr>
          <p:cNvPr id="68" name="Shape 66"/>
          <p:cNvSpPr/>
          <p:nvPr/>
        </p:nvSpPr>
        <p:spPr>
          <a:xfrm>
            <a:off x="2103120" y="3474720"/>
            <a:ext cx="1691640" cy="347472"/>
          </a:xfrm>
          <a:prstGeom prst="rect">
            <a:avLst/>
          </a:prstGeom>
          <a:solidFill>
            <a:srgbClr val="E8F5EE"/>
          </a:solidFill>
          <a:ln w="12700">
            <a:solidFill>
              <a:srgbClr val="DDEEDD"/>
            </a:solidFill>
            <a:prstDash val="solid"/>
          </a:ln>
        </p:spPr>
      </p:sp>
      <p:sp>
        <p:nvSpPr>
          <p:cNvPr id="69" name="Text 67"/>
          <p:cNvSpPr/>
          <p:nvPr/>
        </p:nvSpPr>
        <p:spPr>
          <a:xfrm>
            <a:off x="2148840" y="3511296"/>
            <a:ext cx="1600200" cy="274320"/>
          </a:xfrm>
          <a:prstGeom prst="rect">
            <a:avLst/>
          </a:prstGeom>
          <a:noFill/>
          <a:ln/>
        </p:spPr>
        <p:txBody>
          <a:bodyPr wrap="square" rtlCol="0" anchor="ctr"/>
          <a:lstStyle/>
          <a:p>
            <a:pPr marL="0" indent="0" algn="ctr">
              <a:buNone/>
            </a:pPr>
            <a:r>
              <a:rPr lang="en-US" sz="900" dirty="0">
                <a:solidFill>
                  <a:srgbClr val="5A6B62"/>
                </a:solidFill>
              </a:rPr>
              <a:t>All versions</a:t>
            </a:r>
            <a:endParaRPr lang="en-US" sz="900" dirty="0"/>
          </a:p>
        </p:txBody>
      </p:sp>
      <p:sp>
        <p:nvSpPr>
          <p:cNvPr id="70" name="Shape 68"/>
          <p:cNvSpPr/>
          <p:nvPr/>
        </p:nvSpPr>
        <p:spPr>
          <a:xfrm>
            <a:off x="3794760" y="3474720"/>
            <a:ext cx="1691640" cy="347472"/>
          </a:xfrm>
          <a:prstGeom prst="rect">
            <a:avLst/>
          </a:prstGeom>
          <a:solidFill>
            <a:srgbClr val="E8F5EE"/>
          </a:solidFill>
          <a:ln w="12700">
            <a:solidFill>
              <a:srgbClr val="DDEEDD"/>
            </a:solidFill>
            <a:prstDash val="solid"/>
          </a:ln>
        </p:spPr>
      </p:sp>
      <p:sp>
        <p:nvSpPr>
          <p:cNvPr id="71" name="Text 69"/>
          <p:cNvSpPr/>
          <p:nvPr/>
        </p:nvSpPr>
        <p:spPr>
          <a:xfrm>
            <a:off x="3840480" y="3511296"/>
            <a:ext cx="1600200" cy="274320"/>
          </a:xfrm>
          <a:prstGeom prst="rect">
            <a:avLst/>
          </a:prstGeom>
          <a:noFill/>
          <a:ln/>
        </p:spPr>
        <p:txBody>
          <a:bodyPr wrap="square" rtlCol="0" anchor="ctr"/>
          <a:lstStyle/>
          <a:p>
            <a:pPr marL="0" indent="0" algn="ctr">
              <a:buNone/>
            </a:pPr>
            <a:r>
              <a:rPr lang="en-US" sz="900" dirty="0">
                <a:solidFill>
                  <a:srgbClr val="5A6B62"/>
                </a:solidFill>
              </a:rPr>
              <a:t>All versions</a:t>
            </a:r>
            <a:endParaRPr lang="en-US" sz="900" dirty="0"/>
          </a:p>
        </p:txBody>
      </p:sp>
      <p:sp>
        <p:nvSpPr>
          <p:cNvPr id="72" name="Shape 70"/>
          <p:cNvSpPr/>
          <p:nvPr/>
        </p:nvSpPr>
        <p:spPr>
          <a:xfrm>
            <a:off x="5486400" y="3474720"/>
            <a:ext cx="1691640" cy="347472"/>
          </a:xfrm>
          <a:prstGeom prst="rect">
            <a:avLst/>
          </a:prstGeom>
          <a:solidFill>
            <a:srgbClr val="E8F5EE"/>
          </a:solidFill>
          <a:ln w="12700">
            <a:solidFill>
              <a:srgbClr val="DDEEDD"/>
            </a:solidFill>
            <a:prstDash val="solid"/>
          </a:ln>
        </p:spPr>
      </p:sp>
      <p:sp>
        <p:nvSpPr>
          <p:cNvPr id="73" name="Text 71"/>
          <p:cNvSpPr/>
          <p:nvPr/>
        </p:nvSpPr>
        <p:spPr>
          <a:xfrm>
            <a:off x="5532120" y="3511296"/>
            <a:ext cx="1600200" cy="274320"/>
          </a:xfrm>
          <a:prstGeom prst="rect">
            <a:avLst/>
          </a:prstGeom>
          <a:noFill/>
          <a:ln/>
        </p:spPr>
        <p:txBody>
          <a:bodyPr wrap="square" rtlCol="0" anchor="ctr"/>
          <a:lstStyle/>
          <a:p>
            <a:pPr marL="0" indent="0" algn="ctr">
              <a:buNone/>
            </a:pPr>
            <a:r>
              <a:rPr lang="en-US" sz="900" dirty="0">
                <a:solidFill>
                  <a:srgbClr val="5A6B62"/>
                </a:solidFill>
              </a:rPr>
              <a:t>All versions</a:t>
            </a:r>
            <a:endParaRPr lang="en-US" sz="900" dirty="0"/>
          </a:p>
        </p:txBody>
      </p:sp>
      <p:sp>
        <p:nvSpPr>
          <p:cNvPr id="74" name="Shape 72"/>
          <p:cNvSpPr/>
          <p:nvPr/>
        </p:nvSpPr>
        <p:spPr>
          <a:xfrm>
            <a:off x="7178040" y="3474720"/>
            <a:ext cx="1737360" cy="347472"/>
          </a:xfrm>
          <a:prstGeom prst="rect">
            <a:avLst/>
          </a:prstGeom>
          <a:solidFill>
            <a:srgbClr val="E8F5EE"/>
          </a:solidFill>
          <a:ln w="12700">
            <a:solidFill>
              <a:srgbClr val="DDEEDD"/>
            </a:solidFill>
            <a:prstDash val="solid"/>
          </a:ln>
        </p:spPr>
      </p:sp>
      <p:sp>
        <p:nvSpPr>
          <p:cNvPr id="75" name="Text 73"/>
          <p:cNvSpPr/>
          <p:nvPr/>
        </p:nvSpPr>
        <p:spPr>
          <a:xfrm>
            <a:off x="7223760" y="3511296"/>
            <a:ext cx="1645920" cy="274320"/>
          </a:xfrm>
          <a:prstGeom prst="rect">
            <a:avLst/>
          </a:prstGeom>
          <a:noFill/>
          <a:ln/>
        </p:spPr>
        <p:txBody>
          <a:bodyPr wrap="square" rtlCol="0" anchor="ctr"/>
          <a:lstStyle/>
          <a:p>
            <a:pPr marL="0" indent="0" algn="ctr">
              <a:buNone/>
            </a:pPr>
            <a:r>
              <a:rPr lang="en-US" sz="900" dirty="0">
                <a:solidFill>
                  <a:srgbClr val="5A6B62"/>
                </a:solidFill>
              </a:rPr>
              <a:t>365/2021+ only</a:t>
            </a:r>
            <a:endParaRPr lang="en-US" sz="900" dirty="0"/>
          </a:p>
        </p:txBody>
      </p:sp>
      <p:sp>
        <p:nvSpPr>
          <p:cNvPr id="76" name="Shape 74"/>
          <p:cNvSpPr/>
          <p:nvPr/>
        </p:nvSpPr>
        <p:spPr>
          <a:xfrm>
            <a:off x="274320" y="3858768"/>
            <a:ext cx="1828800" cy="347472"/>
          </a:xfrm>
          <a:prstGeom prst="rect">
            <a:avLst/>
          </a:prstGeom>
          <a:solidFill>
            <a:srgbClr val="FFFFFF"/>
          </a:solidFill>
          <a:ln w="12700">
            <a:solidFill>
              <a:srgbClr val="DDEEDD"/>
            </a:solidFill>
            <a:prstDash val="solid"/>
          </a:ln>
        </p:spPr>
      </p:sp>
      <p:sp>
        <p:nvSpPr>
          <p:cNvPr id="77" name="Text 75"/>
          <p:cNvSpPr/>
          <p:nvPr/>
        </p:nvSpPr>
        <p:spPr>
          <a:xfrm>
            <a:off x="320040" y="3895344"/>
            <a:ext cx="1737360" cy="274320"/>
          </a:xfrm>
          <a:prstGeom prst="rect">
            <a:avLst/>
          </a:prstGeom>
          <a:noFill/>
          <a:ln/>
        </p:spPr>
        <p:txBody>
          <a:bodyPr wrap="square" rtlCol="0" anchor="ctr"/>
          <a:lstStyle/>
          <a:p>
            <a:pPr marL="0" indent="0" algn="ctr">
              <a:buNone/>
            </a:pPr>
            <a:r>
              <a:rPr lang="en-US" sz="900" b="1" dirty="0">
                <a:solidFill>
                  <a:srgbClr val="1A2A22"/>
                </a:solidFill>
              </a:rPr>
              <a:t>Ease of Use</a:t>
            </a:r>
            <a:endParaRPr lang="en-US" sz="900" dirty="0"/>
          </a:p>
        </p:txBody>
      </p:sp>
      <p:sp>
        <p:nvSpPr>
          <p:cNvPr id="78" name="Shape 76"/>
          <p:cNvSpPr/>
          <p:nvPr/>
        </p:nvSpPr>
        <p:spPr>
          <a:xfrm>
            <a:off x="2103120" y="3858768"/>
            <a:ext cx="1691640" cy="347472"/>
          </a:xfrm>
          <a:prstGeom prst="rect">
            <a:avLst/>
          </a:prstGeom>
          <a:solidFill>
            <a:srgbClr val="FFFFFF"/>
          </a:solidFill>
          <a:ln w="12700">
            <a:solidFill>
              <a:srgbClr val="DDEEDD"/>
            </a:solidFill>
            <a:prstDash val="solid"/>
          </a:ln>
        </p:spPr>
      </p:sp>
      <p:sp>
        <p:nvSpPr>
          <p:cNvPr id="79" name="Text 77"/>
          <p:cNvSpPr/>
          <p:nvPr/>
        </p:nvSpPr>
        <p:spPr>
          <a:xfrm>
            <a:off x="2148840" y="3895344"/>
            <a:ext cx="1600200" cy="274320"/>
          </a:xfrm>
          <a:prstGeom prst="rect">
            <a:avLst/>
          </a:prstGeom>
          <a:noFill/>
          <a:ln/>
        </p:spPr>
        <p:txBody>
          <a:bodyPr wrap="square" rtlCol="0" anchor="ctr"/>
          <a:lstStyle/>
          <a:p>
            <a:pPr marL="0" indent="0" algn="ctr">
              <a:buNone/>
            </a:pPr>
            <a:r>
              <a:rPr lang="en-US" sz="900" dirty="0">
                <a:solidFill>
                  <a:srgbClr val="5A6B62"/>
                </a:solidFill>
              </a:rPr>
              <a:t>Easy ★★★★</a:t>
            </a:r>
            <a:endParaRPr lang="en-US" sz="900" dirty="0"/>
          </a:p>
        </p:txBody>
      </p:sp>
      <p:sp>
        <p:nvSpPr>
          <p:cNvPr id="80" name="Shape 78"/>
          <p:cNvSpPr/>
          <p:nvPr/>
        </p:nvSpPr>
        <p:spPr>
          <a:xfrm>
            <a:off x="3794760" y="3858768"/>
            <a:ext cx="1691640" cy="347472"/>
          </a:xfrm>
          <a:prstGeom prst="rect">
            <a:avLst/>
          </a:prstGeom>
          <a:solidFill>
            <a:srgbClr val="FFFFFF"/>
          </a:solidFill>
          <a:ln w="12700">
            <a:solidFill>
              <a:srgbClr val="DDEEDD"/>
            </a:solidFill>
            <a:prstDash val="solid"/>
          </a:ln>
        </p:spPr>
      </p:sp>
      <p:sp>
        <p:nvSpPr>
          <p:cNvPr id="81" name="Text 79"/>
          <p:cNvSpPr/>
          <p:nvPr/>
        </p:nvSpPr>
        <p:spPr>
          <a:xfrm>
            <a:off x="3840480" y="3895344"/>
            <a:ext cx="1600200" cy="274320"/>
          </a:xfrm>
          <a:prstGeom prst="rect">
            <a:avLst/>
          </a:prstGeom>
          <a:noFill/>
          <a:ln/>
        </p:spPr>
        <p:txBody>
          <a:bodyPr wrap="square" rtlCol="0" anchor="ctr"/>
          <a:lstStyle/>
          <a:p>
            <a:pPr marL="0" indent="0" algn="ctr">
              <a:buNone/>
            </a:pPr>
            <a:r>
              <a:rPr lang="en-US" sz="900" dirty="0">
                <a:solidFill>
                  <a:srgbClr val="5A6B62"/>
                </a:solidFill>
              </a:rPr>
              <a:t>Easy ★★★★</a:t>
            </a:r>
            <a:endParaRPr lang="en-US" sz="900" dirty="0"/>
          </a:p>
        </p:txBody>
      </p:sp>
      <p:sp>
        <p:nvSpPr>
          <p:cNvPr id="82" name="Shape 80"/>
          <p:cNvSpPr/>
          <p:nvPr/>
        </p:nvSpPr>
        <p:spPr>
          <a:xfrm>
            <a:off x="5486400" y="3858768"/>
            <a:ext cx="1691640" cy="347472"/>
          </a:xfrm>
          <a:prstGeom prst="rect">
            <a:avLst/>
          </a:prstGeom>
          <a:solidFill>
            <a:srgbClr val="FFFFFF"/>
          </a:solidFill>
          <a:ln w="12700">
            <a:solidFill>
              <a:srgbClr val="DDEEDD"/>
            </a:solidFill>
            <a:prstDash val="solid"/>
          </a:ln>
        </p:spPr>
      </p:sp>
      <p:sp>
        <p:nvSpPr>
          <p:cNvPr id="83" name="Text 81"/>
          <p:cNvSpPr/>
          <p:nvPr/>
        </p:nvSpPr>
        <p:spPr>
          <a:xfrm>
            <a:off x="5532120" y="3895344"/>
            <a:ext cx="1600200" cy="274320"/>
          </a:xfrm>
          <a:prstGeom prst="rect">
            <a:avLst/>
          </a:prstGeom>
          <a:noFill/>
          <a:ln/>
        </p:spPr>
        <p:txBody>
          <a:bodyPr wrap="square" rtlCol="0" anchor="ctr"/>
          <a:lstStyle/>
          <a:p>
            <a:pPr marL="0" indent="0" algn="ctr">
              <a:buNone/>
            </a:pPr>
            <a:r>
              <a:rPr lang="en-US" sz="900" dirty="0">
                <a:solidFill>
                  <a:srgbClr val="5A6B62"/>
                </a:solidFill>
              </a:rPr>
              <a:t>Moderate ★★★</a:t>
            </a:r>
            <a:endParaRPr lang="en-US" sz="900" dirty="0"/>
          </a:p>
        </p:txBody>
      </p:sp>
      <p:sp>
        <p:nvSpPr>
          <p:cNvPr id="84" name="Shape 82"/>
          <p:cNvSpPr/>
          <p:nvPr/>
        </p:nvSpPr>
        <p:spPr>
          <a:xfrm>
            <a:off x="7178040" y="3858768"/>
            <a:ext cx="1737360" cy="347472"/>
          </a:xfrm>
          <a:prstGeom prst="rect">
            <a:avLst/>
          </a:prstGeom>
          <a:solidFill>
            <a:srgbClr val="FFFFFF"/>
          </a:solidFill>
          <a:ln w="12700">
            <a:solidFill>
              <a:srgbClr val="DDEEDD"/>
            </a:solidFill>
            <a:prstDash val="solid"/>
          </a:ln>
        </p:spPr>
      </p:sp>
      <p:sp>
        <p:nvSpPr>
          <p:cNvPr id="85" name="Text 83"/>
          <p:cNvSpPr/>
          <p:nvPr/>
        </p:nvSpPr>
        <p:spPr>
          <a:xfrm>
            <a:off x="7223760" y="3895344"/>
            <a:ext cx="1645920" cy="274320"/>
          </a:xfrm>
          <a:prstGeom prst="rect">
            <a:avLst/>
          </a:prstGeom>
          <a:noFill/>
          <a:ln/>
        </p:spPr>
        <p:txBody>
          <a:bodyPr wrap="square" rtlCol="0" anchor="ctr"/>
          <a:lstStyle/>
          <a:p>
            <a:pPr marL="0" indent="0" algn="ctr">
              <a:buNone/>
            </a:pPr>
            <a:r>
              <a:rPr lang="en-US" sz="900" dirty="0">
                <a:solidFill>
                  <a:srgbClr val="5A6B62"/>
                </a:solidFill>
              </a:rPr>
              <a:t>Easy ★★★★</a:t>
            </a:r>
            <a:endParaRPr lang="en-US" sz="900" dirty="0"/>
          </a:p>
        </p:txBody>
      </p:sp>
      <p:sp>
        <p:nvSpPr>
          <p:cNvPr id="86" name="Text 84"/>
          <p:cNvSpPr/>
          <p:nvPr/>
        </p:nvSpPr>
        <p:spPr>
          <a:xfrm>
            <a:off x="274320" y="4242816"/>
            <a:ext cx="8229600" cy="274320"/>
          </a:xfrm>
          <a:prstGeom prst="rect">
            <a:avLst/>
          </a:prstGeom>
          <a:noFill/>
          <a:ln/>
        </p:spPr>
        <p:txBody>
          <a:bodyPr wrap="square" lIns="0" tIns="0" rIns="0" bIns="0" rtlCol="0" anchor="ctr"/>
          <a:lstStyle/>
          <a:p>
            <a:pPr marL="0" indent="0">
              <a:buNone/>
            </a:pPr>
            <a:r>
              <a:rPr lang="en-US" sz="1100" b="1" dirty="0">
                <a:solidFill>
                  <a:srgbClr val="1B7A4D"/>
                </a:solidFill>
              </a:rPr>
              <a:t>Quick Decision Guide</a:t>
            </a:r>
            <a:endParaRPr lang="en-US" sz="1100" dirty="0"/>
          </a:p>
        </p:txBody>
      </p:sp>
      <p:sp>
        <p:nvSpPr>
          <p:cNvPr id="87" name="Text 85"/>
          <p:cNvSpPr/>
          <p:nvPr/>
        </p:nvSpPr>
        <p:spPr>
          <a:xfrm>
            <a:off x="274320" y="4553712"/>
            <a:ext cx="4297680" cy="256032"/>
          </a:xfrm>
          <a:prstGeom prst="rect">
            <a:avLst/>
          </a:prstGeom>
          <a:noFill/>
          <a:ln/>
        </p:spPr>
        <p:txBody>
          <a:bodyPr wrap="square" rtlCol="0" anchor="ctr"/>
          <a:lstStyle/>
          <a:p>
            <a:pPr marL="0" indent="0">
              <a:buNone/>
            </a:pPr>
            <a:r>
              <a:rPr lang="en-US" sz="1000" dirty="0">
                <a:solidFill>
                  <a:srgbClr val="1A2A22"/>
                </a:solidFill>
              </a:rPr>
              <a:t>Vertical data, lookup col is FIRST?  </a:t>
            </a:r>
            <a:r>
              <a:rPr lang="en-US" sz="1000" b="1" dirty="0">
                <a:solidFill>
                  <a:srgbClr val="1B7A4D"/>
                </a:solidFill>
              </a:rPr>
              <a:t>→ VLOOKUP</a:t>
            </a:r>
            <a:endParaRPr lang="en-US" sz="1000" dirty="0"/>
          </a:p>
        </p:txBody>
      </p:sp>
      <p:sp>
        <p:nvSpPr>
          <p:cNvPr id="88" name="Text 86"/>
          <p:cNvSpPr/>
          <p:nvPr/>
        </p:nvSpPr>
        <p:spPr>
          <a:xfrm>
            <a:off x="4846320" y="4553712"/>
            <a:ext cx="4297680" cy="256032"/>
          </a:xfrm>
          <a:prstGeom prst="rect">
            <a:avLst/>
          </a:prstGeom>
          <a:noFill/>
          <a:ln/>
        </p:spPr>
        <p:txBody>
          <a:bodyPr wrap="square" rtlCol="0" anchor="ctr"/>
          <a:lstStyle/>
          <a:p>
            <a:pPr marL="0" indent="0">
              <a:buNone/>
            </a:pPr>
            <a:r>
              <a:rPr lang="en-US" sz="1000" dirty="0">
                <a:solidFill>
                  <a:srgbClr val="1A2A22"/>
                </a:solidFill>
              </a:rPr>
              <a:t>Horizontal data, lookup row is FIRST?  </a:t>
            </a:r>
            <a:r>
              <a:rPr lang="en-US" sz="1000" b="1" dirty="0">
                <a:solidFill>
                  <a:srgbClr val="1B7A4D"/>
                </a:solidFill>
              </a:rPr>
              <a:t>→ HLOOKUP</a:t>
            </a:r>
            <a:endParaRPr lang="en-US" sz="1000" dirty="0"/>
          </a:p>
        </p:txBody>
      </p:sp>
      <p:sp>
        <p:nvSpPr>
          <p:cNvPr id="89" name="Text 87"/>
          <p:cNvSpPr/>
          <p:nvPr/>
        </p:nvSpPr>
        <p:spPr>
          <a:xfrm>
            <a:off x="274320" y="4846320"/>
            <a:ext cx="4297680" cy="256032"/>
          </a:xfrm>
          <a:prstGeom prst="rect">
            <a:avLst/>
          </a:prstGeom>
          <a:noFill/>
          <a:ln/>
        </p:spPr>
        <p:txBody>
          <a:bodyPr wrap="square" rtlCol="0" anchor="ctr"/>
          <a:lstStyle/>
          <a:p>
            <a:pPr marL="0" indent="0">
              <a:buNone/>
            </a:pPr>
            <a:r>
              <a:rPr lang="en-US" sz="1000" dirty="0">
                <a:solidFill>
                  <a:srgbClr val="1A2A22"/>
                </a:solidFill>
              </a:rPr>
              <a:t>Lookup col NOT first / need left lookup?  </a:t>
            </a:r>
            <a:r>
              <a:rPr lang="en-US" sz="1000" b="1" dirty="0">
                <a:solidFill>
                  <a:srgbClr val="1B7A4D"/>
                </a:solidFill>
              </a:rPr>
              <a:t>→ INDEX+MATCH</a:t>
            </a:r>
            <a:endParaRPr lang="en-US" sz="1000" dirty="0"/>
          </a:p>
        </p:txBody>
      </p:sp>
      <p:sp>
        <p:nvSpPr>
          <p:cNvPr id="90" name="Text 88"/>
          <p:cNvSpPr/>
          <p:nvPr/>
        </p:nvSpPr>
        <p:spPr>
          <a:xfrm>
            <a:off x="4846320" y="4846320"/>
            <a:ext cx="4297680" cy="256032"/>
          </a:xfrm>
          <a:prstGeom prst="rect">
            <a:avLst/>
          </a:prstGeom>
          <a:noFill/>
          <a:ln/>
        </p:spPr>
        <p:txBody>
          <a:bodyPr wrap="square" rtlCol="0" anchor="ctr"/>
          <a:lstStyle/>
          <a:p>
            <a:pPr marL="0" indent="0">
              <a:buNone/>
            </a:pPr>
            <a:r>
              <a:rPr lang="en-US" sz="1000" dirty="0">
                <a:solidFill>
                  <a:srgbClr val="1A2A22"/>
                </a:solidFill>
              </a:rPr>
              <a:t>Using Excel 365 / 2021+?  </a:t>
            </a:r>
            <a:r>
              <a:rPr lang="en-US" sz="1000" b="1" dirty="0">
                <a:solidFill>
                  <a:srgbClr val="1B7A4D"/>
                </a:solidFill>
              </a:rPr>
              <a:t>→ XLOOKUP (recommended)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560320"/>
          </a:xfrm>
          <a:prstGeom prst="rect">
            <a:avLst/>
          </a:prstGeom>
          <a:solidFill>
            <a:srgbClr val="1B7A4D"/>
          </a:solidFill>
          <a:ln/>
        </p:spPr>
      </p:sp>
      <p:sp>
        <p:nvSpPr>
          <p:cNvPr id="3" name="Shape 1"/>
          <p:cNvSpPr/>
          <p:nvPr/>
        </p:nvSpPr>
        <p:spPr>
          <a:xfrm>
            <a:off x="6858000" y="-914400"/>
            <a:ext cx="3657600" cy="3657600"/>
          </a:xfrm>
          <a:prstGeom prst="ellipse">
            <a:avLst/>
          </a:prstGeom>
          <a:solidFill>
            <a:srgbClr val="2EAD6C">
              <a:alpha val="30000"/>
            </a:srgbClr>
          </a:solidFill>
          <a:ln w="12700">
            <a:solidFill>
              <a:srgbClr val="2EAD6C">
                <a:alpha val="30000"/>
              </a:srgbClr>
            </a:solidFill>
            <a:prstDash val="solid"/>
          </a:ln>
        </p:spPr>
      </p:sp>
      <p:sp>
        <p:nvSpPr>
          <p:cNvPr id="4" name="Text 2"/>
          <p:cNvSpPr/>
          <p:nvPr/>
        </p:nvSpPr>
        <p:spPr>
          <a:xfrm>
            <a:off x="457200" y="320040"/>
            <a:ext cx="73152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 &amp;</a:t>
            </a:r>
            <a:endParaRPr lang="en-US" sz="3000" dirty="0"/>
          </a:p>
        </p:txBody>
      </p:sp>
      <p:sp>
        <p:nvSpPr>
          <p:cNvPr id="5" name="Text 3"/>
          <p:cNvSpPr/>
          <p:nvPr/>
        </p:nvSpPr>
        <p:spPr>
          <a:xfrm>
            <a:off x="457200" y="868680"/>
            <a:ext cx="7315200" cy="502920"/>
          </a:xfrm>
          <a:prstGeom prst="rect">
            <a:avLst/>
          </a:prstGeom>
          <a:noFill/>
          <a:ln/>
        </p:spPr>
        <p:txBody>
          <a:bodyPr wrap="square" lIns="0" tIns="0" rIns="0" bIns="0" rtlCol="0" anchor="ctr"/>
          <a:lstStyle/>
          <a:p>
            <a:pPr marL="0" indent="0">
              <a:buNone/>
            </a:pPr>
            <a:r>
              <a:rPr lang="en-US" sz="2200" b="1" dirty="0">
                <a:solidFill>
                  <a:srgbClr val="A8D5BA"/>
                </a:solidFill>
                <a:latin typeface="Cambria" pitchFamily="34" charset="0"/>
                <a:ea typeface="Cambria" pitchFamily="34" charset="-122"/>
                <a:cs typeface="Cambria" pitchFamily="34" charset="-120"/>
              </a:rPr>
              <a:t>Strategic Recommendations</a:t>
            </a:r>
            <a:endParaRPr lang="en-US" sz="2200" dirty="0"/>
          </a:p>
        </p:txBody>
      </p:sp>
      <p:sp>
        <p:nvSpPr>
          <p:cNvPr id="6" name="Text 4"/>
          <p:cNvSpPr/>
          <p:nvPr/>
        </p:nvSpPr>
        <p:spPr>
          <a:xfrm>
            <a:off x="457200" y="1463040"/>
            <a:ext cx="7315200" cy="320040"/>
          </a:xfrm>
          <a:prstGeom prst="rect">
            <a:avLst/>
          </a:prstGeom>
          <a:noFill/>
          <a:ln/>
        </p:spPr>
        <p:txBody>
          <a:bodyPr wrap="square" lIns="0" tIns="0" rIns="0" bIns="0" rtlCol="0" anchor="ctr"/>
          <a:lstStyle/>
          <a:p>
            <a:pPr marL="0" indent="0">
              <a:buNone/>
            </a:pPr>
            <a:r>
              <a:rPr lang="en-US" sz="1100" i="1" dirty="0">
                <a:solidFill>
                  <a:srgbClr val="D4EDD9"/>
                </a:solidFill>
              </a:rPr>
              <a:t>Apply these principles to build world-class Excel models in your organization</a:t>
            </a:r>
            <a:endParaRPr lang="en-US" sz="1100" dirty="0"/>
          </a:p>
        </p:txBody>
      </p:sp>
      <p:sp>
        <p:nvSpPr>
          <p:cNvPr id="7" name="Shape 5"/>
          <p:cNvSpPr/>
          <p:nvPr/>
        </p:nvSpPr>
        <p:spPr>
          <a:xfrm>
            <a:off x="274320" y="2743200"/>
            <a:ext cx="4114800" cy="1005840"/>
          </a:xfrm>
          <a:prstGeom prst="roundRect">
            <a:avLst>
              <a:gd name="adj" fmla="val 9091"/>
            </a:avLst>
          </a:prstGeom>
          <a:solidFill>
            <a:srgbClr val="FFFFFF"/>
          </a:solidFill>
          <a:ln/>
          <a:effectLst>
            <a:outerShdw blurRad="101600" dist="38100" dir="2700000" algn="bl" rotWithShape="0">
              <a:srgbClr val="000000">
                <a:alpha val="10000"/>
              </a:srgbClr>
            </a:outerShdw>
          </a:effectLst>
        </p:spPr>
      </p:sp>
      <p:sp>
        <p:nvSpPr>
          <p:cNvPr id="8" name="Shape 6"/>
          <p:cNvSpPr/>
          <p:nvPr/>
        </p:nvSpPr>
        <p:spPr>
          <a:xfrm>
            <a:off x="411480" y="2999232"/>
            <a:ext cx="502920" cy="502920"/>
          </a:xfrm>
          <a:prstGeom prst="ellipse">
            <a:avLst/>
          </a:prstGeom>
          <a:solidFill>
            <a:srgbClr val="1B7A4D"/>
          </a:solidFill>
          <a:ln/>
        </p:spPr>
      </p:sp>
      <p:sp>
        <p:nvSpPr>
          <p:cNvPr id="9" name="Text 7"/>
          <p:cNvSpPr/>
          <p:nvPr/>
        </p:nvSpPr>
        <p:spPr>
          <a:xfrm>
            <a:off x="411480" y="2999232"/>
            <a:ext cx="502920" cy="502920"/>
          </a:xfrm>
          <a:prstGeom prst="rect">
            <a:avLst/>
          </a:prstGeom>
          <a:noFill/>
          <a:ln/>
        </p:spPr>
        <p:txBody>
          <a:bodyPr wrap="square" rtlCol="0" anchor="ctr"/>
          <a:lstStyle/>
          <a:p>
            <a:pPr marL="0" indent="0" algn="ctr">
              <a:buNone/>
            </a:pPr>
            <a:r>
              <a:rPr lang="en-US" sz="1300" dirty="0">
                <a:solidFill>
                  <a:srgbClr val="FFFFFF"/>
                </a:solidFill>
              </a:rPr>
              <a:t>✓</a:t>
            </a:r>
            <a:endParaRPr lang="en-US" sz="1300" dirty="0"/>
          </a:p>
        </p:txBody>
      </p:sp>
      <p:sp>
        <p:nvSpPr>
          <p:cNvPr id="10" name="Text 8"/>
          <p:cNvSpPr/>
          <p:nvPr/>
        </p:nvSpPr>
        <p:spPr>
          <a:xfrm>
            <a:off x="1051560" y="2834640"/>
            <a:ext cx="3200400" cy="292608"/>
          </a:xfrm>
          <a:prstGeom prst="rect">
            <a:avLst/>
          </a:prstGeom>
          <a:noFill/>
          <a:ln/>
        </p:spPr>
        <p:txBody>
          <a:bodyPr wrap="square" lIns="0" tIns="0" rIns="0" bIns="0" rtlCol="0" anchor="ctr"/>
          <a:lstStyle/>
          <a:p>
            <a:pPr marL="0" indent="0">
              <a:buNone/>
            </a:pPr>
            <a:r>
              <a:rPr lang="en-US" sz="1200" b="1" dirty="0">
                <a:solidFill>
                  <a:srgbClr val="1B7A4D"/>
                </a:solidFill>
              </a:rPr>
              <a:t>Data Validation</a:t>
            </a:r>
            <a:endParaRPr lang="en-US" sz="1200" dirty="0"/>
          </a:p>
        </p:txBody>
      </p:sp>
      <p:sp>
        <p:nvSpPr>
          <p:cNvPr id="11" name="Text 9"/>
          <p:cNvSpPr/>
          <p:nvPr/>
        </p:nvSpPr>
        <p:spPr>
          <a:xfrm>
            <a:off x="1051560" y="3154680"/>
            <a:ext cx="3200400" cy="502920"/>
          </a:xfrm>
          <a:prstGeom prst="rect">
            <a:avLst/>
          </a:prstGeom>
          <a:noFill/>
          <a:ln/>
        </p:spPr>
        <p:txBody>
          <a:bodyPr wrap="square" lIns="0" tIns="0" rIns="0" bIns="0" rtlCol="0" anchor="ctr"/>
          <a:lstStyle/>
          <a:p>
            <a:pPr marL="0" indent="0">
              <a:buNone/>
            </a:pPr>
            <a:r>
              <a:rPr lang="en-US" sz="950" dirty="0">
                <a:solidFill>
                  <a:srgbClr val="5A6B62"/>
                </a:solidFill>
              </a:rPr>
              <a:t>Use validation rules &amp; Named Ranges to control input and prevent errors at source</a:t>
            </a:r>
            <a:endParaRPr lang="en-US" sz="950" dirty="0"/>
          </a:p>
        </p:txBody>
      </p:sp>
      <p:sp>
        <p:nvSpPr>
          <p:cNvPr id="12" name="Shape 10"/>
          <p:cNvSpPr/>
          <p:nvPr/>
        </p:nvSpPr>
        <p:spPr>
          <a:xfrm>
            <a:off x="4846320" y="2743200"/>
            <a:ext cx="4114800" cy="1005840"/>
          </a:xfrm>
          <a:prstGeom prst="roundRect">
            <a:avLst>
              <a:gd name="adj" fmla="val 9091"/>
            </a:avLst>
          </a:prstGeom>
          <a:solidFill>
            <a:srgbClr val="FFFFFF"/>
          </a:solidFill>
          <a:ln/>
          <a:effectLst>
            <a:outerShdw blurRad="101600" dist="38100" dir="2700000" algn="bl" rotWithShape="0">
              <a:srgbClr val="000000">
                <a:alpha val="10000"/>
              </a:srgbClr>
            </a:outerShdw>
          </a:effectLst>
        </p:spPr>
      </p:sp>
      <p:sp>
        <p:nvSpPr>
          <p:cNvPr id="13" name="Shape 11"/>
          <p:cNvSpPr/>
          <p:nvPr/>
        </p:nvSpPr>
        <p:spPr>
          <a:xfrm>
            <a:off x="4983480" y="2999232"/>
            <a:ext cx="502920" cy="502920"/>
          </a:xfrm>
          <a:prstGeom prst="ellipse">
            <a:avLst/>
          </a:prstGeom>
          <a:solidFill>
            <a:srgbClr val="1B7A4D"/>
          </a:solidFill>
          <a:ln/>
        </p:spPr>
      </p:sp>
      <p:sp>
        <p:nvSpPr>
          <p:cNvPr id="14" name="Text 12"/>
          <p:cNvSpPr/>
          <p:nvPr/>
        </p:nvSpPr>
        <p:spPr>
          <a:xfrm>
            <a:off x="4983480" y="2999232"/>
            <a:ext cx="502920" cy="502920"/>
          </a:xfrm>
          <a:prstGeom prst="rect">
            <a:avLst/>
          </a:prstGeom>
          <a:noFill/>
          <a:ln/>
        </p:spPr>
        <p:txBody>
          <a:bodyPr wrap="square" rtlCol="0" anchor="ctr"/>
          <a:lstStyle/>
          <a:p>
            <a:pPr marL="0" indent="0" algn="ctr">
              <a:buNone/>
            </a:pPr>
            <a:r>
              <a:rPr lang="en-US" sz="1300" dirty="0">
                <a:solidFill>
                  <a:srgbClr val="FFFFFF"/>
                </a:solidFill>
              </a:rPr>
              <a:t>◆</a:t>
            </a:r>
            <a:endParaRPr lang="en-US" sz="1300" dirty="0"/>
          </a:p>
        </p:txBody>
      </p:sp>
      <p:sp>
        <p:nvSpPr>
          <p:cNvPr id="15" name="Text 13"/>
          <p:cNvSpPr/>
          <p:nvPr/>
        </p:nvSpPr>
        <p:spPr>
          <a:xfrm>
            <a:off x="5623560" y="2834640"/>
            <a:ext cx="3200400" cy="292608"/>
          </a:xfrm>
          <a:prstGeom prst="rect">
            <a:avLst/>
          </a:prstGeom>
          <a:noFill/>
          <a:ln/>
        </p:spPr>
        <p:txBody>
          <a:bodyPr wrap="square" lIns="0" tIns="0" rIns="0" bIns="0" rtlCol="0" anchor="ctr"/>
          <a:lstStyle/>
          <a:p>
            <a:pPr marL="0" indent="0">
              <a:buNone/>
            </a:pPr>
            <a:r>
              <a:rPr lang="en-US" sz="1200" b="1" dirty="0">
                <a:solidFill>
                  <a:srgbClr val="1B7A4D"/>
                </a:solidFill>
              </a:rPr>
              <a:t>Conditional Formatting</a:t>
            </a:r>
            <a:endParaRPr lang="en-US" sz="1200" dirty="0"/>
          </a:p>
        </p:txBody>
      </p:sp>
      <p:sp>
        <p:nvSpPr>
          <p:cNvPr id="16" name="Text 14"/>
          <p:cNvSpPr/>
          <p:nvPr/>
        </p:nvSpPr>
        <p:spPr>
          <a:xfrm>
            <a:off x="5623560" y="3154680"/>
            <a:ext cx="3200400" cy="502920"/>
          </a:xfrm>
          <a:prstGeom prst="rect">
            <a:avLst/>
          </a:prstGeom>
          <a:noFill/>
          <a:ln/>
        </p:spPr>
        <p:txBody>
          <a:bodyPr wrap="square" lIns="0" tIns="0" rIns="0" bIns="0" rtlCol="0" anchor="ctr"/>
          <a:lstStyle/>
          <a:p>
            <a:pPr marL="0" indent="0">
              <a:buNone/>
            </a:pPr>
            <a:r>
              <a:rPr lang="en-US" sz="950" dirty="0">
                <a:solidFill>
                  <a:srgbClr val="5A6B62"/>
                </a:solidFill>
              </a:rPr>
              <a:t>Apply visual rules to transform raw numbers into instant business intelligence</a:t>
            </a:r>
            <a:endParaRPr lang="en-US" sz="950" dirty="0"/>
          </a:p>
        </p:txBody>
      </p:sp>
      <p:sp>
        <p:nvSpPr>
          <p:cNvPr id="17" name="Shape 15"/>
          <p:cNvSpPr/>
          <p:nvPr/>
        </p:nvSpPr>
        <p:spPr>
          <a:xfrm>
            <a:off x="274320" y="3886200"/>
            <a:ext cx="4114800" cy="1005840"/>
          </a:xfrm>
          <a:prstGeom prst="roundRect">
            <a:avLst>
              <a:gd name="adj" fmla="val 9091"/>
            </a:avLst>
          </a:prstGeom>
          <a:solidFill>
            <a:srgbClr val="FFFFFF"/>
          </a:solidFill>
          <a:ln/>
          <a:effectLst>
            <a:outerShdw blurRad="101600" dist="38100" dir="2700000" algn="bl" rotWithShape="0">
              <a:srgbClr val="000000">
                <a:alpha val="10000"/>
              </a:srgbClr>
            </a:outerShdw>
          </a:effectLst>
        </p:spPr>
      </p:sp>
      <p:sp>
        <p:nvSpPr>
          <p:cNvPr id="18" name="Shape 16"/>
          <p:cNvSpPr/>
          <p:nvPr/>
        </p:nvSpPr>
        <p:spPr>
          <a:xfrm>
            <a:off x="411480" y="4142232"/>
            <a:ext cx="502920" cy="502920"/>
          </a:xfrm>
          <a:prstGeom prst="ellipse">
            <a:avLst/>
          </a:prstGeom>
          <a:solidFill>
            <a:srgbClr val="1B7A4D"/>
          </a:solidFill>
          <a:ln/>
        </p:spPr>
      </p:sp>
      <p:sp>
        <p:nvSpPr>
          <p:cNvPr id="19" name="Text 17"/>
          <p:cNvSpPr/>
          <p:nvPr/>
        </p:nvSpPr>
        <p:spPr>
          <a:xfrm>
            <a:off x="411480" y="4142232"/>
            <a:ext cx="502920" cy="502920"/>
          </a:xfrm>
          <a:prstGeom prst="rect">
            <a:avLst/>
          </a:prstGeom>
          <a:noFill/>
          <a:ln/>
        </p:spPr>
        <p:txBody>
          <a:bodyPr wrap="square" rtlCol="0" anchor="ctr"/>
          <a:lstStyle/>
          <a:p>
            <a:pPr marL="0" indent="0" algn="ctr">
              <a:buNone/>
            </a:pPr>
            <a:r>
              <a:rPr lang="en-US" sz="1300" dirty="0">
                <a:solidFill>
                  <a:srgbClr val="FFFFFF"/>
                </a:solidFill>
              </a:rPr>
              <a:t>⚡</a:t>
            </a:r>
            <a:endParaRPr lang="en-US" sz="1300" dirty="0"/>
          </a:p>
        </p:txBody>
      </p:sp>
      <p:sp>
        <p:nvSpPr>
          <p:cNvPr id="20" name="Text 18"/>
          <p:cNvSpPr/>
          <p:nvPr/>
        </p:nvSpPr>
        <p:spPr>
          <a:xfrm>
            <a:off x="1051560" y="3977640"/>
            <a:ext cx="3200400" cy="292608"/>
          </a:xfrm>
          <a:prstGeom prst="rect">
            <a:avLst/>
          </a:prstGeom>
          <a:noFill/>
          <a:ln/>
        </p:spPr>
        <p:txBody>
          <a:bodyPr wrap="square" lIns="0" tIns="0" rIns="0" bIns="0" rtlCol="0" anchor="ctr"/>
          <a:lstStyle/>
          <a:p>
            <a:pPr marL="0" indent="0">
              <a:buNone/>
            </a:pPr>
            <a:r>
              <a:rPr lang="en-US" sz="1200" b="1" dirty="0">
                <a:solidFill>
                  <a:srgbClr val="1B7A4D"/>
                </a:solidFill>
              </a:rPr>
              <a:t>Smart Lookups</a:t>
            </a:r>
            <a:endParaRPr lang="en-US" sz="1200" dirty="0"/>
          </a:p>
        </p:txBody>
      </p:sp>
      <p:sp>
        <p:nvSpPr>
          <p:cNvPr id="21" name="Text 19"/>
          <p:cNvSpPr/>
          <p:nvPr/>
        </p:nvSpPr>
        <p:spPr>
          <a:xfrm>
            <a:off x="1051560" y="4297680"/>
            <a:ext cx="3200400" cy="502920"/>
          </a:xfrm>
          <a:prstGeom prst="rect">
            <a:avLst/>
          </a:prstGeom>
          <a:noFill/>
          <a:ln/>
        </p:spPr>
        <p:txBody>
          <a:bodyPr wrap="square" lIns="0" tIns="0" rIns="0" bIns="0" rtlCol="0" anchor="ctr"/>
          <a:lstStyle/>
          <a:p>
            <a:pPr marL="0" indent="0">
              <a:buNone/>
            </a:pPr>
            <a:r>
              <a:rPr lang="en-US" sz="950" dirty="0">
                <a:solidFill>
                  <a:srgbClr val="5A6B62"/>
                </a:solidFill>
              </a:rPr>
              <a:t>Use XLOOKUP on Excel 365; use INDEX+MATCH for complex or legacy models</a:t>
            </a:r>
            <a:endParaRPr lang="en-US" sz="950" dirty="0"/>
          </a:p>
        </p:txBody>
      </p:sp>
      <p:sp>
        <p:nvSpPr>
          <p:cNvPr id="22" name="Shape 20"/>
          <p:cNvSpPr/>
          <p:nvPr/>
        </p:nvSpPr>
        <p:spPr>
          <a:xfrm>
            <a:off x="4846320" y="3886200"/>
            <a:ext cx="4114800" cy="1005840"/>
          </a:xfrm>
          <a:prstGeom prst="roundRect">
            <a:avLst>
              <a:gd name="adj" fmla="val 9091"/>
            </a:avLst>
          </a:prstGeom>
          <a:solidFill>
            <a:srgbClr val="FFFFFF"/>
          </a:solidFill>
          <a:ln/>
          <a:effectLst>
            <a:outerShdw blurRad="101600" dist="38100" dir="2700000" algn="bl" rotWithShape="0">
              <a:srgbClr val="000000">
                <a:alpha val="10000"/>
              </a:srgbClr>
            </a:outerShdw>
          </a:effectLst>
        </p:spPr>
      </p:sp>
      <p:sp>
        <p:nvSpPr>
          <p:cNvPr id="23" name="Shape 21"/>
          <p:cNvSpPr/>
          <p:nvPr/>
        </p:nvSpPr>
        <p:spPr>
          <a:xfrm>
            <a:off x="4983480" y="4142232"/>
            <a:ext cx="502920" cy="502920"/>
          </a:xfrm>
          <a:prstGeom prst="ellipse">
            <a:avLst/>
          </a:prstGeom>
          <a:solidFill>
            <a:srgbClr val="1B7A4D"/>
          </a:solidFill>
          <a:ln/>
        </p:spPr>
      </p:sp>
      <p:sp>
        <p:nvSpPr>
          <p:cNvPr id="24" name="Text 22"/>
          <p:cNvSpPr/>
          <p:nvPr/>
        </p:nvSpPr>
        <p:spPr>
          <a:xfrm>
            <a:off x="4983480" y="4142232"/>
            <a:ext cx="502920" cy="502920"/>
          </a:xfrm>
          <a:prstGeom prst="rect">
            <a:avLst/>
          </a:prstGeom>
          <a:noFill/>
          <a:ln/>
        </p:spPr>
        <p:txBody>
          <a:bodyPr wrap="square" rtlCol="0" anchor="ctr"/>
          <a:lstStyle/>
          <a:p>
            <a:pPr marL="0" indent="0" algn="ctr">
              <a:buNone/>
            </a:pPr>
            <a:r>
              <a:rPr lang="en-US" sz="1300" dirty="0">
                <a:solidFill>
                  <a:srgbClr val="FFFFFF"/>
                </a:solidFill>
              </a:rPr>
              <a:t>★</a:t>
            </a:r>
            <a:endParaRPr lang="en-US" sz="1300" dirty="0"/>
          </a:p>
        </p:txBody>
      </p:sp>
      <p:sp>
        <p:nvSpPr>
          <p:cNvPr id="25" name="Text 23"/>
          <p:cNvSpPr/>
          <p:nvPr/>
        </p:nvSpPr>
        <p:spPr>
          <a:xfrm>
            <a:off x="5623560" y="3977640"/>
            <a:ext cx="3200400" cy="292608"/>
          </a:xfrm>
          <a:prstGeom prst="rect">
            <a:avLst/>
          </a:prstGeom>
          <a:noFill/>
          <a:ln/>
        </p:spPr>
        <p:txBody>
          <a:bodyPr wrap="square" lIns="0" tIns="0" rIns="0" bIns="0" rtlCol="0" anchor="ctr"/>
          <a:lstStyle/>
          <a:p>
            <a:pPr marL="0" indent="0">
              <a:buNone/>
            </a:pPr>
            <a:r>
              <a:rPr lang="en-US" sz="1200" b="1" dirty="0">
                <a:solidFill>
                  <a:srgbClr val="1B7A4D"/>
                </a:solidFill>
              </a:rPr>
              <a:t>Best Practices</a:t>
            </a:r>
            <a:endParaRPr lang="en-US" sz="1200" dirty="0"/>
          </a:p>
        </p:txBody>
      </p:sp>
      <p:sp>
        <p:nvSpPr>
          <p:cNvPr id="26" name="Text 24"/>
          <p:cNvSpPr/>
          <p:nvPr/>
        </p:nvSpPr>
        <p:spPr>
          <a:xfrm>
            <a:off x="5623560" y="4297680"/>
            <a:ext cx="3200400" cy="502920"/>
          </a:xfrm>
          <a:prstGeom prst="rect">
            <a:avLst/>
          </a:prstGeom>
          <a:noFill/>
          <a:ln/>
        </p:spPr>
        <p:txBody>
          <a:bodyPr wrap="square" lIns="0" tIns="0" rIns="0" bIns="0" rtlCol="0" anchor="ctr"/>
          <a:lstStyle/>
          <a:p>
            <a:pPr marL="0" indent="0">
              <a:buNone/>
            </a:pPr>
            <a:r>
              <a:rPr lang="en-US" sz="950" dirty="0">
                <a:solidFill>
                  <a:srgbClr val="5A6B62"/>
                </a:solidFill>
              </a:rPr>
              <a:t>Always: lock references with $, wrap in IFERROR, use exact match (FALSE)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7A4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2EAD6C">
              <a:alpha val="30000"/>
            </a:srgbClr>
          </a:solidFill>
          <a:ln w="12700">
            <a:solidFill>
              <a:srgbClr val="2EAD6C">
                <a:alpha val="30000"/>
              </a:srgbClr>
            </a:solidFill>
            <a:prstDash val="solid"/>
          </a:ln>
        </p:spPr>
      </p:sp>
      <p:sp>
        <p:nvSpPr>
          <p:cNvPr id="3" name="Shape 1"/>
          <p:cNvSpPr/>
          <p:nvPr/>
        </p:nvSpPr>
        <p:spPr>
          <a:xfrm>
            <a:off x="6400800" y="2743200"/>
            <a:ext cx="4114800" cy="4114800"/>
          </a:xfrm>
          <a:prstGeom prst="ellipse">
            <a:avLst/>
          </a:prstGeom>
          <a:solidFill>
            <a:srgbClr val="0A5C38">
              <a:alpha val="50000"/>
            </a:srgbClr>
          </a:solidFill>
          <a:ln w="12700">
            <a:solidFill>
              <a:srgbClr val="0A5C38">
                <a:alpha val="50000"/>
              </a:srgbClr>
            </a:solidFill>
            <a:prstDash val="solid"/>
          </a:ln>
        </p:spPr>
      </p:sp>
      <p:sp>
        <p:nvSpPr>
          <p:cNvPr id="4" name="Shape 2"/>
          <p:cNvSpPr/>
          <p:nvPr/>
        </p:nvSpPr>
        <p:spPr>
          <a:xfrm>
            <a:off x="3749040" y="502920"/>
            <a:ext cx="384048" cy="384048"/>
          </a:xfrm>
          <a:prstGeom prst="rect">
            <a:avLst/>
          </a:prstGeom>
          <a:solidFill>
            <a:srgbClr val="FFFFFF">
              <a:alpha val="80000"/>
            </a:srgbClr>
          </a:solidFill>
          <a:ln w="12700">
            <a:solidFill>
              <a:srgbClr val="1B7A4D"/>
            </a:solidFill>
            <a:prstDash val="solid"/>
          </a:ln>
        </p:spPr>
      </p:sp>
      <p:sp>
        <p:nvSpPr>
          <p:cNvPr id="5" name="Shape 3"/>
          <p:cNvSpPr/>
          <p:nvPr/>
        </p:nvSpPr>
        <p:spPr>
          <a:xfrm>
            <a:off x="4169664" y="502920"/>
            <a:ext cx="384048" cy="384048"/>
          </a:xfrm>
          <a:prstGeom prst="rect">
            <a:avLst/>
          </a:prstGeom>
          <a:solidFill>
            <a:srgbClr val="2EAD6C">
              <a:alpha val="80000"/>
            </a:srgbClr>
          </a:solidFill>
          <a:ln w="12700">
            <a:solidFill>
              <a:srgbClr val="1B7A4D"/>
            </a:solidFill>
            <a:prstDash val="solid"/>
          </a:ln>
        </p:spPr>
      </p:sp>
      <p:sp>
        <p:nvSpPr>
          <p:cNvPr id="6" name="Shape 4"/>
          <p:cNvSpPr/>
          <p:nvPr/>
        </p:nvSpPr>
        <p:spPr>
          <a:xfrm>
            <a:off x="3749040" y="923544"/>
            <a:ext cx="384048" cy="384048"/>
          </a:xfrm>
          <a:prstGeom prst="rect">
            <a:avLst/>
          </a:prstGeom>
          <a:solidFill>
            <a:srgbClr val="2EAD6C">
              <a:alpha val="80000"/>
            </a:srgbClr>
          </a:solidFill>
          <a:ln w="12700">
            <a:solidFill>
              <a:srgbClr val="1B7A4D"/>
            </a:solidFill>
            <a:prstDash val="solid"/>
          </a:ln>
        </p:spPr>
      </p:sp>
      <p:sp>
        <p:nvSpPr>
          <p:cNvPr id="7" name="Shape 5"/>
          <p:cNvSpPr/>
          <p:nvPr/>
        </p:nvSpPr>
        <p:spPr>
          <a:xfrm>
            <a:off x="4169664" y="923544"/>
            <a:ext cx="384048" cy="384048"/>
          </a:xfrm>
          <a:prstGeom prst="rect">
            <a:avLst/>
          </a:prstGeom>
          <a:solidFill>
            <a:srgbClr val="FFFFFF">
              <a:alpha val="80000"/>
            </a:srgbClr>
          </a:solidFill>
          <a:ln w="12700">
            <a:solidFill>
              <a:srgbClr val="1B7A4D"/>
            </a:solidFill>
            <a:prstDash val="solid"/>
          </a:ln>
        </p:spPr>
      </p:sp>
      <p:sp>
        <p:nvSpPr>
          <p:cNvPr id="8" name="Text 6"/>
          <p:cNvSpPr/>
          <p:nvPr/>
        </p:nvSpPr>
        <p:spPr>
          <a:xfrm>
            <a:off x="914400" y="1234440"/>
            <a:ext cx="7315200" cy="1005840"/>
          </a:xfrm>
          <a:prstGeom prst="rect">
            <a:avLst/>
          </a:prstGeom>
          <a:noFill/>
          <a:ln/>
        </p:spPr>
        <p:txBody>
          <a:bodyPr wrap="square"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9" name="Text 7"/>
          <p:cNvSpPr/>
          <p:nvPr/>
        </p:nvSpPr>
        <p:spPr>
          <a:xfrm>
            <a:off x="914400" y="2240280"/>
            <a:ext cx="7315200" cy="502920"/>
          </a:xfrm>
          <a:prstGeom prst="rect">
            <a:avLst/>
          </a:prstGeom>
          <a:noFill/>
          <a:ln/>
        </p:spPr>
        <p:txBody>
          <a:bodyPr wrap="square" rtlCol="0" anchor="ctr"/>
          <a:lstStyle/>
          <a:p>
            <a:pPr marL="0" indent="0" algn="ctr">
              <a:buNone/>
            </a:pPr>
            <a:r>
              <a:rPr lang="en-US" sz="2000" dirty="0">
                <a:solidFill>
                  <a:srgbClr val="A8D5BA"/>
                </a:solidFill>
              </a:rPr>
              <a:t>Questions &amp; Discussion</a:t>
            </a:r>
            <a:endParaRPr lang="en-US" sz="2000" dirty="0"/>
          </a:p>
        </p:txBody>
      </p:sp>
      <p:sp>
        <p:nvSpPr>
          <p:cNvPr id="10" name="Shape 8"/>
          <p:cNvSpPr/>
          <p:nvPr/>
        </p:nvSpPr>
        <p:spPr>
          <a:xfrm>
            <a:off x="2743200" y="2834640"/>
            <a:ext cx="3657600" cy="27432"/>
          </a:xfrm>
          <a:prstGeom prst="rect">
            <a:avLst/>
          </a:prstGeom>
          <a:solidFill>
            <a:srgbClr val="2EAD6C"/>
          </a:solidFill>
          <a:ln/>
        </p:spPr>
      </p:sp>
      <p:sp>
        <p:nvSpPr>
          <p:cNvPr id="11" name="Text 9"/>
          <p:cNvSpPr/>
          <p:nvPr/>
        </p:nvSpPr>
        <p:spPr>
          <a:xfrm>
            <a:off x="1371600" y="2971800"/>
            <a:ext cx="6400800" cy="292608"/>
          </a:xfrm>
          <a:prstGeom prst="rect">
            <a:avLst/>
          </a:prstGeom>
          <a:noFill/>
          <a:ln/>
        </p:spPr>
        <p:txBody>
          <a:bodyPr wrap="square" lIns="0" tIns="0" rIns="0" bIns="0" rtlCol="0" anchor="ctr"/>
          <a:lstStyle/>
          <a:p>
            <a:pPr marL="0" indent="0" algn="ctr">
              <a:buNone/>
            </a:pPr>
            <a:r>
              <a:rPr lang="en-US" sz="1100" dirty="0">
                <a:solidFill>
                  <a:srgbClr val="D4EDD9"/>
                </a:solidFill>
              </a:rPr>
              <a:t>• Formulas &gt; Name Manager  (Named Ranges)</a:t>
            </a:r>
            <a:endParaRPr lang="en-US" sz="1100" dirty="0"/>
          </a:p>
        </p:txBody>
      </p:sp>
      <p:sp>
        <p:nvSpPr>
          <p:cNvPr id="12" name="Text 10"/>
          <p:cNvSpPr/>
          <p:nvPr/>
        </p:nvSpPr>
        <p:spPr>
          <a:xfrm>
            <a:off x="1371600" y="3319272"/>
            <a:ext cx="6400800" cy="292608"/>
          </a:xfrm>
          <a:prstGeom prst="rect">
            <a:avLst/>
          </a:prstGeom>
          <a:noFill/>
          <a:ln/>
        </p:spPr>
        <p:txBody>
          <a:bodyPr wrap="square" lIns="0" tIns="0" rIns="0" bIns="0" rtlCol="0" anchor="ctr"/>
          <a:lstStyle/>
          <a:p>
            <a:pPr marL="0" indent="0" algn="ctr">
              <a:buNone/>
            </a:pPr>
            <a:r>
              <a:rPr lang="en-US" sz="1100" dirty="0">
                <a:solidFill>
                  <a:srgbClr val="D4EDD9"/>
                </a:solidFill>
              </a:rPr>
              <a:t>• Home &gt; Conditional Formatting</a:t>
            </a:r>
            <a:endParaRPr lang="en-US" sz="1100" dirty="0"/>
          </a:p>
        </p:txBody>
      </p:sp>
      <p:sp>
        <p:nvSpPr>
          <p:cNvPr id="13" name="Text 11"/>
          <p:cNvSpPr/>
          <p:nvPr/>
        </p:nvSpPr>
        <p:spPr>
          <a:xfrm>
            <a:off x="1371600" y="3666744"/>
            <a:ext cx="6400800" cy="292608"/>
          </a:xfrm>
          <a:prstGeom prst="rect">
            <a:avLst/>
          </a:prstGeom>
          <a:noFill/>
          <a:ln/>
        </p:spPr>
        <p:txBody>
          <a:bodyPr wrap="square" lIns="0" tIns="0" rIns="0" bIns="0" rtlCol="0" anchor="ctr"/>
          <a:lstStyle/>
          <a:p>
            <a:pPr marL="0" indent="0" algn="ctr">
              <a:buNone/>
            </a:pPr>
            <a:r>
              <a:rPr lang="en-US" sz="1100" dirty="0">
                <a:solidFill>
                  <a:srgbClr val="D4EDD9"/>
                </a:solidFill>
              </a:rPr>
              <a:t>• Microsoft Support: support.microsoft.com/excel</a:t>
            </a:r>
            <a:endParaRPr lang="en-US" sz="1100" dirty="0"/>
          </a:p>
        </p:txBody>
      </p:sp>
      <p:sp>
        <p:nvSpPr>
          <p:cNvPr id="14" name="Text 12"/>
          <p:cNvSpPr/>
          <p:nvPr/>
        </p:nvSpPr>
        <p:spPr>
          <a:xfrm>
            <a:off x="1371600" y="4014216"/>
            <a:ext cx="6400800" cy="292608"/>
          </a:xfrm>
          <a:prstGeom prst="rect">
            <a:avLst/>
          </a:prstGeom>
          <a:noFill/>
          <a:ln/>
        </p:spPr>
        <p:txBody>
          <a:bodyPr wrap="square" lIns="0" tIns="0" rIns="0" bIns="0" rtlCol="0" anchor="ctr"/>
          <a:lstStyle/>
          <a:p>
            <a:pPr marL="0" indent="0" algn="ctr">
              <a:buNone/>
            </a:pPr>
            <a:r>
              <a:rPr lang="en-US" sz="1100" dirty="0">
                <a:solidFill>
                  <a:srgbClr val="D4EDD9"/>
                </a:solidFill>
              </a:rPr>
              <a:t>• Practice with real business datasets</a:t>
            </a:r>
            <a:endParaRPr lang="en-US" sz="1100" dirty="0"/>
          </a:p>
        </p:txBody>
      </p:sp>
      <p:sp>
        <p:nvSpPr>
          <p:cNvPr id="15" name="Text 13"/>
          <p:cNvSpPr/>
          <p:nvPr/>
        </p:nvSpPr>
        <p:spPr>
          <a:xfrm>
            <a:off x="457200" y="4754880"/>
            <a:ext cx="8229600" cy="274320"/>
          </a:xfrm>
          <a:prstGeom prst="rect">
            <a:avLst/>
          </a:prstGeom>
          <a:noFill/>
          <a:ln/>
        </p:spPr>
        <p:txBody>
          <a:bodyPr wrap="square" rtlCol="0" anchor="ctr"/>
          <a:lstStyle/>
          <a:p>
            <a:pPr marL="0" indent="0" algn="ctr">
              <a:buNone/>
            </a:pP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2143</Words>
  <Application>Microsoft Office PowerPoint</Application>
  <PresentationFormat>On-screen Show (16:9)</PresentationFormat>
  <Paragraphs>337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Advanced Excel for Business Analytics</dc:title>
  <dc:subject>PptxGenJS Presentation</dc:subject>
  <dc:creator>PptxGenJS</dc:creator>
  <cp:lastModifiedBy>visxnugosali123@gmail.com</cp:lastModifiedBy>
  <cp:revision>3</cp:revision>
  <dcterms:created xsi:type="dcterms:W3CDTF">2026-06-16T09:28:53Z</dcterms:created>
  <dcterms:modified xsi:type="dcterms:W3CDTF">2026-06-16T10:31:38Z</dcterms:modified>
</cp:coreProperties>
</file>