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(Rs)</c:v>
                </c:pt>
              </c:strCache>
            </c:strRef>
          </c:tx>
          <c:spPr>
            <a:solidFill>
              <a:srgbClr val="5FAE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Sale</c:v>
                </c:pt>
                <c:pt idx="1">
                  <c:v>Avg Sale</c:v>
                </c:pt>
                <c:pt idx="2">
                  <c:v>Max Sale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2558</c:v>
                </c:pt>
                <c:pt idx="2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D-44A9-BDBB-63C5CC4A52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(Rs)</c:v>
                </c:pt>
              </c:strCache>
            </c:strRef>
          </c:tx>
          <c:spPr>
            <a:solidFill>
              <a:srgbClr val="9CCB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Min Profit</c:v>
                </c:pt>
                <c:pt idx="1">
                  <c:v>Avg Profit</c:v>
                </c:pt>
                <c:pt idx="2">
                  <c:v>Max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448</c:v>
                </c:pt>
                <c:pt idx="2">
                  <c:v>1487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4D-4130-8983-5529C91102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D1-43CC-A78F-A4684435F1AC}"/>
              </c:ext>
            </c:extLst>
          </c:dPt>
          <c:dPt>
            <c:idx val="1"/>
            <c:bubble3D val="0"/>
            <c:spPr>
              <a:solidFill>
                <a:srgbClr val="5FAE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D1-43CC-A78F-A4684435F1AC}"/>
              </c:ext>
            </c:extLst>
          </c:dPt>
          <c:dPt>
            <c:idx val="2"/>
            <c:bubble3D val="0"/>
            <c:spPr>
              <a:solidFill>
                <a:srgbClr val="9CCB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D1-43CC-A78F-A4684435F1AC}"/>
              </c:ext>
            </c:extLst>
          </c:dPt>
          <c:dPt>
            <c:idx val="3"/>
            <c:bubble3D val="0"/>
            <c:spPr>
              <a:solidFill>
                <a:srgbClr val="B7E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D1-43CC-A78F-A4684435F1A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D1-43CC-A78F-A4684435F1A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D1-43CC-A78F-A4684435F1A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D1-43CC-A78F-A4684435F1A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D1-43CC-A78F-A4684435F1A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23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D1-43CC-A78F-A4684435F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(Rs L)</c:v>
                </c:pt>
              </c:strCache>
            </c:strRef>
          </c:tx>
          <c:spPr>
            <a:solidFill>
              <a:srgbClr val="5FAE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D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South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27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E-4A68-B3B4-8295F0E658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32-49B4-A430-BEFCA1A20C71}"/>
              </c:ext>
            </c:extLst>
          </c:dPt>
          <c:dPt>
            <c:idx val="1"/>
            <c:bubble3D val="0"/>
            <c:spPr>
              <a:solidFill>
                <a:srgbClr val="5FAE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32-49B4-A430-BEFCA1A20C71}"/>
              </c:ext>
            </c:extLst>
          </c:dPt>
          <c:dPt>
            <c:idx val="2"/>
            <c:bubble3D val="0"/>
            <c:spPr>
              <a:solidFill>
                <a:srgbClr val="9CCB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32-49B4-A430-BEFCA1A20C71}"/>
              </c:ext>
            </c:extLst>
          </c:dPt>
          <c:dPt>
            <c:idx val="3"/>
            <c:bubble3D val="0"/>
            <c:spPr>
              <a:solidFill>
                <a:srgbClr val="B7E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32-49B4-A430-BEFCA1A20C7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32-49B4-A430-BEFCA1A20C7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32-49B4-A430-BEFCA1A20C7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32-49B4-A430-BEFCA1A20C7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32-49B4-A430-BEFCA1A20C7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24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32-49B4-A430-BEFCA1A20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(Rs L)</c:v>
                </c:pt>
              </c:strCache>
            </c:strRef>
          </c:tx>
          <c:spPr>
            <a:ln w="38100" cap="flat">
              <a:solidFill>
                <a:srgbClr val="1B5E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5E3A"/>
              </a:solidFill>
              <a:ln w="9525" cap="flat">
                <a:solidFill>
                  <a:srgbClr val="1B5E3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19</c:v>
                </c:pt>
                <c:pt idx="2">
                  <c:v>27</c:v>
                </c:pt>
                <c:pt idx="3">
                  <c:v>24</c:v>
                </c:pt>
                <c:pt idx="4">
                  <c:v>30</c:v>
                </c:pt>
                <c:pt idx="5">
                  <c:v>28</c:v>
                </c:pt>
                <c:pt idx="6">
                  <c:v>33</c:v>
                </c:pt>
                <c:pt idx="7">
                  <c:v>31</c:v>
                </c:pt>
                <c:pt idx="8">
                  <c:v>36</c:v>
                </c:pt>
                <c:pt idx="9">
                  <c:v>34</c:v>
                </c:pt>
                <c:pt idx="10">
                  <c:v>42</c:v>
                </c:pt>
                <c:pt idx="11">
                  <c:v>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461-4E04-B53A-3598ED2B0D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63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218820" y="2054543"/>
            <a:ext cx="1181290" cy="1129665"/>
          </a:xfrm>
          <a:prstGeom prst="rect">
            <a:avLst/>
          </a:prstGeom>
          <a:solidFill>
            <a:srgbClr val="1B5E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153" y="239115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Report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Dataset Analysis &amp; KPI Dashboard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801F046D-F098-8CD1-53FB-FF31B52F9EFE}"/>
              </a:ext>
            </a:extLst>
          </p:cNvPr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2A72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356AAD-9EDD-3651-09BF-127AAA246A58}"/>
              </a:ext>
            </a:extLst>
          </p:cNvPr>
          <p:cNvSpPr/>
          <p:nvPr/>
        </p:nvSpPr>
        <p:spPr>
          <a:xfrm>
            <a:off x="-2286000" y="4572000"/>
            <a:ext cx="5029200" cy="5029200"/>
          </a:xfrm>
          <a:prstGeom prst="ellipse">
            <a:avLst/>
          </a:prstGeom>
          <a:solidFill>
            <a:srgbClr val="2A7250"/>
          </a:solidFill>
          <a:ln/>
        </p:spPr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4DDF7CFC-FE1B-A86B-3D62-3A0380685B15}"/>
              </a:ext>
            </a:extLst>
          </p:cNvPr>
          <p:cNvSpPr/>
          <p:nvPr/>
        </p:nvSpPr>
        <p:spPr>
          <a:xfrm>
            <a:off x="2571750" y="1840230"/>
            <a:ext cx="1908810" cy="1533525"/>
          </a:xfrm>
          <a:prstGeom prst="ellipse">
            <a:avLst/>
          </a:prstGeom>
          <a:solidFill>
            <a:srgbClr val="2A725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037EE1B-DBC0-57D6-819F-0E3276A79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14979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 of DMart business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172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placed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1122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3.93 Cr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663440" y="3172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35021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generated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21122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68.7 L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8503920" y="3172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503920" y="35021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7764" y="4201668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Shape 18"/>
          <p:cNvSpPr/>
          <p:nvPr/>
        </p:nvSpPr>
        <p:spPr>
          <a:xfrm>
            <a:off x="822960" y="4617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76402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822960" y="58247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Served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2960" y="6153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footprint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63440" y="4617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76402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6344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25"/>
          <p:cNvSpPr/>
          <p:nvPr/>
        </p:nvSpPr>
        <p:spPr>
          <a:xfrm>
            <a:off x="4663440" y="58247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63440" y="6153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cities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503920" y="4617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4" y="4764024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0392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2,559</a:t>
            </a:r>
            <a:endParaRPr lang="en-US" sz="2800" dirty="0"/>
          </a:p>
        </p:txBody>
      </p:sp>
      <p:sp>
        <p:nvSpPr>
          <p:cNvPr id="38" name="Text 30"/>
          <p:cNvSpPr/>
          <p:nvPr/>
        </p:nvSpPr>
        <p:spPr>
          <a:xfrm>
            <a:off x="8503920" y="58247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 Value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503920" y="6153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average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min, max, and average values across all orders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Range (Rs)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Range (Rs)</a:t>
            </a:r>
            <a:endParaRPr lang="en-US" sz="16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breakdown across 4 markets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(%)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96596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Region (Rs L)</a:t>
            </a:r>
            <a:endParaRPr lang="en-US" sz="16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Contribution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region contributes to overall profitability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64592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EF6EF"/>
          </a:solidFill>
          <a:ln/>
        </p:spPr>
      </p:sp>
      <p:sp>
        <p:nvSpPr>
          <p:cNvPr id="6" name="Shape 3"/>
          <p:cNvSpPr/>
          <p:nvPr/>
        </p:nvSpPr>
        <p:spPr>
          <a:xfrm>
            <a:off x="7086600" y="1943100"/>
            <a:ext cx="457200" cy="45720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contributor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32720" y="16916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858000" y="2816352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EF6EF"/>
          </a:solidFill>
          <a:ln/>
        </p:spPr>
      </p:sp>
      <p:sp>
        <p:nvSpPr>
          <p:cNvPr id="11" name="Shape 8"/>
          <p:cNvSpPr/>
          <p:nvPr/>
        </p:nvSpPr>
        <p:spPr>
          <a:xfrm>
            <a:off x="7086600" y="3067812"/>
            <a:ext cx="457200" cy="457200"/>
          </a:xfrm>
          <a:prstGeom prst="ellipse">
            <a:avLst/>
          </a:prstGeom>
          <a:solidFill>
            <a:srgbClr val="5FAE7C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3273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 performer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332720" y="281635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858000" y="3941064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EF6EF"/>
          </a:solidFill>
          <a:ln/>
        </p:spPr>
      </p:sp>
      <p:sp>
        <p:nvSpPr>
          <p:cNvPr id="16" name="Shape 13"/>
          <p:cNvSpPr/>
          <p:nvPr/>
        </p:nvSpPr>
        <p:spPr>
          <a:xfrm>
            <a:off x="7086600" y="4192524"/>
            <a:ext cx="457200" cy="457200"/>
          </a:xfrm>
          <a:prstGeom prst="ellipse">
            <a:avLst/>
          </a:prstGeom>
          <a:solidFill>
            <a:srgbClr val="9CCB3B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4032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80960" y="43982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 share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332720" y="3941064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C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858000" y="5065776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EF6EF"/>
          </a:solidFill>
          <a:ln/>
        </p:spPr>
      </p:sp>
      <p:sp>
        <p:nvSpPr>
          <p:cNvPr id="21" name="Shape 18"/>
          <p:cNvSpPr/>
          <p:nvPr/>
        </p:nvSpPr>
        <p:spPr>
          <a:xfrm>
            <a:off x="7086600" y="5317236"/>
            <a:ext cx="457200" cy="457200"/>
          </a:xfrm>
          <a:prstGeom prst="ellipse">
            <a:avLst/>
          </a:prstGeom>
          <a:solidFill>
            <a:srgbClr val="B7E0C2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5157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80960" y="55229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opportunity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332720" y="5065776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across 12 months - identifying seasonal peaks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Behind the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SUMIF, COUNTIF, and AVERAGEIF used for conditional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B5E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665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2461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=SUMIF(Region, "North", Sales)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Sales values only for orders where Region equals "North", giving total regional revenue.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056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9202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B5E3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0665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754880" y="3246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4892040" y="32461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=COUNTIF(Region, "North")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5488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number of orders placed in the North region, used to track order volume per region.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412480" y="16459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6E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0" y="19202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B5E3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206654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AVERAGEIF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686800" y="3246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8823960" y="32461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=AVERAGEIF(Region, "North", Profit)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68680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profit per order for the North region, supporting per-region KPI cards.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2A72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2286000" y="4572000"/>
            <a:ext cx="5029200" cy="5029200"/>
          </a:xfrm>
          <a:prstGeom prst="ellipse">
            <a:avLst/>
          </a:prstGeom>
          <a:solidFill>
            <a:srgbClr val="2A725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725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9CCB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Insights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 orders processed across 4 regions and 6 cities, generating Rs 3.93 Cr in total revenue.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7250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rgbClr val="9CCB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240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68.7 L total profit with seasonal peaks in Nov-Dec, signaling strong year-end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72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9CCB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51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leads with 31% profit share; East is the emerging high-growth opportunity.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725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9CCB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3891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251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92240" y="48920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SUMIF, COUNTIF, and AVERAGEIF formulas power real-time business intelligence dashboards.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335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Metrics Report</dc:title>
  <dc:subject>PptxGenJS Presentation</dc:subject>
  <dc:creator>D-MART</dc:creator>
  <cp:lastModifiedBy>visxnugosali123@gmail.com</cp:lastModifiedBy>
  <cp:revision>3</cp:revision>
  <dcterms:created xsi:type="dcterms:W3CDTF">2026-06-14T07:22:16Z</dcterms:created>
  <dcterms:modified xsi:type="dcterms:W3CDTF">2026-06-14T07:45:45Z</dcterms:modified>
</cp:coreProperties>
</file>