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5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Engagement</c:v>
                </c:pt>
              </c:strCache>
            </c:strRef>
          </c:tx>
          <c:spPr>
            <a:solidFill>
              <a:srgbClr val="D7E9F8"/>
            </a:solidFill>
            <a:effectLst/>
          </c:spPr>
          <c:invertIfNegative val="0"/>
          <c:dPt>
            <c:idx val="0"/>
            <c:invertIfNegative val="0"/>
            <c:bubble3D val="0"/>
            <c:extLst>
              <c:ext xmlns:c16="http://schemas.microsoft.com/office/drawing/2014/chart" uri="{C3380CC4-5D6E-409C-BE32-E72D297353CC}">
                <c16:uniqueId val="{00000001-3586-45DB-A1B6-3CB7A7A2B5DD}"/>
              </c:ext>
            </c:extLst>
          </c:dPt>
          <c:dPt>
            <c:idx val="1"/>
            <c:invertIfNegative val="0"/>
            <c:bubble3D val="0"/>
            <c:spPr>
              <a:solidFill>
                <a:srgbClr val="CDEEE2"/>
              </a:solidFill>
              <a:effectLst/>
            </c:spPr>
            <c:extLst>
              <c:ext xmlns:c16="http://schemas.microsoft.com/office/drawing/2014/chart" uri="{C3380CC4-5D6E-409C-BE32-E72D297353CC}">
                <c16:uniqueId val="{00000003-3586-45DB-A1B6-3CB7A7A2B5DD}"/>
              </c:ext>
            </c:extLst>
          </c:dPt>
          <c:dPt>
            <c:idx val="2"/>
            <c:invertIfNegative val="0"/>
            <c:bubble3D val="0"/>
            <c:spPr>
              <a:solidFill>
                <a:srgbClr val="129C76"/>
              </a:solidFill>
              <a:effectLst/>
            </c:spPr>
            <c:extLst>
              <c:ext xmlns:c16="http://schemas.microsoft.com/office/drawing/2014/chart" uri="{C3380CC4-5D6E-409C-BE32-E72D297353CC}">
                <c16:uniqueId val="{00000005-3586-45DB-A1B6-3CB7A7A2B5DD}"/>
              </c:ext>
            </c:extLst>
          </c:dPt>
          <c:cat>
            <c:strRef>
              <c:f>Sheet1!$A$2:$A$4</c:f>
              <c:strCache>
                <c:ptCount val="3"/>
                <c:pt idx="0">
                  <c:v>Text-Heavy</c:v>
                </c:pt>
                <c:pt idx="1">
                  <c:v>Icon + Text</c:v>
                </c:pt>
                <c:pt idx="2">
                  <c:v>Visual Story</c:v>
                </c:pt>
              </c:strCache>
            </c:strRef>
          </c:cat>
          <c:val>
            <c:numRef>
              <c:f>Sheet1!$B$2:$B$4</c:f>
              <c:numCache>
                <c:formatCode>General</c:formatCode>
                <c:ptCount val="3"/>
                <c:pt idx="0">
                  <c:v>3</c:v>
                </c:pt>
                <c:pt idx="1">
                  <c:v>6</c:v>
                </c:pt>
                <c:pt idx="2">
                  <c:v>9</c:v>
                </c:pt>
              </c:numCache>
            </c:numRef>
          </c:val>
          <c:extLst>
            <c:ext xmlns:c16="http://schemas.microsoft.com/office/drawing/2014/chart" uri="{C3380CC4-5D6E-409C-BE32-E72D297353CC}">
              <c16:uniqueId val="{00000006-3586-45DB-A1B6-3CB7A7A2B5DD}"/>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C"/>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234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to Sprint 9. Introduce the session as a practical, skills-building module on presentation and communication. Set expectations: by the end, participants will be able to read an audience, structure a story, manage nerves, and design clearer slides. Mention the four pillars shown on screen -- Audience, Storytelling, Confidence, and Delivery -- as the roadmap for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communication as a transferable skill that shows up everywhere -- classroom, internship, and career. Briefly note that this is not just about public speaking on a stage; it's about every meeting, pitch, and conversation. Use the presenter-and-audience graphic to emphasize that presenting is a two-way exchange, not a monologue.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great presentations start before you open the slide deck -- with research into who is in the room. Walk through the three cards: analyze the audience's background and expectations, tailor language and examples to them, and use active techniques like questions and eye contact to keep them engaged throughout the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storytelling as a structural tool, not just decoration. Walk through the three-part arc: Beginning sets the hook, Middle introduces the challenge or insight, End delivers the resolution and call to action. Encourage participants to anchor each presentation in at least one concrete example or case study so the message sticks.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Normalize nervousness -- nearly every speaker feels it. Teach the reframe: physical symptoms of nerves and excitement are nearly identical, so participants can relabel the feeling as readiness. Cover voice modulation as a tool for emphasis, and stress that preparation -- rehearsing aloud and anticipating questions -- is the most reliable confidence builder.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non-verbal signals often communicate more than the words themselves. Walk through each quadrant: eye contact builds trust, posture and gestures project confidence, facial expressions should match the message, and appearance sets the first impression. Invite participants to record themselves practicing to notice their own habits.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core design principles: visual consistency, purposeful color, and breathing room on every slide. Emphasize that charts, icons, and infographics let the audience absorb an idea in seconds rather than reading paragraphs. Use the chart as an illustrative example -- slides that pair visuals with minimal text tend to hold attention far better than dense, text-only slides.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practical levers of strong delivery: managing time so the talk doesn't run long, building in interaction so the audience participates, handling questions calmly and concisely, and varying energy and tone so attention doesn't drift. Encourage participants to rehearse with a timer and to plan at least one interactive moment per talk.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a quick-reference checklist. Walk through the Do's first -- practice, eye contact, visuals, and technical preparation -- then contrast with the common mistakes on the right: reading from slides, overloading text, monotone delivery, and ignoring the audience. Ask participants which mistake they are most guilty of, to make it interactive.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reviewing the four takeaways: know your audience, tell a clear story, speak with confidence, and keep improving. End on the motivational note that communication is a practiced skill, not an innate talent -- every presentation, meeting, and conversation is an opportunity to get better. Thank the group and open the floor for final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943600" y="-1554480"/>
            <a:ext cx="4754880" cy="4754880"/>
          </a:xfrm>
          <a:prstGeom prst="ellipse">
            <a:avLst/>
          </a:prstGeom>
          <a:solidFill>
            <a:srgbClr val="EAF3FB"/>
          </a:solidFill>
          <a:ln/>
        </p:spPr>
      </p:sp>
      <p:sp>
        <p:nvSpPr>
          <p:cNvPr id="3" name="Shape 1"/>
          <p:cNvSpPr/>
          <p:nvPr/>
        </p:nvSpPr>
        <p:spPr>
          <a:xfrm>
            <a:off x="7315200" y="2331720"/>
            <a:ext cx="2377440" cy="2377440"/>
          </a:xfrm>
          <a:prstGeom prst="ellipse">
            <a:avLst/>
          </a:prstGeom>
          <a:solidFill>
            <a:srgbClr val="E7F7F1"/>
          </a:solidFill>
          <a:ln/>
        </p:spPr>
      </p:sp>
      <p:sp>
        <p:nvSpPr>
          <p:cNvPr id="4" name="Shape 2"/>
          <p:cNvSpPr/>
          <p:nvPr/>
        </p:nvSpPr>
        <p:spPr>
          <a:xfrm>
            <a:off x="-914400" y="3566160"/>
            <a:ext cx="2103120" cy="2103120"/>
          </a:xfrm>
          <a:prstGeom prst="ellipse">
            <a:avLst/>
          </a:prstGeom>
          <a:solidFill>
            <a:srgbClr val="E7F7F1"/>
          </a:solidFill>
          <a:ln/>
        </p:spPr>
      </p:sp>
      <p:sp>
        <p:nvSpPr>
          <p:cNvPr id="5" name="Shape 3"/>
          <p:cNvSpPr/>
          <p:nvPr/>
        </p:nvSpPr>
        <p:spPr>
          <a:xfrm>
            <a:off x="6903720" y="502920"/>
            <a:ext cx="1417320" cy="1417320"/>
          </a:xfrm>
          <a:prstGeom prst="ellipse">
            <a:avLst/>
          </a:prstGeom>
          <a:solidFill>
            <a:srgbClr val="1565A8"/>
          </a:solidFill>
          <a:ln/>
          <a:effectLst>
            <a:outerShdw blurRad="177800" dist="63500" dir="5400000" algn="bl" rotWithShape="0">
              <a:srgbClr val="0B4A7D">
                <a:alpha val="28000"/>
              </a:srgbClr>
            </a:outerShdw>
          </a:effectLst>
        </p:spPr>
      </p:sp>
      <p:pic>
        <p:nvPicPr>
          <p:cNvPr id="6" name="Image 0" descr="preencoded.png"/>
          <p:cNvPicPr>
            <a:picLocks noChangeAspect="1"/>
          </p:cNvPicPr>
          <p:nvPr/>
        </p:nvPicPr>
        <p:blipFill>
          <a:blip r:embed="rId3"/>
          <a:stretch>
            <a:fillRect/>
          </a:stretch>
        </p:blipFill>
        <p:spPr>
          <a:xfrm>
            <a:off x="7269480" y="868680"/>
            <a:ext cx="685800" cy="685800"/>
          </a:xfrm>
          <a:prstGeom prst="rect">
            <a:avLst/>
          </a:prstGeom>
        </p:spPr>
      </p:pic>
      <p:sp>
        <p:nvSpPr>
          <p:cNvPr id="7" name="Text 4"/>
          <p:cNvSpPr/>
          <p:nvPr/>
        </p:nvSpPr>
        <p:spPr>
          <a:xfrm>
            <a:off x="640080" y="1417320"/>
            <a:ext cx="5486400" cy="365760"/>
          </a:xfrm>
          <a:prstGeom prst="rect">
            <a:avLst/>
          </a:prstGeom>
          <a:noFill/>
          <a:ln/>
        </p:spPr>
        <p:txBody>
          <a:bodyPr wrap="square" lIns="0" tIns="0" rIns="0" bIns="0" rtlCol="0" anchor="ctr"/>
          <a:lstStyle/>
          <a:p>
            <a:pPr marL="0" indent="0">
              <a:buNone/>
            </a:pPr>
            <a:r>
              <a:rPr lang="en-US" sz="1500" b="1" kern="0" spc="300" dirty="0">
                <a:solidFill>
                  <a:srgbClr val="129C76"/>
                </a:solidFill>
                <a:latin typeface="Calibri" pitchFamily="34" charset="0"/>
                <a:ea typeface="Calibri" pitchFamily="34" charset="-122"/>
                <a:cs typeface="Calibri" pitchFamily="34" charset="-120"/>
              </a:rPr>
              <a:t>SPRINT 9</a:t>
            </a:r>
            <a:endParaRPr lang="en-US" sz="1500" dirty="0"/>
          </a:p>
        </p:txBody>
      </p:sp>
      <p:sp>
        <p:nvSpPr>
          <p:cNvPr id="8" name="Text 5"/>
          <p:cNvSpPr/>
          <p:nvPr/>
        </p:nvSpPr>
        <p:spPr>
          <a:xfrm>
            <a:off x="621792" y="1783080"/>
            <a:ext cx="7406640" cy="1417320"/>
          </a:xfrm>
          <a:prstGeom prst="rect">
            <a:avLst/>
          </a:prstGeom>
          <a:noFill/>
          <a:ln/>
        </p:spPr>
        <p:txBody>
          <a:bodyPr wrap="square" lIns="0" tIns="0" rIns="0" bIns="0" rtlCol="0" anchor="ctr"/>
          <a:lstStyle/>
          <a:p>
            <a:pPr marL="0" indent="0">
              <a:lnSpc>
                <a:spcPct val="104000"/>
              </a:lnSpc>
              <a:buNone/>
            </a:pPr>
            <a:r>
              <a:rPr lang="en-US" sz="4000" b="1" dirty="0">
                <a:solidFill>
                  <a:srgbClr val="1E2A38"/>
                </a:solidFill>
                <a:latin typeface="Cambria" pitchFamily="34" charset="0"/>
                <a:ea typeface="Cambria" pitchFamily="34" charset="-122"/>
                <a:cs typeface="Cambria" pitchFamily="34" charset="-120"/>
              </a:rPr>
              <a:t>Presentation &amp; Communication Skills</a:t>
            </a:r>
            <a:endParaRPr lang="en-US" sz="4000" dirty="0"/>
          </a:p>
        </p:txBody>
      </p:sp>
      <p:sp>
        <p:nvSpPr>
          <p:cNvPr id="9" name="Text 6"/>
          <p:cNvSpPr/>
          <p:nvPr/>
        </p:nvSpPr>
        <p:spPr>
          <a:xfrm>
            <a:off x="640080" y="3035808"/>
            <a:ext cx="6949440" cy="457200"/>
          </a:xfrm>
          <a:prstGeom prst="rect">
            <a:avLst/>
          </a:prstGeom>
          <a:noFill/>
          <a:ln/>
        </p:spPr>
        <p:txBody>
          <a:bodyPr wrap="square" lIns="0" tIns="0" rIns="0" bIns="0" rtlCol="0" anchor="ctr"/>
          <a:lstStyle/>
          <a:p>
            <a:pPr marL="0" indent="0">
              <a:buNone/>
            </a:pPr>
            <a:r>
              <a:rPr lang="en-US" sz="1600" i="1" dirty="0">
                <a:solidFill>
                  <a:srgbClr val="5B6B7C"/>
                </a:solidFill>
                <a:latin typeface="Calibri" pitchFamily="34" charset="0"/>
                <a:ea typeface="Calibri" pitchFamily="34" charset="-122"/>
                <a:cs typeface="Calibri" pitchFamily="34" charset="-120"/>
              </a:rPr>
              <a:t>Building Confidence and Delivering Impactful Presentations</a:t>
            </a:r>
            <a:endParaRPr lang="en-US" sz="1600" dirty="0"/>
          </a:p>
        </p:txBody>
      </p:sp>
      <p:sp>
        <p:nvSpPr>
          <p:cNvPr id="10" name="Shape 7"/>
          <p:cNvSpPr/>
          <p:nvPr/>
        </p:nvSpPr>
        <p:spPr>
          <a:xfrm>
            <a:off x="640080" y="4069080"/>
            <a:ext cx="475488" cy="475488"/>
          </a:xfrm>
          <a:prstGeom prst="ellipse">
            <a:avLst/>
          </a:prstGeom>
          <a:solidFill>
            <a:srgbClr val="1565A8"/>
          </a:solidFill>
          <a:ln/>
        </p:spPr>
      </p:sp>
      <p:pic>
        <p:nvPicPr>
          <p:cNvPr id="11" name="Image 1" descr="preencoded.png"/>
          <p:cNvPicPr>
            <a:picLocks noChangeAspect="1"/>
          </p:cNvPicPr>
          <p:nvPr/>
        </p:nvPicPr>
        <p:blipFill>
          <a:blip r:embed="rId4"/>
          <a:stretch>
            <a:fillRect/>
          </a:stretch>
        </p:blipFill>
        <p:spPr>
          <a:xfrm>
            <a:off x="706648" y="4135648"/>
            <a:ext cx="342351" cy="342351"/>
          </a:xfrm>
          <a:prstGeom prst="rect">
            <a:avLst/>
          </a:prstGeom>
        </p:spPr>
      </p:pic>
      <p:sp>
        <p:nvSpPr>
          <p:cNvPr id="12" name="Text 8"/>
          <p:cNvSpPr/>
          <p:nvPr/>
        </p:nvSpPr>
        <p:spPr>
          <a:xfrm>
            <a:off x="365760" y="4572000"/>
            <a:ext cx="1024128" cy="274320"/>
          </a:xfrm>
          <a:prstGeom prst="rect">
            <a:avLst/>
          </a:prstGeom>
          <a:noFill/>
          <a:ln/>
        </p:spPr>
        <p:txBody>
          <a:bodyPr wrap="square" lIns="0" tIns="0" rIns="0" bIns="0" rtlCol="0" anchor="ctr"/>
          <a:lstStyle/>
          <a:p>
            <a:pPr marL="0" indent="0" algn="ctr">
              <a:buNone/>
            </a:pPr>
            <a:r>
              <a:rPr lang="en-US" sz="1050" b="1" dirty="0">
                <a:solidFill>
                  <a:srgbClr val="1E2A38"/>
                </a:solidFill>
                <a:latin typeface="Calibri" pitchFamily="34" charset="0"/>
                <a:ea typeface="Calibri" pitchFamily="34" charset="-122"/>
                <a:cs typeface="Calibri" pitchFamily="34" charset="-120"/>
              </a:rPr>
              <a:t>Audience</a:t>
            </a:r>
            <a:endParaRPr lang="en-US" sz="1050" dirty="0"/>
          </a:p>
        </p:txBody>
      </p:sp>
      <p:sp>
        <p:nvSpPr>
          <p:cNvPr id="13" name="Shape 9"/>
          <p:cNvSpPr/>
          <p:nvPr/>
        </p:nvSpPr>
        <p:spPr>
          <a:xfrm>
            <a:off x="2331720" y="4069080"/>
            <a:ext cx="475488" cy="475488"/>
          </a:xfrm>
          <a:prstGeom prst="ellipse">
            <a:avLst/>
          </a:prstGeom>
          <a:solidFill>
            <a:srgbClr val="129C76"/>
          </a:solidFill>
          <a:ln/>
        </p:spPr>
      </p:sp>
      <p:pic>
        <p:nvPicPr>
          <p:cNvPr id="14" name="Image 2" descr="preencoded.png"/>
          <p:cNvPicPr>
            <a:picLocks noChangeAspect="1"/>
          </p:cNvPicPr>
          <p:nvPr/>
        </p:nvPicPr>
        <p:blipFill>
          <a:blip r:embed="rId5"/>
          <a:stretch>
            <a:fillRect/>
          </a:stretch>
        </p:blipFill>
        <p:spPr>
          <a:xfrm>
            <a:off x="2398288" y="4135648"/>
            <a:ext cx="342351" cy="342351"/>
          </a:xfrm>
          <a:prstGeom prst="rect">
            <a:avLst/>
          </a:prstGeom>
        </p:spPr>
      </p:pic>
      <p:sp>
        <p:nvSpPr>
          <p:cNvPr id="15" name="Text 10"/>
          <p:cNvSpPr/>
          <p:nvPr/>
        </p:nvSpPr>
        <p:spPr>
          <a:xfrm>
            <a:off x="2057400" y="4572000"/>
            <a:ext cx="1024128" cy="274320"/>
          </a:xfrm>
          <a:prstGeom prst="rect">
            <a:avLst/>
          </a:prstGeom>
          <a:noFill/>
          <a:ln/>
        </p:spPr>
        <p:txBody>
          <a:bodyPr wrap="square" lIns="0" tIns="0" rIns="0" bIns="0" rtlCol="0" anchor="ctr"/>
          <a:lstStyle/>
          <a:p>
            <a:pPr marL="0" indent="0" algn="ctr">
              <a:buNone/>
            </a:pPr>
            <a:r>
              <a:rPr lang="en-US" sz="1050" b="1" dirty="0">
                <a:solidFill>
                  <a:srgbClr val="1E2A38"/>
                </a:solidFill>
                <a:latin typeface="Calibri" pitchFamily="34" charset="0"/>
                <a:ea typeface="Calibri" pitchFamily="34" charset="-122"/>
                <a:cs typeface="Calibri" pitchFamily="34" charset="-120"/>
              </a:rPr>
              <a:t>Storytelling</a:t>
            </a:r>
            <a:endParaRPr lang="en-US" sz="1050" dirty="0"/>
          </a:p>
        </p:txBody>
      </p:sp>
      <p:sp>
        <p:nvSpPr>
          <p:cNvPr id="16" name="Shape 11"/>
          <p:cNvSpPr/>
          <p:nvPr/>
        </p:nvSpPr>
        <p:spPr>
          <a:xfrm>
            <a:off x="4023360" y="4069080"/>
            <a:ext cx="475488" cy="475488"/>
          </a:xfrm>
          <a:prstGeom prst="ellipse">
            <a:avLst/>
          </a:prstGeom>
          <a:solidFill>
            <a:srgbClr val="1565A8"/>
          </a:solidFill>
          <a:ln/>
        </p:spPr>
      </p:sp>
      <p:pic>
        <p:nvPicPr>
          <p:cNvPr id="17" name="Image 3" descr="preencoded.png"/>
          <p:cNvPicPr>
            <a:picLocks noChangeAspect="1"/>
          </p:cNvPicPr>
          <p:nvPr/>
        </p:nvPicPr>
        <p:blipFill>
          <a:blip r:embed="rId6"/>
          <a:stretch>
            <a:fillRect/>
          </a:stretch>
        </p:blipFill>
        <p:spPr>
          <a:xfrm>
            <a:off x="4089928" y="4135648"/>
            <a:ext cx="342351" cy="342351"/>
          </a:xfrm>
          <a:prstGeom prst="rect">
            <a:avLst/>
          </a:prstGeom>
        </p:spPr>
      </p:pic>
      <p:sp>
        <p:nvSpPr>
          <p:cNvPr id="18" name="Text 12"/>
          <p:cNvSpPr/>
          <p:nvPr/>
        </p:nvSpPr>
        <p:spPr>
          <a:xfrm>
            <a:off x="3749040" y="4572000"/>
            <a:ext cx="1024128" cy="274320"/>
          </a:xfrm>
          <a:prstGeom prst="rect">
            <a:avLst/>
          </a:prstGeom>
          <a:noFill/>
          <a:ln/>
        </p:spPr>
        <p:txBody>
          <a:bodyPr wrap="square" lIns="0" tIns="0" rIns="0" bIns="0" rtlCol="0" anchor="ctr"/>
          <a:lstStyle/>
          <a:p>
            <a:pPr marL="0" indent="0" algn="ctr">
              <a:buNone/>
            </a:pPr>
            <a:r>
              <a:rPr lang="en-US" sz="1050" b="1" dirty="0">
                <a:solidFill>
                  <a:srgbClr val="1E2A38"/>
                </a:solidFill>
                <a:latin typeface="Calibri" pitchFamily="34" charset="0"/>
                <a:ea typeface="Calibri" pitchFamily="34" charset="-122"/>
                <a:cs typeface="Calibri" pitchFamily="34" charset="-120"/>
              </a:rPr>
              <a:t>Confidence</a:t>
            </a:r>
            <a:endParaRPr lang="en-US" sz="1050" dirty="0"/>
          </a:p>
        </p:txBody>
      </p:sp>
      <p:sp>
        <p:nvSpPr>
          <p:cNvPr id="19" name="Shape 13"/>
          <p:cNvSpPr/>
          <p:nvPr/>
        </p:nvSpPr>
        <p:spPr>
          <a:xfrm>
            <a:off x="5715000" y="4069080"/>
            <a:ext cx="475488" cy="475488"/>
          </a:xfrm>
          <a:prstGeom prst="ellipse">
            <a:avLst/>
          </a:prstGeom>
          <a:solidFill>
            <a:srgbClr val="129C76"/>
          </a:solidFill>
          <a:ln/>
        </p:spPr>
      </p:sp>
      <p:pic>
        <p:nvPicPr>
          <p:cNvPr id="20" name="Image 4" descr="preencoded.png"/>
          <p:cNvPicPr>
            <a:picLocks noChangeAspect="1"/>
          </p:cNvPicPr>
          <p:nvPr/>
        </p:nvPicPr>
        <p:blipFill>
          <a:blip r:embed="rId7"/>
          <a:stretch>
            <a:fillRect/>
          </a:stretch>
        </p:blipFill>
        <p:spPr>
          <a:xfrm>
            <a:off x="5781568" y="4135648"/>
            <a:ext cx="342351" cy="342351"/>
          </a:xfrm>
          <a:prstGeom prst="rect">
            <a:avLst/>
          </a:prstGeom>
        </p:spPr>
      </p:pic>
      <p:sp>
        <p:nvSpPr>
          <p:cNvPr id="21" name="Text 14"/>
          <p:cNvSpPr/>
          <p:nvPr/>
        </p:nvSpPr>
        <p:spPr>
          <a:xfrm>
            <a:off x="5440680" y="4572000"/>
            <a:ext cx="1024128" cy="274320"/>
          </a:xfrm>
          <a:prstGeom prst="rect">
            <a:avLst/>
          </a:prstGeom>
          <a:noFill/>
          <a:ln/>
        </p:spPr>
        <p:txBody>
          <a:bodyPr wrap="square" lIns="0" tIns="0" rIns="0" bIns="0" rtlCol="0" anchor="ctr"/>
          <a:lstStyle/>
          <a:p>
            <a:pPr marL="0" indent="0" algn="ctr">
              <a:buNone/>
            </a:pPr>
            <a:r>
              <a:rPr lang="en-US" sz="1050" b="1" dirty="0">
                <a:solidFill>
                  <a:srgbClr val="1E2A38"/>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565A8"/>
                </a:solidFill>
                <a:latin typeface="Calibri" pitchFamily="34" charset="0"/>
                <a:ea typeface="Calibri" pitchFamily="34" charset="-122"/>
                <a:cs typeface="Calibri" pitchFamily="34" charset="-120"/>
              </a:rPr>
              <a:t>INTRODUCTION</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Why Communication Skills Matter</a:t>
            </a:r>
            <a:endParaRPr lang="en-US" sz="2700" dirty="0"/>
          </a:p>
        </p:txBody>
      </p:sp>
      <p:sp>
        <p:nvSpPr>
          <p:cNvPr id="6" name="Shape 4"/>
          <p:cNvSpPr/>
          <p:nvPr/>
        </p:nvSpPr>
        <p:spPr>
          <a:xfrm>
            <a:off x="8001000" y="384048"/>
            <a:ext cx="603504" cy="603504"/>
          </a:xfrm>
          <a:prstGeom prst="ellipse">
            <a:avLst/>
          </a:prstGeom>
          <a:solidFill>
            <a:srgbClr val="1565A8"/>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417320"/>
            <a:ext cx="566928" cy="566928"/>
          </a:xfrm>
          <a:prstGeom prst="ellipse">
            <a:avLst/>
          </a:prstGeom>
          <a:solidFill>
            <a:srgbClr val="1565A8"/>
          </a:solidFill>
          <a:ln/>
        </p:spPr>
      </p:sp>
      <p:pic>
        <p:nvPicPr>
          <p:cNvPr id="9" name="Image 1" descr="preencoded.png"/>
          <p:cNvPicPr>
            <a:picLocks noChangeAspect="1"/>
          </p:cNvPicPr>
          <p:nvPr/>
        </p:nvPicPr>
        <p:blipFill>
          <a:blip r:embed="rId4"/>
          <a:stretch>
            <a:fillRect/>
          </a:stretch>
        </p:blipFill>
        <p:spPr>
          <a:xfrm>
            <a:off x="628010" y="1496690"/>
            <a:ext cx="408188" cy="408188"/>
          </a:xfrm>
          <a:prstGeom prst="rect">
            <a:avLst/>
          </a:prstGeom>
        </p:spPr>
      </p:pic>
      <p:sp>
        <p:nvSpPr>
          <p:cNvPr id="10" name="Text 6"/>
          <p:cNvSpPr/>
          <p:nvPr/>
        </p:nvSpPr>
        <p:spPr>
          <a:xfrm>
            <a:off x="1298448" y="1389888"/>
            <a:ext cx="4206240" cy="292608"/>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Academic Success</a:t>
            </a:r>
            <a:endParaRPr lang="en-US" sz="1500" dirty="0"/>
          </a:p>
        </p:txBody>
      </p:sp>
      <p:sp>
        <p:nvSpPr>
          <p:cNvPr id="11" name="Text 7"/>
          <p:cNvSpPr/>
          <p:nvPr/>
        </p:nvSpPr>
        <p:spPr>
          <a:xfrm>
            <a:off x="1298448" y="1691640"/>
            <a:ext cx="4251960" cy="594360"/>
          </a:xfrm>
          <a:prstGeom prst="rect">
            <a:avLst/>
          </a:prstGeom>
          <a:noFill/>
          <a:ln/>
        </p:spPr>
        <p:txBody>
          <a:bodyPr wrap="square" lIns="0" tIns="0" rIns="0" bIns="0" rtlCol="0" anchor="ctr"/>
          <a:lstStyle/>
          <a:p>
            <a:pPr marL="0" indent="0">
              <a:lnSpc>
                <a:spcPct val="108000"/>
              </a:lnSpc>
              <a:buNone/>
            </a:pPr>
            <a:r>
              <a:rPr lang="en-US" sz="1200" dirty="0">
                <a:solidFill>
                  <a:srgbClr val="5B6B7C"/>
                </a:solidFill>
                <a:latin typeface="Calibri" pitchFamily="34" charset="0"/>
                <a:ea typeface="Calibri" pitchFamily="34" charset="-122"/>
                <a:cs typeface="Calibri" pitchFamily="34" charset="-120"/>
              </a:rPr>
              <a:t>Strong presentations raise grades, project outcomes, and classroom credibility.</a:t>
            </a:r>
            <a:endParaRPr lang="en-US" sz="1200" dirty="0"/>
          </a:p>
        </p:txBody>
      </p:sp>
      <p:sp>
        <p:nvSpPr>
          <p:cNvPr id="12" name="Shape 8"/>
          <p:cNvSpPr/>
          <p:nvPr/>
        </p:nvSpPr>
        <p:spPr>
          <a:xfrm>
            <a:off x="548640" y="2441448"/>
            <a:ext cx="566928" cy="566928"/>
          </a:xfrm>
          <a:prstGeom prst="ellipse">
            <a:avLst/>
          </a:prstGeom>
          <a:solidFill>
            <a:srgbClr val="129C76"/>
          </a:solidFill>
          <a:ln/>
        </p:spPr>
      </p:sp>
      <p:pic>
        <p:nvPicPr>
          <p:cNvPr id="13" name="Image 2" descr="preencoded.png"/>
          <p:cNvPicPr>
            <a:picLocks noChangeAspect="1"/>
          </p:cNvPicPr>
          <p:nvPr/>
        </p:nvPicPr>
        <p:blipFill>
          <a:blip r:embed="rId5"/>
          <a:stretch>
            <a:fillRect/>
          </a:stretch>
        </p:blipFill>
        <p:spPr>
          <a:xfrm>
            <a:off x="628010" y="2520818"/>
            <a:ext cx="408188" cy="408188"/>
          </a:xfrm>
          <a:prstGeom prst="rect">
            <a:avLst/>
          </a:prstGeom>
        </p:spPr>
      </p:pic>
      <p:sp>
        <p:nvSpPr>
          <p:cNvPr id="14" name="Text 9"/>
          <p:cNvSpPr/>
          <p:nvPr/>
        </p:nvSpPr>
        <p:spPr>
          <a:xfrm>
            <a:off x="1298448" y="2414016"/>
            <a:ext cx="4206240" cy="292608"/>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Career Growth</a:t>
            </a:r>
            <a:endParaRPr lang="en-US" sz="1500" dirty="0"/>
          </a:p>
        </p:txBody>
      </p:sp>
      <p:sp>
        <p:nvSpPr>
          <p:cNvPr id="15" name="Text 10"/>
          <p:cNvSpPr/>
          <p:nvPr/>
        </p:nvSpPr>
        <p:spPr>
          <a:xfrm>
            <a:off x="1298448" y="2715768"/>
            <a:ext cx="4251960" cy="594360"/>
          </a:xfrm>
          <a:prstGeom prst="rect">
            <a:avLst/>
          </a:prstGeom>
          <a:noFill/>
          <a:ln/>
        </p:spPr>
        <p:txBody>
          <a:bodyPr wrap="square" lIns="0" tIns="0" rIns="0" bIns="0" rtlCol="0" anchor="ctr"/>
          <a:lstStyle/>
          <a:p>
            <a:pPr marL="0" indent="0">
              <a:lnSpc>
                <a:spcPct val="108000"/>
              </a:lnSpc>
              <a:buNone/>
            </a:pPr>
            <a:r>
              <a:rPr lang="en-US" sz="1200" dirty="0">
                <a:solidFill>
                  <a:srgbClr val="5B6B7C"/>
                </a:solidFill>
                <a:latin typeface="Calibri" pitchFamily="34" charset="0"/>
                <a:ea typeface="Calibri" pitchFamily="34" charset="-122"/>
                <a:cs typeface="Calibri" pitchFamily="34" charset="-120"/>
              </a:rPr>
              <a:t>Consistently ranked among the most valued skills by recruiters and managers.</a:t>
            </a:r>
            <a:endParaRPr lang="en-US" sz="1200" dirty="0"/>
          </a:p>
        </p:txBody>
      </p:sp>
      <p:sp>
        <p:nvSpPr>
          <p:cNvPr id="16" name="Shape 11"/>
          <p:cNvSpPr/>
          <p:nvPr/>
        </p:nvSpPr>
        <p:spPr>
          <a:xfrm>
            <a:off x="548640" y="3465576"/>
            <a:ext cx="566928" cy="566928"/>
          </a:xfrm>
          <a:prstGeom prst="ellipse">
            <a:avLst/>
          </a:prstGeom>
          <a:solidFill>
            <a:srgbClr val="1565A8"/>
          </a:solidFill>
          <a:ln/>
        </p:spPr>
      </p:sp>
      <p:pic>
        <p:nvPicPr>
          <p:cNvPr id="17" name="Image 3" descr="preencoded.png"/>
          <p:cNvPicPr>
            <a:picLocks noChangeAspect="1"/>
          </p:cNvPicPr>
          <p:nvPr/>
        </p:nvPicPr>
        <p:blipFill>
          <a:blip r:embed="rId6"/>
          <a:stretch>
            <a:fillRect/>
          </a:stretch>
        </p:blipFill>
        <p:spPr>
          <a:xfrm>
            <a:off x="628010" y="3544946"/>
            <a:ext cx="408188" cy="408188"/>
          </a:xfrm>
          <a:prstGeom prst="rect">
            <a:avLst/>
          </a:prstGeom>
        </p:spPr>
      </p:pic>
      <p:sp>
        <p:nvSpPr>
          <p:cNvPr id="18" name="Text 12"/>
          <p:cNvSpPr/>
          <p:nvPr/>
        </p:nvSpPr>
        <p:spPr>
          <a:xfrm>
            <a:off x="1298448" y="3438144"/>
            <a:ext cx="4206240" cy="292608"/>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Everyday Impact</a:t>
            </a:r>
            <a:endParaRPr lang="en-US" sz="1500" dirty="0"/>
          </a:p>
        </p:txBody>
      </p:sp>
      <p:sp>
        <p:nvSpPr>
          <p:cNvPr id="19" name="Text 13"/>
          <p:cNvSpPr/>
          <p:nvPr/>
        </p:nvSpPr>
        <p:spPr>
          <a:xfrm>
            <a:off x="1298448" y="3739896"/>
            <a:ext cx="4251960" cy="594360"/>
          </a:xfrm>
          <a:prstGeom prst="rect">
            <a:avLst/>
          </a:prstGeom>
          <a:noFill/>
          <a:ln/>
        </p:spPr>
        <p:txBody>
          <a:bodyPr wrap="square" lIns="0" tIns="0" rIns="0" bIns="0" rtlCol="0" anchor="ctr"/>
          <a:lstStyle/>
          <a:p>
            <a:pPr marL="0" indent="0">
              <a:lnSpc>
                <a:spcPct val="108000"/>
              </a:lnSpc>
              <a:buNone/>
            </a:pPr>
            <a:r>
              <a:rPr lang="en-US" sz="1200" dirty="0">
                <a:solidFill>
                  <a:srgbClr val="5B6B7C"/>
                </a:solidFill>
                <a:latin typeface="Calibri" pitchFamily="34" charset="0"/>
                <a:ea typeface="Calibri" pitchFamily="34" charset="-122"/>
                <a:cs typeface="Calibri" pitchFamily="34" charset="-120"/>
              </a:rPr>
              <a:t>Clear communication builds trust and influence in every interaction.</a:t>
            </a:r>
            <a:endParaRPr lang="en-US" sz="1200" dirty="0"/>
          </a:p>
        </p:txBody>
      </p:sp>
      <p:sp>
        <p:nvSpPr>
          <p:cNvPr id="20" name="Shape 14"/>
          <p:cNvSpPr/>
          <p:nvPr/>
        </p:nvSpPr>
        <p:spPr>
          <a:xfrm>
            <a:off x="5989320" y="1417320"/>
            <a:ext cx="2697480" cy="3154680"/>
          </a:xfrm>
          <a:prstGeom prst="roundRect">
            <a:avLst>
              <a:gd name="adj" fmla="val 3051"/>
            </a:avLst>
          </a:prstGeom>
          <a:solidFill>
            <a:srgbClr val="EAF3FB"/>
          </a:solidFill>
          <a:ln/>
          <a:effectLst>
            <a:outerShdw blurRad="114300" dist="38100" dir="5400000" algn="bl" rotWithShape="0">
              <a:srgbClr val="1B2733">
                <a:alpha val="10000"/>
              </a:srgbClr>
            </a:outerShdw>
          </a:effectLst>
        </p:spPr>
      </p:sp>
      <p:sp>
        <p:nvSpPr>
          <p:cNvPr id="21" name="Shape 15"/>
          <p:cNvSpPr/>
          <p:nvPr/>
        </p:nvSpPr>
        <p:spPr>
          <a:xfrm>
            <a:off x="6995160" y="1783080"/>
            <a:ext cx="685800" cy="685800"/>
          </a:xfrm>
          <a:prstGeom prst="ellipse">
            <a:avLst/>
          </a:prstGeom>
          <a:solidFill>
            <a:srgbClr val="1565A8"/>
          </a:solidFill>
          <a:ln/>
        </p:spPr>
      </p:sp>
      <p:pic>
        <p:nvPicPr>
          <p:cNvPr id="22" name="Image 4" descr="preencoded.png"/>
          <p:cNvPicPr>
            <a:picLocks noChangeAspect="1"/>
          </p:cNvPicPr>
          <p:nvPr/>
        </p:nvPicPr>
        <p:blipFill>
          <a:blip r:embed="rId7"/>
          <a:stretch>
            <a:fillRect/>
          </a:stretch>
        </p:blipFill>
        <p:spPr>
          <a:xfrm>
            <a:off x="7091172" y="1879092"/>
            <a:ext cx="493776" cy="493776"/>
          </a:xfrm>
          <a:prstGeom prst="rect">
            <a:avLst/>
          </a:prstGeom>
        </p:spPr>
      </p:pic>
      <p:sp>
        <p:nvSpPr>
          <p:cNvPr id="23" name="Shape 16"/>
          <p:cNvSpPr/>
          <p:nvPr/>
        </p:nvSpPr>
        <p:spPr>
          <a:xfrm>
            <a:off x="6355080" y="3063240"/>
            <a:ext cx="457200" cy="457200"/>
          </a:xfrm>
          <a:prstGeom prst="ellipse">
            <a:avLst/>
          </a:prstGeom>
          <a:solidFill>
            <a:srgbClr val="129C76"/>
          </a:solidFill>
          <a:ln/>
        </p:spPr>
      </p:sp>
      <p:pic>
        <p:nvPicPr>
          <p:cNvPr id="24" name="Image 5" descr="preencoded.png"/>
          <p:cNvPicPr>
            <a:picLocks noChangeAspect="1"/>
          </p:cNvPicPr>
          <p:nvPr/>
        </p:nvPicPr>
        <p:blipFill>
          <a:blip r:embed="rId8"/>
          <a:stretch>
            <a:fillRect/>
          </a:stretch>
        </p:blipFill>
        <p:spPr>
          <a:xfrm>
            <a:off x="6419088" y="3127248"/>
            <a:ext cx="329184" cy="329184"/>
          </a:xfrm>
          <a:prstGeom prst="rect">
            <a:avLst/>
          </a:prstGeom>
        </p:spPr>
      </p:pic>
      <p:sp>
        <p:nvSpPr>
          <p:cNvPr id="25" name="Shape 17"/>
          <p:cNvSpPr/>
          <p:nvPr/>
        </p:nvSpPr>
        <p:spPr>
          <a:xfrm>
            <a:off x="7178040" y="3246120"/>
            <a:ext cx="457200" cy="457200"/>
          </a:xfrm>
          <a:prstGeom prst="ellipse">
            <a:avLst/>
          </a:prstGeom>
          <a:solidFill>
            <a:srgbClr val="129C76"/>
          </a:solidFill>
          <a:ln/>
        </p:spPr>
      </p:sp>
      <p:pic>
        <p:nvPicPr>
          <p:cNvPr id="26" name="Image 6" descr="preencoded.png"/>
          <p:cNvPicPr>
            <a:picLocks noChangeAspect="1"/>
          </p:cNvPicPr>
          <p:nvPr/>
        </p:nvPicPr>
        <p:blipFill>
          <a:blip r:embed="rId8"/>
          <a:stretch>
            <a:fillRect/>
          </a:stretch>
        </p:blipFill>
        <p:spPr>
          <a:xfrm>
            <a:off x="7242048" y="3310128"/>
            <a:ext cx="329184" cy="329184"/>
          </a:xfrm>
          <a:prstGeom prst="rect">
            <a:avLst/>
          </a:prstGeom>
        </p:spPr>
      </p:pic>
      <p:sp>
        <p:nvSpPr>
          <p:cNvPr id="27" name="Shape 18"/>
          <p:cNvSpPr/>
          <p:nvPr/>
        </p:nvSpPr>
        <p:spPr>
          <a:xfrm>
            <a:off x="7909560" y="3063240"/>
            <a:ext cx="457200" cy="457200"/>
          </a:xfrm>
          <a:prstGeom prst="ellipse">
            <a:avLst/>
          </a:prstGeom>
          <a:solidFill>
            <a:srgbClr val="129C76"/>
          </a:solidFill>
          <a:ln/>
        </p:spPr>
      </p:sp>
      <p:pic>
        <p:nvPicPr>
          <p:cNvPr id="28" name="Image 7" descr="preencoded.png"/>
          <p:cNvPicPr>
            <a:picLocks noChangeAspect="1"/>
          </p:cNvPicPr>
          <p:nvPr/>
        </p:nvPicPr>
        <p:blipFill>
          <a:blip r:embed="rId8"/>
          <a:stretch>
            <a:fillRect/>
          </a:stretch>
        </p:blipFill>
        <p:spPr>
          <a:xfrm>
            <a:off x="7973568" y="3127248"/>
            <a:ext cx="329184" cy="329184"/>
          </a:xfrm>
          <a:prstGeom prst="rect">
            <a:avLst/>
          </a:prstGeom>
        </p:spPr>
      </p:pic>
      <p:sp>
        <p:nvSpPr>
          <p:cNvPr id="29" name="Text 19"/>
          <p:cNvSpPr/>
          <p:nvPr/>
        </p:nvSpPr>
        <p:spPr>
          <a:xfrm>
            <a:off x="5989320" y="3977640"/>
            <a:ext cx="2697480" cy="274320"/>
          </a:xfrm>
          <a:prstGeom prst="rect">
            <a:avLst/>
          </a:prstGeom>
          <a:noFill/>
          <a:ln/>
        </p:spPr>
        <p:txBody>
          <a:bodyPr wrap="square" lIns="0" tIns="0" rIns="0" bIns="0" rtlCol="0" anchor="ctr"/>
          <a:lstStyle/>
          <a:p>
            <a:pPr marL="0" indent="0" algn="ctr">
              <a:buNone/>
            </a:pPr>
            <a:r>
              <a:rPr lang="en-US" sz="1050" b="1" dirty="0">
                <a:solidFill>
                  <a:srgbClr val="1E2A38"/>
                </a:solidFill>
                <a:latin typeface="Calibri" pitchFamily="34" charset="0"/>
                <a:ea typeface="Calibri" pitchFamily="34" charset="-122"/>
                <a:cs typeface="Calibri" pitchFamily="34" charset="-120"/>
              </a:rPr>
              <a:t>Presenter &amp; Audience</a:t>
            </a:r>
            <a:endParaRPr lang="en-US" sz="1050" dirty="0"/>
          </a:p>
        </p:txBody>
      </p:sp>
      <p:sp>
        <p:nvSpPr>
          <p:cNvPr id="30" name="Text 20"/>
          <p:cNvSpPr/>
          <p:nvPr/>
        </p:nvSpPr>
        <p:spPr>
          <a:xfrm>
            <a:off x="6080760" y="4224528"/>
            <a:ext cx="2514600" cy="320040"/>
          </a:xfrm>
          <a:prstGeom prst="rect">
            <a:avLst/>
          </a:prstGeom>
          <a:noFill/>
          <a:ln/>
        </p:spPr>
        <p:txBody>
          <a:bodyPr wrap="square" lIns="0" tIns="0" rIns="0" bIns="0" rtlCol="0" anchor="ctr"/>
          <a:lstStyle/>
          <a:p>
            <a:pPr marL="0" indent="0" algn="ctr">
              <a:buNone/>
            </a:pPr>
            <a:r>
              <a:rPr lang="en-US" sz="950" i="1" dirty="0">
                <a:solidFill>
                  <a:srgbClr val="5B6B7C"/>
                </a:solidFill>
                <a:latin typeface="Calibri" pitchFamily="34" charset="0"/>
                <a:ea typeface="Calibri" pitchFamily="34" charset="-122"/>
                <a:cs typeface="Calibri" pitchFamily="34" charset="-120"/>
              </a:rPr>
              <a:t>Every presentation is a two-way exchange</a:t>
            </a:r>
            <a:endParaRPr lang="en-US" sz="950" dirty="0"/>
          </a:p>
        </p:txBody>
      </p:sp>
      <p:sp>
        <p:nvSpPr>
          <p:cNvPr id="31" name="Text 21"/>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32" name="Text 22"/>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29C76"/>
                </a:solidFill>
                <a:latin typeface="Calibri" pitchFamily="34" charset="0"/>
                <a:ea typeface="Calibri" pitchFamily="34" charset="-122"/>
                <a:cs typeface="Calibri" pitchFamily="34" charset="-120"/>
              </a:rPr>
              <a:t>AUDIENCE FOCUS</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Understanding Your Audience</a:t>
            </a:r>
            <a:endParaRPr lang="en-US" sz="2700" dirty="0"/>
          </a:p>
        </p:txBody>
      </p:sp>
      <p:sp>
        <p:nvSpPr>
          <p:cNvPr id="6" name="Shape 4"/>
          <p:cNvSpPr/>
          <p:nvPr/>
        </p:nvSpPr>
        <p:spPr>
          <a:xfrm>
            <a:off x="8001000" y="384048"/>
            <a:ext cx="603504" cy="603504"/>
          </a:xfrm>
          <a:prstGeom prst="ellipse">
            <a:avLst/>
          </a:prstGeom>
          <a:solidFill>
            <a:srgbClr val="129C76"/>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508760"/>
            <a:ext cx="2624328" cy="2880360"/>
          </a:xfrm>
          <a:prstGeom prst="roundRect">
            <a:avLst>
              <a:gd name="adj" fmla="val 3136"/>
            </a:avLst>
          </a:prstGeom>
          <a:solidFill>
            <a:srgbClr val="FFFFFF"/>
          </a:solidFill>
          <a:ln/>
          <a:effectLst>
            <a:outerShdw blurRad="114300" dist="38100" dir="5400000" algn="bl" rotWithShape="0">
              <a:srgbClr val="1B2733">
                <a:alpha val="10000"/>
              </a:srgbClr>
            </a:outerShdw>
          </a:effectLst>
        </p:spPr>
      </p:sp>
      <p:sp>
        <p:nvSpPr>
          <p:cNvPr id="9" name="Shape 6"/>
          <p:cNvSpPr/>
          <p:nvPr/>
        </p:nvSpPr>
        <p:spPr>
          <a:xfrm>
            <a:off x="804672" y="1783080"/>
            <a:ext cx="603504" cy="603504"/>
          </a:xfrm>
          <a:prstGeom prst="ellipse">
            <a:avLst/>
          </a:prstGeom>
          <a:solidFill>
            <a:srgbClr val="1565A8"/>
          </a:solidFill>
          <a:ln/>
        </p:spPr>
      </p:sp>
      <p:pic>
        <p:nvPicPr>
          <p:cNvPr id="10" name="Image 1" descr="preencoded.png"/>
          <p:cNvPicPr>
            <a:picLocks noChangeAspect="1"/>
          </p:cNvPicPr>
          <p:nvPr/>
        </p:nvPicPr>
        <p:blipFill>
          <a:blip r:embed="rId4"/>
          <a:stretch>
            <a:fillRect/>
          </a:stretch>
        </p:blipFill>
        <p:spPr>
          <a:xfrm>
            <a:off x="889163" y="1867571"/>
            <a:ext cx="434523" cy="434523"/>
          </a:xfrm>
          <a:prstGeom prst="rect">
            <a:avLst/>
          </a:prstGeom>
        </p:spPr>
      </p:pic>
      <p:sp>
        <p:nvSpPr>
          <p:cNvPr id="11" name="Text 7"/>
          <p:cNvSpPr/>
          <p:nvPr/>
        </p:nvSpPr>
        <p:spPr>
          <a:xfrm>
            <a:off x="804672" y="2542032"/>
            <a:ext cx="2112264" cy="45720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Audience Analysis</a:t>
            </a:r>
            <a:endParaRPr lang="en-US" sz="1500" dirty="0"/>
          </a:p>
        </p:txBody>
      </p:sp>
      <p:sp>
        <p:nvSpPr>
          <p:cNvPr id="12" name="Text 8"/>
          <p:cNvSpPr/>
          <p:nvPr/>
        </p:nvSpPr>
        <p:spPr>
          <a:xfrm>
            <a:off x="804672" y="2999232"/>
            <a:ext cx="2112264" cy="1280160"/>
          </a:xfrm>
          <a:prstGeom prst="rect">
            <a:avLst/>
          </a:prstGeom>
          <a:noFill/>
          <a:ln/>
        </p:spPr>
        <p:txBody>
          <a:bodyPr wrap="square" lIns="0" tIns="0" rIns="0" bIns="0" rtlCol="0" anchor="ctr"/>
          <a:lstStyle/>
          <a:p>
            <a:pPr marL="0" indent="0">
              <a:lnSpc>
                <a:spcPct val="115000"/>
              </a:lnSpc>
              <a:buNone/>
            </a:pPr>
            <a:r>
              <a:rPr lang="en-US" sz="1200" dirty="0">
                <a:solidFill>
                  <a:srgbClr val="5B6B7C"/>
                </a:solidFill>
                <a:latin typeface="Calibri" pitchFamily="34" charset="0"/>
                <a:ea typeface="Calibri" pitchFamily="34" charset="-122"/>
                <a:cs typeface="Calibri" pitchFamily="34" charset="-120"/>
              </a:rPr>
              <a:t>Identify who they are, what they already know, and what they expect from you.</a:t>
            </a:r>
            <a:endParaRPr lang="en-US" sz="1200" dirty="0"/>
          </a:p>
        </p:txBody>
      </p:sp>
      <p:sp>
        <p:nvSpPr>
          <p:cNvPr id="13" name="Shape 9"/>
          <p:cNvSpPr/>
          <p:nvPr/>
        </p:nvSpPr>
        <p:spPr>
          <a:xfrm>
            <a:off x="3319272" y="1508760"/>
            <a:ext cx="2624328" cy="2880360"/>
          </a:xfrm>
          <a:prstGeom prst="roundRect">
            <a:avLst>
              <a:gd name="adj" fmla="val 3136"/>
            </a:avLst>
          </a:prstGeom>
          <a:solidFill>
            <a:srgbClr val="FFFFFF"/>
          </a:solidFill>
          <a:ln/>
          <a:effectLst>
            <a:outerShdw blurRad="114300" dist="38100" dir="5400000" algn="bl" rotWithShape="0">
              <a:srgbClr val="1B2733">
                <a:alpha val="10000"/>
              </a:srgbClr>
            </a:outerShdw>
          </a:effectLst>
        </p:spPr>
      </p:sp>
      <p:sp>
        <p:nvSpPr>
          <p:cNvPr id="14" name="Shape 10"/>
          <p:cNvSpPr/>
          <p:nvPr/>
        </p:nvSpPr>
        <p:spPr>
          <a:xfrm>
            <a:off x="3575304" y="1783080"/>
            <a:ext cx="603504" cy="603504"/>
          </a:xfrm>
          <a:prstGeom prst="ellipse">
            <a:avLst/>
          </a:prstGeom>
          <a:solidFill>
            <a:srgbClr val="129C76"/>
          </a:solidFill>
          <a:ln/>
        </p:spPr>
      </p:sp>
      <p:pic>
        <p:nvPicPr>
          <p:cNvPr id="15" name="Image 2" descr="preencoded.png"/>
          <p:cNvPicPr>
            <a:picLocks noChangeAspect="1"/>
          </p:cNvPicPr>
          <p:nvPr/>
        </p:nvPicPr>
        <p:blipFill>
          <a:blip r:embed="rId5"/>
          <a:stretch>
            <a:fillRect/>
          </a:stretch>
        </p:blipFill>
        <p:spPr>
          <a:xfrm>
            <a:off x="3659795" y="1867571"/>
            <a:ext cx="434523" cy="434523"/>
          </a:xfrm>
          <a:prstGeom prst="rect">
            <a:avLst/>
          </a:prstGeom>
        </p:spPr>
      </p:pic>
      <p:sp>
        <p:nvSpPr>
          <p:cNvPr id="16" name="Text 11"/>
          <p:cNvSpPr/>
          <p:nvPr/>
        </p:nvSpPr>
        <p:spPr>
          <a:xfrm>
            <a:off x="3575304" y="2542032"/>
            <a:ext cx="2112264" cy="45720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Tailor Your Content</a:t>
            </a:r>
            <a:endParaRPr lang="en-US" sz="1500" dirty="0"/>
          </a:p>
        </p:txBody>
      </p:sp>
      <p:sp>
        <p:nvSpPr>
          <p:cNvPr id="17" name="Text 12"/>
          <p:cNvSpPr/>
          <p:nvPr/>
        </p:nvSpPr>
        <p:spPr>
          <a:xfrm>
            <a:off x="3575304" y="2999232"/>
            <a:ext cx="2112264" cy="1280160"/>
          </a:xfrm>
          <a:prstGeom prst="rect">
            <a:avLst/>
          </a:prstGeom>
          <a:noFill/>
          <a:ln/>
        </p:spPr>
        <p:txBody>
          <a:bodyPr wrap="square" lIns="0" tIns="0" rIns="0" bIns="0" rtlCol="0" anchor="ctr"/>
          <a:lstStyle/>
          <a:p>
            <a:pPr marL="0" indent="0">
              <a:lnSpc>
                <a:spcPct val="115000"/>
              </a:lnSpc>
              <a:buNone/>
            </a:pPr>
            <a:r>
              <a:rPr lang="en-US" sz="1200" dirty="0">
                <a:solidFill>
                  <a:srgbClr val="5B6B7C"/>
                </a:solidFill>
                <a:latin typeface="Calibri" pitchFamily="34" charset="0"/>
                <a:ea typeface="Calibri" pitchFamily="34" charset="-122"/>
                <a:cs typeface="Calibri" pitchFamily="34" charset="-120"/>
              </a:rPr>
              <a:t>Match tone, depth, and examples to their interests and level of expertise.</a:t>
            </a:r>
            <a:endParaRPr lang="en-US" sz="1200" dirty="0"/>
          </a:p>
        </p:txBody>
      </p:sp>
      <p:sp>
        <p:nvSpPr>
          <p:cNvPr id="18" name="Shape 13"/>
          <p:cNvSpPr/>
          <p:nvPr/>
        </p:nvSpPr>
        <p:spPr>
          <a:xfrm>
            <a:off x="6089904" y="1508760"/>
            <a:ext cx="2624328" cy="2880360"/>
          </a:xfrm>
          <a:prstGeom prst="roundRect">
            <a:avLst>
              <a:gd name="adj" fmla="val 3136"/>
            </a:avLst>
          </a:prstGeom>
          <a:solidFill>
            <a:srgbClr val="FFFFFF"/>
          </a:solidFill>
          <a:ln/>
          <a:effectLst>
            <a:outerShdw blurRad="114300" dist="38100" dir="5400000" algn="bl" rotWithShape="0">
              <a:srgbClr val="1B2733">
                <a:alpha val="10000"/>
              </a:srgbClr>
            </a:outerShdw>
          </a:effectLst>
        </p:spPr>
      </p:sp>
      <p:sp>
        <p:nvSpPr>
          <p:cNvPr id="19" name="Shape 14"/>
          <p:cNvSpPr/>
          <p:nvPr/>
        </p:nvSpPr>
        <p:spPr>
          <a:xfrm>
            <a:off x="6345936" y="1783080"/>
            <a:ext cx="603504" cy="603504"/>
          </a:xfrm>
          <a:prstGeom prst="ellipse">
            <a:avLst/>
          </a:prstGeom>
          <a:solidFill>
            <a:srgbClr val="1565A8"/>
          </a:solidFill>
          <a:ln/>
        </p:spPr>
      </p:sp>
      <p:pic>
        <p:nvPicPr>
          <p:cNvPr id="20" name="Image 3" descr="preencoded.png"/>
          <p:cNvPicPr>
            <a:picLocks noChangeAspect="1"/>
          </p:cNvPicPr>
          <p:nvPr/>
        </p:nvPicPr>
        <p:blipFill>
          <a:blip r:embed="rId6"/>
          <a:stretch>
            <a:fillRect/>
          </a:stretch>
        </p:blipFill>
        <p:spPr>
          <a:xfrm>
            <a:off x="6430427" y="1867571"/>
            <a:ext cx="434523" cy="434523"/>
          </a:xfrm>
          <a:prstGeom prst="rect">
            <a:avLst/>
          </a:prstGeom>
        </p:spPr>
      </p:pic>
      <p:sp>
        <p:nvSpPr>
          <p:cNvPr id="21" name="Text 15"/>
          <p:cNvSpPr/>
          <p:nvPr/>
        </p:nvSpPr>
        <p:spPr>
          <a:xfrm>
            <a:off x="6345936" y="2542032"/>
            <a:ext cx="2112264" cy="45720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Maintain Engagement</a:t>
            </a:r>
            <a:endParaRPr lang="en-US" sz="1500" dirty="0"/>
          </a:p>
        </p:txBody>
      </p:sp>
      <p:sp>
        <p:nvSpPr>
          <p:cNvPr id="22" name="Text 16"/>
          <p:cNvSpPr/>
          <p:nvPr/>
        </p:nvSpPr>
        <p:spPr>
          <a:xfrm>
            <a:off x="6345936" y="2999232"/>
            <a:ext cx="2112264" cy="1280160"/>
          </a:xfrm>
          <a:prstGeom prst="rect">
            <a:avLst/>
          </a:prstGeom>
          <a:noFill/>
          <a:ln/>
        </p:spPr>
        <p:txBody>
          <a:bodyPr wrap="square" lIns="0" tIns="0" rIns="0" bIns="0" rtlCol="0" anchor="ctr"/>
          <a:lstStyle/>
          <a:p>
            <a:pPr marL="0" indent="0">
              <a:lnSpc>
                <a:spcPct val="115000"/>
              </a:lnSpc>
              <a:buNone/>
            </a:pPr>
            <a:r>
              <a:rPr lang="en-US" sz="1200" dirty="0">
                <a:solidFill>
                  <a:srgbClr val="5B6B7C"/>
                </a:solidFill>
                <a:latin typeface="Calibri" pitchFamily="34" charset="0"/>
                <a:ea typeface="Calibri" pitchFamily="34" charset="-122"/>
                <a:cs typeface="Calibri" pitchFamily="34" charset="-120"/>
              </a:rPr>
              <a:t>Use questions, eye contact, and interaction to keep attention throughout.</a:t>
            </a:r>
            <a:endParaRPr lang="en-US" sz="1200" dirty="0"/>
          </a:p>
        </p:txBody>
      </p:sp>
      <p:sp>
        <p:nvSpPr>
          <p:cNvPr id="23" name="Text 17"/>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4" name="Text 18"/>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565A8"/>
                </a:solidFill>
                <a:latin typeface="Calibri" pitchFamily="34" charset="0"/>
                <a:ea typeface="Calibri" pitchFamily="34" charset="-122"/>
                <a:cs typeface="Calibri" pitchFamily="34" charset="-120"/>
              </a:rPr>
              <a:t>NARRATIVE TECHNIQUE</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Storytelling in Presentations</a:t>
            </a:r>
            <a:endParaRPr lang="en-US" sz="2700" dirty="0"/>
          </a:p>
        </p:txBody>
      </p:sp>
      <p:sp>
        <p:nvSpPr>
          <p:cNvPr id="6" name="Shape 4"/>
          <p:cNvSpPr/>
          <p:nvPr/>
        </p:nvSpPr>
        <p:spPr>
          <a:xfrm>
            <a:off x="8001000" y="384048"/>
            <a:ext cx="603504" cy="603504"/>
          </a:xfrm>
          <a:prstGeom prst="ellipse">
            <a:avLst/>
          </a:prstGeom>
          <a:solidFill>
            <a:srgbClr val="1565A8"/>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Text 5"/>
          <p:cNvSpPr/>
          <p:nvPr/>
        </p:nvSpPr>
        <p:spPr>
          <a:xfrm>
            <a:off x="502920" y="1371600"/>
            <a:ext cx="8138160" cy="411480"/>
          </a:xfrm>
          <a:prstGeom prst="rect">
            <a:avLst/>
          </a:prstGeom>
          <a:noFill/>
          <a:ln/>
        </p:spPr>
        <p:txBody>
          <a:bodyPr wrap="square" lIns="0" tIns="0" rIns="0" bIns="0" rtlCol="0" anchor="ctr"/>
          <a:lstStyle/>
          <a:p>
            <a:pPr marL="0" indent="0">
              <a:buNone/>
            </a:pPr>
            <a:r>
              <a:rPr lang="en-US" sz="1350" i="1" dirty="0">
                <a:solidFill>
                  <a:srgbClr val="5B6B7C"/>
                </a:solidFill>
                <a:latin typeface="Calibri" pitchFamily="34" charset="0"/>
                <a:ea typeface="Calibri" pitchFamily="34" charset="-122"/>
                <a:cs typeface="Calibri" pitchFamily="34" charset="-120"/>
              </a:rPr>
              <a:t>Stories make information memorable, relatable, and persuasive -- far more than data alone.</a:t>
            </a:r>
            <a:endParaRPr lang="en-US" sz="1350" dirty="0"/>
          </a:p>
        </p:txBody>
      </p:sp>
      <p:pic>
        <p:nvPicPr>
          <p:cNvPr id="9" name="Image 1" descr="preencoded.png"/>
          <p:cNvPicPr>
            <a:picLocks noChangeAspect="1"/>
          </p:cNvPicPr>
          <p:nvPr/>
        </p:nvPicPr>
        <p:blipFill>
          <a:blip r:embed="rId4"/>
          <a:stretch>
            <a:fillRect/>
          </a:stretch>
        </p:blipFill>
        <p:spPr>
          <a:xfrm>
            <a:off x="3172968" y="2313432"/>
            <a:ext cx="457200" cy="457200"/>
          </a:xfrm>
          <a:prstGeom prst="rect">
            <a:avLst/>
          </a:prstGeom>
        </p:spPr>
      </p:pic>
      <p:sp>
        <p:nvSpPr>
          <p:cNvPr id="10" name="Shape 6"/>
          <p:cNvSpPr/>
          <p:nvPr/>
        </p:nvSpPr>
        <p:spPr>
          <a:xfrm>
            <a:off x="1554480" y="2148840"/>
            <a:ext cx="731520" cy="731520"/>
          </a:xfrm>
          <a:prstGeom prst="ellipse">
            <a:avLst/>
          </a:prstGeom>
          <a:solidFill>
            <a:srgbClr val="1565A8"/>
          </a:solidFill>
          <a:ln/>
        </p:spPr>
      </p:sp>
      <p:pic>
        <p:nvPicPr>
          <p:cNvPr id="11" name="Image 2" descr="preencoded.png"/>
          <p:cNvPicPr>
            <a:picLocks noChangeAspect="1"/>
          </p:cNvPicPr>
          <p:nvPr/>
        </p:nvPicPr>
        <p:blipFill>
          <a:blip r:embed="rId5"/>
          <a:stretch>
            <a:fillRect/>
          </a:stretch>
        </p:blipFill>
        <p:spPr>
          <a:xfrm>
            <a:off x="1656893" y="2251253"/>
            <a:ext cx="526694" cy="526694"/>
          </a:xfrm>
          <a:prstGeom prst="rect">
            <a:avLst/>
          </a:prstGeom>
        </p:spPr>
      </p:pic>
      <p:sp>
        <p:nvSpPr>
          <p:cNvPr id="12" name="Text 7"/>
          <p:cNvSpPr/>
          <p:nvPr/>
        </p:nvSpPr>
        <p:spPr>
          <a:xfrm>
            <a:off x="777240" y="3017520"/>
            <a:ext cx="2286000" cy="292608"/>
          </a:xfrm>
          <a:prstGeom prst="rect">
            <a:avLst/>
          </a:prstGeom>
          <a:noFill/>
          <a:ln/>
        </p:spPr>
        <p:txBody>
          <a:bodyPr wrap="square" lIns="0" tIns="0" rIns="0" bIns="0" rtlCol="0" anchor="ctr"/>
          <a:lstStyle/>
          <a:p>
            <a:pPr marL="0" indent="0" algn="ctr">
              <a:buNone/>
            </a:pPr>
            <a:r>
              <a:rPr lang="en-US" sz="1450" b="1" dirty="0">
                <a:solidFill>
                  <a:srgbClr val="1E2A38"/>
                </a:solidFill>
                <a:latin typeface="Calibri" pitchFamily="34" charset="0"/>
                <a:ea typeface="Calibri" pitchFamily="34" charset="-122"/>
                <a:cs typeface="Calibri" pitchFamily="34" charset="-120"/>
              </a:rPr>
              <a:t>Beginning</a:t>
            </a:r>
            <a:endParaRPr lang="en-US" sz="1450" dirty="0"/>
          </a:p>
        </p:txBody>
      </p:sp>
      <p:sp>
        <p:nvSpPr>
          <p:cNvPr id="13" name="Text 8"/>
          <p:cNvSpPr/>
          <p:nvPr/>
        </p:nvSpPr>
        <p:spPr>
          <a:xfrm>
            <a:off x="777240" y="3319272"/>
            <a:ext cx="2286000" cy="640080"/>
          </a:xfrm>
          <a:prstGeom prst="rect">
            <a:avLst/>
          </a:prstGeom>
          <a:noFill/>
          <a:ln/>
        </p:spPr>
        <p:txBody>
          <a:bodyPr wrap="square" lIns="0" tIns="0" rIns="0" bIns="0" rtlCol="0" anchor="ctr"/>
          <a:lstStyle/>
          <a:p>
            <a:pPr marL="0" indent="0" algn="ctr">
              <a:lnSpc>
                <a:spcPct val="110000"/>
              </a:lnSpc>
              <a:buNone/>
            </a:pPr>
            <a:r>
              <a:rPr lang="en-US" sz="1150" dirty="0">
                <a:solidFill>
                  <a:srgbClr val="5B6B7C"/>
                </a:solidFill>
                <a:latin typeface="Calibri" pitchFamily="34" charset="0"/>
                <a:ea typeface="Calibri" pitchFamily="34" charset="-122"/>
                <a:cs typeface="Calibri" pitchFamily="34" charset="-120"/>
              </a:rPr>
              <a:t>Hook the audience and set the scene or context.</a:t>
            </a:r>
            <a:endParaRPr lang="en-US" sz="1150" dirty="0"/>
          </a:p>
        </p:txBody>
      </p:sp>
      <p:pic>
        <p:nvPicPr>
          <p:cNvPr id="14" name="Image 3" descr="preencoded.png"/>
          <p:cNvPicPr>
            <a:picLocks noChangeAspect="1"/>
          </p:cNvPicPr>
          <p:nvPr/>
        </p:nvPicPr>
        <p:blipFill>
          <a:blip r:embed="rId4"/>
          <a:stretch>
            <a:fillRect/>
          </a:stretch>
        </p:blipFill>
        <p:spPr>
          <a:xfrm>
            <a:off x="5870448" y="2313432"/>
            <a:ext cx="457200" cy="457200"/>
          </a:xfrm>
          <a:prstGeom prst="rect">
            <a:avLst/>
          </a:prstGeom>
        </p:spPr>
      </p:pic>
      <p:sp>
        <p:nvSpPr>
          <p:cNvPr id="15" name="Shape 9"/>
          <p:cNvSpPr/>
          <p:nvPr/>
        </p:nvSpPr>
        <p:spPr>
          <a:xfrm>
            <a:off x="4251960" y="2148840"/>
            <a:ext cx="731520" cy="731520"/>
          </a:xfrm>
          <a:prstGeom prst="ellipse">
            <a:avLst/>
          </a:prstGeom>
          <a:solidFill>
            <a:srgbClr val="129C76"/>
          </a:solidFill>
          <a:ln/>
        </p:spPr>
      </p:sp>
      <p:pic>
        <p:nvPicPr>
          <p:cNvPr id="16" name="Image 4" descr="preencoded.png"/>
          <p:cNvPicPr>
            <a:picLocks noChangeAspect="1"/>
          </p:cNvPicPr>
          <p:nvPr/>
        </p:nvPicPr>
        <p:blipFill>
          <a:blip r:embed="rId3"/>
          <a:stretch>
            <a:fillRect/>
          </a:stretch>
        </p:blipFill>
        <p:spPr>
          <a:xfrm>
            <a:off x="4354373" y="2251253"/>
            <a:ext cx="526694" cy="526694"/>
          </a:xfrm>
          <a:prstGeom prst="rect">
            <a:avLst/>
          </a:prstGeom>
        </p:spPr>
      </p:pic>
      <p:sp>
        <p:nvSpPr>
          <p:cNvPr id="17" name="Text 10"/>
          <p:cNvSpPr/>
          <p:nvPr/>
        </p:nvSpPr>
        <p:spPr>
          <a:xfrm>
            <a:off x="3474720" y="3017520"/>
            <a:ext cx="2286000" cy="292608"/>
          </a:xfrm>
          <a:prstGeom prst="rect">
            <a:avLst/>
          </a:prstGeom>
          <a:noFill/>
          <a:ln/>
        </p:spPr>
        <p:txBody>
          <a:bodyPr wrap="square" lIns="0" tIns="0" rIns="0" bIns="0" rtlCol="0" anchor="ctr"/>
          <a:lstStyle/>
          <a:p>
            <a:pPr marL="0" indent="0" algn="ctr">
              <a:buNone/>
            </a:pPr>
            <a:r>
              <a:rPr lang="en-US" sz="1450" b="1" dirty="0">
                <a:solidFill>
                  <a:srgbClr val="1E2A38"/>
                </a:solidFill>
                <a:latin typeface="Calibri" pitchFamily="34" charset="0"/>
                <a:ea typeface="Calibri" pitchFamily="34" charset="-122"/>
                <a:cs typeface="Calibri" pitchFamily="34" charset="-120"/>
              </a:rPr>
              <a:t>Middle</a:t>
            </a:r>
            <a:endParaRPr lang="en-US" sz="1450" dirty="0"/>
          </a:p>
        </p:txBody>
      </p:sp>
      <p:sp>
        <p:nvSpPr>
          <p:cNvPr id="18" name="Text 11"/>
          <p:cNvSpPr/>
          <p:nvPr/>
        </p:nvSpPr>
        <p:spPr>
          <a:xfrm>
            <a:off x="3474720" y="3319272"/>
            <a:ext cx="2286000" cy="640080"/>
          </a:xfrm>
          <a:prstGeom prst="rect">
            <a:avLst/>
          </a:prstGeom>
          <a:noFill/>
          <a:ln/>
        </p:spPr>
        <p:txBody>
          <a:bodyPr wrap="square" lIns="0" tIns="0" rIns="0" bIns="0" rtlCol="0" anchor="ctr"/>
          <a:lstStyle/>
          <a:p>
            <a:pPr marL="0" indent="0" algn="ctr">
              <a:lnSpc>
                <a:spcPct val="110000"/>
              </a:lnSpc>
              <a:buNone/>
            </a:pPr>
            <a:r>
              <a:rPr lang="en-US" sz="1150" dirty="0">
                <a:solidFill>
                  <a:srgbClr val="5B6B7C"/>
                </a:solidFill>
                <a:latin typeface="Calibri" pitchFamily="34" charset="0"/>
                <a:ea typeface="Calibri" pitchFamily="34" charset="-122"/>
                <a:cs typeface="Calibri" pitchFamily="34" charset="-120"/>
              </a:rPr>
              <a:t>Introduce the challenge, data, or case study insight.</a:t>
            </a:r>
            <a:endParaRPr lang="en-US" sz="1150" dirty="0"/>
          </a:p>
        </p:txBody>
      </p:sp>
      <p:sp>
        <p:nvSpPr>
          <p:cNvPr id="19" name="Shape 12"/>
          <p:cNvSpPr/>
          <p:nvPr/>
        </p:nvSpPr>
        <p:spPr>
          <a:xfrm>
            <a:off x="6949440" y="2148840"/>
            <a:ext cx="731520" cy="731520"/>
          </a:xfrm>
          <a:prstGeom prst="ellipse">
            <a:avLst/>
          </a:prstGeom>
          <a:solidFill>
            <a:srgbClr val="1565A8"/>
          </a:solidFill>
          <a:ln/>
        </p:spPr>
      </p:sp>
      <p:pic>
        <p:nvPicPr>
          <p:cNvPr id="20" name="Image 5" descr="preencoded.png"/>
          <p:cNvPicPr>
            <a:picLocks noChangeAspect="1"/>
          </p:cNvPicPr>
          <p:nvPr/>
        </p:nvPicPr>
        <p:blipFill>
          <a:blip r:embed="rId6"/>
          <a:stretch>
            <a:fillRect/>
          </a:stretch>
        </p:blipFill>
        <p:spPr>
          <a:xfrm>
            <a:off x="7051853" y="2251253"/>
            <a:ext cx="526694" cy="526694"/>
          </a:xfrm>
          <a:prstGeom prst="rect">
            <a:avLst/>
          </a:prstGeom>
        </p:spPr>
      </p:pic>
      <p:sp>
        <p:nvSpPr>
          <p:cNvPr id="21" name="Text 13"/>
          <p:cNvSpPr/>
          <p:nvPr/>
        </p:nvSpPr>
        <p:spPr>
          <a:xfrm>
            <a:off x="6172200" y="3017520"/>
            <a:ext cx="2286000" cy="292608"/>
          </a:xfrm>
          <a:prstGeom prst="rect">
            <a:avLst/>
          </a:prstGeom>
          <a:noFill/>
          <a:ln/>
        </p:spPr>
        <p:txBody>
          <a:bodyPr wrap="square" lIns="0" tIns="0" rIns="0" bIns="0" rtlCol="0" anchor="ctr"/>
          <a:lstStyle/>
          <a:p>
            <a:pPr marL="0" indent="0" algn="ctr">
              <a:buNone/>
            </a:pPr>
            <a:r>
              <a:rPr lang="en-US" sz="1450" b="1" dirty="0">
                <a:solidFill>
                  <a:srgbClr val="1E2A38"/>
                </a:solidFill>
                <a:latin typeface="Calibri" pitchFamily="34" charset="0"/>
                <a:ea typeface="Calibri" pitchFamily="34" charset="-122"/>
                <a:cs typeface="Calibri" pitchFamily="34" charset="-120"/>
              </a:rPr>
              <a:t>End</a:t>
            </a:r>
            <a:endParaRPr lang="en-US" sz="1450" dirty="0"/>
          </a:p>
        </p:txBody>
      </p:sp>
      <p:sp>
        <p:nvSpPr>
          <p:cNvPr id="22" name="Text 14"/>
          <p:cNvSpPr/>
          <p:nvPr/>
        </p:nvSpPr>
        <p:spPr>
          <a:xfrm>
            <a:off x="6172200" y="3319272"/>
            <a:ext cx="2286000" cy="640080"/>
          </a:xfrm>
          <a:prstGeom prst="rect">
            <a:avLst/>
          </a:prstGeom>
          <a:noFill/>
          <a:ln/>
        </p:spPr>
        <p:txBody>
          <a:bodyPr wrap="square" lIns="0" tIns="0" rIns="0" bIns="0" rtlCol="0" anchor="ctr"/>
          <a:lstStyle/>
          <a:p>
            <a:pPr marL="0" indent="0" algn="ctr">
              <a:lnSpc>
                <a:spcPct val="110000"/>
              </a:lnSpc>
              <a:buNone/>
            </a:pPr>
            <a:r>
              <a:rPr lang="en-US" sz="1150" dirty="0">
                <a:solidFill>
                  <a:srgbClr val="5B6B7C"/>
                </a:solidFill>
                <a:latin typeface="Calibri" pitchFamily="34" charset="0"/>
                <a:ea typeface="Calibri" pitchFamily="34" charset="-122"/>
                <a:cs typeface="Calibri" pitchFamily="34" charset="-120"/>
              </a:rPr>
              <a:t>Deliver the resolution, key message, and call to action.</a:t>
            </a:r>
            <a:endParaRPr lang="en-US" sz="1150" dirty="0"/>
          </a:p>
        </p:txBody>
      </p:sp>
      <p:sp>
        <p:nvSpPr>
          <p:cNvPr id="23" name="Shape 15"/>
          <p:cNvSpPr/>
          <p:nvPr/>
        </p:nvSpPr>
        <p:spPr>
          <a:xfrm>
            <a:off x="502920" y="4023360"/>
            <a:ext cx="8138160" cy="713232"/>
          </a:xfrm>
          <a:prstGeom prst="roundRect">
            <a:avLst>
              <a:gd name="adj" fmla="val 11538"/>
            </a:avLst>
          </a:prstGeom>
          <a:solidFill>
            <a:srgbClr val="E7F7F1"/>
          </a:solidFill>
          <a:ln/>
          <a:effectLst>
            <a:outerShdw blurRad="114300" dist="38100" dir="5400000" algn="bl" rotWithShape="0">
              <a:srgbClr val="1B2733">
                <a:alpha val="10000"/>
              </a:srgbClr>
            </a:outerShdw>
          </a:effectLst>
        </p:spPr>
      </p:sp>
      <p:sp>
        <p:nvSpPr>
          <p:cNvPr id="24" name="Shape 16"/>
          <p:cNvSpPr/>
          <p:nvPr/>
        </p:nvSpPr>
        <p:spPr>
          <a:xfrm>
            <a:off x="713232" y="4187952"/>
            <a:ext cx="411480" cy="411480"/>
          </a:xfrm>
          <a:prstGeom prst="ellipse">
            <a:avLst/>
          </a:prstGeom>
          <a:solidFill>
            <a:srgbClr val="129C76"/>
          </a:solidFill>
          <a:ln/>
        </p:spPr>
      </p:sp>
      <p:pic>
        <p:nvPicPr>
          <p:cNvPr id="25" name="Image 6" descr="preencoded.png"/>
          <p:cNvPicPr>
            <a:picLocks noChangeAspect="1"/>
          </p:cNvPicPr>
          <p:nvPr/>
        </p:nvPicPr>
        <p:blipFill>
          <a:blip r:embed="rId7"/>
          <a:stretch>
            <a:fillRect/>
          </a:stretch>
        </p:blipFill>
        <p:spPr>
          <a:xfrm>
            <a:off x="770839" y="4245559"/>
            <a:ext cx="296266" cy="296266"/>
          </a:xfrm>
          <a:prstGeom prst="rect">
            <a:avLst/>
          </a:prstGeom>
        </p:spPr>
      </p:pic>
      <p:sp>
        <p:nvSpPr>
          <p:cNvPr id="26" name="Text 17"/>
          <p:cNvSpPr/>
          <p:nvPr/>
        </p:nvSpPr>
        <p:spPr>
          <a:xfrm>
            <a:off x="1280160" y="4023360"/>
            <a:ext cx="7223760" cy="713232"/>
          </a:xfrm>
          <a:prstGeom prst="rect">
            <a:avLst/>
          </a:prstGeom>
          <a:noFill/>
          <a:ln/>
        </p:spPr>
        <p:txBody>
          <a:bodyPr wrap="square" lIns="0" tIns="0" rIns="0" bIns="0" rtlCol="0" anchor="ctr"/>
          <a:lstStyle/>
          <a:p>
            <a:pPr marL="0" indent="0">
              <a:buNone/>
            </a:pPr>
            <a:r>
              <a:rPr lang="en-US" sz="1250" dirty="0">
                <a:solidFill>
                  <a:srgbClr val="1E2A38"/>
                </a:solidFill>
                <a:latin typeface="Calibri" pitchFamily="34" charset="0"/>
                <a:ea typeface="Calibri" pitchFamily="34" charset="-122"/>
                <a:cs typeface="Calibri" pitchFamily="34" charset="-120"/>
              </a:rPr>
              <a:t>Ground abstract ideas with real-world examples and case studies the audience can relate to.</a:t>
            </a:r>
            <a:endParaRPr lang="en-US" sz="1250" dirty="0"/>
          </a:p>
        </p:txBody>
      </p:sp>
      <p:sp>
        <p:nvSpPr>
          <p:cNvPr id="27" name="Text 18"/>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8" name="Text 19"/>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29C76"/>
                </a:solidFill>
                <a:latin typeface="Calibri" pitchFamily="34" charset="0"/>
                <a:ea typeface="Calibri" pitchFamily="34" charset="-122"/>
                <a:cs typeface="Calibri" pitchFamily="34" charset="-120"/>
              </a:rPr>
              <a:t>DELIVERY MINDSET</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Confidence &amp; Public Speaking</a:t>
            </a:r>
            <a:endParaRPr lang="en-US" sz="2700" dirty="0"/>
          </a:p>
        </p:txBody>
      </p:sp>
      <p:sp>
        <p:nvSpPr>
          <p:cNvPr id="6" name="Shape 4"/>
          <p:cNvSpPr/>
          <p:nvPr/>
        </p:nvSpPr>
        <p:spPr>
          <a:xfrm>
            <a:off x="8001000" y="384048"/>
            <a:ext cx="603504" cy="603504"/>
          </a:xfrm>
          <a:prstGeom prst="ellipse">
            <a:avLst/>
          </a:prstGeom>
          <a:solidFill>
            <a:srgbClr val="129C76"/>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508760"/>
            <a:ext cx="2624328" cy="2880360"/>
          </a:xfrm>
          <a:prstGeom prst="roundRect">
            <a:avLst>
              <a:gd name="adj" fmla="val 3136"/>
            </a:avLst>
          </a:prstGeom>
          <a:solidFill>
            <a:srgbClr val="FFFFFF"/>
          </a:solidFill>
          <a:ln/>
          <a:effectLst>
            <a:outerShdw blurRad="114300" dist="38100" dir="5400000" algn="bl" rotWithShape="0">
              <a:srgbClr val="1B2733">
                <a:alpha val="10000"/>
              </a:srgbClr>
            </a:outerShdw>
          </a:effectLst>
        </p:spPr>
      </p:sp>
      <p:sp>
        <p:nvSpPr>
          <p:cNvPr id="9" name="Shape 6"/>
          <p:cNvSpPr/>
          <p:nvPr/>
        </p:nvSpPr>
        <p:spPr>
          <a:xfrm>
            <a:off x="804672" y="1783080"/>
            <a:ext cx="603504" cy="603504"/>
          </a:xfrm>
          <a:prstGeom prst="ellipse">
            <a:avLst/>
          </a:prstGeom>
          <a:solidFill>
            <a:srgbClr val="1565A8"/>
          </a:solidFill>
          <a:ln/>
        </p:spPr>
      </p:sp>
      <p:pic>
        <p:nvPicPr>
          <p:cNvPr id="10" name="Image 1" descr="preencoded.png"/>
          <p:cNvPicPr>
            <a:picLocks noChangeAspect="1"/>
          </p:cNvPicPr>
          <p:nvPr/>
        </p:nvPicPr>
        <p:blipFill>
          <a:blip r:embed="rId4"/>
          <a:stretch>
            <a:fillRect/>
          </a:stretch>
        </p:blipFill>
        <p:spPr>
          <a:xfrm>
            <a:off x="889163" y="1867571"/>
            <a:ext cx="434523" cy="434523"/>
          </a:xfrm>
          <a:prstGeom prst="rect">
            <a:avLst/>
          </a:prstGeom>
        </p:spPr>
      </p:pic>
      <p:sp>
        <p:nvSpPr>
          <p:cNvPr id="11" name="Text 7"/>
          <p:cNvSpPr/>
          <p:nvPr/>
        </p:nvSpPr>
        <p:spPr>
          <a:xfrm>
            <a:off x="804672" y="2542032"/>
            <a:ext cx="2112264" cy="45720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Overcoming Stage Fear</a:t>
            </a:r>
            <a:endParaRPr lang="en-US" sz="1500" dirty="0"/>
          </a:p>
        </p:txBody>
      </p:sp>
      <p:sp>
        <p:nvSpPr>
          <p:cNvPr id="12" name="Text 8"/>
          <p:cNvSpPr/>
          <p:nvPr/>
        </p:nvSpPr>
        <p:spPr>
          <a:xfrm>
            <a:off x="804672" y="2999232"/>
            <a:ext cx="2112264" cy="1280160"/>
          </a:xfrm>
          <a:prstGeom prst="rect">
            <a:avLst/>
          </a:prstGeom>
          <a:noFill/>
          <a:ln/>
        </p:spPr>
        <p:txBody>
          <a:bodyPr wrap="square" lIns="0" tIns="0" rIns="0" bIns="0" rtlCol="0" anchor="ctr"/>
          <a:lstStyle/>
          <a:p>
            <a:pPr marL="0" indent="0">
              <a:lnSpc>
                <a:spcPct val="115000"/>
              </a:lnSpc>
              <a:buNone/>
            </a:pPr>
            <a:r>
              <a:rPr lang="en-US" sz="1200" dirty="0">
                <a:solidFill>
                  <a:srgbClr val="5B6B7C"/>
                </a:solidFill>
                <a:latin typeface="Calibri" pitchFamily="34" charset="0"/>
                <a:ea typeface="Calibri" pitchFamily="34" charset="-122"/>
                <a:cs typeface="Calibri" pitchFamily="34" charset="-120"/>
              </a:rPr>
              <a:t>Reframe nerves as energy. Practice repeatedly and focus on the message, not yourself.</a:t>
            </a:r>
            <a:endParaRPr lang="en-US" sz="1200" dirty="0"/>
          </a:p>
        </p:txBody>
      </p:sp>
      <p:sp>
        <p:nvSpPr>
          <p:cNvPr id="13" name="Shape 9"/>
          <p:cNvSpPr/>
          <p:nvPr/>
        </p:nvSpPr>
        <p:spPr>
          <a:xfrm>
            <a:off x="3319272" y="1508760"/>
            <a:ext cx="2624328" cy="2880360"/>
          </a:xfrm>
          <a:prstGeom prst="roundRect">
            <a:avLst>
              <a:gd name="adj" fmla="val 3136"/>
            </a:avLst>
          </a:prstGeom>
          <a:solidFill>
            <a:srgbClr val="FFFFFF"/>
          </a:solidFill>
          <a:ln/>
          <a:effectLst>
            <a:outerShdw blurRad="114300" dist="38100" dir="5400000" algn="bl" rotWithShape="0">
              <a:srgbClr val="1B2733">
                <a:alpha val="10000"/>
              </a:srgbClr>
            </a:outerShdw>
          </a:effectLst>
        </p:spPr>
      </p:sp>
      <p:sp>
        <p:nvSpPr>
          <p:cNvPr id="14" name="Shape 10"/>
          <p:cNvSpPr/>
          <p:nvPr/>
        </p:nvSpPr>
        <p:spPr>
          <a:xfrm>
            <a:off x="3575304" y="1783080"/>
            <a:ext cx="603504" cy="603504"/>
          </a:xfrm>
          <a:prstGeom prst="ellipse">
            <a:avLst/>
          </a:prstGeom>
          <a:solidFill>
            <a:srgbClr val="129C76"/>
          </a:solidFill>
          <a:ln/>
        </p:spPr>
      </p:sp>
      <p:pic>
        <p:nvPicPr>
          <p:cNvPr id="15" name="Image 2" descr="preencoded.png"/>
          <p:cNvPicPr>
            <a:picLocks noChangeAspect="1"/>
          </p:cNvPicPr>
          <p:nvPr/>
        </p:nvPicPr>
        <p:blipFill>
          <a:blip r:embed="rId5"/>
          <a:stretch>
            <a:fillRect/>
          </a:stretch>
        </p:blipFill>
        <p:spPr>
          <a:xfrm>
            <a:off x="3659795" y="1867571"/>
            <a:ext cx="434523" cy="434523"/>
          </a:xfrm>
          <a:prstGeom prst="rect">
            <a:avLst/>
          </a:prstGeom>
        </p:spPr>
      </p:pic>
      <p:sp>
        <p:nvSpPr>
          <p:cNvPr id="16" name="Text 11"/>
          <p:cNvSpPr/>
          <p:nvPr/>
        </p:nvSpPr>
        <p:spPr>
          <a:xfrm>
            <a:off x="3575304" y="2542032"/>
            <a:ext cx="2112264" cy="45720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Voice Modulation &amp; Clarity</a:t>
            </a:r>
            <a:endParaRPr lang="en-US" sz="1500" dirty="0"/>
          </a:p>
        </p:txBody>
      </p:sp>
      <p:sp>
        <p:nvSpPr>
          <p:cNvPr id="17" name="Text 12"/>
          <p:cNvSpPr/>
          <p:nvPr/>
        </p:nvSpPr>
        <p:spPr>
          <a:xfrm>
            <a:off x="3575304" y="2999232"/>
            <a:ext cx="2112264" cy="1280160"/>
          </a:xfrm>
          <a:prstGeom prst="rect">
            <a:avLst/>
          </a:prstGeom>
          <a:noFill/>
          <a:ln/>
        </p:spPr>
        <p:txBody>
          <a:bodyPr wrap="square" lIns="0" tIns="0" rIns="0" bIns="0" rtlCol="0" anchor="ctr"/>
          <a:lstStyle/>
          <a:p>
            <a:pPr marL="0" indent="0">
              <a:lnSpc>
                <a:spcPct val="115000"/>
              </a:lnSpc>
              <a:buNone/>
            </a:pPr>
            <a:r>
              <a:rPr lang="en-US" sz="1200" dirty="0">
                <a:solidFill>
                  <a:srgbClr val="5B6B7C"/>
                </a:solidFill>
                <a:latin typeface="Calibri" pitchFamily="34" charset="0"/>
                <a:ea typeface="Calibri" pitchFamily="34" charset="-122"/>
                <a:cs typeface="Calibri" pitchFamily="34" charset="-120"/>
              </a:rPr>
              <a:t>Vary your pace, pitch, and volume. Pause for emphasis instead of filling silence.</a:t>
            </a:r>
            <a:endParaRPr lang="en-US" sz="1200" dirty="0"/>
          </a:p>
        </p:txBody>
      </p:sp>
      <p:sp>
        <p:nvSpPr>
          <p:cNvPr id="18" name="Shape 13"/>
          <p:cNvSpPr/>
          <p:nvPr/>
        </p:nvSpPr>
        <p:spPr>
          <a:xfrm>
            <a:off x="6089904" y="1508760"/>
            <a:ext cx="2624328" cy="2880360"/>
          </a:xfrm>
          <a:prstGeom prst="roundRect">
            <a:avLst>
              <a:gd name="adj" fmla="val 3136"/>
            </a:avLst>
          </a:prstGeom>
          <a:solidFill>
            <a:srgbClr val="FFFFFF"/>
          </a:solidFill>
          <a:ln/>
          <a:effectLst>
            <a:outerShdw blurRad="114300" dist="38100" dir="5400000" algn="bl" rotWithShape="0">
              <a:srgbClr val="1B2733">
                <a:alpha val="10000"/>
              </a:srgbClr>
            </a:outerShdw>
          </a:effectLst>
        </p:spPr>
      </p:sp>
      <p:sp>
        <p:nvSpPr>
          <p:cNvPr id="19" name="Shape 14"/>
          <p:cNvSpPr/>
          <p:nvPr/>
        </p:nvSpPr>
        <p:spPr>
          <a:xfrm>
            <a:off x="6345936" y="1783080"/>
            <a:ext cx="603504" cy="603504"/>
          </a:xfrm>
          <a:prstGeom prst="ellipse">
            <a:avLst/>
          </a:prstGeom>
          <a:solidFill>
            <a:srgbClr val="1565A8"/>
          </a:solidFill>
          <a:ln/>
        </p:spPr>
      </p:sp>
      <p:pic>
        <p:nvPicPr>
          <p:cNvPr id="20" name="Image 3" descr="preencoded.png"/>
          <p:cNvPicPr>
            <a:picLocks noChangeAspect="1"/>
          </p:cNvPicPr>
          <p:nvPr/>
        </p:nvPicPr>
        <p:blipFill>
          <a:blip r:embed="rId6"/>
          <a:stretch>
            <a:fillRect/>
          </a:stretch>
        </p:blipFill>
        <p:spPr>
          <a:xfrm>
            <a:off x="6430427" y="1867571"/>
            <a:ext cx="434523" cy="434523"/>
          </a:xfrm>
          <a:prstGeom prst="rect">
            <a:avLst/>
          </a:prstGeom>
        </p:spPr>
      </p:pic>
      <p:sp>
        <p:nvSpPr>
          <p:cNvPr id="21" name="Text 15"/>
          <p:cNvSpPr/>
          <p:nvPr/>
        </p:nvSpPr>
        <p:spPr>
          <a:xfrm>
            <a:off x="6345936" y="2542032"/>
            <a:ext cx="2112264" cy="457200"/>
          </a:xfrm>
          <a:prstGeom prst="rect">
            <a:avLst/>
          </a:prstGeom>
          <a:noFill/>
          <a:ln/>
        </p:spPr>
        <p:txBody>
          <a:bodyPr wrap="square" lIns="0" tIns="0" rIns="0" bIns="0" rtlCol="0" anchor="ctr"/>
          <a:lstStyle/>
          <a:p>
            <a:pPr marL="0" indent="0">
              <a:buNone/>
            </a:pPr>
            <a:r>
              <a:rPr lang="en-US" sz="1500" b="1" dirty="0">
                <a:solidFill>
                  <a:srgbClr val="1E2A38"/>
                </a:solidFill>
                <a:latin typeface="Calibri" pitchFamily="34" charset="0"/>
                <a:ea typeface="Calibri" pitchFamily="34" charset="-122"/>
                <a:cs typeface="Calibri" pitchFamily="34" charset="-120"/>
              </a:rPr>
              <a:t>Preparation Techniques</a:t>
            </a:r>
            <a:endParaRPr lang="en-US" sz="1500" dirty="0"/>
          </a:p>
        </p:txBody>
      </p:sp>
      <p:sp>
        <p:nvSpPr>
          <p:cNvPr id="22" name="Text 16"/>
          <p:cNvSpPr/>
          <p:nvPr/>
        </p:nvSpPr>
        <p:spPr>
          <a:xfrm>
            <a:off x="6345936" y="2999232"/>
            <a:ext cx="2112264" cy="1280160"/>
          </a:xfrm>
          <a:prstGeom prst="rect">
            <a:avLst/>
          </a:prstGeom>
          <a:noFill/>
          <a:ln/>
        </p:spPr>
        <p:txBody>
          <a:bodyPr wrap="square" lIns="0" tIns="0" rIns="0" bIns="0" rtlCol="0" anchor="ctr"/>
          <a:lstStyle/>
          <a:p>
            <a:pPr marL="0" indent="0">
              <a:lnSpc>
                <a:spcPct val="115000"/>
              </a:lnSpc>
              <a:buNone/>
            </a:pPr>
            <a:r>
              <a:rPr lang="en-US" sz="1200" dirty="0">
                <a:solidFill>
                  <a:srgbClr val="5B6B7C"/>
                </a:solidFill>
                <a:latin typeface="Calibri" pitchFamily="34" charset="0"/>
                <a:ea typeface="Calibri" pitchFamily="34" charset="-122"/>
                <a:cs typeface="Calibri" pitchFamily="34" charset="-120"/>
              </a:rPr>
              <a:t>Rehearse aloud, memorize your opening line, and anticipate likely questions.</a:t>
            </a:r>
            <a:endParaRPr lang="en-US" sz="1200" dirty="0"/>
          </a:p>
        </p:txBody>
      </p:sp>
      <p:sp>
        <p:nvSpPr>
          <p:cNvPr id="23" name="Text 17"/>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4" name="Text 18"/>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565A8"/>
                </a:solidFill>
                <a:latin typeface="Calibri" pitchFamily="34" charset="0"/>
                <a:ea typeface="Calibri" pitchFamily="34" charset="-122"/>
                <a:cs typeface="Calibri" pitchFamily="34" charset="-120"/>
              </a:rPr>
              <a:t>NON-VERBAL COMMUNICATION</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Body Language &amp; Non-Verbal Cues</a:t>
            </a:r>
            <a:endParaRPr lang="en-US" sz="2700" dirty="0"/>
          </a:p>
        </p:txBody>
      </p:sp>
      <p:sp>
        <p:nvSpPr>
          <p:cNvPr id="6" name="Shape 4"/>
          <p:cNvSpPr/>
          <p:nvPr/>
        </p:nvSpPr>
        <p:spPr>
          <a:xfrm>
            <a:off x="8001000" y="384048"/>
            <a:ext cx="603504" cy="603504"/>
          </a:xfrm>
          <a:prstGeom prst="ellipse">
            <a:avLst/>
          </a:prstGeom>
          <a:solidFill>
            <a:srgbClr val="1565A8"/>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417320"/>
            <a:ext cx="3904488" cy="1481328"/>
          </a:xfrm>
          <a:prstGeom prst="roundRect">
            <a:avLst>
              <a:gd name="adj" fmla="val 5556"/>
            </a:avLst>
          </a:prstGeom>
          <a:solidFill>
            <a:srgbClr val="FFFFFF"/>
          </a:solidFill>
          <a:ln/>
          <a:effectLst>
            <a:outerShdw blurRad="114300" dist="38100" dir="5400000" algn="bl" rotWithShape="0">
              <a:srgbClr val="1B2733">
                <a:alpha val="10000"/>
              </a:srgbClr>
            </a:outerShdw>
          </a:effectLst>
        </p:spPr>
      </p:sp>
      <p:sp>
        <p:nvSpPr>
          <p:cNvPr id="9" name="Shape 6"/>
          <p:cNvSpPr/>
          <p:nvPr/>
        </p:nvSpPr>
        <p:spPr>
          <a:xfrm>
            <a:off x="777240" y="1618488"/>
            <a:ext cx="548640" cy="548640"/>
          </a:xfrm>
          <a:prstGeom prst="ellipse">
            <a:avLst/>
          </a:prstGeom>
          <a:solidFill>
            <a:srgbClr val="1565A8"/>
          </a:solidFill>
          <a:ln/>
        </p:spPr>
      </p:sp>
      <p:pic>
        <p:nvPicPr>
          <p:cNvPr id="10" name="Image 1" descr="preencoded.png"/>
          <p:cNvPicPr>
            <a:picLocks noChangeAspect="1"/>
          </p:cNvPicPr>
          <p:nvPr/>
        </p:nvPicPr>
        <p:blipFill>
          <a:blip r:embed="rId4"/>
          <a:stretch>
            <a:fillRect/>
          </a:stretch>
        </p:blipFill>
        <p:spPr>
          <a:xfrm>
            <a:off x="854050" y="1695298"/>
            <a:ext cx="395021" cy="395021"/>
          </a:xfrm>
          <a:prstGeom prst="rect">
            <a:avLst/>
          </a:prstGeom>
        </p:spPr>
      </p:pic>
      <p:sp>
        <p:nvSpPr>
          <p:cNvPr id="11" name="Text 7"/>
          <p:cNvSpPr/>
          <p:nvPr/>
        </p:nvSpPr>
        <p:spPr>
          <a:xfrm>
            <a:off x="1463040" y="1600200"/>
            <a:ext cx="2761488" cy="32004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Eye Contact</a:t>
            </a:r>
            <a:endParaRPr lang="en-US" sz="1400" dirty="0"/>
          </a:p>
        </p:txBody>
      </p:sp>
      <p:sp>
        <p:nvSpPr>
          <p:cNvPr id="12" name="Text 8"/>
          <p:cNvSpPr/>
          <p:nvPr/>
        </p:nvSpPr>
        <p:spPr>
          <a:xfrm>
            <a:off x="1463040" y="1929384"/>
            <a:ext cx="2761488" cy="868680"/>
          </a:xfrm>
          <a:prstGeom prst="rect">
            <a:avLst/>
          </a:prstGeom>
          <a:noFill/>
          <a:ln/>
        </p:spPr>
        <p:txBody>
          <a:bodyPr wrap="square" lIns="0" tIns="0" rIns="0" bIns="0" rtlCol="0" anchor="ctr"/>
          <a:lstStyle/>
          <a:p>
            <a:pPr marL="0" indent="0">
              <a:lnSpc>
                <a:spcPct val="112000"/>
              </a:lnSpc>
              <a:buNone/>
            </a:pPr>
            <a:r>
              <a:rPr lang="en-US" sz="1150" dirty="0">
                <a:solidFill>
                  <a:srgbClr val="5B6B7C"/>
                </a:solidFill>
                <a:latin typeface="Calibri" pitchFamily="34" charset="0"/>
                <a:ea typeface="Calibri" pitchFamily="34" charset="-122"/>
                <a:cs typeface="Calibri" pitchFamily="34" charset="-120"/>
              </a:rPr>
              <a:t>Connect individually across the room to build trust and presence.</a:t>
            </a:r>
            <a:endParaRPr lang="en-US" sz="1150" dirty="0"/>
          </a:p>
        </p:txBody>
      </p:sp>
      <p:sp>
        <p:nvSpPr>
          <p:cNvPr id="13" name="Shape 9"/>
          <p:cNvSpPr/>
          <p:nvPr/>
        </p:nvSpPr>
        <p:spPr>
          <a:xfrm>
            <a:off x="4690872" y="1417320"/>
            <a:ext cx="3904488" cy="1481328"/>
          </a:xfrm>
          <a:prstGeom prst="roundRect">
            <a:avLst>
              <a:gd name="adj" fmla="val 5556"/>
            </a:avLst>
          </a:prstGeom>
          <a:solidFill>
            <a:srgbClr val="FFFFFF"/>
          </a:solidFill>
          <a:ln/>
          <a:effectLst>
            <a:outerShdw blurRad="114300" dist="38100" dir="5400000" algn="bl" rotWithShape="0">
              <a:srgbClr val="1B2733">
                <a:alpha val="10000"/>
              </a:srgbClr>
            </a:outerShdw>
          </a:effectLst>
        </p:spPr>
      </p:sp>
      <p:sp>
        <p:nvSpPr>
          <p:cNvPr id="14" name="Shape 10"/>
          <p:cNvSpPr/>
          <p:nvPr/>
        </p:nvSpPr>
        <p:spPr>
          <a:xfrm>
            <a:off x="4919472" y="1618488"/>
            <a:ext cx="548640" cy="548640"/>
          </a:xfrm>
          <a:prstGeom prst="ellipse">
            <a:avLst/>
          </a:prstGeom>
          <a:solidFill>
            <a:srgbClr val="129C76"/>
          </a:solidFill>
          <a:ln/>
        </p:spPr>
      </p:sp>
      <p:pic>
        <p:nvPicPr>
          <p:cNvPr id="15" name="Image 2" descr="preencoded.png"/>
          <p:cNvPicPr>
            <a:picLocks noChangeAspect="1"/>
          </p:cNvPicPr>
          <p:nvPr/>
        </p:nvPicPr>
        <p:blipFill>
          <a:blip r:embed="rId3"/>
          <a:stretch>
            <a:fillRect/>
          </a:stretch>
        </p:blipFill>
        <p:spPr>
          <a:xfrm>
            <a:off x="4996282" y="1695298"/>
            <a:ext cx="395021" cy="395021"/>
          </a:xfrm>
          <a:prstGeom prst="rect">
            <a:avLst/>
          </a:prstGeom>
        </p:spPr>
      </p:pic>
      <p:sp>
        <p:nvSpPr>
          <p:cNvPr id="16" name="Text 11"/>
          <p:cNvSpPr/>
          <p:nvPr/>
        </p:nvSpPr>
        <p:spPr>
          <a:xfrm>
            <a:off x="5605272" y="1600200"/>
            <a:ext cx="2761488" cy="32004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Gestures &amp; Posture</a:t>
            </a:r>
            <a:endParaRPr lang="en-US" sz="1400" dirty="0"/>
          </a:p>
        </p:txBody>
      </p:sp>
      <p:sp>
        <p:nvSpPr>
          <p:cNvPr id="17" name="Text 12"/>
          <p:cNvSpPr/>
          <p:nvPr/>
        </p:nvSpPr>
        <p:spPr>
          <a:xfrm>
            <a:off x="5605272" y="1929384"/>
            <a:ext cx="2761488" cy="868680"/>
          </a:xfrm>
          <a:prstGeom prst="rect">
            <a:avLst/>
          </a:prstGeom>
          <a:noFill/>
          <a:ln/>
        </p:spPr>
        <p:txBody>
          <a:bodyPr wrap="square" lIns="0" tIns="0" rIns="0" bIns="0" rtlCol="0" anchor="ctr"/>
          <a:lstStyle/>
          <a:p>
            <a:pPr marL="0" indent="0">
              <a:lnSpc>
                <a:spcPct val="112000"/>
              </a:lnSpc>
              <a:buNone/>
            </a:pPr>
            <a:r>
              <a:rPr lang="en-US" sz="1150" dirty="0">
                <a:solidFill>
                  <a:srgbClr val="5B6B7C"/>
                </a:solidFill>
                <a:latin typeface="Calibri" pitchFamily="34" charset="0"/>
                <a:ea typeface="Calibri" pitchFamily="34" charset="-122"/>
                <a:cs typeface="Calibri" pitchFamily="34" charset="-120"/>
              </a:rPr>
              <a:t>Stand tall with an open stance; use purposeful, natural hand movement.</a:t>
            </a:r>
            <a:endParaRPr lang="en-US" sz="1150" dirty="0"/>
          </a:p>
        </p:txBody>
      </p:sp>
      <p:sp>
        <p:nvSpPr>
          <p:cNvPr id="18" name="Shape 13"/>
          <p:cNvSpPr/>
          <p:nvPr/>
        </p:nvSpPr>
        <p:spPr>
          <a:xfrm>
            <a:off x="548640" y="3063240"/>
            <a:ext cx="3904488" cy="1481328"/>
          </a:xfrm>
          <a:prstGeom prst="roundRect">
            <a:avLst>
              <a:gd name="adj" fmla="val 5556"/>
            </a:avLst>
          </a:prstGeom>
          <a:solidFill>
            <a:srgbClr val="FFFFFF"/>
          </a:solidFill>
          <a:ln/>
          <a:effectLst>
            <a:outerShdw blurRad="114300" dist="38100" dir="5400000" algn="bl" rotWithShape="0">
              <a:srgbClr val="1B2733">
                <a:alpha val="10000"/>
              </a:srgbClr>
            </a:outerShdw>
          </a:effectLst>
        </p:spPr>
      </p:sp>
      <p:sp>
        <p:nvSpPr>
          <p:cNvPr id="19" name="Shape 14"/>
          <p:cNvSpPr/>
          <p:nvPr/>
        </p:nvSpPr>
        <p:spPr>
          <a:xfrm>
            <a:off x="777240" y="3264408"/>
            <a:ext cx="548640" cy="548640"/>
          </a:xfrm>
          <a:prstGeom prst="ellipse">
            <a:avLst/>
          </a:prstGeom>
          <a:solidFill>
            <a:srgbClr val="1565A8"/>
          </a:solidFill>
          <a:ln/>
        </p:spPr>
      </p:sp>
      <p:pic>
        <p:nvPicPr>
          <p:cNvPr id="20" name="Image 3" descr="preencoded.png"/>
          <p:cNvPicPr>
            <a:picLocks noChangeAspect="1"/>
          </p:cNvPicPr>
          <p:nvPr/>
        </p:nvPicPr>
        <p:blipFill>
          <a:blip r:embed="rId5"/>
          <a:stretch>
            <a:fillRect/>
          </a:stretch>
        </p:blipFill>
        <p:spPr>
          <a:xfrm>
            <a:off x="854050" y="3341218"/>
            <a:ext cx="395021" cy="395021"/>
          </a:xfrm>
          <a:prstGeom prst="rect">
            <a:avLst/>
          </a:prstGeom>
        </p:spPr>
      </p:pic>
      <p:sp>
        <p:nvSpPr>
          <p:cNvPr id="21" name="Text 15"/>
          <p:cNvSpPr/>
          <p:nvPr/>
        </p:nvSpPr>
        <p:spPr>
          <a:xfrm>
            <a:off x="1463040" y="3246120"/>
            <a:ext cx="2761488" cy="32004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Facial Expressions</a:t>
            </a:r>
            <a:endParaRPr lang="en-US" sz="1400" dirty="0"/>
          </a:p>
        </p:txBody>
      </p:sp>
      <p:sp>
        <p:nvSpPr>
          <p:cNvPr id="22" name="Text 16"/>
          <p:cNvSpPr/>
          <p:nvPr/>
        </p:nvSpPr>
        <p:spPr>
          <a:xfrm>
            <a:off x="1463040" y="3575304"/>
            <a:ext cx="2761488" cy="868680"/>
          </a:xfrm>
          <a:prstGeom prst="rect">
            <a:avLst/>
          </a:prstGeom>
          <a:noFill/>
          <a:ln/>
        </p:spPr>
        <p:txBody>
          <a:bodyPr wrap="square" lIns="0" tIns="0" rIns="0" bIns="0" rtlCol="0" anchor="ctr"/>
          <a:lstStyle/>
          <a:p>
            <a:pPr marL="0" indent="0">
              <a:lnSpc>
                <a:spcPct val="112000"/>
              </a:lnSpc>
              <a:buNone/>
            </a:pPr>
            <a:r>
              <a:rPr lang="en-US" sz="1150" dirty="0">
                <a:solidFill>
                  <a:srgbClr val="5B6B7C"/>
                </a:solidFill>
                <a:latin typeface="Calibri" pitchFamily="34" charset="0"/>
                <a:ea typeface="Calibri" pitchFamily="34" charset="-122"/>
                <a:cs typeface="Calibri" pitchFamily="34" charset="-120"/>
              </a:rPr>
              <a:t>Match expression to message and show genuine engagement.</a:t>
            </a:r>
            <a:endParaRPr lang="en-US" sz="1150" dirty="0"/>
          </a:p>
        </p:txBody>
      </p:sp>
      <p:sp>
        <p:nvSpPr>
          <p:cNvPr id="23" name="Shape 17"/>
          <p:cNvSpPr/>
          <p:nvPr/>
        </p:nvSpPr>
        <p:spPr>
          <a:xfrm>
            <a:off x="4690872" y="3063240"/>
            <a:ext cx="3904488" cy="1481328"/>
          </a:xfrm>
          <a:prstGeom prst="roundRect">
            <a:avLst>
              <a:gd name="adj" fmla="val 5556"/>
            </a:avLst>
          </a:prstGeom>
          <a:solidFill>
            <a:srgbClr val="FFFFFF"/>
          </a:solidFill>
          <a:ln/>
          <a:effectLst>
            <a:outerShdw blurRad="114300" dist="38100" dir="5400000" algn="bl" rotWithShape="0">
              <a:srgbClr val="1B2733">
                <a:alpha val="10000"/>
              </a:srgbClr>
            </a:outerShdw>
          </a:effectLst>
        </p:spPr>
      </p:sp>
      <p:sp>
        <p:nvSpPr>
          <p:cNvPr id="24" name="Shape 18"/>
          <p:cNvSpPr/>
          <p:nvPr/>
        </p:nvSpPr>
        <p:spPr>
          <a:xfrm>
            <a:off x="4919472" y="3264408"/>
            <a:ext cx="548640" cy="548640"/>
          </a:xfrm>
          <a:prstGeom prst="ellipse">
            <a:avLst/>
          </a:prstGeom>
          <a:solidFill>
            <a:srgbClr val="129C76"/>
          </a:solidFill>
          <a:ln/>
        </p:spPr>
      </p:sp>
      <p:pic>
        <p:nvPicPr>
          <p:cNvPr id="25" name="Image 4" descr="preencoded.png"/>
          <p:cNvPicPr>
            <a:picLocks noChangeAspect="1"/>
          </p:cNvPicPr>
          <p:nvPr/>
        </p:nvPicPr>
        <p:blipFill>
          <a:blip r:embed="rId6"/>
          <a:stretch>
            <a:fillRect/>
          </a:stretch>
        </p:blipFill>
        <p:spPr>
          <a:xfrm>
            <a:off x="4996282" y="3341218"/>
            <a:ext cx="395021" cy="395021"/>
          </a:xfrm>
          <a:prstGeom prst="rect">
            <a:avLst/>
          </a:prstGeom>
        </p:spPr>
      </p:pic>
      <p:sp>
        <p:nvSpPr>
          <p:cNvPr id="26" name="Text 19"/>
          <p:cNvSpPr/>
          <p:nvPr/>
        </p:nvSpPr>
        <p:spPr>
          <a:xfrm>
            <a:off x="5605272" y="3246120"/>
            <a:ext cx="2761488" cy="32004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Professional Appearance</a:t>
            </a:r>
            <a:endParaRPr lang="en-US" sz="1400" dirty="0"/>
          </a:p>
        </p:txBody>
      </p:sp>
      <p:sp>
        <p:nvSpPr>
          <p:cNvPr id="27" name="Text 20"/>
          <p:cNvSpPr/>
          <p:nvPr/>
        </p:nvSpPr>
        <p:spPr>
          <a:xfrm>
            <a:off x="5605272" y="3575304"/>
            <a:ext cx="2761488" cy="868680"/>
          </a:xfrm>
          <a:prstGeom prst="rect">
            <a:avLst/>
          </a:prstGeom>
          <a:noFill/>
          <a:ln/>
        </p:spPr>
        <p:txBody>
          <a:bodyPr wrap="square" lIns="0" tIns="0" rIns="0" bIns="0" rtlCol="0" anchor="ctr"/>
          <a:lstStyle/>
          <a:p>
            <a:pPr marL="0" indent="0">
              <a:lnSpc>
                <a:spcPct val="112000"/>
              </a:lnSpc>
              <a:buNone/>
            </a:pPr>
            <a:r>
              <a:rPr lang="en-US" sz="1150" dirty="0">
                <a:solidFill>
                  <a:srgbClr val="5B6B7C"/>
                </a:solidFill>
                <a:latin typeface="Calibri" pitchFamily="34" charset="0"/>
                <a:ea typeface="Calibri" pitchFamily="34" charset="-122"/>
                <a:cs typeface="Calibri" pitchFamily="34" charset="-120"/>
              </a:rPr>
              <a:t>Dress appropriately for the setting to appear polished and prepared.</a:t>
            </a:r>
            <a:endParaRPr lang="en-US" sz="1150" dirty="0"/>
          </a:p>
        </p:txBody>
      </p:sp>
      <p:sp>
        <p:nvSpPr>
          <p:cNvPr id="28" name="Text 21"/>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9" name="Text 22"/>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29C76"/>
                </a:solidFill>
                <a:latin typeface="Calibri" pitchFamily="34" charset="0"/>
                <a:ea typeface="Calibri" pitchFamily="34" charset="-122"/>
                <a:cs typeface="Calibri" pitchFamily="34" charset="-120"/>
              </a:rPr>
              <a:t>SLIDE CRAFT</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Visual Communication</a:t>
            </a:r>
            <a:endParaRPr lang="en-US" sz="2700" dirty="0"/>
          </a:p>
        </p:txBody>
      </p:sp>
      <p:sp>
        <p:nvSpPr>
          <p:cNvPr id="6" name="Shape 4"/>
          <p:cNvSpPr/>
          <p:nvPr/>
        </p:nvSpPr>
        <p:spPr>
          <a:xfrm>
            <a:off x="8001000" y="384048"/>
            <a:ext cx="603504" cy="603504"/>
          </a:xfrm>
          <a:prstGeom prst="ellipse">
            <a:avLst/>
          </a:prstGeom>
          <a:solidFill>
            <a:srgbClr val="129C76"/>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417320"/>
            <a:ext cx="548640" cy="548640"/>
          </a:xfrm>
          <a:prstGeom prst="ellipse">
            <a:avLst/>
          </a:prstGeom>
          <a:solidFill>
            <a:srgbClr val="1565A8"/>
          </a:solidFill>
          <a:ln/>
        </p:spPr>
      </p:sp>
      <p:pic>
        <p:nvPicPr>
          <p:cNvPr id="9" name="Image 1" descr="preencoded.png"/>
          <p:cNvPicPr>
            <a:picLocks noChangeAspect="1"/>
          </p:cNvPicPr>
          <p:nvPr/>
        </p:nvPicPr>
        <p:blipFill>
          <a:blip r:embed="rId3"/>
          <a:stretch>
            <a:fillRect/>
          </a:stretch>
        </p:blipFill>
        <p:spPr>
          <a:xfrm>
            <a:off x="625450" y="1494130"/>
            <a:ext cx="395021" cy="395021"/>
          </a:xfrm>
          <a:prstGeom prst="rect">
            <a:avLst/>
          </a:prstGeom>
        </p:spPr>
      </p:pic>
      <p:sp>
        <p:nvSpPr>
          <p:cNvPr id="10" name="Text 6"/>
          <p:cNvSpPr/>
          <p:nvPr/>
        </p:nvSpPr>
        <p:spPr>
          <a:xfrm>
            <a:off x="1261872" y="1399032"/>
            <a:ext cx="3657600" cy="27432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Effective Slide Design</a:t>
            </a:r>
            <a:endParaRPr lang="en-US" sz="1400" dirty="0"/>
          </a:p>
        </p:txBody>
      </p:sp>
      <p:sp>
        <p:nvSpPr>
          <p:cNvPr id="11" name="Text 7"/>
          <p:cNvSpPr/>
          <p:nvPr/>
        </p:nvSpPr>
        <p:spPr>
          <a:xfrm>
            <a:off x="1261872" y="1691640"/>
            <a:ext cx="3703320" cy="566928"/>
          </a:xfrm>
          <a:prstGeom prst="rect">
            <a:avLst/>
          </a:prstGeom>
          <a:noFill/>
          <a:ln/>
        </p:spPr>
        <p:txBody>
          <a:bodyPr wrap="square" lIns="0" tIns="0" rIns="0" bIns="0" rtlCol="0" anchor="ctr"/>
          <a:lstStyle/>
          <a:p>
            <a:pPr marL="0" indent="0">
              <a:lnSpc>
                <a:spcPct val="110000"/>
              </a:lnSpc>
              <a:buNone/>
            </a:pPr>
            <a:r>
              <a:rPr lang="en-US" sz="1150" dirty="0">
                <a:solidFill>
                  <a:srgbClr val="5B6B7C"/>
                </a:solidFill>
                <a:latin typeface="Calibri" pitchFamily="34" charset="0"/>
                <a:ea typeface="Calibri" pitchFamily="34" charset="-122"/>
                <a:cs typeface="Calibri" pitchFamily="34" charset="-120"/>
              </a:rPr>
              <a:t>Consistent fonts, colors, and generous white space throughout.</a:t>
            </a:r>
            <a:endParaRPr lang="en-US" sz="1150" dirty="0"/>
          </a:p>
        </p:txBody>
      </p:sp>
      <p:sp>
        <p:nvSpPr>
          <p:cNvPr id="12" name="Shape 8"/>
          <p:cNvSpPr/>
          <p:nvPr/>
        </p:nvSpPr>
        <p:spPr>
          <a:xfrm>
            <a:off x="548640" y="2377440"/>
            <a:ext cx="548640" cy="548640"/>
          </a:xfrm>
          <a:prstGeom prst="ellipse">
            <a:avLst/>
          </a:prstGeom>
          <a:solidFill>
            <a:srgbClr val="129C76"/>
          </a:solidFill>
          <a:ln/>
        </p:spPr>
      </p:sp>
      <p:pic>
        <p:nvPicPr>
          <p:cNvPr id="13" name="Image 2" descr="preencoded.png"/>
          <p:cNvPicPr>
            <a:picLocks noChangeAspect="1"/>
          </p:cNvPicPr>
          <p:nvPr/>
        </p:nvPicPr>
        <p:blipFill>
          <a:blip r:embed="rId4"/>
          <a:stretch>
            <a:fillRect/>
          </a:stretch>
        </p:blipFill>
        <p:spPr>
          <a:xfrm>
            <a:off x="625450" y="2454250"/>
            <a:ext cx="395021" cy="395021"/>
          </a:xfrm>
          <a:prstGeom prst="rect">
            <a:avLst/>
          </a:prstGeom>
        </p:spPr>
      </p:pic>
      <p:sp>
        <p:nvSpPr>
          <p:cNvPr id="14" name="Text 9"/>
          <p:cNvSpPr/>
          <p:nvPr/>
        </p:nvSpPr>
        <p:spPr>
          <a:xfrm>
            <a:off x="1261872" y="2359152"/>
            <a:ext cx="3657600" cy="27432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Charts, Icons &amp; Infographics</a:t>
            </a:r>
            <a:endParaRPr lang="en-US" sz="1400" dirty="0"/>
          </a:p>
        </p:txBody>
      </p:sp>
      <p:sp>
        <p:nvSpPr>
          <p:cNvPr id="15" name="Text 10"/>
          <p:cNvSpPr/>
          <p:nvPr/>
        </p:nvSpPr>
        <p:spPr>
          <a:xfrm>
            <a:off x="1261872" y="2651760"/>
            <a:ext cx="3703320" cy="566928"/>
          </a:xfrm>
          <a:prstGeom prst="rect">
            <a:avLst/>
          </a:prstGeom>
          <a:noFill/>
          <a:ln/>
        </p:spPr>
        <p:txBody>
          <a:bodyPr wrap="square" lIns="0" tIns="0" rIns="0" bIns="0" rtlCol="0" anchor="ctr"/>
          <a:lstStyle/>
          <a:p>
            <a:pPr marL="0" indent="0">
              <a:lnSpc>
                <a:spcPct val="110000"/>
              </a:lnSpc>
              <a:buNone/>
            </a:pPr>
            <a:r>
              <a:rPr lang="en-US" sz="1150" dirty="0">
                <a:solidFill>
                  <a:srgbClr val="5B6B7C"/>
                </a:solidFill>
                <a:latin typeface="Calibri" pitchFamily="34" charset="0"/>
                <a:ea typeface="Calibri" pitchFamily="34" charset="-122"/>
                <a:cs typeface="Calibri" pitchFamily="34" charset="-120"/>
              </a:rPr>
              <a:t>Turn data and ideas into visuals the audience grasps instantly.</a:t>
            </a:r>
            <a:endParaRPr lang="en-US" sz="1150" dirty="0"/>
          </a:p>
        </p:txBody>
      </p:sp>
      <p:sp>
        <p:nvSpPr>
          <p:cNvPr id="16" name="Shape 11"/>
          <p:cNvSpPr/>
          <p:nvPr/>
        </p:nvSpPr>
        <p:spPr>
          <a:xfrm>
            <a:off x="548640" y="3337560"/>
            <a:ext cx="548640" cy="548640"/>
          </a:xfrm>
          <a:prstGeom prst="ellipse">
            <a:avLst/>
          </a:prstGeom>
          <a:solidFill>
            <a:srgbClr val="1565A8"/>
          </a:solidFill>
          <a:ln/>
        </p:spPr>
      </p:sp>
      <p:pic>
        <p:nvPicPr>
          <p:cNvPr id="17" name="Image 3" descr="preencoded.png"/>
          <p:cNvPicPr>
            <a:picLocks noChangeAspect="1"/>
          </p:cNvPicPr>
          <p:nvPr/>
        </p:nvPicPr>
        <p:blipFill>
          <a:blip r:embed="rId5"/>
          <a:stretch>
            <a:fillRect/>
          </a:stretch>
        </p:blipFill>
        <p:spPr>
          <a:xfrm>
            <a:off x="625450" y="3414370"/>
            <a:ext cx="395021" cy="395021"/>
          </a:xfrm>
          <a:prstGeom prst="rect">
            <a:avLst/>
          </a:prstGeom>
        </p:spPr>
      </p:pic>
      <p:sp>
        <p:nvSpPr>
          <p:cNvPr id="18" name="Text 12"/>
          <p:cNvSpPr/>
          <p:nvPr/>
        </p:nvSpPr>
        <p:spPr>
          <a:xfrm>
            <a:off x="1261872" y="3319272"/>
            <a:ext cx="3657600" cy="274320"/>
          </a:xfrm>
          <a:prstGeom prst="rect">
            <a:avLst/>
          </a:prstGeom>
          <a:noFill/>
          <a:ln/>
        </p:spPr>
        <p:txBody>
          <a:bodyPr wrap="square" lIns="0" tIns="0" rIns="0" bIns="0" rtlCol="0" anchor="ctr"/>
          <a:lstStyle/>
          <a:p>
            <a:pPr marL="0" indent="0">
              <a:buNone/>
            </a:pPr>
            <a:r>
              <a:rPr lang="en-US" sz="1400" b="1" dirty="0">
                <a:solidFill>
                  <a:srgbClr val="1E2A38"/>
                </a:solidFill>
                <a:latin typeface="Calibri" pitchFamily="34" charset="0"/>
                <a:ea typeface="Calibri" pitchFamily="34" charset="-122"/>
                <a:cs typeface="Calibri" pitchFamily="34" charset="-120"/>
              </a:rPr>
              <a:t>Avoid Information Overload</a:t>
            </a:r>
            <a:endParaRPr lang="en-US" sz="1400" dirty="0"/>
          </a:p>
        </p:txBody>
      </p:sp>
      <p:sp>
        <p:nvSpPr>
          <p:cNvPr id="19" name="Text 13"/>
          <p:cNvSpPr/>
          <p:nvPr/>
        </p:nvSpPr>
        <p:spPr>
          <a:xfrm>
            <a:off x="1261872" y="3611880"/>
            <a:ext cx="3703320" cy="566928"/>
          </a:xfrm>
          <a:prstGeom prst="rect">
            <a:avLst/>
          </a:prstGeom>
          <a:noFill/>
          <a:ln/>
        </p:spPr>
        <p:txBody>
          <a:bodyPr wrap="square" lIns="0" tIns="0" rIns="0" bIns="0" rtlCol="0" anchor="ctr"/>
          <a:lstStyle/>
          <a:p>
            <a:pPr marL="0" indent="0">
              <a:lnSpc>
                <a:spcPct val="110000"/>
              </a:lnSpc>
              <a:buNone/>
            </a:pPr>
            <a:r>
              <a:rPr lang="en-US" sz="1150" dirty="0">
                <a:solidFill>
                  <a:srgbClr val="5B6B7C"/>
                </a:solidFill>
                <a:latin typeface="Calibri" pitchFamily="34" charset="0"/>
                <a:ea typeface="Calibri" pitchFamily="34" charset="-122"/>
                <a:cs typeface="Calibri" pitchFamily="34" charset="-120"/>
              </a:rPr>
              <a:t>One idea per slide -- minimal text, maximum clarity.</a:t>
            </a:r>
            <a:endParaRPr lang="en-US" sz="1150" dirty="0"/>
          </a:p>
        </p:txBody>
      </p:sp>
      <p:sp>
        <p:nvSpPr>
          <p:cNvPr id="20" name="Shape 14"/>
          <p:cNvSpPr/>
          <p:nvPr/>
        </p:nvSpPr>
        <p:spPr>
          <a:xfrm>
            <a:off x="5349240" y="1417320"/>
            <a:ext cx="3337560" cy="3154680"/>
          </a:xfrm>
          <a:prstGeom prst="roundRect">
            <a:avLst>
              <a:gd name="adj" fmla="val 2609"/>
            </a:avLst>
          </a:prstGeom>
          <a:solidFill>
            <a:srgbClr val="FFFFFF"/>
          </a:solidFill>
          <a:ln/>
          <a:effectLst>
            <a:outerShdw blurRad="114300" dist="38100" dir="5400000" algn="bl" rotWithShape="0">
              <a:srgbClr val="1B2733">
                <a:alpha val="10000"/>
              </a:srgbClr>
            </a:outerShdw>
          </a:effectLst>
        </p:spPr>
      </p:sp>
      <p:sp>
        <p:nvSpPr>
          <p:cNvPr id="21" name="Text 15"/>
          <p:cNvSpPr/>
          <p:nvPr/>
        </p:nvSpPr>
        <p:spPr>
          <a:xfrm>
            <a:off x="5577840" y="1572768"/>
            <a:ext cx="2926080" cy="274320"/>
          </a:xfrm>
          <a:prstGeom prst="rect">
            <a:avLst/>
          </a:prstGeom>
          <a:noFill/>
          <a:ln/>
        </p:spPr>
        <p:txBody>
          <a:bodyPr wrap="square" lIns="0" tIns="0" rIns="0" bIns="0" rtlCol="0" anchor="ctr"/>
          <a:lstStyle/>
          <a:p>
            <a:pPr marL="0" indent="0">
              <a:buNone/>
            </a:pPr>
            <a:r>
              <a:rPr lang="en-US" sz="1200" b="1" dirty="0">
                <a:solidFill>
                  <a:srgbClr val="1E2A38"/>
                </a:solidFill>
                <a:latin typeface="Calibri" pitchFamily="34" charset="0"/>
                <a:ea typeface="Calibri" pitchFamily="34" charset="-122"/>
                <a:cs typeface="Calibri" pitchFamily="34" charset="-120"/>
              </a:rPr>
              <a:t>Engagement by Slide Style</a:t>
            </a:r>
            <a:endParaRPr lang="en-US" sz="1200" dirty="0"/>
          </a:p>
        </p:txBody>
      </p:sp>
      <p:graphicFrame>
        <p:nvGraphicFramePr>
          <p:cNvPr id="22" name="Chart 0"/>
          <p:cNvGraphicFramePr/>
          <p:nvPr/>
        </p:nvGraphicFramePr>
        <p:xfrm>
          <a:off x="5532120" y="1920240"/>
          <a:ext cx="3017520" cy="2468880"/>
        </p:xfrm>
        <a:graphic>
          <a:graphicData uri="http://schemas.openxmlformats.org/drawingml/2006/chart">
            <c:chart xmlns:c="http://schemas.openxmlformats.org/drawingml/2006/chart" xmlns:r="http://schemas.openxmlformats.org/officeDocument/2006/relationships" r:id="rId6"/>
          </a:graphicData>
        </a:graphic>
      </p:graphicFrame>
      <p:sp>
        <p:nvSpPr>
          <p:cNvPr id="23" name="Text 16"/>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4" name="Text 17"/>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565A8"/>
                </a:solidFill>
                <a:latin typeface="Calibri" pitchFamily="34" charset="0"/>
                <a:ea typeface="Calibri" pitchFamily="34" charset="-122"/>
                <a:cs typeface="Calibri" pitchFamily="34" charset="-120"/>
              </a:rPr>
              <a:t>ON-STAGE EXECUTION</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Effective Delivery Techniques</a:t>
            </a:r>
            <a:endParaRPr lang="en-US" sz="2700" dirty="0"/>
          </a:p>
        </p:txBody>
      </p:sp>
      <p:sp>
        <p:nvSpPr>
          <p:cNvPr id="6" name="Shape 4"/>
          <p:cNvSpPr/>
          <p:nvPr/>
        </p:nvSpPr>
        <p:spPr>
          <a:xfrm>
            <a:off x="8001000" y="384048"/>
            <a:ext cx="603504" cy="603504"/>
          </a:xfrm>
          <a:prstGeom prst="ellipse">
            <a:avLst/>
          </a:prstGeom>
          <a:solidFill>
            <a:srgbClr val="1565A8"/>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691640"/>
            <a:ext cx="1938528" cy="2697480"/>
          </a:xfrm>
          <a:prstGeom prst="roundRect">
            <a:avLst>
              <a:gd name="adj" fmla="val 4245"/>
            </a:avLst>
          </a:prstGeom>
          <a:solidFill>
            <a:srgbClr val="FFFFFF"/>
          </a:solidFill>
          <a:ln/>
          <a:effectLst>
            <a:outerShdw blurRad="114300" dist="38100" dir="5400000" algn="bl" rotWithShape="0">
              <a:srgbClr val="1B2733">
                <a:alpha val="10000"/>
              </a:srgbClr>
            </a:outerShdw>
          </a:effectLst>
        </p:spPr>
      </p:sp>
      <p:sp>
        <p:nvSpPr>
          <p:cNvPr id="9" name="Shape 6"/>
          <p:cNvSpPr/>
          <p:nvPr/>
        </p:nvSpPr>
        <p:spPr>
          <a:xfrm>
            <a:off x="1197864" y="1965960"/>
            <a:ext cx="640080" cy="640080"/>
          </a:xfrm>
          <a:prstGeom prst="ellipse">
            <a:avLst/>
          </a:prstGeom>
          <a:solidFill>
            <a:srgbClr val="1565A8"/>
          </a:solidFill>
          <a:ln/>
        </p:spPr>
      </p:sp>
      <p:pic>
        <p:nvPicPr>
          <p:cNvPr id="10" name="Image 1" descr="preencoded.png"/>
          <p:cNvPicPr>
            <a:picLocks noChangeAspect="1"/>
          </p:cNvPicPr>
          <p:nvPr/>
        </p:nvPicPr>
        <p:blipFill>
          <a:blip r:embed="rId4"/>
          <a:stretch>
            <a:fillRect/>
          </a:stretch>
        </p:blipFill>
        <p:spPr>
          <a:xfrm>
            <a:off x="1287475" y="2055571"/>
            <a:ext cx="460858" cy="460858"/>
          </a:xfrm>
          <a:prstGeom prst="rect">
            <a:avLst/>
          </a:prstGeom>
        </p:spPr>
      </p:pic>
      <p:sp>
        <p:nvSpPr>
          <p:cNvPr id="11" name="Text 7"/>
          <p:cNvSpPr/>
          <p:nvPr/>
        </p:nvSpPr>
        <p:spPr>
          <a:xfrm>
            <a:off x="658368" y="2788920"/>
            <a:ext cx="1719072" cy="502920"/>
          </a:xfrm>
          <a:prstGeom prst="rect">
            <a:avLst/>
          </a:prstGeom>
          <a:noFill/>
          <a:ln/>
        </p:spPr>
        <p:txBody>
          <a:bodyPr wrap="square" lIns="0" tIns="0" rIns="0" bIns="0" rtlCol="0" anchor="ctr"/>
          <a:lstStyle/>
          <a:p>
            <a:pPr marL="0" indent="0" algn="ctr">
              <a:buNone/>
            </a:pPr>
            <a:r>
              <a:rPr lang="en-US" sz="1250" b="1" dirty="0">
                <a:solidFill>
                  <a:srgbClr val="1E2A38"/>
                </a:solidFill>
                <a:latin typeface="Calibri" pitchFamily="34" charset="0"/>
                <a:ea typeface="Calibri" pitchFamily="34" charset="-122"/>
                <a:cs typeface="Calibri" pitchFamily="34" charset="-120"/>
              </a:rPr>
              <a:t>Time Management</a:t>
            </a:r>
            <a:endParaRPr lang="en-US" sz="1250" dirty="0"/>
          </a:p>
        </p:txBody>
      </p:sp>
      <p:sp>
        <p:nvSpPr>
          <p:cNvPr id="12" name="Text 8"/>
          <p:cNvSpPr/>
          <p:nvPr/>
        </p:nvSpPr>
        <p:spPr>
          <a:xfrm>
            <a:off x="676656" y="3273552"/>
            <a:ext cx="1682496" cy="1005840"/>
          </a:xfrm>
          <a:prstGeom prst="rect">
            <a:avLst/>
          </a:prstGeom>
          <a:noFill/>
          <a:ln/>
        </p:spPr>
        <p:txBody>
          <a:bodyPr wrap="square" lIns="0" tIns="0" rIns="0" bIns="0" rtlCol="0" anchor="ctr"/>
          <a:lstStyle/>
          <a:p>
            <a:pPr marL="0" indent="0" algn="ctr">
              <a:lnSpc>
                <a:spcPct val="112000"/>
              </a:lnSpc>
              <a:buNone/>
            </a:pPr>
            <a:r>
              <a:rPr lang="en-US" sz="1050" dirty="0">
                <a:solidFill>
                  <a:srgbClr val="5B6B7C"/>
                </a:solidFill>
                <a:latin typeface="Calibri" pitchFamily="34" charset="0"/>
                <a:ea typeface="Calibri" pitchFamily="34" charset="-122"/>
                <a:cs typeface="Calibri" pitchFamily="34" charset="-120"/>
              </a:rPr>
              <a:t>Practice timing and leave room for Q&amp;A at the end.</a:t>
            </a:r>
            <a:endParaRPr lang="en-US" sz="1050" dirty="0"/>
          </a:p>
        </p:txBody>
      </p:sp>
      <p:sp>
        <p:nvSpPr>
          <p:cNvPr id="13" name="Shape 9"/>
          <p:cNvSpPr/>
          <p:nvPr/>
        </p:nvSpPr>
        <p:spPr>
          <a:xfrm>
            <a:off x="2596896" y="1691640"/>
            <a:ext cx="1938528" cy="2697480"/>
          </a:xfrm>
          <a:prstGeom prst="roundRect">
            <a:avLst>
              <a:gd name="adj" fmla="val 4245"/>
            </a:avLst>
          </a:prstGeom>
          <a:solidFill>
            <a:srgbClr val="FFFFFF"/>
          </a:solidFill>
          <a:ln/>
          <a:effectLst>
            <a:outerShdw blurRad="114300" dist="38100" dir="5400000" algn="bl" rotWithShape="0">
              <a:srgbClr val="1B2733">
                <a:alpha val="10000"/>
              </a:srgbClr>
            </a:outerShdw>
          </a:effectLst>
        </p:spPr>
      </p:sp>
      <p:sp>
        <p:nvSpPr>
          <p:cNvPr id="14" name="Shape 10"/>
          <p:cNvSpPr/>
          <p:nvPr/>
        </p:nvSpPr>
        <p:spPr>
          <a:xfrm>
            <a:off x="3246120" y="1965960"/>
            <a:ext cx="640080" cy="640080"/>
          </a:xfrm>
          <a:prstGeom prst="ellipse">
            <a:avLst/>
          </a:prstGeom>
          <a:solidFill>
            <a:srgbClr val="129C76"/>
          </a:solidFill>
          <a:ln/>
        </p:spPr>
      </p:sp>
      <p:pic>
        <p:nvPicPr>
          <p:cNvPr id="15" name="Image 2" descr="preencoded.png"/>
          <p:cNvPicPr>
            <a:picLocks noChangeAspect="1"/>
          </p:cNvPicPr>
          <p:nvPr/>
        </p:nvPicPr>
        <p:blipFill>
          <a:blip r:embed="rId5"/>
          <a:stretch>
            <a:fillRect/>
          </a:stretch>
        </p:blipFill>
        <p:spPr>
          <a:xfrm>
            <a:off x="3335731" y="2055571"/>
            <a:ext cx="460858" cy="460858"/>
          </a:xfrm>
          <a:prstGeom prst="rect">
            <a:avLst/>
          </a:prstGeom>
        </p:spPr>
      </p:pic>
      <p:sp>
        <p:nvSpPr>
          <p:cNvPr id="16" name="Text 11"/>
          <p:cNvSpPr/>
          <p:nvPr/>
        </p:nvSpPr>
        <p:spPr>
          <a:xfrm>
            <a:off x="2706624" y="2788920"/>
            <a:ext cx="1719072" cy="502920"/>
          </a:xfrm>
          <a:prstGeom prst="rect">
            <a:avLst/>
          </a:prstGeom>
          <a:noFill/>
          <a:ln/>
        </p:spPr>
        <p:txBody>
          <a:bodyPr wrap="square" lIns="0" tIns="0" rIns="0" bIns="0" rtlCol="0" anchor="ctr"/>
          <a:lstStyle/>
          <a:p>
            <a:pPr marL="0" indent="0" algn="ctr">
              <a:buNone/>
            </a:pPr>
            <a:r>
              <a:rPr lang="en-US" sz="1250" b="1" dirty="0">
                <a:solidFill>
                  <a:srgbClr val="1E2A38"/>
                </a:solidFill>
                <a:latin typeface="Calibri" pitchFamily="34" charset="0"/>
                <a:ea typeface="Calibri" pitchFamily="34" charset="-122"/>
                <a:cs typeface="Calibri" pitchFamily="34" charset="-120"/>
              </a:rPr>
              <a:t>Audience Interaction</a:t>
            </a:r>
            <a:endParaRPr lang="en-US" sz="1250" dirty="0"/>
          </a:p>
        </p:txBody>
      </p:sp>
      <p:sp>
        <p:nvSpPr>
          <p:cNvPr id="17" name="Text 12"/>
          <p:cNvSpPr/>
          <p:nvPr/>
        </p:nvSpPr>
        <p:spPr>
          <a:xfrm>
            <a:off x="2724912" y="3273552"/>
            <a:ext cx="1682496" cy="1005840"/>
          </a:xfrm>
          <a:prstGeom prst="rect">
            <a:avLst/>
          </a:prstGeom>
          <a:noFill/>
          <a:ln/>
        </p:spPr>
        <p:txBody>
          <a:bodyPr wrap="square" lIns="0" tIns="0" rIns="0" bIns="0" rtlCol="0" anchor="ctr"/>
          <a:lstStyle/>
          <a:p>
            <a:pPr marL="0" indent="0" algn="ctr">
              <a:lnSpc>
                <a:spcPct val="112000"/>
              </a:lnSpc>
              <a:buNone/>
            </a:pPr>
            <a:r>
              <a:rPr lang="en-US" sz="1050" dirty="0">
                <a:solidFill>
                  <a:srgbClr val="5B6B7C"/>
                </a:solidFill>
                <a:latin typeface="Calibri" pitchFamily="34" charset="0"/>
                <a:ea typeface="Calibri" pitchFamily="34" charset="-122"/>
                <a:cs typeface="Calibri" pitchFamily="34" charset="-120"/>
              </a:rPr>
              <a:t>Polls and discussion keep the room engaged.</a:t>
            </a:r>
            <a:endParaRPr lang="en-US" sz="1050" dirty="0"/>
          </a:p>
        </p:txBody>
      </p:sp>
      <p:sp>
        <p:nvSpPr>
          <p:cNvPr id="18" name="Shape 13"/>
          <p:cNvSpPr/>
          <p:nvPr/>
        </p:nvSpPr>
        <p:spPr>
          <a:xfrm>
            <a:off x="4645152" y="1691640"/>
            <a:ext cx="1938528" cy="2697480"/>
          </a:xfrm>
          <a:prstGeom prst="roundRect">
            <a:avLst>
              <a:gd name="adj" fmla="val 4245"/>
            </a:avLst>
          </a:prstGeom>
          <a:solidFill>
            <a:srgbClr val="FFFFFF"/>
          </a:solidFill>
          <a:ln/>
          <a:effectLst>
            <a:outerShdw blurRad="114300" dist="38100" dir="5400000" algn="bl" rotWithShape="0">
              <a:srgbClr val="1B2733">
                <a:alpha val="10000"/>
              </a:srgbClr>
            </a:outerShdw>
          </a:effectLst>
        </p:spPr>
      </p:sp>
      <p:sp>
        <p:nvSpPr>
          <p:cNvPr id="19" name="Shape 14"/>
          <p:cNvSpPr/>
          <p:nvPr/>
        </p:nvSpPr>
        <p:spPr>
          <a:xfrm>
            <a:off x="5294376" y="1965960"/>
            <a:ext cx="640080" cy="640080"/>
          </a:xfrm>
          <a:prstGeom prst="ellipse">
            <a:avLst/>
          </a:prstGeom>
          <a:solidFill>
            <a:srgbClr val="1565A8"/>
          </a:solidFill>
          <a:ln/>
        </p:spPr>
      </p:sp>
      <p:pic>
        <p:nvPicPr>
          <p:cNvPr id="20" name="Image 3" descr="preencoded.png"/>
          <p:cNvPicPr>
            <a:picLocks noChangeAspect="1"/>
          </p:cNvPicPr>
          <p:nvPr/>
        </p:nvPicPr>
        <p:blipFill>
          <a:blip r:embed="rId6"/>
          <a:stretch>
            <a:fillRect/>
          </a:stretch>
        </p:blipFill>
        <p:spPr>
          <a:xfrm>
            <a:off x="5383987" y="2055571"/>
            <a:ext cx="460858" cy="460858"/>
          </a:xfrm>
          <a:prstGeom prst="rect">
            <a:avLst/>
          </a:prstGeom>
        </p:spPr>
      </p:pic>
      <p:sp>
        <p:nvSpPr>
          <p:cNvPr id="21" name="Text 15"/>
          <p:cNvSpPr/>
          <p:nvPr/>
        </p:nvSpPr>
        <p:spPr>
          <a:xfrm>
            <a:off x="4754880" y="2788920"/>
            <a:ext cx="1719072" cy="502920"/>
          </a:xfrm>
          <a:prstGeom prst="rect">
            <a:avLst/>
          </a:prstGeom>
          <a:noFill/>
          <a:ln/>
        </p:spPr>
        <p:txBody>
          <a:bodyPr wrap="square" lIns="0" tIns="0" rIns="0" bIns="0" rtlCol="0" anchor="ctr"/>
          <a:lstStyle/>
          <a:p>
            <a:pPr marL="0" indent="0" algn="ctr">
              <a:buNone/>
            </a:pPr>
            <a:r>
              <a:rPr lang="en-US" sz="1250" b="1" dirty="0">
                <a:solidFill>
                  <a:srgbClr val="1E2A38"/>
                </a:solidFill>
                <a:latin typeface="Calibri" pitchFamily="34" charset="0"/>
                <a:ea typeface="Calibri" pitchFamily="34" charset="-122"/>
                <a:cs typeface="Calibri" pitchFamily="34" charset="-120"/>
              </a:rPr>
              <a:t>Handling Questions</a:t>
            </a:r>
            <a:endParaRPr lang="en-US" sz="1250" dirty="0"/>
          </a:p>
        </p:txBody>
      </p:sp>
      <p:sp>
        <p:nvSpPr>
          <p:cNvPr id="22" name="Text 16"/>
          <p:cNvSpPr/>
          <p:nvPr/>
        </p:nvSpPr>
        <p:spPr>
          <a:xfrm>
            <a:off x="4773168" y="3273552"/>
            <a:ext cx="1682496" cy="1005840"/>
          </a:xfrm>
          <a:prstGeom prst="rect">
            <a:avLst/>
          </a:prstGeom>
          <a:noFill/>
          <a:ln/>
        </p:spPr>
        <p:txBody>
          <a:bodyPr wrap="square" lIns="0" tIns="0" rIns="0" bIns="0" rtlCol="0" anchor="ctr"/>
          <a:lstStyle/>
          <a:p>
            <a:pPr marL="0" indent="0" algn="ctr">
              <a:lnSpc>
                <a:spcPct val="112000"/>
              </a:lnSpc>
              <a:buNone/>
            </a:pPr>
            <a:r>
              <a:rPr lang="en-US" sz="1050" dirty="0">
                <a:solidFill>
                  <a:srgbClr val="5B6B7C"/>
                </a:solidFill>
                <a:latin typeface="Calibri" pitchFamily="34" charset="0"/>
                <a:ea typeface="Calibri" pitchFamily="34" charset="-122"/>
                <a:cs typeface="Calibri" pitchFamily="34" charset="-120"/>
              </a:rPr>
              <a:t>Listen fully, answer concisely, stay composed.</a:t>
            </a:r>
            <a:endParaRPr lang="en-US" sz="1050" dirty="0"/>
          </a:p>
        </p:txBody>
      </p:sp>
      <p:sp>
        <p:nvSpPr>
          <p:cNvPr id="23" name="Shape 17"/>
          <p:cNvSpPr/>
          <p:nvPr/>
        </p:nvSpPr>
        <p:spPr>
          <a:xfrm>
            <a:off x="6693408" y="1691640"/>
            <a:ext cx="1938528" cy="2697480"/>
          </a:xfrm>
          <a:prstGeom prst="roundRect">
            <a:avLst>
              <a:gd name="adj" fmla="val 4245"/>
            </a:avLst>
          </a:prstGeom>
          <a:solidFill>
            <a:srgbClr val="FFFFFF"/>
          </a:solidFill>
          <a:ln/>
          <a:effectLst>
            <a:outerShdw blurRad="114300" dist="38100" dir="5400000" algn="bl" rotWithShape="0">
              <a:srgbClr val="1B2733">
                <a:alpha val="10000"/>
              </a:srgbClr>
            </a:outerShdw>
          </a:effectLst>
        </p:spPr>
      </p:sp>
      <p:sp>
        <p:nvSpPr>
          <p:cNvPr id="24" name="Shape 18"/>
          <p:cNvSpPr/>
          <p:nvPr/>
        </p:nvSpPr>
        <p:spPr>
          <a:xfrm>
            <a:off x="7342632" y="1965960"/>
            <a:ext cx="640080" cy="640080"/>
          </a:xfrm>
          <a:prstGeom prst="ellipse">
            <a:avLst/>
          </a:prstGeom>
          <a:solidFill>
            <a:srgbClr val="129C76"/>
          </a:solidFill>
          <a:ln/>
        </p:spPr>
      </p:sp>
      <p:pic>
        <p:nvPicPr>
          <p:cNvPr id="25" name="Image 4" descr="preencoded.png"/>
          <p:cNvPicPr>
            <a:picLocks noChangeAspect="1"/>
          </p:cNvPicPr>
          <p:nvPr/>
        </p:nvPicPr>
        <p:blipFill>
          <a:blip r:embed="rId3"/>
          <a:stretch>
            <a:fillRect/>
          </a:stretch>
        </p:blipFill>
        <p:spPr>
          <a:xfrm>
            <a:off x="7432243" y="2055571"/>
            <a:ext cx="460858" cy="460858"/>
          </a:xfrm>
          <a:prstGeom prst="rect">
            <a:avLst/>
          </a:prstGeom>
        </p:spPr>
      </p:pic>
      <p:sp>
        <p:nvSpPr>
          <p:cNvPr id="26" name="Text 19"/>
          <p:cNvSpPr/>
          <p:nvPr/>
        </p:nvSpPr>
        <p:spPr>
          <a:xfrm>
            <a:off x="6803136" y="2788920"/>
            <a:ext cx="1719072" cy="502920"/>
          </a:xfrm>
          <a:prstGeom prst="rect">
            <a:avLst/>
          </a:prstGeom>
          <a:noFill/>
          <a:ln/>
        </p:spPr>
        <p:txBody>
          <a:bodyPr wrap="square" lIns="0" tIns="0" rIns="0" bIns="0" rtlCol="0" anchor="ctr"/>
          <a:lstStyle/>
          <a:p>
            <a:pPr marL="0" indent="0" algn="ctr">
              <a:buNone/>
            </a:pPr>
            <a:r>
              <a:rPr lang="en-US" sz="1250" b="1" dirty="0">
                <a:solidFill>
                  <a:srgbClr val="1E2A38"/>
                </a:solidFill>
                <a:latin typeface="Calibri" pitchFamily="34" charset="0"/>
                <a:ea typeface="Calibri" pitchFamily="34" charset="-122"/>
                <a:cs typeface="Calibri" pitchFamily="34" charset="-120"/>
              </a:rPr>
              <a:t>Energy &amp; Engagement</a:t>
            </a:r>
            <a:endParaRPr lang="en-US" sz="1250" dirty="0"/>
          </a:p>
        </p:txBody>
      </p:sp>
      <p:sp>
        <p:nvSpPr>
          <p:cNvPr id="27" name="Text 20"/>
          <p:cNvSpPr/>
          <p:nvPr/>
        </p:nvSpPr>
        <p:spPr>
          <a:xfrm>
            <a:off x="6821424" y="3273552"/>
            <a:ext cx="1682496" cy="1005840"/>
          </a:xfrm>
          <a:prstGeom prst="rect">
            <a:avLst/>
          </a:prstGeom>
          <a:noFill/>
          <a:ln/>
        </p:spPr>
        <p:txBody>
          <a:bodyPr wrap="square" lIns="0" tIns="0" rIns="0" bIns="0" rtlCol="0" anchor="ctr"/>
          <a:lstStyle/>
          <a:p>
            <a:pPr marL="0" indent="0" algn="ctr">
              <a:lnSpc>
                <a:spcPct val="112000"/>
              </a:lnSpc>
              <a:buNone/>
            </a:pPr>
            <a:r>
              <a:rPr lang="en-US" sz="1050" dirty="0">
                <a:solidFill>
                  <a:srgbClr val="5B6B7C"/>
                </a:solidFill>
                <a:latin typeface="Calibri" pitchFamily="34" charset="0"/>
                <a:ea typeface="Calibri" pitchFamily="34" charset="-122"/>
                <a:cs typeface="Calibri" pitchFamily="34" charset="-120"/>
              </a:rPr>
              <a:t>Vary tone and movement to sustain attention.</a:t>
            </a:r>
            <a:endParaRPr lang="en-US" sz="1050" dirty="0"/>
          </a:p>
        </p:txBody>
      </p:sp>
      <p:sp>
        <p:nvSpPr>
          <p:cNvPr id="28" name="Text 21"/>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9" name="Text 22"/>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92440" y="-960120"/>
            <a:ext cx="2194560" cy="2194560"/>
          </a:xfrm>
          <a:prstGeom prst="ellipse">
            <a:avLst/>
          </a:prstGeom>
          <a:solidFill>
            <a:srgbClr val="EAF3FB"/>
          </a:solidFill>
          <a:ln/>
        </p:spPr>
      </p:sp>
      <p:sp>
        <p:nvSpPr>
          <p:cNvPr id="3" name="Shape 1"/>
          <p:cNvSpPr/>
          <p:nvPr/>
        </p:nvSpPr>
        <p:spPr>
          <a:xfrm>
            <a:off x="-640080" y="4434840"/>
            <a:ext cx="1554480" cy="1554480"/>
          </a:xfrm>
          <a:prstGeom prst="ellipse">
            <a:avLst/>
          </a:prstGeom>
          <a:solidFill>
            <a:srgbClr val="E7F7F1"/>
          </a:solidFill>
          <a:ln/>
        </p:spPr>
      </p:sp>
      <p:sp>
        <p:nvSpPr>
          <p:cNvPr id="4" name="Text 2"/>
          <p:cNvSpPr/>
          <p:nvPr/>
        </p:nvSpPr>
        <p:spPr>
          <a:xfrm>
            <a:off x="502920" y="347472"/>
            <a:ext cx="6858000" cy="274320"/>
          </a:xfrm>
          <a:prstGeom prst="rect">
            <a:avLst/>
          </a:prstGeom>
          <a:noFill/>
          <a:ln/>
        </p:spPr>
        <p:txBody>
          <a:bodyPr wrap="square" lIns="0" tIns="0" rIns="0" bIns="0" rtlCol="0" anchor="ctr"/>
          <a:lstStyle/>
          <a:p>
            <a:pPr marL="0" indent="0">
              <a:buNone/>
            </a:pPr>
            <a:r>
              <a:rPr lang="en-US" sz="1150" b="1" kern="0" spc="200" dirty="0">
                <a:solidFill>
                  <a:srgbClr val="129C76"/>
                </a:solidFill>
                <a:latin typeface="Calibri" pitchFamily="34" charset="0"/>
                <a:ea typeface="Calibri" pitchFamily="34" charset="-122"/>
                <a:cs typeface="Calibri" pitchFamily="34" charset="-120"/>
              </a:rPr>
              <a:t>PRACTICAL CHECKLIST</a:t>
            </a:r>
            <a:endParaRPr lang="en-US" sz="1150" dirty="0"/>
          </a:p>
        </p:txBody>
      </p:sp>
      <p:sp>
        <p:nvSpPr>
          <p:cNvPr id="5" name="Text 3"/>
          <p:cNvSpPr/>
          <p:nvPr/>
        </p:nvSpPr>
        <p:spPr>
          <a:xfrm>
            <a:off x="475488" y="603504"/>
            <a:ext cx="7315200" cy="566928"/>
          </a:xfrm>
          <a:prstGeom prst="rect">
            <a:avLst/>
          </a:prstGeom>
          <a:noFill/>
          <a:ln/>
        </p:spPr>
        <p:txBody>
          <a:bodyPr wrap="square" lIns="0" tIns="0" rIns="0" bIns="0" rtlCol="0" anchor="t"/>
          <a:lstStyle/>
          <a:p>
            <a:pPr marL="0" indent="0">
              <a:buNone/>
            </a:pPr>
            <a:r>
              <a:rPr lang="en-US" sz="2700" b="1" dirty="0">
                <a:solidFill>
                  <a:srgbClr val="1E2A38"/>
                </a:solidFill>
                <a:latin typeface="Cambria" pitchFamily="34" charset="0"/>
                <a:ea typeface="Cambria" pitchFamily="34" charset="-122"/>
                <a:cs typeface="Cambria" pitchFamily="34" charset="-120"/>
              </a:rPr>
              <a:t>Best Practices &amp; Common Mistakes</a:t>
            </a:r>
            <a:endParaRPr lang="en-US" sz="2700" dirty="0"/>
          </a:p>
        </p:txBody>
      </p:sp>
      <p:sp>
        <p:nvSpPr>
          <p:cNvPr id="6" name="Shape 4"/>
          <p:cNvSpPr/>
          <p:nvPr/>
        </p:nvSpPr>
        <p:spPr>
          <a:xfrm>
            <a:off x="8001000" y="384048"/>
            <a:ext cx="603504" cy="603504"/>
          </a:xfrm>
          <a:prstGeom prst="ellipse">
            <a:avLst/>
          </a:prstGeom>
          <a:solidFill>
            <a:srgbClr val="129C76"/>
          </a:solidFill>
          <a:ln/>
          <a:effectLst>
            <a:outerShdw blurRad="88900" dist="38100" dir="5400000" algn="bl" rotWithShape="0">
              <a:srgbClr val="1B2733">
                <a:alpha val="18000"/>
              </a:srgbClr>
            </a:outerShdw>
          </a:effectLst>
        </p:spPr>
      </p:sp>
      <p:pic>
        <p:nvPicPr>
          <p:cNvPr id="7" name="Image 0" descr="preencoded.png"/>
          <p:cNvPicPr>
            <a:picLocks noChangeAspect="1"/>
          </p:cNvPicPr>
          <p:nvPr/>
        </p:nvPicPr>
        <p:blipFill>
          <a:blip r:embed="rId3"/>
          <a:stretch>
            <a:fillRect/>
          </a:stretch>
        </p:blipFill>
        <p:spPr>
          <a:xfrm>
            <a:off x="8165592" y="548640"/>
            <a:ext cx="274320" cy="274320"/>
          </a:xfrm>
          <a:prstGeom prst="rect">
            <a:avLst/>
          </a:prstGeom>
        </p:spPr>
      </p:pic>
      <p:sp>
        <p:nvSpPr>
          <p:cNvPr id="8" name="Shape 5"/>
          <p:cNvSpPr/>
          <p:nvPr/>
        </p:nvSpPr>
        <p:spPr>
          <a:xfrm>
            <a:off x="548640" y="1417320"/>
            <a:ext cx="3886200" cy="3246120"/>
          </a:xfrm>
          <a:prstGeom prst="roundRect">
            <a:avLst>
              <a:gd name="adj" fmla="val 2535"/>
            </a:avLst>
          </a:prstGeom>
          <a:solidFill>
            <a:srgbClr val="E7F7F1"/>
          </a:solidFill>
          <a:ln/>
          <a:effectLst>
            <a:outerShdw blurRad="114300" dist="38100" dir="5400000" algn="bl" rotWithShape="0">
              <a:srgbClr val="1B2733">
                <a:alpha val="10000"/>
              </a:srgbClr>
            </a:outerShdw>
          </a:effectLst>
        </p:spPr>
      </p:sp>
      <p:sp>
        <p:nvSpPr>
          <p:cNvPr id="9" name="Shape 6"/>
          <p:cNvSpPr/>
          <p:nvPr/>
        </p:nvSpPr>
        <p:spPr>
          <a:xfrm>
            <a:off x="777240" y="1627632"/>
            <a:ext cx="457200" cy="457200"/>
          </a:xfrm>
          <a:prstGeom prst="ellipse">
            <a:avLst/>
          </a:prstGeom>
          <a:solidFill>
            <a:srgbClr val="129C76"/>
          </a:solidFill>
          <a:ln/>
        </p:spPr>
      </p:sp>
      <p:pic>
        <p:nvPicPr>
          <p:cNvPr id="10" name="Image 1" descr="preencoded.png"/>
          <p:cNvPicPr>
            <a:picLocks noChangeAspect="1"/>
          </p:cNvPicPr>
          <p:nvPr/>
        </p:nvPicPr>
        <p:blipFill>
          <a:blip r:embed="rId4"/>
          <a:stretch>
            <a:fillRect/>
          </a:stretch>
        </p:blipFill>
        <p:spPr>
          <a:xfrm>
            <a:off x="841248" y="1691640"/>
            <a:ext cx="329184" cy="329184"/>
          </a:xfrm>
          <a:prstGeom prst="rect">
            <a:avLst/>
          </a:prstGeom>
        </p:spPr>
      </p:pic>
      <p:sp>
        <p:nvSpPr>
          <p:cNvPr id="11" name="Text 7"/>
          <p:cNvSpPr/>
          <p:nvPr/>
        </p:nvSpPr>
        <p:spPr>
          <a:xfrm>
            <a:off x="1325880" y="1645920"/>
            <a:ext cx="2743200" cy="384048"/>
          </a:xfrm>
          <a:prstGeom prst="rect">
            <a:avLst/>
          </a:prstGeom>
          <a:noFill/>
          <a:ln/>
        </p:spPr>
        <p:txBody>
          <a:bodyPr wrap="square" lIns="0" tIns="0" rIns="0" bIns="0" rtlCol="0" anchor="ctr"/>
          <a:lstStyle/>
          <a:p>
            <a:pPr marL="0" indent="0">
              <a:buNone/>
            </a:pPr>
            <a:r>
              <a:rPr lang="en-US" sz="1800" b="1" dirty="0">
                <a:solidFill>
                  <a:srgbClr val="0D7A5C"/>
                </a:solidFill>
                <a:latin typeface="Cambria" pitchFamily="34" charset="0"/>
                <a:ea typeface="Cambria" pitchFamily="34" charset="-122"/>
                <a:cs typeface="Cambria" pitchFamily="34" charset="-120"/>
              </a:rPr>
              <a:t>Do</a:t>
            </a:r>
            <a:endParaRPr lang="en-US" sz="1800" dirty="0"/>
          </a:p>
        </p:txBody>
      </p:sp>
      <p:sp>
        <p:nvSpPr>
          <p:cNvPr id="12" name="Shape 8"/>
          <p:cNvSpPr/>
          <p:nvPr/>
        </p:nvSpPr>
        <p:spPr>
          <a:xfrm>
            <a:off x="841248" y="2313432"/>
            <a:ext cx="91440" cy="91440"/>
          </a:xfrm>
          <a:prstGeom prst="ellipse">
            <a:avLst/>
          </a:prstGeom>
          <a:solidFill>
            <a:srgbClr val="129C76"/>
          </a:solidFill>
          <a:ln/>
        </p:spPr>
      </p:sp>
      <p:sp>
        <p:nvSpPr>
          <p:cNvPr id="13" name="Text 9"/>
          <p:cNvSpPr/>
          <p:nvPr/>
        </p:nvSpPr>
        <p:spPr>
          <a:xfrm>
            <a:off x="1078992" y="2167128"/>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Practice out loud, multiple times</a:t>
            </a:r>
            <a:endParaRPr lang="en-US" sz="1250" dirty="0"/>
          </a:p>
        </p:txBody>
      </p:sp>
      <p:sp>
        <p:nvSpPr>
          <p:cNvPr id="14" name="Shape 10"/>
          <p:cNvSpPr/>
          <p:nvPr/>
        </p:nvSpPr>
        <p:spPr>
          <a:xfrm>
            <a:off x="841248" y="2935224"/>
            <a:ext cx="91440" cy="91440"/>
          </a:xfrm>
          <a:prstGeom prst="ellipse">
            <a:avLst/>
          </a:prstGeom>
          <a:solidFill>
            <a:srgbClr val="129C76"/>
          </a:solidFill>
          <a:ln/>
        </p:spPr>
      </p:sp>
      <p:sp>
        <p:nvSpPr>
          <p:cNvPr id="15" name="Text 11"/>
          <p:cNvSpPr/>
          <p:nvPr/>
        </p:nvSpPr>
        <p:spPr>
          <a:xfrm>
            <a:off x="1078992" y="2788920"/>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Make eye contact with the audience</a:t>
            </a:r>
            <a:endParaRPr lang="en-US" sz="1250" dirty="0"/>
          </a:p>
        </p:txBody>
      </p:sp>
      <p:sp>
        <p:nvSpPr>
          <p:cNvPr id="16" name="Shape 12"/>
          <p:cNvSpPr/>
          <p:nvPr/>
        </p:nvSpPr>
        <p:spPr>
          <a:xfrm>
            <a:off x="841248" y="3557016"/>
            <a:ext cx="91440" cy="91440"/>
          </a:xfrm>
          <a:prstGeom prst="ellipse">
            <a:avLst/>
          </a:prstGeom>
          <a:solidFill>
            <a:srgbClr val="129C76"/>
          </a:solidFill>
          <a:ln/>
        </p:spPr>
      </p:sp>
      <p:sp>
        <p:nvSpPr>
          <p:cNvPr id="17" name="Text 13"/>
          <p:cNvSpPr/>
          <p:nvPr/>
        </p:nvSpPr>
        <p:spPr>
          <a:xfrm>
            <a:off x="1078992" y="3410712"/>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Use visuals to simplify complex ideas</a:t>
            </a:r>
            <a:endParaRPr lang="en-US" sz="1250" dirty="0"/>
          </a:p>
        </p:txBody>
      </p:sp>
      <p:sp>
        <p:nvSpPr>
          <p:cNvPr id="18" name="Shape 14"/>
          <p:cNvSpPr/>
          <p:nvPr/>
        </p:nvSpPr>
        <p:spPr>
          <a:xfrm>
            <a:off x="841248" y="4178808"/>
            <a:ext cx="91440" cy="91440"/>
          </a:xfrm>
          <a:prstGeom prst="ellipse">
            <a:avLst/>
          </a:prstGeom>
          <a:solidFill>
            <a:srgbClr val="129C76"/>
          </a:solidFill>
          <a:ln/>
        </p:spPr>
      </p:sp>
      <p:sp>
        <p:nvSpPr>
          <p:cNvPr id="19" name="Text 15"/>
          <p:cNvSpPr/>
          <p:nvPr/>
        </p:nvSpPr>
        <p:spPr>
          <a:xfrm>
            <a:off x="1078992" y="4032504"/>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Arrive early and test your equipment</a:t>
            </a:r>
            <a:endParaRPr lang="en-US" sz="1250" dirty="0"/>
          </a:p>
        </p:txBody>
      </p:sp>
      <p:sp>
        <p:nvSpPr>
          <p:cNvPr id="20" name="Shape 16"/>
          <p:cNvSpPr/>
          <p:nvPr/>
        </p:nvSpPr>
        <p:spPr>
          <a:xfrm>
            <a:off x="4709160" y="1417320"/>
            <a:ext cx="3886200" cy="3246120"/>
          </a:xfrm>
          <a:prstGeom prst="roundRect">
            <a:avLst>
              <a:gd name="adj" fmla="val 2535"/>
            </a:avLst>
          </a:prstGeom>
          <a:solidFill>
            <a:srgbClr val="EAF3FB"/>
          </a:solidFill>
          <a:ln/>
          <a:effectLst>
            <a:outerShdw blurRad="114300" dist="38100" dir="5400000" algn="bl" rotWithShape="0">
              <a:srgbClr val="1B2733">
                <a:alpha val="10000"/>
              </a:srgbClr>
            </a:outerShdw>
          </a:effectLst>
        </p:spPr>
      </p:sp>
      <p:sp>
        <p:nvSpPr>
          <p:cNvPr id="21" name="Shape 17"/>
          <p:cNvSpPr/>
          <p:nvPr/>
        </p:nvSpPr>
        <p:spPr>
          <a:xfrm>
            <a:off x="4937760" y="1627632"/>
            <a:ext cx="457200" cy="457200"/>
          </a:xfrm>
          <a:prstGeom prst="ellipse">
            <a:avLst/>
          </a:prstGeom>
          <a:solidFill>
            <a:srgbClr val="1565A8"/>
          </a:solidFill>
          <a:ln/>
        </p:spPr>
      </p:sp>
      <p:pic>
        <p:nvPicPr>
          <p:cNvPr id="22" name="Image 2" descr="preencoded.png"/>
          <p:cNvPicPr>
            <a:picLocks noChangeAspect="1"/>
          </p:cNvPicPr>
          <p:nvPr/>
        </p:nvPicPr>
        <p:blipFill>
          <a:blip r:embed="rId5"/>
          <a:stretch>
            <a:fillRect/>
          </a:stretch>
        </p:blipFill>
        <p:spPr>
          <a:xfrm>
            <a:off x="5001768" y="1691640"/>
            <a:ext cx="329184" cy="329184"/>
          </a:xfrm>
          <a:prstGeom prst="rect">
            <a:avLst/>
          </a:prstGeom>
        </p:spPr>
      </p:pic>
      <p:sp>
        <p:nvSpPr>
          <p:cNvPr id="23" name="Text 18"/>
          <p:cNvSpPr/>
          <p:nvPr/>
        </p:nvSpPr>
        <p:spPr>
          <a:xfrm>
            <a:off x="5486400" y="1645920"/>
            <a:ext cx="2743200" cy="384048"/>
          </a:xfrm>
          <a:prstGeom prst="rect">
            <a:avLst/>
          </a:prstGeom>
          <a:noFill/>
          <a:ln/>
        </p:spPr>
        <p:txBody>
          <a:bodyPr wrap="square" lIns="0" tIns="0" rIns="0" bIns="0" rtlCol="0" anchor="ctr"/>
          <a:lstStyle/>
          <a:p>
            <a:pPr marL="0" indent="0">
              <a:buNone/>
            </a:pPr>
            <a:r>
              <a:rPr lang="en-US" sz="1800" b="1" dirty="0">
                <a:solidFill>
                  <a:srgbClr val="0B4A7D"/>
                </a:solidFill>
                <a:latin typeface="Cambria" pitchFamily="34" charset="0"/>
                <a:ea typeface="Cambria" pitchFamily="34" charset="-122"/>
                <a:cs typeface="Cambria" pitchFamily="34" charset="-120"/>
              </a:rPr>
              <a:t>Don't</a:t>
            </a:r>
            <a:endParaRPr lang="en-US" sz="1800" dirty="0"/>
          </a:p>
        </p:txBody>
      </p:sp>
      <p:sp>
        <p:nvSpPr>
          <p:cNvPr id="24" name="Shape 19"/>
          <p:cNvSpPr/>
          <p:nvPr/>
        </p:nvSpPr>
        <p:spPr>
          <a:xfrm>
            <a:off x="5001768" y="2313432"/>
            <a:ext cx="91440" cy="91440"/>
          </a:xfrm>
          <a:prstGeom prst="ellipse">
            <a:avLst/>
          </a:prstGeom>
          <a:solidFill>
            <a:srgbClr val="1565A8"/>
          </a:solidFill>
          <a:ln/>
        </p:spPr>
      </p:sp>
      <p:sp>
        <p:nvSpPr>
          <p:cNvPr id="25" name="Text 20"/>
          <p:cNvSpPr/>
          <p:nvPr/>
        </p:nvSpPr>
        <p:spPr>
          <a:xfrm>
            <a:off x="5239512" y="2167128"/>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Read directly from your slides</a:t>
            </a:r>
            <a:endParaRPr lang="en-US" sz="1250" dirty="0"/>
          </a:p>
        </p:txBody>
      </p:sp>
      <p:sp>
        <p:nvSpPr>
          <p:cNvPr id="26" name="Shape 21"/>
          <p:cNvSpPr/>
          <p:nvPr/>
        </p:nvSpPr>
        <p:spPr>
          <a:xfrm>
            <a:off x="5001768" y="2935224"/>
            <a:ext cx="91440" cy="91440"/>
          </a:xfrm>
          <a:prstGeom prst="ellipse">
            <a:avLst/>
          </a:prstGeom>
          <a:solidFill>
            <a:srgbClr val="1565A8"/>
          </a:solidFill>
          <a:ln/>
        </p:spPr>
      </p:sp>
      <p:sp>
        <p:nvSpPr>
          <p:cNvPr id="27" name="Text 22"/>
          <p:cNvSpPr/>
          <p:nvPr/>
        </p:nvSpPr>
        <p:spPr>
          <a:xfrm>
            <a:off x="5239512" y="2788920"/>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Overload slides with text or data</a:t>
            </a:r>
            <a:endParaRPr lang="en-US" sz="1250" dirty="0"/>
          </a:p>
        </p:txBody>
      </p:sp>
      <p:sp>
        <p:nvSpPr>
          <p:cNvPr id="28" name="Shape 23"/>
          <p:cNvSpPr/>
          <p:nvPr/>
        </p:nvSpPr>
        <p:spPr>
          <a:xfrm>
            <a:off x="5001768" y="3557016"/>
            <a:ext cx="91440" cy="91440"/>
          </a:xfrm>
          <a:prstGeom prst="ellipse">
            <a:avLst/>
          </a:prstGeom>
          <a:solidFill>
            <a:srgbClr val="1565A8"/>
          </a:solidFill>
          <a:ln/>
        </p:spPr>
      </p:sp>
      <p:sp>
        <p:nvSpPr>
          <p:cNvPr id="29" name="Text 24"/>
          <p:cNvSpPr/>
          <p:nvPr/>
        </p:nvSpPr>
        <p:spPr>
          <a:xfrm>
            <a:off x="5239512" y="3410712"/>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Speak in a flat, monotone voice</a:t>
            </a:r>
            <a:endParaRPr lang="en-US" sz="1250" dirty="0"/>
          </a:p>
        </p:txBody>
      </p:sp>
      <p:sp>
        <p:nvSpPr>
          <p:cNvPr id="30" name="Shape 25"/>
          <p:cNvSpPr/>
          <p:nvPr/>
        </p:nvSpPr>
        <p:spPr>
          <a:xfrm>
            <a:off x="5001768" y="4178808"/>
            <a:ext cx="91440" cy="91440"/>
          </a:xfrm>
          <a:prstGeom prst="ellipse">
            <a:avLst/>
          </a:prstGeom>
          <a:solidFill>
            <a:srgbClr val="1565A8"/>
          </a:solidFill>
          <a:ln/>
        </p:spPr>
      </p:sp>
      <p:sp>
        <p:nvSpPr>
          <p:cNvPr id="31" name="Text 26"/>
          <p:cNvSpPr/>
          <p:nvPr/>
        </p:nvSpPr>
        <p:spPr>
          <a:xfrm>
            <a:off x="5239512" y="4032504"/>
            <a:ext cx="3200400" cy="502920"/>
          </a:xfrm>
          <a:prstGeom prst="rect">
            <a:avLst/>
          </a:prstGeom>
          <a:noFill/>
          <a:ln/>
        </p:spPr>
        <p:txBody>
          <a:bodyPr wrap="square" lIns="0" tIns="0" rIns="0" bIns="0" rtlCol="0" anchor="t"/>
          <a:lstStyle/>
          <a:p>
            <a:pPr marL="0" indent="0">
              <a:lnSpc>
                <a:spcPct val="105000"/>
              </a:lnSpc>
              <a:buNone/>
            </a:pPr>
            <a:r>
              <a:rPr lang="en-US" sz="1250" dirty="0">
                <a:solidFill>
                  <a:srgbClr val="1E2A38"/>
                </a:solidFill>
                <a:latin typeface="Calibri" pitchFamily="34" charset="0"/>
                <a:ea typeface="Calibri" pitchFamily="34" charset="-122"/>
                <a:cs typeface="Calibri" pitchFamily="34" charset="-120"/>
              </a:rPr>
              <a:t>Ignore audience questions or feedback</a:t>
            </a:r>
            <a:endParaRPr lang="en-US" sz="1250" dirty="0"/>
          </a:p>
        </p:txBody>
      </p:sp>
      <p:sp>
        <p:nvSpPr>
          <p:cNvPr id="32" name="Text 27"/>
          <p:cNvSpPr/>
          <p:nvPr/>
        </p:nvSpPr>
        <p:spPr>
          <a:xfrm>
            <a:off x="502920" y="4882896"/>
            <a:ext cx="5943600" cy="201168"/>
          </a:xfrm>
          <a:prstGeom prst="rect">
            <a:avLst/>
          </a:prstGeom>
          <a:noFill/>
          <a:ln/>
        </p:spPr>
        <p:txBody>
          <a:bodyPr wrap="square" lIns="0" tIns="0" rIns="0" bIns="0" rtlCol="0" anchor="ctr"/>
          <a:lstStyle/>
          <a:p>
            <a:pPr marL="0" indent="0">
              <a:buNone/>
            </a:pPr>
            <a:endParaRPr lang="en-US" sz="800" dirty="0"/>
          </a:p>
        </p:txBody>
      </p:sp>
      <p:sp>
        <p:nvSpPr>
          <p:cNvPr id="33" name="Text 28"/>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88720" y="-1371600"/>
            <a:ext cx="4206240" cy="4206240"/>
          </a:xfrm>
          <a:prstGeom prst="ellipse">
            <a:avLst/>
          </a:prstGeom>
          <a:solidFill>
            <a:srgbClr val="E7F7F1"/>
          </a:solidFill>
          <a:ln/>
        </p:spPr>
      </p:sp>
      <p:sp>
        <p:nvSpPr>
          <p:cNvPr id="3" name="Shape 1"/>
          <p:cNvSpPr/>
          <p:nvPr/>
        </p:nvSpPr>
        <p:spPr>
          <a:xfrm>
            <a:off x="7589520" y="3108960"/>
            <a:ext cx="2743200" cy="2743200"/>
          </a:xfrm>
          <a:prstGeom prst="ellipse">
            <a:avLst/>
          </a:prstGeom>
          <a:solidFill>
            <a:srgbClr val="EAF3FB"/>
          </a:solidFill>
          <a:ln/>
        </p:spPr>
      </p:sp>
      <p:sp>
        <p:nvSpPr>
          <p:cNvPr id="4" name="Text 2"/>
          <p:cNvSpPr/>
          <p:nvPr/>
        </p:nvSpPr>
        <p:spPr>
          <a:xfrm>
            <a:off x="548640" y="502920"/>
            <a:ext cx="5486400" cy="292608"/>
          </a:xfrm>
          <a:prstGeom prst="rect">
            <a:avLst/>
          </a:prstGeom>
          <a:noFill/>
          <a:ln/>
        </p:spPr>
        <p:txBody>
          <a:bodyPr wrap="square" lIns="0" tIns="0" rIns="0" bIns="0" rtlCol="0" anchor="ctr"/>
          <a:lstStyle/>
          <a:p>
            <a:pPr marL="0" indent="0">
              <a:buNone/>
            </a:pPr>
            <a:r>
              <a:rPr lang="en-US" sz="1250" b="1" kern="0" spc="200" dirty="0">
                <a:solidFill>
                  <a:srgbClr val="129C76"/>
                </a:solidFill>
                <a:latin typeface="Calibri" pitchFamily="34" charset="0"/>
                <a:ea typeface="Calibri" pitchFamily="34" charset="-122"/>
                <a:cs typeface="Calibri" pitchFamily="34" charset="-120"/>
              </a:rPr>
              <a:t>CONCLUSION</a:t>
            </a:r>
            <a:endParaRPr lang="en-US" sz="1250" dirty="0"/>
          </a:p>
        </p:txBody>
      </p:sp>
      <p:sp>
        <p:nvSpPr>
          <p:cNvPr id="5" name="Text 3"/>
          <p:cNvSpPr/>
          <p:nvPr/>
        </p:nvSpPr>
        <p:spPr>
          <a:xfrm>
            <a:off x="530352" y="804672"/>
            <a:ext cx="7863840" cy="640080"/>
          </a:xfrm>
          <a:prstGeom prst="rect">
            <a:avLst/>
          </a:prstGeom>
          <a:noFill/>
          <a:ln/>
        </p:spPr>
        <p:txBody>
          <a:bodyPr wrap="square" lIns="0" tIns="0" rIns="0" bIns="0" rtlCol="0" anchor="ctr"/>
          <a:lstStyle/>
          <a:p>
            <a:pPr marL="0" indent="0">
              <a:buNone/>
            </a:pPr>
            <a:r>
              <a:rPr lang="en-US" sz="2800" b="1" dirty="0">
                <a:solidFill>
                  <a:srgbClr val="1E2A38"/>
                </a:solidFill>
                <a:latin typeface="Cambria" pitchFamily="34" charset="0"/>
                <a:ea typeface="Cambria" pitchFamily="34" charset="-122"/>
                <a:cs typeface="Cambria" pitchFamily="34" charset="-120"/>
              </a:rPr>
              <a:t>Communicate with Clarity and Confidence</a:t>
            </a:r>
            <a:endParaRPr lang="en-US" sz="2800" dirty="0"/>
          </a:p>
        </p:txBody>
      </p:sp>
      <p:sp>
        <p:nvSpPr>
          <p:cNvPr id="6" name="Shape 4"/>
          <p:cNvSpPr/>
          <p:nvPr/>
        </p:nvSpPr>
        <p:spPr>
          <a:xfrm>
            <a:off x="548640" y="1627632"/>
            <a:ext cx="1993392" cy="1600200"/>
          </a:xfrm>
          <a:prstGeom prst="roundRect">
            <a:avLst>
              <a:gd name="adj" fmla="val 5143"/>
            </a:avLst>
          </a:prstGeom>
          <a:solidFill>
            <a:srgbClr val="FFFFFF"/>
          </a:solidFill>
          <a:ln/>
          <a:effectLst>
            <a:outerShdw blurRad="114300" dist="38100" dir="5400000" algn="bl" rotWithShape="0">
              <a:srgbClr val="1B2733">
                <a:alpha val="10000"/>
              </a:srgbClr>
            </a:outerShdw>
          </a:effectLst>
        </p:spPr>
      </p:sp>
      <p:sp>
        <p:nvSpPr>
          <p:cNvPr id="7" name="Shape 5"/>
          <p:cNvSpPr/>
          <p:nvPr/>
        </p:nvSpPr>
        <p:spPr>
          <a:xfrm>
            <a:off x="1261872" y="1828800"/>
            <a:ext cx="566928" cy="566928"/>
          </a:xfrm>
          <a:prstGeom prst="ellipse">
            <a:avLst/>
          </a:prstGeom>
          <a:solidFill>
            <a:srgbClr val="1565A8"/>
          </a:solidFill>
          <a:ln/>
        </p:spPr>
      </p:sp>
      <p:pic>
        <p:nvPicPr>
          <p:cNvPr id="8" name="Image 0" descr="preencoded.png"/>
          <p:cNvPicPr>
            <a:picLocks noChangeAspect="1"/>
          </p:cNvPicPr>
          <p:nvPr/>
        </p:nvPicPr>
        <p:blipFill>
          <a:blip r:embed="rId3"/>
          <a:stretch>
            <a:fillRect/>
          </a:stretch>
        </p:blipFill>
        <p:spPr>
          <a:xfrm>
            <a:off x="1341242" y="1908170"/>
            <a:ext cx="408188" cy="408188"/>
          </a:xfrm>
          <a:prstGeom prst="rect">
            <a:avLst/>
          </a:prstGeom>
        </p:spPr>
      </p:pic>
      <p:sp>
        <p:nvSpPr>
          <p:cNvPr id="9" name="Text 6"/>
          <p:cNvSpPr/>
          <p:nvPr/>
        </p:nvSpPr>
        <p:spPr>
          <a:xfrm>
            <a:off x="640080" y="2542032"/>
            <a:ext cx="1810512" cy="548640"/>
          </a:xfrm>
          <a:prstGeom prst="rect">
            <a:avLst/>
          </a:prstGeom>
          <a:noFill/>
          <a:ln/>
        </p:spPr>
        <p:txBody>
          <a:bodyPr wrap="square" lIns="0" tIns="0" rIns="0" bIns="0" rtlCol="0" anchor="ctr"/>
          <a:lstStyle/>
          <a:p>
            <a:pPr marL="0" indent="0" algn="ctr">
              <a:lnSpc>
                <a:spcPct val="105000"/>
              </a:lnSpc>
              <a:buNone/>
            </a:pPr>
            <a:r>
              <a:rPr lang="en-US" sz="1200" b="1" dirty="0">
                <a:solidFill>
                  <a:srgbClr val="1E2A38"/>
                </a:solidFill>
                <a:latin typeface="Calibri" pitchFamily="34" charset="0"/>
                <a:ea typeface="Calibri" pitchFamily="34" charset="-122"/>
                <a:cs typeface="Calibri" pitchFamily="34" charset="-120"/>
              </a:rPr>
              <a:t>Know your audience</a:t>
            </a:r>
            <a:endParaRPr lang="en-US" sz="1200" dirty="0"/>
          </a:p>
        </p:txBody>
      </p:sp>
      <p:sp>
        <p:nvSpPr>
          <p:cNvPr id="10" name="Shape 7"/>
          <p:cNvSpPr/>
          <p:nvPr/>
        </p:nvSpPr>
        <p:spPr>
          <a:xfrm>
            <a:off x="2651760" y="1627632"/>
            <a:ext cx="1993392" cy="1600200"/>
          </a:xfrm>
          <a:prstGeom prst="roundRect">
            <a:avLst>
              <a:gd name="adj" fmla="val 5143"/>
            </a:avLst>
          </a:prstGeom>
          <a:solidFill>
            <a:srgbClr val="FFFFFF"/>
          </a:solidFill>
          <a:ln/>
          <a:effectLst>
            <a:outerShdw blurRad="114300" dist="38100" dir="5400000" algn="bl" rotWithShape="0">
              <a:srgbClr val="1B2733">
                <a:alpha val="10000"/>
              </a:srgbClr>
            </a:outerShdw>
          </a:effectLst>
        </p:spPr>
      </p:sp>
      <p:sp>
        <p:nvSpPr>
          <p:cNvPr id="11" name="Shape 8"/>
          <p:cNvSpPr/>
          <p:nvPr/>
        </p:nvSpPr>
        <p:spPr>
          <a:xfrm>
            <a:off x="3364992" y="1828800"/>
            <a:ext cx="566928" cy="566928"/>
          </a:xfrm>
          <a:prstGeom prst="ellipse">
            <a:avLst/>
          </a:prstGeom>
          <a:solidFill>
            <a:srgbClr val="129C76"/>
          </a:solidFill>
          <a:ln/>
        </p:spPr>
      </p:sp>
      <p:pic>
        <p:nvPicPr>
          <p:cNvPr id="12" name="Image 1" descr="preencoded.png"/>
          <p:cNvPicPr>
            <a:picLocks noChangeAspect="1"/>
          </p:cNvPicPr>
          <p:nvPr/>
        </p:nvPicPr>
        <p:blipFill>
          <a:blip r:embed="rId4"/>
          <a:stretch>
            <a:fillRect/>
          </a:stretch>
        </p:blipFill>
        <p:spPr>
          <a:xfrm>
            <a:off x="3444362" y="1908170"/>
            <a:ext cx="408188" cy="408188"/>
          </a:xfrm>
          <a:prstGeom prst="rect">
            <a:avLst/>
          </a:prstGeom>
        </p:spPr>
      </p:pic>
      <p:sp>
        <p:nvSpPr>
          <p:cNvPr id="13" name="Text 9"/>
          <p:cNvSpPr/>
          <p:nvPr/>
        </p:nvSpPr>
        <p:spPr>
          <a:xfrm>
            <a:off x="2743200" y="2542032"/>
            <a:ext cx="1810512" cy="548640"/>
          </a:xfrm>
          <a:prstGeom prst="rect">
            <a:avLst/>
          </a:prstGeom>
          <a:noFill/>
          <a:ln/>
        </p:spPr>
        <p:txBody>
          <a:bodyPr wrap="square" lIns="0" tIns="0" rIns="0" bIns="0" rtlCol="0" anchor="ctr"/>
          <a:lstStyle/>
          <a:p>
            <a:pPr marL="0" indent="0" algn="ctr">
              <a:lnSpc>
                <a:spcPct val="105000"/>
              </a:lnSpc>
              <a:buNone/>
            </a:pPr>
            <a:r>
              <a:rPr lang="en-US" sz="1200" b="1" dirty="0">
                <a:solidFill>
                  <a:srgbClr val="1E2A38"/>
                </a:solidFill>
                <a:latin typeface="Calibri" pitchFamily="34" charset="0"/>
                <a:ea typeface="Calibri" pitchFamily="34" charset="-122"/>
                <a:cs typeface="Calibri" pitchFamily="34" charset="-120"/>
              </a:rPr>
              <a:t>Tell a clear story</a:t>
            </a:r>
            <a:endParaRPr lang="en-US" sz="1200" dirty="0"/>
          </a:p>
        </p:txBody>
      </p:sp>
      <p:sp>
        <p:nvSpPr>
          <p:cNvPr id="14" name="Shape 10"/>
          <p:cNvSpPr/>
          <p:nvPr/>
        </p:nvSpPr>
        <p:spPr>
          <a:xfrm>
            <a:off x="4754880" y="1627632"/>
            <a:ext cx="1993392" cy="1600200"/>
          </a:xfrm>
          <a:prstGeom prst="roundRect">
            <a:avLst>
              <a:gd name="adj" fmla="val 5143"/>
            </a:avLst>
          </a:prstGeom>
          <a:solidFill>
            <a:srgbClr val="FFFFFF"/>
          </a:solidFill>
          <a:ln/>
          <a:effectLst>
            <a:outerShdw blurRad="114300" dist="38100" dir="5400000" algn="bl" rotWithShape="0">
              <a:srgbClr val="1B2733">
                <a:alpha val="10000"/>
              </a:srgbClr>
            </a:outerShdw>
          </a:effectLst>
        </p:spPr>
      </p:sp>
      <p:sp>
        <p:nvSpPr>
          <p:cNvPr id="15" name="Shape 11"/>
          <p:cNvSpPr/>
          <p:nvPr/>
        </p:nvSpPr>
        <p:spPr>
          <a:xfrm>
            <a:off x="5468112" y="1828800"/>
            <a:ext cx="566928" cy="566928"/>
          </a:xfrm>
          <a:prstGeom prst="ellipse">
            <a:avLst/>
          </a:prstGeom>
          <a:solidFill>
            <a:srgbClr val="1565A8"/>
          </a:solidFill>
          <a:ln/>
        </p:spPr>
      </p:sp>
      <p:pic>
        <p:nvPicPr>
          <p:cNvPr id="16" name="Image 2" descr="preencoded.png"/>
          <p:cNvPicPr>
            <a:picLocks noChangeAspect="1"/>
          </p:cNvPicPr>
          <p:nvPr/>
        </p:nvPicPr>
        <p:blipFill>
          <a:blip r:embed="rId5"/>
          <a:stretch>
            <a:fillRect/>
          </a:stretch>
        </p:blipFill>
        <p:spPr>
          <a:xfrm>
            <a:off x="5547482" y="1908170"/>
            <a:ext cx="408188" cy="408188"/>
          </a:xfrm>
          <a:prstGeom prst="rect">
            <a:avLst/>
          </a:prstGeom>
        </p:spPr>
      </p:pic>
      <p:sp>
        <p:nvSpPr>
          <p:cNvPr id="17" name="Text 12"/>
          <p:cNvSpPr/>
          <p:nvPr/>
        </p:nvSpPr>
        <p:spPr>
          <a:xfrm>
            <a:off x="4846320" y="2542032"/>
            <a:ext cx="1810512" cy="548640"/>
          </a:xfrm>
          <a:prstGeom prst="rect">
            <a:avLst/>
          </a:prstGeom>
          <a:noFill/>
          <a:ln/>
        </p:spPr>
        <p:txBody>
          <a:bodyPr wrap="square" lIns="0" tIns="0" rIns="0" bIns="0" rtlCol="0" anchor="ctr"/>
          <a:lstStyle/>
          <a:p>
            <a:pPr marL="0" indent="0" algn="ctr">
              <a:lnSpc>
                <a:spcPct val="105000"/>
              </a:lnSpc>
              <a:buNone/>
            </a:pPr>
            <a:r>
              <a:rPr lang="en-US" sz="1200" b="1" dirty="0">
                <a:solidFill>
                  <a:srgbClr val="1E2A38"/>
                </a:solidFill>
                <a:latin typeface="Calibri" pitchFamily="34" charset="0"/>
                <a:ea typeface="Calibri" pitchFamily="34" charset="-122"/>
                <a:cs typeface="Calibri" pitchFamily="34" charset="-120"/>
              </a:rPr>
              <a:t>Speak with confidence</a:t>
            </a:r>
            <a:endParaRPr lang="en-US" sz="1200" dirty="0"/>
          </a:p>
        </p:txBody>
      </p:sp>
      <p:sp>
        <p:nvSpPr>
          <p:cNvPr id="18" name="Shape 13"/>
          <p:cNvSpPr/>
          <p:nvPr/>
        </p:nvSpPr>
        <p:spPr>
          <a:xfrm>
            <a:off x="6858000" y="1627632"/>
            <a:ext cx="1993392" cy="1600200"/>
          </a:xfrm>
          <a:prstGeom prst="roundRect">
            <a:avLst>
              <a:gd name="adj" fmla="val 5143"/>
            </a:avLst>
          </a:prstGeom>
          <a:solidFill>
            <a:srgbClr val="FFFFFF"/>
          </a:solidFill>
          <a:ln/>
          <a:effectLst>
            <a:outerShdw blurRad="114300" dist="38100" dir="5400000" algn="bl" rotWithShape="0">
              <a:srgbClr val="1B2733">
                <a:alpha val="10000"/>
              </a:srgbClr>
            </a:outerShdw>
          </a:effectLst>
        </p:spPr>
      </p:sp>
      <p:sp>
        <p:nvSpPr>
          <p:cNvPr id="19" name="Shape 14"/>
          <p:cNvSpPr/>
          <p:nvPr/>
        </p:nvSpPr>
        <p:spPr>
          <a:xfrm>
            <a:off x="7571232" y="1828800"/>
            <a:ext cx="566928" cy="566928"/>
          </a:xfrm>
          <a:prstGeom prst="ellipse">
            <a:avLst/>
          </a:prstGeom>
          <a:solidFill>
            <a:srgbClr val="129C76"/>
          </a:solidFill>
          <a:ln/>
        </p:spPr>
      </p:sp>
      <p:pic>
        <p:nvPicPr>
          <p:cNvPr id="20" name="Image 3" descr="preencoded.png"/>
          <p:cNvPicPr>
            <a:picLocks noChangeAspect="1"/>
          </p:cNvPicPr>
          <p:nvPr/>
        </p:nvPicPr>
        <p:blipFill>
          <a:blip r:embed="rId6"/>
          <a:stretch>
            <a:fillRect/>
          </a:stretch>
        </p:blipFill>
        <p:spPr>
          <a:xfrm>
            <a:off x="7650602" y="1908170"/>
            <a:ext cx="408188" cy="408188"/>
          </a:xfrm>
          <a:prstGeom prst="rect">
            <a:avLst/>
          </a:prstGeom>
        </p:spPr>
      </p:pic>
      <p:sp>
        <p:nvSpPr>
          <p:cNvPr id="21" name="Text 15"/>
          <p:cNvSpPr/>
          <p:nvPr/>
        </p:nvSpPr>
        <p:spPr>
          <a:xfrm>
            <a:off x="6949440" y="2542032"/>
            <a:ext cx="1810512" cy="548640"/>
          </a:xfrm>
          <a:prstGeom prst="rect">
            <a:avLst/>
          </a:prstGeom>
          <a:noFill/>
          <a:ln/>
        </p:spPr>
        <p:txBody>
          <a:bodyPr wrap="square" lIns="0" tIns="0" rIns="0" bIns="0" rtlCol="0" anchor="ctr"/>
          <a:lstStyle/>
          <a:p>
            <a:pPr marL="0" indent="0" algn="ctr">
              <a:lnSpc>
                <a:spcPct val="105000"/>
              </a:lnSpc>
              <a:buNone/>
            </a:pPr>
            <a:r>
              <a:rPr lang="en-US" sz="1200" b="1" dirty="0">
                <a:solidFill>
                  <a:srgbClr val="1E2A38"/>
                </a:solidFill>
                <a:latin typeface="Calibri" pitchFamily="34" charset="0"/>
                <a:ea typeface="Calibri" pitchFamily="34" charset="-122"/>
                <a:cs typeface="Calibri" pitchFamily="34" charset="-120"/>
              </a:rPr>
              <a:t>Keep improving</a:t>
            </a:r>
            <a:endParaRPr lang="en-US" sz="1200" dirty="0"/>
          </a:p>
        </p:txBody>
      </p:sp>
      <p:sp>
        <p:nvSpPr>
          <p:cNvPr id="22" name="Shape 16"/>
          <p:cNvSpPr/>
          <p:nvPr/>
        </p:nvSpPr>
        <p:spPr>
          <a:xfrm>
            <a:off x="548640" y="3520440"/>
            <a:ext cx="8046720" cy="1143000"/>
          </a:xfrm>
          <a:prstGeom prst="roundRect">
            <a:avLst>
              <a:gd name="adj" fmla="val 7200"/>
            </a:avLst>
          </a:prstGeom>
          <a:solidFill>
            <a:srgbClr val="E7F7F1"/>
          </a:solidFill>
          <a:ln/>
          <a:effectLst>
            <a:outerShdw blurRad="114300" dist="38100" dir="5400000" algn="bl" rotWithShape="0">
              <a:srgbClr val="1B2733">
                <a:alpha val="10000"/>
              </a:srgbClr>
            </a:outerShdw>
          </a:effectLst>
        </p:spPr>
      </p:sp>
      <p:sp>
        <p:nvSpPr>
          <p:cNvPr id="23" name="Shape 17"/>
          <p:cNvSpPr/>
          <p:nvPr/>
        </p:nvSpPr>
        <p:spPr>
          <a:xfrm>
            <a:off x="822960" y="3803904"/>
            <a:ext cx="566928" cy="566928"/>
          </a:xfrm>
          <a:prstGeom prst="ellipse">
            <a:avLst/>
          </a:prstGeom>
          <a:solidFill>
            <a:srgbClr val="129C76"/>
          </a:solidFill>
          <a:ln/>
        </p:spPr>
      </p:sp>
      <p:pic>
        <p:nvPicPr>
          <p:cNvPr id="24" name="Image 4" descr="preencoded.png"/>
          <p:cNvPicPr>
            <a:picLocks noChangeAspect="1"/>
          </p:cNvPicPr>
          <p:nvPr/>
        </p:nvPicPr>
        <p:blipFill>
          <a:blip r:embed="rId7"/>
          <a:stretch>
            <a:fillRect/>
          </a:stretch>
        </p:blipFill>
        <p:spPr>
          <a:xfrm>
            <a:off x="902330" y="3883274"/>
            <a:ext cx="408188" cy="408188"/>
          </a:xfrm>
          <a:prstGeom prst="rect">
            <a:avLst/>
          </a:prstGeom>
        </p:spPr>
      </p:pic>
      <p:sp>
        <p:nvSpPr>
          <p:cNvPr id="25" name="Text 18"/>
          <p:cNvSpPr/>
          <p:nvPr/>
        </p:nvSpPr>
        <p:spPr>
          <a:xfrm>
            <a:off x="1554480" y="3520440"/>
            <a:ext cx="6858000" cy="1143000"/>
          </a:xfrm>
          <a:prstGeom prst="rect">
            <a:avLst/>
          </a:prstGeom>
          <a:noFill/>
          <a:ln/>
        </p:spPr>
        <p:txBody>
          <a:bodyPr wrap="square" lIns="0" tIns="0" rIns="0" bIns="0" rtlCol="0" anchor="ctr"/>
          <a:lstStyle/>
          <a:p>
            <a:pPr marL="0" indent="0">
              <a:lnSpc>
                <a:spcPct val="115000"/>
              </a:lnSpc>
              <a:buNone/>
            </a:pPr>
            <a:r>
              <a:rPr lang="en-US" sz="1400" i="1" dirty="0">
                <a:solidFill>
                  <a:srgbClr val="1E2A38"/>
                </a:solidFill>
                <a:latin typeface="Calibri" pitchFamily="34" charset="0"/>
                <a:ea typeface="Calibri" pitchFamily="34" charset="-122"/>
                <a:cs typeface="Calibri" pitchFamily="34" charset="-120"/>
              </a:rPr>
              <a:t>Great communicators are not born -- they are practiced. Treat every conversation, meeting, and presentation as a chance to refine your craft.</a:t>
            </a:r>
            <a:endParaRPr lang="en-US" sz="1400" dirty="0"/>
          </a:p>
        </p:txBody>
      </p:sp>
      <p:sp>
        <p:nvSpPr>
          <p:cNvPr id="26" name="Text 19"/>
          <p:cNvSpPr/>
          <p:nvPr/>
        </p:nvSpPr>
        <p:spPr>
          <a:xfrm>
            <a:off x="548640" y="4882896"/>
            <a:ext cx="5943600" cy="201168"/>
          </a:xfrm>
          <a:prstGeom prst="rect">
            <a:avLst/>
          </a:prstGeom>
          <a:noFill/>
          <a:ln/>
        </p:spPr>
        <p:txBody>
          <a:bodyPr wrap="square" lIns="0" tIns="0" rIns="0" bIns="0" rtlCol="0" anchor="ctr"/>
          <a:lstStyle/>
          <a:p>
            <a:pPr marL="0" indent="0">
              <a:buNone/>
            </a:pPr>
            <a:endParaRPr lang="en-US" sz="800" dirty="0"/>
          </a:p>
        </p:txBody>
      </p:sp>
      <p:sp>
        <p:nvSpPr>
          <p:cNvPr id="27" name="Text 20"/>
          <p:cNvSpPr/>
          <p:nvPr/>
        </p:nvSpPr>
        <p:spPr>
          <a:xfrm>
            <a:off x="8503920" y="4846320"/>
            <a:ext cx="365760" cy="256032"/>
          </a:xfrm>
          <a:prstGeom prst="rect">
            <a:avLst/>
          </a:prstGeom>
          <a:noFill/>
          <a:ln/>
        </p:spPr>
        <p:txBody>
          <a:bodyPr wrap="square" lIns="0" tIns="0" rIns="0" bIns="0" rtlCol="0" anchor="ctr"/>
          <a:lstStyle/>
          <a:p>
            <a:pPr marL="0" indent="0" algn="r">
              <a:buNone/>
            </a:pPr>
            <a:r>
              <a:rPr lang="en-US" sz="900" dirty="0">
                <a:solidFill>
                  <a:srgbClr val="5B6B7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1164</Words>
  <Application>Microsoft Office PowerPoint</Application>
  <PresentationFormat>On-screen Show (16:9)</PresentationFormat>
  <Paragraphs>120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9: Presentation &amp; Communication Skills</dc:title>
  <dc:subject>PptxGenJS Presentation</dc:subject>
  <dc:creator>Sprint 9 Training</dc:creator>
  <cp:lastModifiedBy>Ashutosh Gaud</cp:lastModifiedBy>
  <cp:revision>2</cp:revision>
  <dcterms:created xsi:type="dcterms:W3CDTF">2026-06-21T13:25:40Z</dcterms:created>
  <dcterms:modified xsi:type="dcterms:W3CDTF">2026-06-21T13:30:45Z</dcterms:modified>
</cp:coreProperties>
</file>