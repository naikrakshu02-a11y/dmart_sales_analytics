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0" d="100"/>
          <a:sy n="80" d="100"/>
        </p:scale>
        <p:origin x="691"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Total Revenue (₹)</c:v>
                </c:pt>
              </c:strCache>
            </c:strRef>
          </c:tx>
          <c:spPr>
            <a:ln w="38100" cap="flat">
              <a:solidFill>
                <a:srgbClr val="1E8449"/>
              </a:solidFill>
              <a:prstDash val="solid"/>
              <a:round/>
            </a:ln>
            <a:effectLst/>
          </c:spPr>
          <c:marker>
            <c:symbol val="circle"/>
            <c:size val="6"/>
            <c:spPr>
              <a:solidFill>
                <a:srgbClr val="1E8449"/>
              </a:solidFill>
              <a:ln w="9525" cap="flat">
                <a:solidFill>
                  <a:srgbClr val="1E8449"/>
                </a:solidFill>
                <a:prstDash val="solid"/>
                <a:round/>
              </a:ln>
              <a:effectLst/>
            </c:spPr>
          </c:marker>
          <c:cat>
            <c:strRef>
              <c:f>Sheet1!$A$2:$A$6</c:f>
              <c:strCache>
                <c:ptCount val="5"/>
                <c:pt idx="0">
                  <c:v>Jan</c:v>
                </c:pt>
                <c:pt idx="1">
                  <c:v>Feb</c:v>
                </c:pt>
                <c:pt idx="2">
                  <c:v>Mar</c:v>
                </c:pt>
                <c:pt idx="3">
                  <c:v>Apr</c:v>
                </c:pt>
                <c:pt idx="4">
                  <c:v>May</c:v>
                </c:pt>
              </c:strCache>
            </c:strRef>
          </c:cat>
          <c:val>
            <c:numRef>
              <c:f>Sheet1!$B$2:$B$6</c:f>
              <c:numCache>
                <c:formatCode>General</c:formatCode>
                <c:ptCount val="5"/>
                <c:pt idx="0">
                  <c:v>57000</c:v>
                </c:pt>
                <c:pt idx="1">
                  <c:v>66500</c:v>
                </c:pt>
                <c:pt idx="2">
                  <c:v>64000</c:v>
                </c:pt>
                <c:pt idx="3">
                  <c:v>79200</c:v>
                </c:pt>
                <c:pt idx="4">
                  <c:v>87500</c:v>
                </c:pt>
              </c:numCache>
            </c:numRef>
          </c:val>
          <c:smooth val="1"/>
          <c:extLst>
            <c:ext xmlns:c16="http://schemas.microsoft.com/office/drawing/2014/chart" uri="{C3380CC4-5D6E-409C-BE32-E72D297353CC}">
              <c16:uniqueId val="{00000000-5C4F-4FC4-ADA3-03403C35B42C}"/>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6F64"/>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D7ECDD"/>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6F64"/>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C2B22"/>
                </a:solidFill>
                <a:latin typeface="Arial"/>
              </a:defRPr>
            </a:pPr>
            <a:r>
              <a:rPr lang="en-IN" sz="1200" b="0" i="0" u="none" strike="noStrike">
                <a:solidFill>
                  <a:srgbClr val="1C2B22"/>
                </a:solidFill>
                <a:latin typeface="Arial"/>
              </a:rPr>
              <a:t>Revenue Mix by Month</a:t>
            </a:r>
          </a:p>
        </c:rich>
      </c:tx>
      <c:overlay val="0"/>
    </c:title>
    <c:autoTitleDeleted val="0"/>
    <c:plotArea>
      <c:layout/>
      <c:barChart>
        <c:barDir val="col"/>
        <c:grouping val="stacked"/>
        <c:varyColors val="0"/>
        <c:ser>
          <c:idx val="0"/>
          <c:order val="0"/>
          <c:tx>
            <c:strRef>
              <c:f>Sheet1!$B$1</c:f>
              <c:strCache>
                <c:ptCount val="1"/>
                <c:pt idx="0">
                  <c:v>Product Sales</c:v>
                </c:pt>
              </c:strCache>
            </c:strRef>
          </c:tx>
          <c:spPr>
            <a:solidFill>
              <a:srgbClr val="1E8449"/>
            </a:solidFill>
            <a:effectLst/>
          </c:spPr>
          <c:invertIfNegative val="0"/>
          <c:cat>
            <c:strRef>
              <c:f>Sheet1!$A$2:$A$6</c:f>
              <c:strCache>
                <c:ptCount val="5"/>
                <c:pt idx="0">
                  <c:v>Jan</c:v>
                </c:pt>
                <c:pt idx="1">
                  <c:v>Feb</c:v>
                </c:pt>
                <c:pt idx="2">
                  <c:v>Mar</c:v>
                </c:pt>
                <c:pt idx="3">
                  <c:v>Apr</c:v>
                </c:pt>
                <c:pt idx="4">
                  <c:v>May</c:v>
                </c:pt>
              </c:strCache>
            </c:strRef>
          </c:cat>
          <c:val>
            <c:numRef>
              <c:f>Sheet1!$B$2:$B$6</c:f>
              <c:numCache>
                <c:formatCode>General</c:formatCode>
                <c:ptCount val="5"/>
                <c:pt idx="0">
                  <c:v>45000</c:v>
                </c:pt>
                <c:pt idx="1">
                  <c:v>52000</c:v>
                </c:pt>
                <c:pt idx="2">
                  <c:v>48000</c:v>
                </c:pt>
                <c:pt idx="3">
                  <c:v>61000</c:v>
                </c:pt>
                <c:pt idx="4">
                  <c:v>67500</c:v>
                </c:pt>
              </c:numCache>
            </c:numRef>
          </c:val>
          <c:extLst>
            <c:ext xmlns:c16="http://schemas.microsoft.com/office/drawing/2014/chart" uri="{C3380CC4-5D6E-409C-BE32-E72D297353CC}">
              <c16:uniqueId val="{00000000-7A6A-47D1-9264-2F6ECA3B84E7}"/>
            </c:ext>
          </c:extLst>
        </c:ser>
        <c:ser>
          <c:idx val="1"/>
          <c:order val="1"/>
          <c:tx>
            <c:strRef>
              <c:f>Sheet1!$C$1</c:f>
              <c:strCache>
                <c:ptCount val="1"/>
                <c:pt idx="0">
                  <c:v>Service Revenue</c:v>
                </c:pt>
              </c:strCache>
            </c:strRef>
          </c:tx>
          <c:spPr>
            <a:solidFill>
              <a:srgbClr val="27AE60"/>
            </a:solidFill>
            <a:effectLst/>
          </c:spPr>
          <c:invertIfNegative val="0"/>
          <c:cat>
            <c:strRef>
              <c:f>Sheet1!$A$2:$A$6</c:f>
              <c:strCache>
                <c:ptCount val="5"/>
                <c:pt idx="0">
                  <c:v>Jan</c:v>
                </c:pt>
                <c:pt idx="1">
                  <c:v>Feb</c:v>
                </c:pt>
                <c:pt idx="2">
                  <c:v>Mar</c:v>
                </c:pt>
                <c:pt idx="3">
                  <c:v>Apr</c:v>
                </c:pt>
                <c:pt idx="4">
                  <c:v>May</c:v>
                </c:pt>
              </c:strCache>
            </c:strRef>
          </c:cat>
          <c:val>
            <c:numRef>
              <c:f>Sheet1!$C$2:$C$6</c:f>
              <c:numCache>
                <c:formatCode>General</c:formatCode>
                <c:ptCount val="5"/>
                <c:pt idx="0">
                  <c:v>12000</c:v>
                </c:pt>
                <c:pt idx="1">
                  <c:v>14500</c:v>
                </c:pt>
                <c:pt idx="2">
                  <c:v>16000</c:v>
                </c:pt>
                <c:pt idx="3">
                  <c:v>18200</c:v>
                </c:pt>
                <c:pt idx="4">
                  <c:v>20000</c:v>
                </c:pt>
              </c:numCache>
            </c:numRef>
          </c:val>
          <c:extLst>
            <c:ext xmlns:c16="http://schemas.microsoft.com/office/drawing/2014/chart" uri="{C3380CC4-5D6E-409C-BE32-E72D297353CC}">
              <c16:uniqueId val="{00000001-7A6A-47D1-9264-2F6ECA3B84E7}"/>
            </c:ext>
          </c:extLst>
        </c:ser>
        <c:dLbls>
          <c:showLegendKey val="0"/>
          <c:showVal val="0"/>
          <c:showCatName val="0"/>
          <c:showSerName val="0"/>
          <c:showPercent val="0"/>
          <c:showBubbleSize val="0"/>
        </c:dLbls>
        <c:gapWidth val="50"/>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6F64"/>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D7ECD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6F64"/>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5E6F64"/>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719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Introduce yourself and frame this as a practical, Excel-first walkthrough of revenue, profit and KPI reporting using the DMart business metrics template.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modules quickly so the audience knows what's coming. Mention that every slide ties back to a real Excel formula they can reuse.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stage: business analytics turns raw numbers into decisions. Emphasize that Excel remains the most accessible tool for this even before moving to BI platforms.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revenue clearly and stress it's a pre-expense, top-line number. Walk through the SUM formula and how product sales plus service revenue make up the total.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three core revenue formulas one at a time. Point to the line chart and note the steady upward trend from January to May, with March as the one dip.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audience through the monthly table left to right, then point to the stacked bar chart on the right showing the product vs service mix. Call out the April rebound.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gross profit, net profit and EBITDA as three layers of profitability. Use the big numbers as anchors: 2,10,000 gross, 1,25,000 net, 1,45,000 EBITDA.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formula in the table. Spend extra time on the benchmark callouts — retail businesses typically run lower gross margins (20-30%) than other industries (40-60%).</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CAC, CLV, ROI and Revenue per Employee. Emphasize the relationship between CAC and CLV — acquisition spend only makes sense if lifetime value clears 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Inventory Turnover and Current Ratio. Tie both back to business health: liquidity (current ratio) and operational efficiency (turnover).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4-step dashboard build process: Data sheet, Metrics sheet referencing it, calculated KPIs with error handling, then the final dashboard view.</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visualization tool: charts for trends, pivot tables for summarization, conditional formatting for automatic flagging, and slicers for interactivity.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leave-behind reference slide. Briefly scan down both columns rather than reading every formula aloud.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the whole deck together: growth strategy, cost control, KPI monitoring and dashboarding all reinforce each other. Encourage the audience to apply this to their own data.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recap the three big takeaways, and open the floor for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chart" Target="../charts/chart1.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2.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3.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4.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4.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5C33"/>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572000" cy="4572000"/>
          </a:xfrm>
          <a:prstGeom prst="ellipse">
            <a:avLst/>
          </a:prstGeom>
          <a:solidFill>
            <a:srgbClr val="1E8449"/>
          </a:solidFill>
          <a:ln/>
        </p:spPr>
      </p:sp>
      <p:sp>
        <p:nvSpPr>
          <p:cNvPr id="3" name="Shape 1"/>
          <p:cNvSpPr/>
          <p:nvPr/>
        </p:nvSpPr>
        <p:spPr>
          <a:xfrm>
            <a:off x="-1280160" y="4846320"/>
            <a:ext cx="3657600" cy="3657600"/>
          </a:xfrm>
          <a:prstGeom prst="ellipse">
            <a:avLst/>
          </a:prstGeom>
          <a:solidFill>
            <a:srgbClr val="1E8449"/>
          </a:solidFill>
          <a:ln/>
        </p:spPr>
      </p:sp>
      <p:sp>
        <p:nvSpPr>
          <p:cNvPr id="4" name="Shape 2"/>
          <p:cNvSpPr/>
          <p:nvPr/>
        </p:nvSpPr>
        <p:spPr>
          <a:xfrm>
            <a:off x="10332720" y="5120640"/>
            <a:ext cx="2194560" cy="2194560"/>
          </a:xfrm>
          <a:prstGeom prst="ellipse">
            <a:avLst/>
          </a:prstGeom>
          <a:solidFill>
            <a:srgbClr val="27AE60"/>
          </a:solidFill>
          <a:ln/>
        </p:spPr>
      </p:sp>
      <p:sp>
        <p:nvSpPr>
          <p:cNvPr id="5" name="Shape 3"/>
          <p:cNvSpPr/>
          <p:nvPr/>
        </p:nvSpPr>
        <p:spPr>
          <a:xfrm>
            <a:off x="822960" y="685800"/>
            <a:ext cx="777240" cy="777240"/>
          </a:xfrm>
          <a:prstGeom prst="ellipse">
            <a:avLst/>
          </a:prstGeom>
          <a:solidFill>
            <a:srgbClr val="1E8449"/>
          </a:solidFill>
          <a:ln/>
        </p:spPr>
      </p:sp>
      <p:pic>
        <p:nvPicPr>
          <p:cNvPr id="6" name="Image 0" descr="preencoded.png"/>
          <p:cNvPicPr>
            <a:picLocks noChangeAspect="1"/>
          </p:cNvPicPr>
          <p:nvPr/>
        </p:nvPicPr>
        <p:blipFill>
          <a:blip r:embed="rId3"/>
          <a:stretch>
            <a:fillRect/>
          </a:stretch>
        </p:blipFill>
        <p:spPr>
          <a:xfrm>
            <a:off x="924001" y="786841"/>
            <a:ext cx="575158" cy="575158"/>
          </a:xfrm>
          <a:prstGeom prst="rect">
            <a:avLst/>
          </a:prstGeom>
        </p:spPr>
      </p:pic>
      <p:sp>
        <p:nvSpPr>
          <p:cNvPr id="7" name="Text 4"/>
          <p:cNvSpPr/>
          <p:nvPr/>
        </p:nvSpPr>
        <p:spPr>
          <a:xfrm>
            <a:off x="822960" y="2331720"/>
            <a:ext cx="8229600" cy="320040"/>
          </a:xfrm>
          <a:prstGeom prst="rect">
            <a:avLst/>
          </a:prstGeom>
          <a:noFill/>
          <a:ln/>
        </p:spPr>
        <p:txBody>
          <a:bodyPr wrap="square" lIns="0" tIns="0" rIns="0" bIns="0" rtlCol="0" anchor="ctr"/>
          <a:lstStyle/>
          <a:p>
            <a:pPr marL="0" indent="0">
              <a:buNone/>
            </a:pPr>
            <a:r>
              <a:rPr lang="en-US" sz="1400" b="1" kern="0" spc="300" dirty="0">
                <a:solidFill>
                  <a:srgbClr val="27AE60"/>
                </a:solidFill>
                <a:latin typeface="Calibri" pitchFamily="34" charset="0"/>
                <a:ea typeface="Calibri" pitchFamily="34" charset="-122"/>
                <a:cs typeface="Calibri" pitchFamily="34" charset="-120"/>
              </a:rPr>
              <a:t>BUSINESS ANALYTICS REPORT</a:t>
            </a:r>
            <a:endParaRPr lang="en-US" sz="1400" dirty="0"/>
          </a:p>
        </p:txBody>
      </p:sp>
      <p:sp>
        <p:nvSpPr>
          <p:cNvPr id="8" name="Text 5"/>
          <p:cNvSpPr/>
          <p:nvPr/>
        </p:nvSpPr>
        <p:spPr>
          <a:xfrm>
            <a:off x="822960" y="2651760"/>
            <a:ext cx="9875520" cy="1737360"/>
          </a:xfrm>
          <a:prstGeom prst="rect">
            <a:avLst/>
          </a:prstGeom>
          <a:noFill/>
          <a:ln/>
        </p:spPr>
        <p:txBody>
          <a:bodyPr wrap="square" lIns="0" tIns="0" rIns="0" bIns="0" rtlCol="0" anchor="ctr"/>
          <a:lstStyle/>
          <a:p>
            <a:pPr marL="0" indent="0">
              <a:lnSpc>
                <a:spcPct val="105000"/>
              </a:lnSpc>
              <a:buNone/>
            </a:pPr>
            <a:r>
              <a:rPr lang="en-US" sz="4200" b="1" dirty="0">
                <a:solidFill>
                  <a:srgbClr val="FFFFFF"/>
                </a:solidFill>
                <a:latin typeface="Cambria" pitchFamily="34" charset="0"/>
                <a:ea typeface="Cambria" pitchFamily="34" charset="-122"/>
                <a:cs typeface="Cambria" pitchFamily="34" charset="-120"/>
              </a:rPr>
              <a:t>DMart Revenue &amp;</a:t>
            </a:r>
            <a:endParaRPr lang="en-US" sz="4200" dirty="0"/>
          </a:p>
          <a:p>
            <a:pPr marL="0" indent="0">
              <a:lnSpc>
                <a:spcPct val="105000"/>
              </a:lnSpc>
              <a:buNone/>
            </a:pPr>
            <a:r>
              <a:rPr lang="en-US" sz="4200" b="1" dirty="0">
                <a:solidFill>
                  <a:srgbClr val="FFFFFF"/>
                </a:solidFill>
                <a:latin typeface="Cambria" pitchFamily="34" charset="0"/>
                <a:ea typeface="Cambria" pitchFamily="34" charset="-122"/>
                <a:cs typeface="Cambria" pitchFamily="34" charset="-120"/>
              </a:rPr>
              <a:t>Business Metrics Report</a:t>
            </a:r>
            <a:endParaRPr lang="en-US" sz="4200" dirty="0"/>
          </a:p>
        </p:txBody>
      </p:sp>
      <p:sp>
        <p:nvSpPr>
          <p:cNvPr id="9" name="Text 6"/>
          <p:cNvSpPr/>
          <p:nvPr/>
        </p:nvSpPr>
        <p:spPr>
          <a:xfrm>
            <a:off x="822960" y="4343400"/>
            <a:ext cx="8686800" cy="457200"/>
          </a:xfrm>
          <a:prstGeom prst="rect">
            <a:avLst/>
          </a:prstGeom>
          <a:noFill/>
          <a:ln/>
        </p:spPr>
        <p:txBody>
          <a:bodyPr wrap="square" lIns="0" tIns="0" rIns="0" bIns="0" rtlCol="0" anchor="ctr"/>
          <a:lstStyle/>
          <a:p>
            <a:pPr marL="0" indent="0">
              <a:buNone/>
            </a:pPr>
            <a:r>
              <a:rPr lang="en-US" sz="1600" dirty="0">
                <a:solidFill>
                  <a:srgbClr val="EAF7EE"/>
                </a:solidFill>
                <a:latin typeface="Calibri" pitchFamily="34" charset="0"/>
                <a:ea typeface="Calibri" pitchFamily="34" charset="-122"/>
                <a:cs typeface="Calibri" pitchFamily="34" charset="-120"/>
              </a:rPr>
              <a:t>Business Analytics using Excel — Revenue, Profit, Growth &amp; Performance KPIs</a:t>
            </a:r>
            <a:endParaRPr lang="en-US" sz="1600" dirty="0"/>
          </a:p>
        </p:txBody>
      </p:sp>
      <p:sp>
        <p:nvSpPr>
          <p:cNvPr id="10" name="Shape 7"/>
          <p:cNvSpPr/>
          <p:nvPr/>
        </p:nvSpPr>
        <p:spPr>
          <a:xfrm>
            <a:off x="822960" y="5029200"/>
            <a:ext cx="3291840" cy="0"/>
          </a:xfrm>
          <a:prstGeom prst="line">
            <a:avLst/>
          </a:prstGeom>
          <a:noFill/>
          <a:ln w="19050">
            <a:solidFill>
              <a:srgbClr val="27AE60"/>
            </a:solidFill>
            <a:prstDash val="solid"/>
          </a:ln>
        </p:spPr>
      </p:sp>
      <p:sp>
        <p:nvSpPr>
          <p:cNvPr id="11" name="Text 8"/>
          <p:cNvSpPr/>
          <p:nvPr/>
        </p:nvSpPr>
        <p:spPr>
          <a:xfrm>
            <a:off x="822960" y="5257800"/>
            <a:ext cx="4572000" cy="1005840"/>
          </a:xfrm>
          <a:prstGeom prst="rect">
            <a:avLst/>
          </a:prstGeom>
          <a:noFill/>
          <a:ln/>
        </p:spPr>
        <p:txBody>
          <a:bodyPr wrap="square" lIns="0" tIns="0" rIns="0" bIns="0" rtlCol="0" anchor="ctr"/>
          <a:lstStyle/>
          <a:p>
            <a:pPr marL="0" indent="0">
              <a:lnSpc>
                <a:spcPct val="130000"/>
              </a:lnSpc>
              <a:buNone/>
            </a:pP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lIns="0" tIns="0" rIns="0" bIns="0" rtlCol="0" anchor="ctr"/>
          <a:lstStyle/>
          <a:p>
            <a:pPr marL="0" indent="0">
              <a:buNone/>
            </a:pPr>
            <a:r>
              <a:rPr lang="en-US" sz="1200" b="1" kern="0" spc="200" dirty="0">
                <a:solidFill>
                  <a:srgbClr val="1E8449"/>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548640" y="566928"/>
            <a:ext cx="10515600" cy="640080"/>
          </a:xfrm>
          <a:prstGeom prst="rect">
            <a:avLst/>
          </a:prstGeom>
          <a:noFill/>
          <a:ln/>
        </p:spPr>
        <p:txBody>
          <a:bodyPr wrap="square" lIns="0" tIns="0" rIns="0" bIns="0" rtlCol="0" anchor="ctr"/>
          <a:lstStyle/>
          <a:p>
            <a:pPr marL="0" indent="0">
              <a:buNone/>
            </a:pPr>
            <a:r>
              <a:rPr lang="en-US" sz="3000" b="1" dirty="0">
                <a:solidFill>
                  <a:srgbClr val="1C2B22"/>
                </a:solidFill>
                <a:latin typeface="Cambria" pitchFamily="34" charset="0"/>
                <a:ea typeface="Cambria" pitchFamily="34" charset="-122"/>
                <a:cs typeface="Cambria" pitchFamily="34" charset="-120"/>
              </a:rPr>
              <a:t>Agenda</a:t>
            </a:r>
            <a:endParaRPr lang="en-US" sz="3000" dirty="0"/>
          </a:p>
        </p:txBody>
      </p:sp>
      <p:sp>
        <p:nvSpPr>
          <p:cNvPr id="4" name="Shape 2"/>
          <p:cNvSpPr/>
          <p:nvPr/>
        </p:nvSpPr>
        <p:spPr>
          <a:xfrm>
            <a:off x="640080" y="1600200"/>
            <a:ext cx="566928" cy="566928"/>
          </a:xfrm>
          <a:prstGeom prst="ellipse">
            <a:avLst/>
          </a:prstGeom>
          <a:solidFill>
            <a:srgbClr val="EAF7EE"/>
          </a:solidFill>
          <a:ln/>
        </p:spPr>
      </p:sp>
      <p:pic>
        <p:nvPicPr>
          <p:cNvPr id="5" name="Image 0" descr="preencoded.png"/>
          <p:cNvPicPr>
            <a:picLocks noChangeAspect="1"/>
          </p:cNvPicPr>
          <p:nvPr/>
        </p:nvPicPr>
        <p:blipFill>
          <a:blip r:embed="rId3"/>
          <a:stretch>
            <a:fillRect/>
          </a:stretch>
        </p:blipFill>
        <p:spPr>
          <a:xfrm>
            <a:off x="713781" y="1673901"/>
            <a:ext cx="419527" cy="419527"/>
          </a:xfrm>
          <a:prstGeom prst="rect">
            <a:avLst/>
          </a:prstGeom>
        </p:spPr>
      </p:pic>
      <p:sp>
        <p:nvSpPr>
          <p:cNvPr id="6" name="Text 3"/>
          <p:cNvSpPr/>
          <p:nvPr/>
        </p:nvSpPr>
        <p:spPr>
          <a:xfrm>
            <a:off x="1280160" y="1563624"/>
            <a:ext cx="640080" cy="548640"/>
          </a:xfrm>
          <a:prstGeom prst="rect">
            <a:avLst/>
          </a:prstGeom>
          <a:noFill/>
          <a:ln/>
        </p:spPr>
        <p:txBody>
          <a:bodyPr wrap="square" lIns="0" tIns="0" rIns="0" bIns="0" rtlCol="0" anchor="ctr"/>
          <a:lstStyle/>
          <a:p>
            <a:pPr marL="0" indent="0">
              <a:buNone/>
            </a:pPr>
            <a:r>
              <a:rPr lang="en-US" sz="2000" b="1" dirty="0">
                <a:solidFill>
                  <a:srgbClr val="92D050"/>
                </a:solidFill>
                <a:latin typeface="Cambria" pitchFamily="34" charset="0"/>
                <a:ea typeface="Cambria" pitchFamily="34" charset="-122"/>
                <a:cs typeface="Cambria" pitchFamily="34" charset="-120"/>
              </a:rPr>
              <a:t>01</a:t>
            </a:r>
            <a:endParaRPr lang="en-US" sz="2000" dirty="0">
              <a:solidFill>
                <a:srgbClr val="92D050"/>
              </a:solidFill>
            </a:endParaRPr>
          </a:p>
        </p:txBody>
      </p:sp>
      <p:sp>
        <p:nvSpPr>
          <p:cNvPr id="7" name="Text 4"/>
          <p:cNvSpPr/>
          <p:nvPr/>
        </p:nvSpPr>
        <p:spPr>
          <a:xfrm>
            <a:off x="1874520" y="1545336"/>
            <a:ext cx="5852160" cy="365760"/>
          </a:xfrm>
          <a:prstGeom prst="rect">
            <a:avLst/>
          </a:prstGeom>
          <a:noFill/>
          <a:ln/>
        </p:spPr>
        <p:txBody>
          <a:bodyPr wrap="square" lIns="0" tIns="0" rIns="0" bIns="0" rtlCol="0" anchor="ctr"/>
          <a:lstStyle/>
          <a:p>
            <a:pPr marL="0" indent="0">
              <a:buNone/>
            </a:pPr>
            <a:r>
              <a:rPr lang="en-US" sz="1700" b="1" dirty="0">
                <a:solidFill>
                  <a:srgbClr val="1C2B22"/>
                </a:solidFill>
                <a:latin typeface="Calibri" pitchFamily="34" charset="0"/>
                <a:ea typeface="Calibri" pitchFamily="34" charset="-122"/>
                <a:cs typeface="Calibri" pitchFamily="34" charset="-120"/>
              </a:rPr>
              <a:t>Revenue Metrics</a:t>
            </a:r>
            <a:endParaRPr lang="en-US" sz="1700" dirty="0"/>
          </a:p>
        </p:txBody>
      </p:sp>
      <p:sp>
        <p:nvSpPr>
          <p:cNvPr id="8" name="Text 5"/>
          <p:cNvSpPr/>
          <p:nvPr/>
        </p:nvSpPr>
        <p:spPr>
          <a:xfrm>
            <a:off x="1874520" y="1892808"/>
            <a:ext cx="7132320" cy="365760"/>
          </a:xfrm>
          <a:prstGeom prst="rect">
            <a:avLst/>
          </a:prstGeom>
          <a:noFill/>
          <a:ln/>
        </p:spPr>
        <p:txBody>
          <a:bodyPr wrap="square" lIns="0" tIns="0" rIns="0" bIns="0" rtlCol="0" anchor="ctr"/>
          <a:lstStyle/>
          <a:p>
            <a:pPr marL="0" indent="0">
              <a:buNone/>
            </a:pPr>
            <a:r>
              <a:rPr lang="en-US" sz="1200" dirty="0">
                <a:solidFill>
                  <a:srgbClr val="5E6F64"/>
                </a:solidFill>
                <a:latin typeface="Calibri" pitchFamily="34" charset="0"/>
                <a:ea typeface="Calibri" pitchFamily="34" charset="-122"/>
                <a:cs typeface="Calibri" pitchFamily="34" charset="-120"/>
              </a:rPr>
              <a:t>How total, average and growth revenue are calculated</a:t>
            </a:r>
            <a:endParaRPr lang="en-US" sz="1200" dirty="0"/>
          </a:p>
        </p:txBody>
      </p:sp>
      <p:sp>
        <p:nvSpPr>
          <p:cNvPr id="9" name="Shape 6"/>
          <p:cNvSpPr/>
          <p:nvPr/>
        </p:nvSpPr>
        <p:spPr>
          <a:xfrm>
            <a:off x="640080" y="2350008"/>
            <a:ext cx="8595360" cy="0"/>
          </a:xfrm>
          <a:prstGeom prst="line">
            <a:avLst/>
          </a:prstGeom>
          <a:noFill/>
          <a:ln w="12700">
            <a:solidFill>
              <a:srgbClr val="D7ECDD"/>
            </a:solidFill>
            <a:prstDash val="solid"/>
          </a:ln>
        </p:spPr>
      </p:sp>
      <p:sp>
        <p:nvSpPr>
          <p:cNvPr id="10" name="Shape 7"/>
          <p:cNvSpPr/>
          <p:nvPr/>
        </p:nvSpPr>
        <p:spPr>
          <a:xfrm>
            <a:off x="640080" y="2514600"/>
            <a:ext cx="566928" cy="566928"/>
          </a:xfrm>
          <a:prstGeom prst="ellipse">
            <a:avLst/>
          </a:prstGeom>
          <a:solidFill>
            <a:srgbClr val="EAF7EE"/>
          </a:solidFill>
          <a:ln/>
        </p:spPr>
      </p:sp>
      <p:pic>
        <p:nvPicPr>
          <p:cNvPr id="11" name="Image 1" descr="preencoded.png"/>
          <p:cNvPicPr>
            <a:picLocks noChangeAspect="1"/>
          </p:cNvPicPr>
          <p:nvPr/>
        </p:nvPicPr>
        <p:blipFill>
          <a:blip r:embed="rId4"/>
          <a:stretch>
            <a:fillRect/>
          </a:stretch>
        </p:blipFill>
        <p:spPr>
          <a:xfrm>
            <a:off x="713781" y="2588301"/>
            <a:ext cx="419527" cy="419527"/>
          </a:xfrm>
          <a:prstGeom prst="rect">
            <a:avLst/>
          </a:prstGeom>
        </p:spPr>
      </p:pic>
      <p:sp>
        <p:nvSpPr>
          <p:cNvPr id="12" name="Text 8"/>
          <p:cNvSpPr/>
          <p:nvPr/>
        </p:nvSpPr>
        <p:spPr>
          <a:xfrm>
            <a:off x="1280160" y="2478024"/>
            <a:ext cx="640080" cy="548640"/>
          </a:xfrm>
          <a:prstGeom prst="rect">
            <a:avLst/>
          </a:prstGeom>
          <a:noFill/>
          <a:ln/>
        </p:spPr>
        <p:txBody>
          <a:bodyPr wrap="square" lIns="0" tIns="0" rIns="0" bIns="0" rtlCol="0" anchor="ctr"/>
          <a:lstStyle/>
          <a:p>
            <a:pPr marL="0" indent="0">
              <a:buNone/>
            </a:pPr>
            <a:r>
              <a:rPr lang="en-US" sz="2000" b="1" dirty="0">
                <a:solidFill>
                  <a:srgbClr val="92D050"/>
                </a:solidFill>
                <a:latin typeface="Cambria" pitchFamily="34" charset="0"/>
                <a:ea typeface="Cambria" pitchFamily="34" charset="-122"/>
                <a:cs typeface="Cambria" pitchFamily="34" charset="-120"/>
              </a:rPr>
              <a:t>02</a:t>
            </a:r>
            <a:endParaRPr lang="en-US" sz="2000" dirty="0">
              <a:solidFill>
                <a:srgbClr val="92D050"/>
              </a:solidFill>
            </a:endParaRPr>
          </a:p>
        </p:txBody>
      </p:sp>
      <p:sp>
        <p:nvSpPr>
          <p:cNvPr id="13" name="Text 9"/>
          <p:cNvSpPr/>
          <p:nvPr/>
        </p:nvSpPr>
        <p:spPr>
          <a:xfrm>
            <a:off x="1874520" y="2459736"/>
            <a:ext cx="5852160" cy="365760"/>
          </a:xfrm>
          <a:prstGeom prst="rect">
            <a:avLst/>
          </a:prstGeom>
          <a:noFill/>
          <a:ln/>
        </p:spPr>
        <p:txBody>
          <a:bodyPr wrap="square" lIns="0" tIns="0" rIns="0" bIns="0" rtlCol="0" anchor="ctr"/>
          <a:lstStyle/>
          <a:p>
            <a:pPr marL="0" indent="0">
              <a:buNone/>
            </a:pPr>
            <a:r>
              <a:rPr lang="en-US" sz="1700" b="1" dirty="0">
                <a:solidFill>
                  <a:srgbClr val="1C2B22"/>
                </a:solidFill>
                <a:latin typeface="Calibri" pitchFamily="34" charset="0"/>
                <a:ea typeface="Calibri" pitchFamily="34" charset="-122"/>
                <a:cs typeface="Calibri" pitchFamily="34" charset="-120"/>
              </a:rPr>
              <a:t>Profit &amp; Cost Analysis</a:t>
            </a:r>
            <a:endParaRPr lang="en-US" sz="1700" dirty="0"/>
          </a:p>
        </p:txBody>
      </p:sp>
      <p:sp>
        <p:nvSpPr>
          <p:cNvPr id="14" name="Text 10"/>
          <p:cNvSpPr/>
          <p:nvPr/>
        </p:nvSpPr>
        <p:spPr>
          <a:xfrm>
            <a:off x="1874520" y="2807208"/>
            <a:ext cx="7132320" cy="365760"/>
          </a:xfrm>
          <a:prstGeom prst="rect">
            <a:avLst/>
          </a:prstGeom>
          <a:noFill/>
          <a:ln/>
        </p:spPr>
        <p:txBody>
          <a:bodyPr wrap="square" lIns="0" tIns="0" rIns="0" bIns="0" rtlCol="0" anchor="ctr"/>
          <a:lstStyle/>
          <a:p>
            <a:pPr marL="0" indent="0">
              <a:buNone/>
            </a:pPr>
            <a:r>
              <a:rPr lang="en-US" sz="1200" dirty="0">
                <a:solidFill>
                  <a:srgbClr val="5E6F64"/>
                </a:solidFill>
                <a:latin typeface="Calibri" pitchFamily="34" charset="0"/>
                <a:ea typeface="Calibri" pitchFamily="34" charset="-122"/>
                <a:cs typeface="Calibri" pitchFamily="34" charset="-120"/>
              </a:rPr>
              <a:t>Gross profit, net profit, EBITDA and margins</a:t>
            </a:r>
            <a:endParaRPr lang="en-US" sz="1200" dirty="0"/>
          </a:p>
        </p:txBody>
      </p:sp>
      <p:sp>
        <p:nvSpPr>
          <p:cNvPr id="15" name="Shape 11"/>
          <p:cNvSpPr/>
          <p:nvPr/>
        </p:nvSpPr>
        <p:spPr>
          <a:xfrm>
            <a:off x="640080" y="3264408"/>
            <a:ext cx="8595360" cy="0"/>
          </a:xfrm>
          <a:prstGeom prst="line">
            <a:avLst/>
          </a:prstGeom>
          <a:noFill/>
          <a:ln w="12700">
            <a:solidFill>
              <a:srgbClr val="D7ECDD"/>
            </a:solidFill>
            <a:prstDash val="solid"/>
          </a:ln>
        </p:spPr>
      </p:sp>
      <p:sp>
        <p:nvSpPr>
          <p:cNvPr id="16" name="Shape 12"/>
          <p:cNvSpPr/>
          <p:nvPr/>
        </p:nvSpPr>
        <p:spPr>
          <a:xfrm>
            <a:off x="640080" y="3429000"/>
            <a:ext cx="566928" cy="566928"/>
          </a:xfrm>
          <a:prstGeom prst="ellipse">
            <a:avLst/>
          </a:prstGeom>
          <a:solidFill>
            <a:srgbClr val="EAF7EE"/>
          </a:solidFill>
          <a:ln/>
        </p:spPr>
      </p:sp>
      <p:pic>
        <p:nvPicPr>
          <p:cNvPr id="17" name="Image 2" descr="preencoded.png"/>
          <p:cNvPicPr>
            <a:picLocks noChangeAspect="1"/>
          </p:cNvPicPr>
          <p:nvPr/>
        </p:nvPicPr>
        <p:blipFill>
          <a:blip r:embed="rId5"/>
          <a:stretch>
            <a:fillRect/>
          </a:stretch>
        </p:blipFill>
        <p:spPr>
          <a:xfrm>
            <a:off x="713781" y="3502701"/>
            <a:ext cx="419527" cy="419527"/>
          </a:xfrm>
          <a:prstGeom prst="rect">
            <a:avLst/>
          </a:prstGeom>
        </p:spPr>
      </p:pic>
      <p:sp>
        <p:nvSpPr>
          <p:cNvPr id="18" name="Text 13"/>
          <p:cNvSpPr/>
          <p:nvPr/>
        </p:nvSpPr>
        <p:spPr>
          <a:xfrm>
            <a:off x="1280160" y="3392424"/>
            <a:ext cx="640080" cy="548640"/>
          </a:xfrm>
          <a:prstGeom prst="rect">
            <a:avLst/>
          </a:prstGeom>
          <a:noFill/>
          <a:ln/>
        </p:spPr>
        <p:txBody>
          <a:bodyPr wrap="square" lIns="0" tIns="0" rIns="0" bIns="0" rtlCol="0" anchor="ctr"/>
          <a:lstStyle/>
          <a:p>
            <a:pPr marL="0" indent="0">
              <a:buNone/>
            </a:pPr>
            <a:r>
              <a:rPr lang="en-US" sz="2000" b="1" dirty="0">
                <a:solidFill>
                  <a:srgbClr val="92D050"/>
                </a:solidFill>
                <a:latin typeface="Cambria" pitchFamily="34" charset="0"/>
                <a:ea typeface="Cambria" pitchFamily="34" charset="-122"/>
                <a:cs typeface="Cambria" pitchFamily="34" charset="-120"/>
              </a:rPr>
              <a:t>03</a:t>
            </a:r>
            <a:endParaRPr lang="en-US" sz="2000" dirty="0">
              <a:solidFill>
                <a:srgbClr val="92D050"/>
              </a:solidFill>
            </a:endParaRPr>
          </a:p>
        </p:txBody>
      </p:sp>
      <p:sp>
        <p:nvSpPr>
          <p:cNvPr id="19" name="Text 14"/>
          <p:cNvSpPr/>
          <p:nvPr/>
        </p:nvSpPr>
        <p:spPr>
          <a:xfrm>
            <a:off x="1874520" y="3374136"/>
            <a:ext cx="5852160" cy="365760"/>
          </a:xfrm>
          <a:prstGeom prst="rect">
            <a:avLst/>
          </a:prstGeom>
          <a:noFill/>
          <a:ln/>
        </p:spPr>
        <p:txBody>
          <a:bodyPr wrap="square" lIns="0" tIns="0" rIns="0" bIns="0" rtlCol="0" anchor="ctr"/>
          <a:lstStyle/>
          <a:p>
            <a:pPr marL="0" indent="0">
              <a:buNone/>
            </a:pPr>
            <a:r>
              <a:rPr lang="en-US" sz="1700" b="1" dirty="0">
                <a:solidFill>
                  <a:srgbClr val="1C2B22"/>
                </a:solidFill>
                <a:latin typeface="Calibri" pitchFamily="34" charset="0"/>
                <a:ea typeface="Calibri" pitchFamily="34" charset="-122"/>
                <a:cs typeface="Calibri" pitchFamily="34" charset="-120"/>
              </a:rPr>
              <a:t>Key Business KPIs</a:t>
            </a:r>
            <a:endParaRPr lang="en-US" sz="1700" dirty="0"/>
          </a:p>
        </p:txBody>
      </p:sp>
      <p:sp>
        <p:nvSpPr>
          <p:cNvPr id="20" name="Text 15"/>
          <p:cNvSpPr/>
          <p:nvPr/>
        </p:nvSpPr>
        <p:spPr>
          <a:xfrm>
            <a:off x="1874520" y="3721608"/>
            <a:ext cx="7132320" cy="365760"/>
          </a:xfrm>
          <a:prstGeom prst="rect">
            <a:avLst/>
          </a:prstGeom>
          <a:noFill/>
          <a:ln/>
        </p:spPr>
        <p:txBody>
          <a:bodyPr wrap="square" lIns="0" tIns="0" rIns="0" bIns="0" rtlCol="0" anchor="ctr"/>
          <a:lstStyle/>
          <a:p>
            <a:pPr marL="0" indent="0">
              <a:buNone/>
            </a:pPr>
            <a:r>
              <a:rPr lang="en-US" sz="1200" dirty="0">
                <a:solidFill>
                  <a:srgbClr val="5E6F64"/>
                </a:solidFill>
                <a:latin typeface="Calibri" pitchFamily="34" charset="0"/>
                <a:ea typeface="Calibri" pitchFamily="34" charset="-122"/>
                <a:cs typeface="Calibri" pitchFamily="34" charset="-120"/>
              </a:rPr>
              <a:t>CAC, CLV, ROI and operational performance indicators</a:t>
            </a:r>
            <a:endParaRPr lang="en-US" sz="1200" dirty="0"/>
          </a:p>
        </p:txBody>
      </p:sp>
      <p:sp>
        <p:nvSpPr>
          <p:cNvPr id="21" name="Shape 16"/>
          <p:cNvSpPr/>
          <p:nvPr/>
        </p:nvSpPr>
        <p:spPr>
          <a:xfrm>
            <a:off x="640080" y="4178808"/>
            <a:ext cx="8595360" cy="0"/>
          </a:xfrm>
          <a:prstGeom prst="line">
            <a:avLst/>
          </a:prstGeom>
          <a:noFill/>
          <a:ln w="12700">
            <a:solidFill>
              <a:srgbClr val="D7ECDD"/>
            </a:solidFill>
            <a:prstDash val="solid"/>
          </a:ln>
        </p:spPr>
      </p:sp>
      <p:sp>
        <p:nvSpPr>
          <p:cNvPr id="22" name="Shape 17"/>
          <p:cNvSpPr/>
          <p:nvPr/>
        </p:nvSpPr>
        <p:spPr>
          <a:xfrm>
            <a:off x="640080" y="4343400"/>
            <a:ext cx="566928" cy="566928"/>
          </a:xfrm>
          <a:prstGeom prst="ellipse">
            <a:avLst/>
          </a:prstGeom>
          <a:solidFill>
            <a:srgbClr val="EAF7EE"/>
          </a:solidFill>
          <a:ln/>
        </p:spPr>
      </p:sp>
      <p:pic>
        <p:nvPicPr>
          <p:cNvPr id="23" name="Image 3" descr="preencoded.png"/>
          <p:cNvPicPr>
            <a:picLocks noChangeAspect="1"/>
          </p:cNvPicPr>
          <p:nvPr/>
        </p:nvPicPr>
        <p:blipFill>
          <a:blip r:embed="rId6"/>
          <a:stretch>
            <a:fillRect/>
          </a:stretch>
        </p:blipFill>
        <p:spPr>
          <a:xfrm>
            <a:off x="713781" y="4417101"/>
            <a:ext cx="419527" cy="419527"/>
          </a:xfrm>
          <a:prstGeom prst="rect">
            <a:avLst/>
          </a:prstGeom>
        </p:spPr>
      </p:pic>
      <p:sp>
        <p:nvSpPr>
          <p:cNvPr id="24" name="Text 18"/>
          <p:cNvSpPr/>
          <p:nvPr/>
        </p:nvSpPr>
        <p:spPr>
          <a:xfrm>
            <a:off x="1280160" y="4306824"/>
            <a:ext cx="640080" cy="548640"/>
          </a:xfrm>
          <a:prstGeom prst="rect">
            <a:avLst/>
          </a:prstGeom>
          <a:noFill/>
          <a:ln/>
        </p:spPr>
        <p:txBody>
          <a:bodyPr wrap="square" lIns="0" tIns="0" rIns="0" bIns="0" rtlCol="0" anchor="ctr"/>
          <a:lstStyle/>
          <a:p>
            <a:pPr marL="0" indent="0">
              <a:buNone/>
            </a:pPr>
            <a:r>
              <a:rPr lang="en-US" sz="2000" b="1" dirty="0">
                <a:solidFill>
                  <a:srgbClr val="92D050"/>
                </a:solidFill>
                <a:latin typeface="Cambria" pitchFamily="34" charset="0"/>
                <a:ea typeface="Cambria" pitchFamily="34" charset="-122"/>
                <a:cs typeface="Cambria" pitchFamily="34" charset="-120"/>
              </a:rPr>
              <a:t>04</a:t>
            </a:r>
            <a:endParaRPr lang="en-US" sz="2000" dirty="0">
              <a:solidFill>
                <a:srgbClr val="92D050"/>
              </a:solidFill>
            </a:endParaRPr>
          </a:p>
        </p:txBody>
      </p:sp>
      <p:sp>
        <p:nvSpPr>
          <p:cNvPr id="25" name="Text 19"/>
          <p:cNvSpPr/>
          <p:nvPr/>
        </p:nvSpPr>
        <p:spPr>
          <a:xfrm>
            <a:off x="1874520" y="4288536"/>
            <a:ext cx="5852160" cy="365760"/>
          </a:xfrm>
          <a:prstGeom prst="rect">
            <a:avLst/>
          </a:prstGeom>
          <a:noFill/>
          <a:ln/>
        </p:spPr>
        <p:txBody>
          <a:bodyPr wrap="square" lIns="0" tIns="0" rIns="0" bIns="0" rtlCol="0" anchor="ctr"/>
          <a:lstStyle/>
          <a:p>
            <a:pPr marL="0" indent="0">
              <a:buNone/>
            </a:pPr>
            <a:r>
              <a:rPr lang="en-US" sz="1700" b="1" dirty="0">
                <a:solidFill>
                  <a:srgbClr val="1C2B22"/>
                </a:solidFill>
                <a:latin typeface="Calibri" pitchFamily="34" charset="0"/>
                <a:ea typeface="Calibri" pitchFamily="34" charset="-122"/>
                <a:cs typeface="Calibri" pitchFamily="34" charset="-120"/>
              </a:rPr>
              <a:t>Excel Dashboard Design</a:t>
            </a:r>
            <a:endParaRPr lang="en-US" sz="1700" dirty="0"/>
          </a:p>
        </p:txBody>
      </p:sp>
      <p:sp>
        <p:nvSpPr>
          <p:cNvPr id="26" name="Text 20"/>
          <p:cNvSpPr/>
          <p:nvPr/>
        </p:nvSpPr>
        <p:spPr>
          <a:xfrm>
            <a:off x="1874520" y="4636008"/>
            <a:ext cx="7132320" cy="365760"/>
          </a:xfrm>
          <a:prstGeom prst="rect">
            <a:avLst/>
          </a:prstGeom>
          <a:noFill/>
          <a:ln/>
        </p:spPr>
        <p:txBody>
          <a:bodyPr wrap="square" lIns="0" tIns="0" rIns="0" bIns="0" rtlCol="0" anchor="ctr"/>
          <a:lstStyle/>
          <a:p>
            <a:pPr marL="0" indent="0">
              <a:buNone/>
            </a:pPr>
            <a:r>
              <a:rPr lang="en-US" sz="1200" dirty="0">
                <a:solidFill>
                  <a:srgbClr val="5E6F64"/>
                </a:solidFill>
                <a:latin typeface="Calibri" pitchFamily="34" charset="0"/>
                <a:ea typeface="Calibri" pitchFamily="34" charset="-122"/>
                <a:cs typeface="Calibri" pitchFamily="34" charset="-120"/>
              </a:rPr>
              <a:t>Building a live, formula-driven reporting dashboard</a:t>
            </a:r>
            <a:endParaRPr lang="en-US" sz="1200" dirty="0"/>
          </a:p>
        </p:txBody>
      </p:sp>
      <p:sp>
        <p:nvSpPr>
          <p:cNvPr id="27" name="Shape 21"/>
          <p:cNvSpPr/>
          <p:nvPr/>
        </p:nvSpPr>
        <p:spPr>
          <a:xfrm>
            <a:off x="640080" y="5093208"/>
            <a:ext cx="8595360" cy="0"/>
          </a:xfrm>
          <a:prstGeom prst="line">
            <a:avLst/>
          </a:prstGeom>
          <a:noFill/>
          <a:ln w="12700">
            <a:solidFill>
              <a:srgbClr val="D7ECDD"/>
            </a:solidFill>
            <a:prstDash val="solid"/>
          </a:ln>
        </p:spPr>
      </p:sp>
      <p:sp>
        <p:nvSpPr>
          <p:cNvPr id="28" name="Shape 22"/>
          <p:cNvSpPr/>
          <p:nvPr/>
        </p:nvSpPr>
        <p:spPr>
          <a:xfrm>
            <a:off x="640080" y="5257800"/>
            <a:ext cx="566928" cy="566928"/>
          </a:xfrm>
          <a:prstGeom prst="ellipse">
            <a:avLst/>
          </a:prstGeom>
          <a:solidFill>
            <a:srgbClr val="EAF7EE"/>
          </a:solidFill>
          <a:ln/>
        </p:spPr>
      </p:sp>
      <p:pic>
        <p:nvPicPr>
          <p:cNvPr id="29" name="Image 4" descr="preencoded.png"/>
          <p:cNvPicPr>
            <a:picLocks noChangeAspect="1"/>
          </p:cNvPicPr>
          <p:nvPr/>
        </p:nvPicPr>
        <p:blipFill>
          <a:blip r:embed="rId7"/>
          <a:stretch>
            <a:fillRect/>
          </a:stretch>
        </p:blipFill>
        <p:spPr>
          <a:xfrm>
            <a:off x="713781" y="5331501"/>
            <a:ext cx="419527" cy="419527"/>
          </a:xfrm>
          <a:prstGeom prst="rect">
            <a:avLst/>
          </a:prstGeom>
        </p:spPr>
      </p:pic>
      <p:sp>
        <p:nvSpPr>
          <p:cNvPr id="30" name="Text 23"/>
          <p:cNvSpPr/>
          <p:nvPr/>
        </p:nvSpPr>
        <p:spPr>
          <a:xfrm>
            <a:off x="1280160" y="5221224"/>
            <a:ext cx="640080" cy="548640"/>
          </a:xfrm>
          <a:prstGeom prst="rect">
            <a:avLst/>
          </a:prstGeom>
          <a:noFill/>
          <a:ln/>
        </p:spPr>
        <p:txBody>
          <a:bodyPr wrap="square" lIns="0" tIns="0" rIns="0" bIns="0" rtlCol="0" anchor="ctr"/>
          <a:lstStyle/>
          <a:p>
            <a:pPr marL="0" indent="0">
              <a:buNone/>
            </a:pPr>
            <a:r>
              <a:rPr lang="en-US" sz="2000" b="1" dirty="0">
                <a:solidFill>
                  <a:srgbClr val="92D050"/>
                </a:solidFill>
                <a:latin typeface="Cambria" pitchFamily="34" charset="0"/>
                <a:ea typeface="Cambria" pitchFamily="34" charset="-122"/>
                <a:cs typeface="Cambria" pitchFamily="34" charset="-120"/>
              </a:rPr>
              <a:t>05</a:t>
            </a:r>
            <a:endParaRPr lang="en-US" sz="2000" dirty="0">
              <a:solidFill>
                <a:srgbClr val="92D050"/>
              </a:solidFill>
            </a:endParaRPr>
          </a:p>
        </p:txBody>
      </p:sp>
      <p:sp>
        <p:nvSpPr>
          <p:cNvPr id="31" name="Text 24"/>
          <p:cNvSpPr/>
          <p:nvPr/>
        </p:nvSpPr>
        <p:spPr>
          <a:xfrm>
            <a:off x="1874520" y="5202936"/>
            <a:ext cx="5852160" cy="365760"/>
          </a:xfrm>
          <a:prstGeom prst="rect">
            <a:avLst/>
          </a:prstGeom>
          <a:noFill/>
          <a:ln/>
        </p:spPr>
        <p:txBody>
          <a:bodyPr wrap="square" lIns="0" tIns="0" rIns="0" bIns="0" rtlCol="0" anchor="ctr"/>
          <a:lstStyle/>
          <a:p>
            <a:pPr marL="0" indent="0">
              <a:buNone/>
            </a:pPr>
            <a:r>
              <a:rPr lang="en-US" sz="1700" b="1" dirty="0">
                <a:solidFill>
                  <a:srgbClr val="1C2B22"/>
                </a:solidFill>
                <a:latin typeface="Calibri" pitchFamily="34" charset="0"/>
                <a:ea typeface="Calibri" pitchFamily="34" charset="-122"/>
                <a:cs typeface="Calibri" pitchFamily="34" charset="-120"/>
              </a:rPr>
              <a:t>Business Insights</a:t>
            </a:r>
            <a:endParaRPr lang="en-US" sz="1700" dirty="0"/>
          </a:p>
        </p:txBody>
      </p:sp>
      <p:sp>
        <p:nvSpPr>
          <p:cNvPr id="32" name="Text 25"/>
          <p:cNvSpPr/>
          <p:nvPr/>
        </p:nvSpPr>
        <p:spPr>
          <a:xfrm>
            <a:off x="1874520" y="5550408"/>
            <a:ext cx="7132320" cy="365760"/>
          </a:xfrm>
          <a:prstGeom prst="rect">
            <a:avLst/>
          </a:prstGeom>
          <a:noFill/>
          <a:ln/>
        </p:spPr>
        <p:txBody>
          <a:bodyPr wrap="square" lIns="0" tIns="0" rIns="0" bIns="0" rtlCol="0" anchor="ctr"/>
          <a:lstStyle/>
          <a:p>
            <a:pPr marL="0" indent="0">
              <a:buNone/>
            </a:pPr>
            <a:r>
              <a:rPr lang="en-US" sz="1200" dirty="0">
                <a:solidFill>
                  <a:srgbClr val="5E6F64"/>
                </a:solidFill>
                <a:latin typeface="Calibri" pitchFamily="34" charset="0"/>
                <a:ea typeface="Calibri" pitchFamily="34" charset="-122"/>
                <a:cs typeface="Calibri" pitchFamily="34" charset="-120"/>
              </a:rPr>
              <a:t>Turning numbers into growth and cost decisions</a:t>
            </a:r>
            <a:endParaRPr lang="en-US" sz="1200" dirty="0"/>
          </a:p>
        </p:txBody>
      </p:sp>
      <p:sp>
        <p:nvSpPr>
          <p:cNvPr id="33" name="Shape 26"/>
          <p:cNvSpPr/>
          <p:nvPr/>
        </p:nvSpPr>
        <p:spPr>
          <a:xfrm>
            <a:off x="8961120" y="1600200"/>
            <a:ext cx="2606040" cy="4434840"/>
          </a:xfrm>
          <a:prstGeom prst="roundRect">
            <a:avLst>
              <a:gd name="adj" fmla="val 2807"/>
            </a:avLst>
          </a:prstGeom>
          <a:solidFill>
            <a:srgbClr val="EAF7EE"/>
          </a:solidFill>
          <a:ln w="12700">
            <a:solidFill>
              <a:srgbClr val="D7ECDD"/>
            </a:solidFill>
            <a:prstDash val="solid"/>
          </a:ln>
          <a:effectLst>
            <a:outerShdw blurRad="101600" dist="38100" dir="5400000" algn="bl" rotWithShape="0">
              <a:srgbClr val="0B5C33">
                <a:alpha val="12000"/>
              </a:srgbClr>
            </a:outerShdw>
          </a:effectLst>
        </p:spPr>
      </p:sp>
      <p:sp>
        <p:nvSpPr>
          <p:cNvPr id="34" name="Shape 27"/>
          <p:cNvSpPr/>
          <p:nvPr/>
        </p:nvSpPr>
        <p:spPr>
          <a:xfrm>
            <a:off x="9509760" y="1965960"/>
            <a:ext cx="640080" cy="640080"/>
          </a:xfrm>
          <a:prstGeom prst="ellipse">
            <a:avLst/>
          </a:prstGeom>
          <a:solidFill>
            <a:srgbClr val="FFFFFF"/>
          </a:solidFill>
          <a:ln/>
        </p:spPr>
      </p:sp>
      <p:pic>
        <p:nvPicPr>
          <p:cNvPr id="35" name="Image 5" descr="preencoded.png"/>
          <p:cNvPicPr>
            <a:picLocks noChangeAspect="1"/>
          </p:cNvPicPr>
          <p:nvPr/>
        </p:nvPicPr>
        <p:blipFill>
          <a:blip r:embed="rId7"/>
          <a:stretch>
            <a:fillRect/>
          </a:stretch>
        </p:blipFill>
        <p:spPr>
          <a:xfrm>
            <a:off x="9592970" y="2049170"/>
            <a:ext cx="473659" cy="473659"/>
          </a:xfrm>
          <a:prstGeom prst="rect">
            <a:avLst/>
          </a:prstGeom>
        </p:spPr>
      </p:pic>
      <p:sp>
        <p:nvSpPr>
          <p:cNvPr id="36" name="Text 28"/>
          <p:cNvSpPr/>
          <p:nvPr/>
        </p:nvSpPr>
        <p:spPr>
          <a:xfrm>
            <a:off x="9189720" y="2743200"/>
            <a:ext cx="2194560" cy="365760"/>
          </a:xfrm>
          <a:prstGeom prst="rect">
            <a:avLst/>
          </a:prstGeom>
          <a:noFill/>
          <a:ln/>
        </p:spPr>
        <p:txBody>
          <a:bodyPr wrap="square" lIns="0" tIns="0" rIns="0" bIns="0" rtlCol="0" anchor="ctr"/>
          <a:lstStyle/>
          <a:p>
            <a:pPr marL="0" indent="0">
              <a:buNone/>
            </a:pPr>
            <a:r>
              <a:rPr lang="en-US" sz="1400" b="1" dirty="0">
                <a:solidFill>
                  <a:srgbClr val="1C2B22"/>
                </a:solidFill>
                <a:latin typeface="Calibri" pitchFamily="34" charset="0"/>
                <a:ea typeface="Calibri" pitchFamily="34" charset="-122"/>
                <a:cs typeface="Calibri" pitchFamily="34" charset="-120"/>
              </a:rPr>
              <a:t>Why It Matters</a:t>
            </a:r>
            <a:endParaRPr lang="en-US" sz="1400" dirty="0"/>
          </a:p>
        </p:txBody>
      </p:sp>
      <p:sp>
        <p:nvSpPr>
          <p:cNvPr id="37" name="Text 29"/>
          <p:cNvSpPr/>
          <p:nvPr/>
        </p:nvSpPr>
        <p:spPr>
          <a:xfrm>
            <a:off x="9189720" y="3154680"/>
            <a:ext cx="2194560" cy="2651760"/>
          </a:xfrm>
          <a:prstGeom prst="rect">
            <a:avLst/>
          </a:prstGeom>
          <a:noFill/>
          <a:ln/>
        </p:spPr>
        <p:txBody>
          <a:bodyPr wrap="square" lIns="0" tIns="0" rIns="0" bIns="0" rtlCol="0" anchor="ctr"/>
          <a:lstStyle/>
          <a:p>
            <a:pPr marL="0" indent="0">
              <a:lnSpc>
                <a:spcPct val="125000"/>
              </a:lnSpc>
              <a:buNone/>
            </a:pPr>
            <a:r>
              <a:rPr lang="en-US" sz="1150" dirty="0">
                <a:solidFill>
                  <a:srgbClr val="5E6F64"/>
                </a:solidFill>
                <a:latin typeface="Calibri" pitchFamily="34" charset="0"/>
                <a:ea typeface="Calibri" pitchFamily="34" charset="-122"/>
                <a:cs typeface="Calibri" pitchFamily="34" charset="-120"/>
              </a:rPr>
              <a:t>Every metric in this deck maps directly to an Excel formula you can apply to your own monthly data.</a:t>
            </a:r>
            <a:endParaRPr lang="en-US" sz="1150" dirty="0"/>
          </a:p>
        </p:txBody>
      </p:sp>
      <p:sp>
        <p:nvSpPr>
          <p:cNvPr id="38" name="Text 30"/>
          <p:cNvSpPr/>
          <p:nvPr/>
        </p:nvSpPr>
        <p:spPr>
          <a:xfrm>
            <a:off x="457200" y="6537960"/>
            <a:ext cx="5486400" cy="274320"/>
          </a:xfrm>
          <a:prstGeom prst="rect">
            <a:avLst/>
          </a:prstGeom>
          <a:noFill/>
          <a:ln/>
        </p:spPr>
        <p:txBody>
          <a:bodyPr wrap="square" lIns="0" tIns="0" rIns="0" bIns="0" rtlCol="0" anchor="ctr"/>
          <a:lstStyle/>
          <a:p>
            <a:pPr marL="0" indent="0">
              <a:buNone/>
            </a:pPr>
            <a:r>
              <a:rPr lang="en-US" sz="900" dirty="0">
                <a:solidFill>
                  <a:srgbClr val="5E6F64"/>
                </a:solidFill>
                <a:latin typeface="Calibri" pitchFamily="34" charset="0"/>
                <a:ea typeface="Calibri" pitchFamily="34" charset="-122"/>
                <a:cs typeface="Calibri" pitchFamily="34" charset="-120"/>
              </a:rPr>
              <a:t>DMart Revenue &amp; Business Metrics Report</a:t>
            </a:r>
            <a:endParaRPr lang="en-US" sz="900" dirty="0"/>
          </a:p>
        </p:txBody>
      </p:sp>
      <p:sp>
        <p:nvSpPr>
          <p:cNvPr id="39" name="Text 31"/>
          <p:cNvSpPr/>
          <p:nvPr/>
        </p:nvSpPr>
        <p:spPr>
          <a:xfrm>
            <a:off x="11521440" y="6537960"/>
            <a:ext cx="365760" cy="274320"/>
          </a:xfrm>
          <a:prstGeom prst="rect">
            <a:avLst/>
          </a:prstGeom>
          <a:noFill/>
          <a:ln/>
        </p:spPr>
        <p:txBody>
          <a:bodyPr wrap="square" lIns="0" tIns="0" rIns="0" bIns="0" rtlCol="0" anchor="ctr"/>
          <a:lstStyle/>
          <a:p>
            <a:pPr marL="0" indent="0" algn="r">
              <a:buNone/>
            </a:pPr>
            <a:r>
              <a:rPr lang="en-US" sz="900" dirty="0">
                <a:solidFill>
                  <a:srgbClr val="5E6F64"/>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lIns="0" tIns="0" rIns="0" bIns="0" rtlCol="0" anchor="ctr"/>
          <a:lstStyle/>
          <a:p>
            <a:pPr marL="0" indent="0">
              <a:buNone/>
            </a:pPr>
            <a:r>
              <a:rPr lang="en-US" sz="1200" b="1" kern="0" spc="200" dirty="0">
                <a:solidFill>
                  <a:srgbClr val="1E8449"/>
                </a:solidFill>
                <a:latin typeface="Calibri" pitchFamily="34" charset="0"/>
                <a:ea typeface="Calibri" pitchFamily="34" charset="-122"/>
                <a:cs typeface="Calibri" pitchFamily="34" charset="-120"/>
              </a:rPr>
              <a:t>FOUNDATIONS</a:t>
            </a:r>
            <a:endParaRPr lang="en-US" sz="1200" dirty="0"/>
          </a:p>
        </p:txBody>
      </p:sp>
      <p:sp>
        <p:nvSpPr>
          <p:cNvPr id="3" name="Text 1"/>
          <p:cNvSpPr/>
          <p:nvPr/>
        </p:nvSpPr>
        <p:spPr>
          <a:xfrm>
            <a:off x="548640" y="566928"/>
            <a:ext cx="10515600" cy="640080"/>
          </a:xfrm>
          <a:prstGeom prst="rect">
            <a:avLst/>
          </a:prstGeom>
          <a:noFill/>
          <a:ln/>
        </p:spPr>
        <p:txBody>
          <a:bodyPr wrap="square" lIns="0" tIns="0" rIns="0" bIns="0" rtlCol="0" anchor="ctr"/>
          <a:lstStyle/>
          <a:p>
            <a:pPr marL="0" indent="0">
              <a:buNone/>
            </a:pPr>
            <a:r>
              <a:rPr lang="en-US" sz="3000" b="1" dirty="0">
                <a:solidFill>
                  <a:srgbClr val="1C2B22"/>
                </a:solidFill>
                <a:latin typeface="Cambria" pitchFamily="34" charset="0"/>
                <a:ea typeface="Cambria" pitchFamily="34" charset="-122"/>
                <a:cs typeface="Cambria" pitchFamily="34" charset="-120"/>
              </a:rPr>
              <a:t>Introduction to Business Analytics</a:t>
            </a:r>
            <a:endParaRPr lang="en-US" sz="3000" dirty="0"/>
          </a:p>
        </p:txBody>
      </p:sp>
      <p:sp>
        <p:nvSpPr>
          <p:cNvPr id="4" name="Text 2"/>
          <p:cNvSpPr/>
          <p:nvPr/>
        </p:nvSpPr>
        <p:spPr>
          <a:xfrm>
            <a:off x="548640" y="1508760"/>
            <a:ext cx="6858000" cy="1371600"/>
          </a:xfrm>
          <a:prstGeom prst="rect">
            <a:avLst/>
          </a:prstGeom>
          <a:noFill/>
          <a:ln/>
        </p:spPr>
        <p:txBody>
          <a:bodyPr wrap="square" lIns="0" tIns="0" rIns="0" bIns="0" rtlCol="0" anchor="ctr"/>
          <a:lstStyle/>
          <a:p>
            <a:pPr marL="0" indent="0">
              <a:lnSpc>
                <a:spcPct val="130000"/>
              </a:lnSpc>
              <a:buNone/>
            </a:pPr>
            <a:r>
              <a:rPr lang="en-US" sz="1400" dirty="0">
                <a:solidFill>
                  <a:srgbClr val="1C2B22"/>
                </a:solidFill>
                <a:latin typeface="Calibri" pitchFamily="34" charset="0"/>
                <a:ea typeface="Calibri" pitchFamily="34" charset="-122"/>
                <a:cs typeface="Calibri" pitchFamily="34" charset="-120"/>
              </a:rPr>
              <a:t>Business Analytics is the practice of using data, statistical methods, and reporting tools to understand past performance and guide future decisions. Excel remains the most widely used platform for turning raw transactional data into actionable metrics.</a:t>
            </a:r>
            <a:endParaRPr lang="en-US" sz="1400" dirty="0"/>
          </a:p>
        </p:txBody>
      </p:sp>
      <p:sp>
        <p:nvSpPr>
          <p:cNvPr id="5" name="Shape 3"/>
          <p:cNvSpPr/>
          <p:nvPr/>
        </p:nvSpPr>
        <p:spPr>
          <a:xfrm>
            <a:off x="548640" y="3063240"/>
            <a:ext cx="3520440" cy="2834640"/>
          </a:xfrm>
          <a:prstGeom prst="roundRect">
            <a:avLst>
              <a:gd name="adj" fmla="val 2581"/>
            </a:avLst>
          </a:prstGeom>
          <a:solidFill>
            <a:srgbClr val="FFFFFF"/>
          </a:solidFill>
          <a:ln w="12700">
            <a:solidFill>
              <a:srgbClr val="D7ECDD"/>
            </a:solidFill>
            <a:prstDash val="solid"/>
          </a:ln>
          <a:effectLst>
            <a:outerShdw blurRad="101600" dist="38100" dir="5400000" algn="bl" rotWithShape="0">
              <a:srgbClr val="0B5C33">
                <a:alpha val="12000"/>
              </a:srgbClr>
            </a:outerShdw>
          </a:effectLst>
        </p:spPr>
      </p:sp>
      <p:sp>
        <p:nvSpPr>
          <p:cNvPr id="6" name="Shape 4"/>
          <p:cNvSpPr/>
          <p:nvPr/>
        </p:nvSpPr>
        <p:spPr>
          <a:xfrm>
            <a:off x="822960" y="3383280"/>
            <a:ext cx="594360" cy="594360"/>
          </a:xfrm>
          <a:prstGeom prst="ellipse">
            <a:avLst/>
          </a:prstGeom>
          <a:solidFill>
            <a:srgbClr val="EAF7EE"/>
          </a:solidFill>
          <a:ln/>
        </p:spPr>
      </p:sp>
      <p:pic>
        <p:nvPicPr>
          <p:cNvPr id="7" name="Image 0" descr="preencoded.png"/>
          <p:cNvPicPr>
            <a:picLocks noChangeAspect="1"/>
          </p:cNvPicPr>
          <p:nvPr/>
        </p:nvPicPr>
        <p:blipFill>
          <a:blip r:embed="rId3"/>
          <a:stretch>
            <a:fillRect/>
          </a:stretch>
        </p:blipFill>
        <p:spPr>
          <a:xfrm>
            <a:off x="900227" y="3460547"/>
            <a:ext cx="439826" cy="439826"/>
          </a:xfrm>
          <a:prstGeom prst="rect">
            <a:avLst/>
          </a:prstGeom>
        </p:spPr>
      </p:pic>
      <p:sp>
        <p:nvSpPr>
          <p:cNvPr id="8" name="Text 5"/>
          <p:cNvSpPr/>
          <p:nvPr/>
        </p:nvSpPr>
        <p:spPr>
          <a:xfrm>
            <a:off x="822960" y="4160520"/>
            <a:ext cx="2971800" cy="365760"/>
          </a:xfrm>
          <a:prstGeom prst="rect">
            <a:avLst/>
          </a:prstGeom>
          <a:noFill/>
          <a:ln/>
        </p:spPr>
        <p:txBody>
          <a:bodyPr wrap="square" lIns="0" tIns="0" rIns="0" bIns="0" rtlCol="0" anchor="ctr"/>
          <a:lstStyle/>
          <a:p>
            <a:pPr marL="0" indent="0">
              <a:buNone/>
            </a:pPr>
            <a:r>
              <a:rPr lang="en-US" sz="1500" b="1" dirty="0">
                <a:solidFill>
                  <a:srgbClr val="1C2B22"/>
                </a:solidFill>
                <a:latin typeface="Calibri" pitchFamily="34" charset="0"/>
                <a:ea typeface="Calibri" pitchFamily="34" charset="-122"/>
                <a:cs typeface="Calibri" pitchFamily="34" charset="-120"/>
              </a:rPr>
              <a:t>Definition</a:t>
            </a:r>
            <a:endParaRPr lang="en-US" sz="1500" dirty="0"/>
          </a:p>
        </p:txBody>
      </p:sp>
      <p:sp>
        <p:nvSpPr>
          <p:cNvPr id="9" name="Text 6"/>
          <p:cNvSpPr/>
          <p:nvPr/>
        </p:nvSpPr>
        <p:spPr>
          <a:xfrm>
            <a:off x="822960" y="4572000"/>
            <a:ext cx="2971800" cy="1188720"/>
          </a:xfrm>
          <a:prstGeom prst="rect">
            <a:avLst/>
          </a:prstGeom>
          <a:noFill/>
          <a:ln/>
        </p:spPr>
        <p:txBody>
          <a:bodyPr wrap="square" lIns="0" tIns="0" rIns="0" bIns="0" rtlCol="0" anchor="ctr"/>
          <a:lstStyle/>
          <a:p>
            <a:pPr marL="0" indent="0">
              <a:lnSpc>
                <a:spcPct val="130000"/>
              </a:lnSpc>
              <a:buNone/>
            </a:pPr>
            <a:r>
              <a:rPr lang="en-US" sz="1150" dirty="0">
                <a:solidFill>
                  <a:srgbClr val="5E6F64"/>
                </a:solidFill>
                <a:latin typeface="Calibri" pitchFamily="34" charset="0"/>
                <a:ea typeface="Calibri" pitchFamily="34" charset="-122"/>
                <a:cs typeface="Calibri" pitchFamily="34" charset="-120"/>
              </a:rPr>
              <a:t>The systematic analysis of business data to discover patterns and support decisions.</a:t>
            </a:r>
            <a:endParaRPr lang="en-US" sz="1150" dirty="0"/>
          </a:p>
        </p:txBody>
      </p:sp>
      <p:sp>
        <p:nvSpPr>
          <p:cNvPr id="10" name="Shape 7"/>
          <p:cNvSpPr/>
          <p:nvPr/>
        </p:nvSpPr>
        <p:spPr>
          <a:xfrm>
            <a:off x="4343400" y="3063240"/>
            <a:ext cx="3520440" cy="2834640"/>
          </a:xfrm>
          <a:prstGeom prst="roundRect">
            <a:avLst>
              <a:gd name="adj" fmla="val 2581"/>
            </a:avLst>
          </a:prstGeom>
          <a:solidFill>
            <a:srgbClr val="FFFFFF"/>
          </a:solidFill>
          <a:ln w="12700">
            <a:solidFill>
              <a:srgbClr val="D7ECDD"/>
            </a:solidFill>
            <a:prstDash val="solid"/>
          </a:ln>
          <a:effectLst>
            <a:outerShdw blurRad="101600" dist="38100" dir="5400000" algn="bl" rotWithShape="0">
              <a:srgbClr val="0B5C33">
                <a:alpha val="12000"/>
              </a:srgbClr>
            </a:outerShdw>
          </a:effectLst>
        </p:spPr>
      </p:sp>
      <p:sp>
        <p:nvSpPr>
          <p:cNvPr id="11" name="Shape 8"/>
          <p:cNvSpPr/>
          <p:nvPr/>
        </p:nvSpPr>
        <p:spPr>
          <a:xfrm>
            <a:off x="4617720" y="3383280"/>
            <a:ext cx="594360" cy="594360"/>
          </a:xfrm>
          <a:prstGeom prst="ellipse">
            <a:avLst/>
          </a:prstGeom>
          <a:solidFill>
            <a:srgbClr val="EAF7EE"/>
          </a:solidFill>
          <a:ln/>
        </p:spPr>
      </p:sp>
      <p:pic>
        <p:nvPicPr>
          <p:cNvPr id="12" name="Image 1" descr="preencoded.png"/>
          <p:cNvPicPr>
            <a:picLocks noChangeAspect="1"/>
          </p:cNvPicPr>
          <p:nvPr/>
        </p:nvPicPr>
        <p:blipFill>
          <a:blip r:embed="rId4"/>
          <a:stretch>
            <a:fillRect/>
          </a:stretch>
        </p:blipFill>
        <p:spPr>
          <a:xfrm>
            <a:off x="4694987" y="3460547"/>
            <a:ext cx="439826" cy="439826"/>
          </a:xfrm>
          <a:prstGeom prst="rect">
            <a:avLst/>
          </a:prstGeom>
        </p:spPr>
      </p:pic>
      <p:sp>
        <p:nvSpPr>
          <p:cNvPr id="13" name="Text 9"/>
          <p:cNvSpPr/>
          <p:nvPr/>
        </p:nvSpPr>
        <p:spPr>
          <a:xfrm>
            <a:off x="4617720" y="4160520"/>
            <a:ext cx="2971800" cy="365760"/>
          </a:xfrm>
          <a:prstGeom prst="rect">
            <a:avLst/>
          </a:prstGeom>
          <a:noFill/>
          <a:ln/>
        </p:spPr>
        <p:txBody>
          <a:bodyPr wrap="square" lIns="0" tIns="0" rIns="0" bIns="0" rtlCol="0" anchor="ctr"/>
          <a:lstStyle/>
          <a:p>
            <a:pPr marL="0" indent="0">
              <a:buNone/>
            </a:pPr>
            <a:r>
              <a:rPr lang="en-US" sz="1500" b="1" dirty="0">
                <a:solidFill>
                  <a:srgbClr val="1C2B22"/>
                </a:solidFill>
                <a:latin typeface="Calibri" pitchFamily="34" charset="0"/>
                <a:ea typeface="Calibri" pitchFamily="34" charset="-122"/>
                <a:cs typeface="Calibri" pitchFamily="34" charset="-120"/>
              </a:rPr>
              <a:t>Data-Driven Decisions</a:t>
            </a:r>
            <a:endParaRPr lang="en-US" sz="1500" dirty="0"/>
          </a:p>
        </p:txBody>
      </p:sp>
      <p:sp>
        <p:nvSpPr>
          <p:cNvPr id="14" name="Text 10"/>
          <p:cNvSpPr/>
          <p:nvPr/>
        </p:nvSpPr>
        <p:spPr>
          <a:xfrm>
            <a:off x="4617720" y="4572000"/>
            <a:ext cx="2971800" cy="1188720"/>
          </a:xfrm>
          <a:prstGeom prst="rect">
            <a:avLst/>
          </a:prstGeom>
          <a:noFill/>
          <a:ln/>
        </p:spPr>
        <p:txBody>
          <a:bodyPr wrap="square" lIns="0" tIns="0" rIns="0" bIns="0" rtlCol="0" anchor="ctr"/>
          <a:lstStyle/>
          <a:p>
            <a:pPr marL="0" indent="0">
              <a:lnSpc>
                <a:spcPct val="130000"/>
              </a:lnSpc>
              <a:buNone/>
            </a:pPr>
            <a:r>
              <a:rPr lang="en-US" sz="1150" dirty="0">
                <a:solidFill>
                  <a:srgbClr val="5E6F64"/>
                </a:solidFill>
                <a:latin typeface="Calibri" pitchFamily="34" charset="0"/>
                <a:ea typeface="Calibri" pitchFamily="34" charset="-122"/>
                <a:cs typeface="Calibri" pitchFamily="34" charset="-120"/>
              </a:rPr>
              <a:t>Replacing guesswork with evidence — every choice tied back to revenue, cost or KPI trends.</a:t>
            </a:r>
            <a:endParaRPr lang="en-US" sz="1150" dirty="0"/>
          </a:p>
        </p:txBody>
      </p:sp>
      <p:sp>
        <p:nvSpPr>
          <p:cNvPr id="15" name="Shape 11"/>
          <p:cNvSpPr/>
          <p:nvPr/>
        </p:nvSpPr>
        <p:spPr>
          <a:xfrm>
            <a:off x="8138160" y="3063240"/>
            <a:ext cx="3520440" cy="2834640"/>
          </a:xfrm>
          <a:prstGeom prst="roundRect">
            <a:avLst>
              <a:gd name="adj" fmla="val 2581"/>
            </a:avLst>
          </a:prstGeom>
          <a:solidFill>
            <a:srgbClr val="FFFFFF"/>
          </a:solidFill>
          <a:ln w="12700">
            <a:solidFill>
              <a:srgbClr val="D7ECDD"/>
            </a:solidFill>
            <a:prstDash val="solid"/>
          </a:ln>
          <a:effectLst>
            <a:outerShdw blurRad="101600" dist="38100" dir="5400000" algn="bl" rotWithShape="0">
              <a:srgbClr val="0B5C33">
                <a:alpha val="12000"/>
              </a:srgbClr>
            </a:outerShdw>
          </a:effectLst>
        </p:spPr>
      </p:sp>
      <p:sp>
        <p:nvSpPr>
          <p:cNvPr id="16" name="Shape 12"/>
          <p:cNvSpPr/>
          <p:nvPr/>
        </p:nvSpPr>
        <p:spPr>
          <a:xfrm>
            <a:off x="8412480" y="3383280"/>
            <a:ext cx="594360" cy="594360"/>
          </a:xfrm>
          <a:prstGeom prst="ellipse">
            <a:avLst/>
          </a:prstGeom>
          <a:solidFill>
            <a:srgbClr val="EAF7EE"/>
          </a:solidFill>
          <a:ln/>
        </p:spPr>
      </p:sp>
      <p:pic>
        <p:nvPicPr>
          <p:cNvPr id="17" name="Image 2" descr="preencoded.png"/>
          <p:cNvPicPr>
            <a:picLocks noChangeAspect="1"/>
          </p:cNvPicPr>
          <p:nvPr/>
        </p:nvPicPr>
        <p:blipFill>
          <a:blip r:embed="rId5"/>
          <a:stretch>
            <a:fillRect/>
          </a:stretch>
        </p:blipFill>
        <p:spPr>
          <a:xfrm>
            <a:off x="8489747" y="3460547"/>
            <a:ext cx="439826" cy="439826"/>
          </a:xfrm>
          <a:prstGeom prst="rect">
            <a:avLst/>
          </a:prstGeom>
        </p:spPr>
      </p:pic>
      <p:sp>
        <p:nvSpPr>
          <p:cNvPr id="18" name="Text 13"/>
          <p:cNvSpPr/>
          <p:nvPr/>
        </p:nvSpPr>
        <p:spPr>
          <a:xfrm>
            <a:off x="8412480" y="4160520"/>
            <a:ext cx="2971800" cy="365760"/>
          </a:xfrm>
          <a:prstGeom prst="rect">
            <a:avLst/>
          </a:prstGeom>
          <a:noFill/>
          <a:ln/>
        </p:spPr>
        <p:txBody>
          <a:bodyPr wrap="square" lIns="0" tIns="0" rIns="0" bIns="0" rtlCol="0" anchor="ctr"/>
          <a:lstStyle/>
          <a:p>
            <a:pPr marL="0" indent="0">
              <a:buNone/>
            </a:pPr>
            <a:r>
              <a:rPr lang="en-US" sz="1500" b="1" dirty="0">
                <a:solidFill>
                  <a:srgbClr val="1C2B22"/>
                </a:solidFill>
                <a:latin typeface="Calibri" pitchFamily="34" charset="0"/>
                <a:ea typeface="Calibri" pitchFamily="34" charset="-122"/>
                <a:cs typeface="Calibri" pitchFamily="34" charset="-120"/>
              </a:rPr>
              <a:t>Role of Excel</a:t>
            </a:r>
            <a:endParaRPr lang="en-US" sz="1500" dirty="0"/>
          </a:p>
        </p:txBody>
      </p:sp>
      <p:sp>
        <p:nvSpPr>
          <p:cNvPr id="19" name="Text 14"/>
          <p:cNvSpPr/>
          <p:nvPr/>
        </p:nvSpPr>
        <p:spPr>
          <a:xfrm>
            <a:off x="8412480" y="4572000"/>
            <a:ext cx="2971800" cy="1188720"/>
          </a:xfrm>
          <a:prstGeom prst="rect">
            <a:avLst/>
          </a:prstGeom>
          <a:noFill/>
          <a:ln/>
        </p:spPr>
        <p:txBody>
          <a:bodyPr wrap="square" lIns="0" tIns="0" rIns="0" bIns="0" rtlCol="0" anchor="ctr"/>
          <a:lstStyle/>
          <a:p>
            <a:pPr marL="0" indent="0">
              <a:lnSpc>
                <a:spcPct val="130000"/>
              </a:lnSpc>
              <a:buNone/>
            </a:pPr>
            <a:r>
              <a:rPr lang="en-US" sz="1150" dirty="0">
                <a:solidFill>
                  <a:srgbClr val="5E6F64"/>
                </a:solidFill>
                <a:latin typeface="Calibri" pitchFamily="34" charset="0"/>
                <a:ea typeface="Calibri" pitchFamily="34" charset="-122"/>
                <a:cs typeface="Calibri" pitchFamily="34" charset="-120"/>
              </a:rPr>
              <a:t>Formulas, pivot tables and charts make Excel the fastest way to build a live reporting dashboard.</a:t>
            </a:r>
            <a:endParaRPr lang="en-US" sz="1150" dirty="0"/>
          </a:p>
        </p:txBody>
      </p:sp>
      <p:sp>
        <p:nvSpPr>
          <p:cNvPr id="20" name="Text 15"/>
          <p:cNvSpPr/>
          <p:nvPr/>
        </p:nvSpPr>
        <p:spPr>
          <a:xfrm>
            <a:off x="457200" y="6537960"/>
            <a:ext cx="5486400" cy="274320"/>
          </a:xfrm>
          <a:prstGeom prst="rect">
            <a:avLst/>
          </a:prstGeom>
          <a:noFill/>
          <a:ln/>
        </p:spPr>
        <p:txBody>
          <a:bodyPr wrap="square" lIns="0" tIns="0" rIns="0" bIns="0" rtlCol="0" anchor="ctr"/>
          <a:lstStyle/>
          <a:p>
            <a:pPr marL="0" indent="0">
              <a:buNone/>
            </a:pPr>
            <a:r>
              <a:rPr lang="en-US" sz="900" dirty="0">
                <a:solidFill>
                  <a:srgbClr val="5E6F64"/>
                </a:solidFill>
                <a:latin typeface="Calibri" pitchFamily="34" charset="0"/>
                <a:ea typeface="Calibri" pitchFamily="34" charset="-122"/>
                <a:cs typeface="Calibri" pitchFamily="34" charset="-120"/>
              </a:rPr>
              <a:t>DMart Revenue &amp; Business Metrics Report</a:t>
            </a:r>
            <a:endParaRPr lang="en-US" sz="900" dirty="0"/>
          </a:p>
        </p:txBody>
      </p:sp>
      <p:sp>
        <p:nvSpPr>
          <p:cNvPr id="21" name="Text 16"/>
          <p:cNvSpPr/>
          <p:nvPr/>
        </p:nvSpPr>
        <p:spPr>
          <a:xfrm>
            <a:off x="11521440" y="6537960"/>
            <a:ext cx="365760" cy="274320"/>
          </a:xfrm>
          <a:prstGeom prst="rect">
            <a:avLst/>
          </a:prstGeom>
          <a:noFill/>
          <a:ln/>
        </p:spPr>
        <p:txBody>
          <a:bodyPr wrap="square" lIns="0" tIns="0" rIns="0" bIns="0" rtlCol="0" anchor="ctr"/>
          <a:lstStyle/>
          <a:p>
            <a:pPr marL="0" indent="0" algn="r">
              <a:buNone/>
            </a:pPr>
            <a:r>
              <a:rPr lang="en-US" sz="900" dirty="0">
                <a:solidFill>
                  <a:srgbClr val="5E6F64"/>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lIns="0" tIns="0" rIns="0" bIns="0" rtlCol="0" anchor="ctr"/>
          <a:lstStyle/>
          <a:p>
            <a:pPr marL="0" indent="0">
              <a:buNone/>
            </a:pPr>
            <a:r>
              <a:rPr lang="en-US" sz="1200" b="1" kern="0" spc="200" dirty="0">
                <a:solidFill>
                  <a:srgbClr val="1E8449"/>
                </a:solidFill>
                <a:latin typeface="Calibri" pitchFamily="34" charset="0"/>
                <a:ea typeface="Calibri" pitchFamily="34" charset="-122"/>
                <a:cs typeface="Calibri" pitchFamily="34" charset="-120"/>
              </a:rPr>
              <a:t>MODULE 1</a:t>
            </a:r>
            <a:endParaRPr lang="en-US" sz="1200" dirty="0"/>
          </a:p>
        </p:txBody>
      </p:sp>
      <p:sp>
        <p:nvSpPr>
          <p:cNvPr id="3" name="Text 1"/>
          <p:cNvSpPr/>
          <p:nvPr/>
        </p:nvSpPr>
        <p:spPr>
          <a:xfrm>
            <a:off x="548640" y="566928"/>
            <a:ext cx="10515600" cy="640080"/>
          </a:xfrm>
          <a:prstGeom prst="rect">
            <a:avLst/>
          </a:prstGeom>
          <a:noFill/>
          <a:ln/>
        </p:spPr>
        <p:txBody>
          <a:bodyPr wrap="square" lIns="0" tIns="0" rIns="0" bIns="0" rtlCol="0" anchor="ctr"/>
          <a:lstStyle/>
          <a:p>
            <a:pPr marL="0" indent="0">
              <a:buNone/>
            </a:pPr>
            <a:r>
              <a:rPr lang="en-US" sz="3000" b="1" dirty="0">
                <a:solidFill>
                  <a:srgbClr val="1C2B22"/>
                </a:solidFill>
                <a:latin typeface="Cambria" pitchFamily="34" charset="0"/>
                <a:ea typeface="Cambria" pitchFamily="34" charset="-122"/>
                <a:cs typeface="Cambria" pitchFamily="34" charset="-120"/>
              </a:rPr>
              <a:t>Understanding Revenue</a:t>
            </a:r>
            <a:endParaRPr lang="en-US" sz="3000" dirty="0"/>
          </a:p>
        </p:txBody>
      </p:sp>
      <p:sp>
        <p:nvSpPr>
          <p:cNvPr id="4" name="Text 2"/>
          <p:cNvSpPr/>
          <p:nvPr/>
        </p:nvSpPr>
        <p:spPr>
          <a:xfrm>
            <a:off x="548640" y="1554480"/>
            <a:ext cx="5852160" cy="365760"/>
          </a:xfrm>
          <a:prstGeom prst="rect">
            <a:avLst/>
          </a:prstGeom>
          <a:noFill/>
          <a:ln/>
        </p:spPr>
        <p:txBody>
          <a:bodyPr wrap="square" lIns="0" tIns="0" rIns="0" bIns="0" rtlCol="0" anchor="ctr"/>
          <a:lstStyle/>
          <a:p>
            <a:pPr marL="0" indent="0">
              <a:buNone/>
            </a:pPr>
            <a:r>
              <a:rPr lang="en-US" sz="1600" b="1" dirty="0">
                <a:solidFill>
                  <a:srgbClr val="1C2B22"/>
                </a:solidFill>
                <a:latin typeface="Calibri" pitchFamily="34" charset="0"/>
                <a:ea typeface="Calibri" pitchFamily="34" charset="-122"/>
                <a:cs typeface="Calibri" pitchFamily="34" charset="-120"/>
              </a:rPr>
              <a:t>What is Revenue?</a:t>
            </a:r>
            <a:endParaRPr lang="en-US" sz="1600" dirty="0"/>
          </a:p>
        </p:txBody>
      </p:sp>
      <p:sp>
        <p:nvSpPr>
          <p:cNvPr id="5" name="Text 3"/>
          <p:cNvSpPr/>
          <p:nvPr/>
        </p:nvSpPr>
        <p:spPr>
          <a:xfrm>
            <a:off x="548640" y="1965960"/>
            <a:ext cx="5852160" cy="914400"/>
          </a:xfrm>
          <a:prstGeom prst="rect">
            <a:avLst/>
          </a:prstGeom>
          <a:noFill/>
          <a:ln/>
        </p:spPr>
        <p:txBody>
          <a:bodyPr wrap="square" lIns="0" tIns="0" rIns="0" bIns="0" rtlCol="0" anchor="ctr"/>
          <a:lstStyle/>
          <a:p>
            <a:pPr marL="0" indent="0">
              <a:lnSpc>
                <a:spcPct val="130000"/>
              </a:lnSpc>
              <a:buNone/>
            </a:pPr>
            <a:r>
              <a:rPr lang="en-US" sz="1300" dirty="0">
                <a:solidFill>
                  <a:srgbClr val="5E6F64"/>
                </a:solidFill>
                <a:latin typeface="Calibri" pitchFamily="34" charset="0"/>
                <a:ea typeface="Calibri" pitchFamily="34" charset="-122"/>
                <a:cs typeface="Calibri" pitchFamily="34" charset="-120"/>
              </a:rPr>
              <a:t>Revenue is the total income earned from selling products or services, before any expenses are deducted. It is the starting point of every profitability calculation.</a:t>
            </a:r>
            <a:endParaRPr lang="en-US" sz="1300" dirty="0"/>
          </a:p>
        </p:txBody>
      </p:sp>
      <p:sp>
        <p:nvSpPr>
          <p:cNvPr id="6" name="Text 4"/>
          <p:cNvSpPr/>
          <p:nvPr/>
        </p:nvSpPr>
        <p:spPr>
          <a:xfrm>
            <a:off x="548640" y="2971800"/>
            <a:ext cx="5852160" cy="365760"/>
          </a:xfrm>
          <a:prstGeom prst="rect">
            <a:avLst/>
          </a:prstGeom>
          <a:noFill/>
          <a:ln/>
        </p:spPr>
        <p:txBody>
          <a:bodyPr wrap="square" lIns="0" tIns="0" rIns="0" bIns="0" rtlCol="0" anchor="ctr"/>
          <a:lstStyle/>
          <a:p>
            <a:pPr marL="0" indent="0">
              <a:buNone/>
            </a:pPr>
            <a:r>
              <a:rPr lang="en-US" sz="1600" b="1" dirty="0">
                <a:solidFill>
                  <a:srgbClr val="1C2B22"/>
                </a:solidFill>
                <a:latin typeface="Calibri" pitchFamily="34" charset="0"/>
                <a:ea typeface="Calibri" pitchFamily="34" charset="-122"/>
                <a:cs typeface="Calibri" pitchFamily="34" charset="-120"/>
              </a:rPr>
              <a:t>Why It Matters</a:t>
            </a:r>
            <a:endParaRPr lang="en-US" sz="1600" dirty="0"/>
          </a:p>
        </p:txBody>
      </p:sp>
      <p:sp>
        <p:nvSpPr>
          <p:cNvPr id="7" name="Text 5"/>
          <p:cNvSpPr/>
          <p:nvPr/>
        </p:nvSpPr>
        <p:spPr>
          <a:xfrm>
            <a:off x="548640" y="3383280"/>
            <a:ext cx="5852160" cy="1463040"/>
          </a:xfrm>
          <a:prstGeom prst="rect">
            <a:avLst/>
          </a:prstGeom>
          <a:noFill/>
          <a:ln/>
        </p:spPr>
        <p:txBody>
          <a:bodyPr wrap="square" lIns="0" tIns="0" rIns="0" bIns="0" rtlCol="0" anchor="ctr"/>
          <a:lstStyle/>
          <a:p>
            <a:pPr marL="342900" indent="-342900">
              <a:lnSpc>
                <a:spcPct val="135000"/>
              </a:lnSpc>
              <a:buSzPct val="100000"/>
              <a:buChar char="•"/>
            </a:pPr>
            <a:r>
              <a:rPr lang="en-US" sz="1250" dirty="0">
                <a:solidFill>
                  <a:srgbClr val="1C2B22"/>
                </a:solidFill>
                <a:latin typeface="Calibri" pitchFamily="34" charset="0"/>
                <a:ea typeface="Calibri" pitchFamily="34" charset="-122"/>
                <a:cs typeface="Calibri" pitchFamily="34" charset="-120"/>
              </a:rPr>
              <a:t>Top-line indicator of market demand and business scale</a:t>
            </a:r>
            <a:endParaRPr lang="en-US" sz="1250" dirty="0"/>
          </a:p>
          <a:p>
            <a:pPr marL="342900" indent="-342900">
              <a:lnSpc>
                <a:spcPct val="135000"/>
              </a:lnSpc>
              <a:buSzPct val="100000"/>
              <a:buChar char="•"/>
            </a:pPr>
            <a:r>
              <a:rPr lang="en-US" sz="1250" dirty="0">
                <a:solidFill>
                  <a:srgbClr val="1C2B22"/>
                </a:solidFill>
                <a:latin typeface="Calibri" pitchFamily="34" charset="0"/>
                <a:ea typeface="Calibri" pitchFamily="34" charset="-122"/>
                <a:cs typeface="Calibri" pitchFamily="34" charset="-120"/>
              </a:rPr>
              <a:t>Baseline for gross profit, net profit and margin ratios</a:t>
            </a:r>
            <a:endParaRPr lang="en-US" sz="1250" dirty="0"/>
          </a:p>
          <a:p>
            <a:pPr marL="342900" indent="-342900">
              <a:lnSpc>
                <a:spcPct val="135000"/>
              </a:lnSpc>
              <a:buSzPct val="100000"/>
              <a:buChar char="•"/>
            </a:pPr>
            <a:r>
              <a:rPr lang="en-US" sz="1250" dirty="0">
                <a:solidFill>
                  <a:srgbClr val="1C2B22"/>
                </a:solidFill>
                <a:latin typeface="Calibri" pitchFamily="34" charset="0"/>
                <a:ea typeface="Calibri" pitchFamily="34" charset="-122"/>
                <a:cs typeface="Calibri" pitchFamily="34" charset="-120"/>
              </a:rPr>
              <a:t>Tracked monthly to flag seasonality and growth trends</a:t>
            </a:r>
            <a:endParaRPr lang="en-US" sz="1250" dirty="0"/>
          </a:p>
        </p:txBody>
      </p:sp>
      <p:sp>
        <p:nvSpPr>
          <p:cNvPr id="8" name="Text 6"/>
          <p:cNvSpPr/>
          <p:nvPr/>
        </p:nvSpPr>
        <p:spPr>
          <a:xfrm>
            <a:off x="548640" y="4983480"/>
            <a:ext cx="5852160" cy="365760"/>
          </a:xfrm>
          <a:prstGeom prst="rect">
            <a:avLst/>
          </a:prstGeom>
          <a:noFill/>
          <a:ln/>
        </p:spPr>
        <p:txBody>
          <a:bodyPr wrap="square" lIns="0" tIns="0" rIns="0" bIns="0" rtlCol="0" anchor="ctr"/>
          <a:lstStyle/>
          <a:p>
            <a:pPr marL="0" indent="0">
              <a:buNone/>
            </a:pPr>
            <a:r>
              <a:rPr lang="en-US" sz="1600" b="1" dirty="0">
                <a:solidFill>
                  <a:srgbClr val="1C2B22"/>
                </a:solidFill>
                <a:latin typeface="Calibri" pitchFamily="34" charset="0"/>
                <a:ea typeface="Calibri" pitchFamily="34" charset="-122"/>
                <a:cs typeface="Calibri" pitchFamily="34" charset="-120"/>
              </a:rPr>
              <a:t>Revenue Components</a:t>
            </a:r>
            <a:endParaRPr lang="en-US" sz="1600" dirty="0"/>
          </a:p>
        </p:txBody>
      </p:sp>
      <p:sp>
        <p:nvSpPr>
          <p:cNvPr id="9" name="Text 7"/>
          <p:cNvSpPr/>
          <p:nvPr/>
        </p:nvSpPr>
        <p:spPr>
          <a:xfrm>
            <a:off x="548640" y="5394960"/>
            <a:ext cx="5852160" cy="365760"/>
          </a:xfrm>
          <a:prstGeom prst="rect">
            <a:avLst/>
          </a:prstGeom>
          <a:noFill/>
          <a:ln/>
        </p:spPr>
        <p:txBody>
          <a:bodyPr wrap="square" lIns="0" tIns="0" rIns="0" bIns="0" rtlCol="0" anchor="ctr"/>
          <a:lstStyle/>
          <a:p>
            <a:pPr marL="0" indent="0">
              <a:buNone/>
            </a:pPr>
            <a:r>
              <a:rPr lang="en-US" sz="1350" b="1" dirty="0">
                <a:solidFill>
                  <a:srgbClr val="1E8449"/>
                </a:solidFill>
                <a:latin typeface="Calibri" pitchFamily="34" charset="0"/>
                <a:ea typeface="Calibri" pitchFamily="34" charset="-122"/>
                <a:cs typeface="Calibri" pitchFamily="34" charset="-120"/>
              </a:rPr>
              <a:t>Product Sales</a:t>
            </a:r>
            <a:r>
              <a:rPr lang="en-US" sz="1350" dirty="0">
                <a:solidFill>
                  <a:srgbClr val="5E6F64"/>
                </a:solidFill>
                <a:latin typeface="Calibri" pitchFamily="34" charset="0"/>
                <a:ea typeface="Calibri" pitchFamily="34" charset="-122"/>
                <a:cs typeface="Calibri" pitchFamily="34" charset="-120"/>
              </a:rPr>
              <a:t>  +  </a:t>
            </a:r>
            <a:r>
              <a:rPr lang="en-US" sz="1350" b="1" dirty="0">
                <a:solidFill>
                  <a:srgbClr val="1E8449"/>
                </a:solidFill>
                <a:latin typeface="Calibri" pitchFamily="34" charset="0"/>
                <a:ea typeface="Calibri" pitchFamily="34" charset="-122"/>
                <a:cs typeface="Calibri" pitchFamily="34" charset="-120"/>
              </a:rPr>
              <a:t>Service Revenue</a:t>
            </a:r>
            <a:r>
              <a:rPr lang="en-US" sz="1350" dirty="0">
                <a:solidFill>
                  <a:srgbClr val="5E6F64"/>
                </a:solidFill>
                <a:latin typeface="Calibri" pitchFamily="34" charset="0"/>
                <a:ea typeface="Calibri" pitchFamily="34" charset="-122"/>
                <a:cs typeface="Calibri" pitchFamily="34" charset="-120"/>
              </a:rPr>
              <a:t>  =  </a:t>
            </a:r>
            <a:r>
              <a:rPr lang="en-US" sz="1350" b="1" dirty="0">
                <a:solidFill>
                  <a:srgbClr val="1C2B22"/>
                </a:solidFill>
                <a:latin typeface="Calibri" pitchFamily="34" charset="0"/>
                <a:ea typeface="Calibri" pitchFamily="34" charset="-122"/>
                <a:cs typeface="Calibri" pitchFamily="34" charset="-120"/>
              </a:rPr>
              <a:t>Total Revenue</a:t>
            </a:r>
            <a:endParaRPr lang="en-US" sz="1350" dirty="0"/>
          </a:p>
        </p:txBody>
      </p:sp>
      <p:sp>
        <p:nvSpPr>
          <p:cNvPr id="10" name="Shape 8"/>
          <p:cNvSpPr/>
          <p:nvPr/>
        </p:nvSpPr>
        <p:spPr>
          <a:xfrm>
            <a:off x="6858000" y="1554480"/>
            <a:ext cx="4754880" cy="4206240"/>
          </a:xfrm>
          <a:prstGeom prst="roundRect">
            <a:avLst>
              <a:gd name="adj" fmla="val 1739"/>
            </a:avLst>
          </a:prstGeom>
          <a:solidFill>
            <a:srgbClr val="0B5C33"/>
          </a:solidFill>
          <a:ln w="12700">
            <a:solidFill>
              <a:srgbClr val="D7ECDD"/>
            </a:solidFill>
            <a:prstDash val="solid"/>
          </a:ln>
          <a:effectLst>
            <a:outerShdw blurRad="101600" dist="38100" dir="5400000" algn="bl" rotWithShape="0">
              <a:srgbClr val="0B5C33">
                <a:alpha val="12000"/>
              </a:srgbClr>
            </a:outerShdw>
          </a:effectLst>
        </p:spPr>
      </p:sp>
      <p:sp>
        <p:nvSpPr>
          <p:cNvPr id="11" name="Shape 9"/>
          <p:cNvSpPr/>
          <p:nvPr/>
        </p:nvSpPr>
        <p:spPr>
          <a:xfrm>
            <a:off x="7223760" y="1874520"/>
            <a:ext cx="548640" cy="548640"/>
          </a:xfrm>
          <a:prstGeom prst="ellipse">
            <a:avLst/>
          </a:prstGeom>
          <a:solidFill>
            <a:srgbClr val="1E8449"/>
          </a:solidFill>
          <a:ln/>
        </p:spPr>
      </p:sp>
      <p:pic>
        <p:nvPicPr>
          <p:cNvPr id="12" name="Image 0" descr="preencoded.png"/>
          <p:cNvPicPr>
            <a:picLocks noChangeAspect="1"/>
          </p:cNvPicPr>
          <p:nvPr/>
        </p:nvPicPr>
        <p:blipFill>
          <a:blip r:embed="rId3"/>
          <a:stretch>
            <a:fillRect/>
          </a:stretch>
        </p:blipFill>
        <p:spPr>
          <a:xfrm>
            <a:off x="7295083" y="1945843"/>
            <a:ext cx="405994" cy="405994"/>
          </a:xfrm>
          <a:prstGeom prst="rect">
            <a:avLst/>
          </a:prstGeom>
        </p:spPr>
      </p:pic>
      <p:sp>
        <p:nvSpPr>
          <p:cNvPr id="13" name="Text 10"/>
          <p:cNvSpPr/>
          <p:nvPr/>
        </p:nvSpPr>
        <p:spPr>
          <a:xfrm>
            <a:off x="7909560" y="1920240"/>
            <a:ext cx="3474720" cy="4572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Revenue Formula</a:t>
            </a:r>
            <a:endParaRPr lang="en-US" sz="1600" dirty="0"/>
          </a:p>
        </p:txBody>
      </p:sp>
      <p:sp>
        <p:nvSpPr>
          <p:cNvPr id="14" name="Shape 11"/>
          <p:cNvSpPr/>
          <p:nvPr/>
        </p:nvSpPr>
        <p:spPr>
          <a:xfrm>
            <a:off x="7223760" y="2606040"/>
            <a:ext cx="4023360" cy="960120"/>
          </a:xfrm>
          <a:prstGeom prst="roundRect">
            <a:avLst>
              <a:gd name="adj" fmla="val 7619"/>
            </a:avLst>
          </a:prstGeom>
          <a:solidFill>
            <a:srgbClr val="0E6B3D"/>
          </a:solidFill>
          <a:ln w="12700">
            <a:solidFill>
              <a:srgbClr val="D7ECDD"/>
            </a:solidFill>
            <a:prstDash val="solid"/>
          </a:ln>
          <a:effectLst>
            <a:outerShdw blurRad="101600" dist="38100" dir="5400000" algn="bl" rotWithShape="0">
              <a:srgbClr val="0B5C33">
                <a:alpha val="12000"/>
              </a:srgbClr>
            </a:outerShdw>
          </a:effectLst>
        </p:spPr>
      </p:sp>
      <p:sp>
        <p:nvSpPr>
          <p:cNvPr id="15" name="Text 12"/>
          <p:cNvSpPr/>
          <p:nvPr/>
        </p:nvSpPr>
        <p:spPr>
          <a:xfrm>
            <a:off x="7406640" y="2724912"/>
            <a:ext cx="3657600" cy="365760"/>
          </a:xfrm>
          <a:prstGeom prst="rect">
            <a:avLst/>
          </a:prstGeom>
          <a:noFill/>
          <a:ln/>
        </p:spPr>
        <p:txBody>
          <a:bodyPr wrap="square" lIns="0" tIns="0" rIns="0" bIns="0" rtlCol="0" anchor="ctr"/>
          <a:lstStyle/>
          <a:p>
            <a:pPr marL="0" indent="0">
              <a:buNone/>
            </a:pPr>
            <a:r>
              <a:rPr lang="en-US" sz="1600" b="1" dirty="0">
                <a:solidFill>
                  <a:srgbClr val="FFFFFF"/>
                </a:solidFill>
                <a:latin typeface="Courier New" pitchFamily="34" charset="0"/>
                <a:ea typeface="Courier New" pitchFamily="34" charset="-122"/>
                <a:cs typeface="Courier New" pitchFamily="34" charset="-120"/>
              </a:rPr>
              <a:t>=SUM(Revenue Range)</a:t>
            </a:r>
            <a:endParaRPr lang="en-US" sz="1600" dirty="0"/>
          </a:p>
        </p:txBody>
      </p:sp>
      <p:sp>
        <p:nvSpPr>
          <p:cNvPr id="16" name="Text 13"/>
          <p:cNvSpPr/>
          <p:nvPr/>
        </p:nvSpPr>
        <p:spPr>
          <a:xfrm>
            <a:off x="7406640" y="3090672"/>
            <a:ext cx="3657600" cy="365760"/>
          </a:xfrm>
          <a:prstGeom prst="rect">
            <a:avLst/>
          </a:prstGeom>
          <a:noFill/>
          <a:ln/>
        </p:spPr>
        <p:txBody>
          <a:bodyPr wrap="square" lIns="0" tIns="0" rIns="0" bIns="0" rtlCol="0" anchor="ctr"/>
          <a:lstStyle/>
          <a:p>
            <a:pPr marL="0" indent="0">
              <a:buNone/>
            </a:pPr>
            <a:r>
              <a:rPr lang="en-US" sz="1300" dirty="0">
                <a:solidFill>
                  <a:srgbClr val="27AE60"/>
                </a:solidFill>
                <a:latin typeface="Courier New" pitchFamily="34" charset="0"/>
                <a:ea typeface="Courier New" pitchFamily="34" charset="-122"/>
                <a:cs typeface="Courier New" pitchFamily="34" charset="-120"/>
              </a:rPr>
              <a:t>=SUM(B2:B13)</a:t>
            </a:r>
            <a:endParaRPr lang="en-US" sz="1300" dirty="0"/>
          </a:p>
        </p:txBody>
      </p:sp>
      <p:sp>
        <p:nvSpPr>
          <p:cNvPr id="17" name="Text 14"/>
          <p:cNvSpPr/>
          <p:nvPr/>
        </p:nvSpPr>
        <p:spPr>
          <a:xfrm>
            <a:off x="7223760" y="3794760"/>
            <a:ext cx="4023360" cy="914400"/>
          </a:xfrm>
          <a:prstGeom prst="rect">
            <a:avLst/>
          </a:prstGeom>
          <a:noFill/>
          <a:ln/>
        </p:spPr>
        <p:txBody>
          <a:bodyPr wrap="square" lIns="0" tIns="0" rIns="0" bIns="0" rtlCol="0" anchor="ctr"/>
          <a:lstStyle/>
          <a:p>
            <a:pPr marL="0" indent="0">
              <a:lnSpc>
                <a:spcPct val="130000"/>
              </a:lnSpc>
              <a:buNone/>
            </a:pPr>
            <a:r>
              <a:rPr lang="en-US" sz="1200" dirty="0">
                <a:solidFill>
                  <a:srgbClr val="EAF7EE"/>
                </a:solidFill>
                <a:latin typeface="Calibri" pitchFamily="34" charset="0"/>
                <a:ea typeface="Calibri" pitchFamily="34" charset="-122"/>
                <a:cs typeface="Calibri" pitchFamily="34" charset="-120"/>
              </a:rPr>
              <a:t>Sums every revenue value across all reporting periods (months) in your data range — the foundation figure for every metric that follows.</a:t>
            </a:r>
            <a:endParaRPr lang="en-US" sz="1200" dirty="0"/>
          </a:p>
        </p:txBody>
      </p:sp>
      <p:sp>
        <p:nvSpPr>
          <p:cNvPr id="18" name="Text 15"/>
          <p:cNvSpPr/>
          <p:nvPr/>
        </p:nvSpPr>
        <p:spPr>
          <a:xfrm>
            <a:off x="7223760" y="4800600"/>
            <a:ext cx="4023360" cy="274320"/>
          </a:xfrm>
          <a:prstGeom prst="rect">
            <a:avLst/>
          </a:prstGeom>
          <a:noFill/>
          <a:ln/>
        </p:spPr>
        <p:txBody>
          <a:bodyPr wrap="square" lIns="0" tIns="0" rIns="0" bIns="0" rtlCol="0" anchor="ctr"/>
          <a:lstStyle/>
          <a:p>
            <a:pPr marL="0" indent="0">
              <a:buNone/>
            </a:pPr>
            <a:r>
              <a:rPr lang="en-US" sz="1100" b="1" kern="0" spc="100" dirty="0">
                <a:solidFill>
                  <a:srgbClr val="27AE60"/>
                </a:solidFill>
                <a:latin typeface="Calibri" pitchFamily="34" charset="0"/>
                <a:ea typeface="Calibri" pitchFamily="34" charset="-122"/>
                <a:cs typeface="Calibri" pitchFamily="34" charset="-120"/>
              </a:rPr>
              <a:t>Industry Components</a:t>
            </a:r>
            <a:endParaRPr lang="en-US" sz="1100" dirty="0"/>
          </a:p>
        </p:txBody>
      </p:sp>
      <p:sp>
        <p:nvSpPr>
          <p:cNvPr id="19" name="Text 16"/>
          <p:cNvSpPr/>
          <p:nvPr/>
        </p:nvSpPr>
        <p:spPr>
          <a:xfrm>
            <a:off x="7223760" y="5074920"/>
            <a:ext cx="4023360" cy="45720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Product Sales  •  Service Revenue  •  Other Income</a:t>
            </a:r>
            <a:endParaRPr lang="en-US" sz="1200" dirty="0"/>
          </a:p>
        </p:txBody>
      </p:sp>
      <p:sp>
        <p:nvSpPr>
          <p:cNvPr id="20" name="Text 17"/>
          <p:cNvSpPr/>
          <p:nvPr/>
        </p:nvSpPr>
        <p:spPr>
          <a:xfrm>
            <a:off x="457200" y="6537960"/>
            <a:ext cx="5486400" cy="274320"/>
          </a:xfrm>
          <a:prstGeom prst="rect">
            <a:avLst/>
          </a:prstGeom>
          <a:noFill/>
          <a:ln/>
        </p:spPr>
        <p:txBody>
          <a:bodyPr wrap="square" lIns="0" tIns="0" rIns="0" bIns="0" rtlCol="0" anchor="ctr"/>
          <a:lstStyle/>
          <a:p>
            <a:pPr marL="0" indent="0">
              <a:buNone/>
            </a:pPr>
            <a:r>
              <a:rPr lang="en-US" sz="900" dirty="0">
                <a:solidFill>
                  <a:srgbClr val="5E6F64"/>
                </a:solidFill>
                <a:latin typeface="Calibri" pitchFamily="34" charset="0"/>
                <a:ea typeface="Calibri" pitchFamily="34" charset="-122"/>
                <a:cs typeface="Calibri" pitchFamily="34" charset="-120"/>
              </a:rPr>
              <a:t>DMart Revenue &amp; Business Metrics Report</a:t>
            </a:r>
            <a:endParaRPr lang="en-US" sz="900" dirty="0"/>
          </a:p>
        </p:txBody>
      </p:sp>
      <p:sp>
        <p:nvSpPr>
          <p:cNvPr id="21" name="Text 18"/>
          <p:cNvSpPr/>
          <p:nvPr/>
        </p:nvSpPr>
        <p:spPr>
          <a:xfrm>
            <a:off x="11521440" y="6537960"/>
            <a:ext cx="365760" cy="274320"/>
          </a:xfrm>
          <a:prstGeom prst="rect">
            <a:avLst/>
          </a:prstGeom>
          <a:noFill/>
          <a:ln/>
        </p:spPr>
        <p:txBody>
          <a:bodyPr wrap="square" lIns="0" tIns="0" rIns="0" bIns="0" rtlCol="0" anchor="ctr"/>
          <a:lstStyle/>
          <a:p>
            <a:pPr marL="0" indent="0" algn="r">
              <a:buNone/>
            </a:pPr>
            <a:r>
              <a:rPr lang="en-US" sz="900" dirty="0">
                <a:solidFill>
                  <a:srgbClr val="5E6F64"/>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lIns="0" tIns="0" rIns="0" bIns="0" rtlCol="0" anchor="ctr"/>
          <a:lstStyle/>
          <a:p>
            <a:pPr marL="0" indent="0">
              <a:buNone/>
            </a:pPr>
            <a:r>
              <a:rPr lang="en-US" sz="1200" b="1" kern="0" spc="200" dirty="0">
                <a:solidFill>
                  <a:srgbClr val="1E8449"/>
                </a:solidFill>
                <a:latin typeface="Calibri" pitchFamily="34" charset="0"/>
                <a:ea typeface="Calibri" pitchFamily="34" charset="-122"/>
                <a:cs typeface="Calibri" pitchFamily="34" charset="-120"/>
              </a:rPr>
              <a:t>MODULE 1</a:t>
            </a:r>
            <a:endParaRPr lang="en-US" sz="1200" dirty="0"/>
          </a:p>
        </p:txBody>
      </p:sp>
      <p:sp>
        <p:nvSpPr>
          <p:cNvPr id="3" name="Text 1"/>
          <p:cNvSpPr/>
          <p:nvPr/>
        </p:nvSpPr>
        <p:spPr>
          <a:xfrm>
            <a:off x="548640" y="566928"/>
            <a:ext cx="10515600" cy="640080"/>
          </a:xfrm>
          <a:prstGeom prst="rect">
            <a:avLst/>
          </a:prstGeom>
          <a:noFill/>
          <a:ln/>
        </p:spPr>
        <p:txBody>
          <a:bodyPr wrap="square" lIns="0" tIns="0" rIns="0" bIns="0" rtlCol="0" anchor="ctr"/>
          <a:lstStyle/>
          <a:p>
            <a:pPr marL="0" indent="0">
              <a:buNone/>
            </a:pPr>
            <a:r>
              <a:rPr lang="en-US" sz="3000" b="1" dirty="0">
                <a:solidFill>
                  <a:srgbClr val="1C2B22"/>
                </a:solidFill>
                <a:latin typeface="Cambria" pitchFamily="34" charset="0"/>
                <a:ea typeface="Cambria" pitchFamily="34" charset="-122"/>
                <a:cs typeface="Cambria" pitchFamily="34" charset="-120"/>
              </a:rPr>
              <a:t>Revenue Metrics &amp; Calculations</a:t>
            </a:r>
            <a:endParaRPr lang="en-US" sz="3000" dirty="0"/>
          </a:p>
        </p:txBody>
      </p:sp>
      <p:sp>
        <p:nvSpPr>
          <p:cNvPr id="4" name="Shape 2"/>
          <p:cNvSpPr/>
          <p:nvPr/>
        </p:nvSpPr>
        <p:spPr>
          <a:xfrm>
            <a:off x="548640" y="1508760"/>
            <a:ext cx="3520440" cy="2286000"/>
          </a:xfrm>
          <a:prstGeom prst="roundRect">
            <a:avLst>
              <a:gd name="adj" fmla="val 3200"/>
            </a:avLst>
          </a:prstGeom>
          <a:solidFill>
            <a:srgbClr val="FFFFFF"/>
          </a:solidFill>
          <a:ln w="12700">
            <a:solidFill>
              <a:srgbClr val="D7ECDD"/>
            </a:solidFill>
            <a:prstDash val="solid"/>
          </a:ln>
          <a:effectLst>
            <a:outerShdw blurRad="101600" dist="38100" dir="5400000" algn="bl" rotWithShape="0">
              <a:srgbClr val="0B5C33">
                <a:alpha val="12000"/>
              </a:srgbClr>
            </a:outerShdw>
          </a:effectLst>
        </p:spPr>
      </p:sp>
      <p:sp>
        <p:nvSpPr>
          <p:cNvPr id="5" name="Shape 3"/>
          <p:cNvSpPr/>
          <p:nvPr/>
        </p:nvSpPr>
        <p:spPr>
          <a:xfrm>
            <a:off x="822960" y="1764792"/>
            <a:ext cx="502920" cy="502920"/>
          </a:xfrm>
          <a:prstGeom prst="ellipse">
            <a:avLst/>
          </a:prstGeom>
          <a:solidFill>
            <a:srgbClr val="EAF7EE"/>
          </a:solidFill>
          <a:ln/>
        </p:spPr>
      </p:sp>
      <p:pic>
        <p:nvPicPr>
          <p:cNvPr id="6" name="Image 0" descr="preencoded.png"/>
          <p:cNvPicPr>
            <a:picLocks noChangeAspect="1"/>
          </p:cNvPicPr>
          <p:nvPr/>
        </p:nvPicPr>
        <p:blipFill>
          <a:blip r:embed="rId3"/>
          <a:stretch>
            <a:fillRect/>
          </a:stretch>
        </p:blipFill>
        <p:spPr>
          <a:xfrm>
            <a:off x="888340" y="1830172"/>
            <a:ext cx="372161" cy="372161"/>
          </a:xfrm>
          <a:prstGeom prst="rect">
            <a:avLst/>
          </a:prstGeom>
        </p:spPr>
      </p:pic>
      <p:sp>
        <p:nvSpPr>
          <p:cNvPr id="7" name="Text 4"/>
          <p:cNvSpPr/>
          <p:nvPr/>
        </p:nvSpPr>
        <p:spPr>
          <a:xfrm>
            <a:off x="1463040" y="1801368"/>
            <a:ext cx="2423160" cy="457200"/>
          </a:xfrm>
          <a:prstGeom prst="rect">
            <a:avLst/>
          </a:prstGeom>
          <a:noFill/>
          <a:ln/>
        </p:spPr>
        <p:txBody>
          <a:bodyPr wrap="square" lIns="0" tIns="0" rIns="0" bIns="0" rtlCol="0" anchor="ctr"/>
          <a:lstStyle/>
          <a:p>
            <a:pPr marL="0" indent="0">
              <a:buNone/>
            </a:pPr>
            <a:r>
              <a:rPr lang="en-US" sz="1400" b="1" dirty="0">
                <a:solidFill>
                  <a:srgbClr val="1C2B22"/>
                </a:solidFill>
                <a:latin typeface="Calibri" pitchFamily="34" charset="0"/>
                <a:ea typeface="Calibri" pitchFamily="34" charset="-122"/>
                <a:cs typeface="Calibri" pitchFamily="34" charset="-120"/>
              </a:rPr>
              <a:t>Total Revenue</a:t>
            </a:r>
            <a:endParaRPr lang="en-US" sz="1400" dirty="0"/>
          </a:p>
        </p:txBody>
      </p:sp>
      <p:sp>
        <p:nvSpPr>
          <p:cNvPr id="8" name="Shape 5"/>
          <p:cNvSpPr/>
          <p:nvPr/>
        </p:nvSpPr>
        <p:spPr>
          <a:xfrm>
            <a:off x="822960" y="2423160"/>
            <a:ext cx="2971800" cy="502920"/>
          </a:xfrm>
          <a:prstGeom prst="roundRect">
            <a:avLst>
              <a:gd name="adj" fmla="val 14545"/>
            </a:avLst>
          </a:prstGeom>
          <a:solidFill>
            <a:srgbClr val="EAF7EE"/>
          </a:solidFill>
          <a:ln w="12700">
            <a:solidFill>
              <a:srgbClr val="D7ECDD"/>
            </a:solidFill>
            <a:prstDash val="solid"/>
          </a:ln>
          <a:effectLst>
            <a:outerShdw blurRad="101600" dist="38100" dir="5400000" algn="bl" rotWithShape="0">
              <a:srgbClr val="0B5C33">
                <a:alpha val="12000"/>
              </a:srgbClr>
            </a:outerShdw>
          </a:effectLst>
        </p:spPr>
      </p:sp>
      <p:sp>
        <p:nvSpPr>
          <p:cNvPr id="9" name="Text 6"/>
          <p:cNvSpPr/>
          <p:nvPr/>
        </p:nvSpPr>
        <p:spPr>
          <a:xfrm>
            <a:off x="914400" y="2478024"/>
            <a:ext cx="2788920" cy="411480"/>
          </a:xfrm>
          <a:prstGeom prst="rect">
            <a:avLst/>
          </a:prstGeom>
          <a:noFill/>
          <a:ln/>
        </p:spPr>
        <p:txBody>
          <a:bodyPr wrap="square" lIns="0" tIns="0" rIns="0" bIns="0" rtlCol="0" anchor="ctr"/>
          <a:lstStyle/>
          <a:p>
            <a:pPr marL="0" indent="0">
              <a:buNone/>
            </a:pPr>
            <a:r>
              <a:rPr lang="en-US" sz="1300" b="1" dirty="0">
                <a:solidFill>
                  <a:srgbClr val="1E8449"/>
                </a:solidFill>
                <a:latin typeface="Courier New" pitchFamily="34" charset="0"/>
                <a:ea typeface="Courier New" pitchFamily="34" charset="-122"/>
                <a:cs typeface="Courier New" pitchFamily="34" charset="-120"/>
              </a:rPr>
              <a:t>=SUM(B2:B13)</a:t>
            </a:r>
            <a:endParaRPr lang="en-US" sz="1300" dirty="0"/>
          </a:p>
        </p:txBody>
      </p:sp>
      <p:sp>
        <p:nvSpPr>
          <p:cNvPr id="10" name="Text 7"/>
          <p:cNvSpPr/>
          <p:nvPr/>
        </p:nvSpPr>
        <p:spPr>
          <a:xfrm>
            <a:off x="822960" y="3063240"/>
            <a:ext cx="2971800" cy="640080"/>
          </a:xfrm>
          <a:prstGeom prst="rect">
            <a:avLst/>
          </a:prstGeom>
          <a:noFill/>
          <a:ln/>
        </p:spPr>
        <p:txBody>
          <a:bodyPr wrap="square" lIns="0" tIns="0" rIns="0" bIns="0" rtlCol="0" anchor="ctr"/>
          <a:lstStyle/>
          <a:p>
            <a:pPr marL="0" indent="0">
              <a:lnSpc>
                <a:spcPct val="125000"/>
              </a:lnSpc>
              <a:buNone/>
            </a:pPr>
            <a:r>
              <a:rPr lang="en-US" sz="1050" dirty="0">
                <a:solidFill>
                  <a:srgbClr val="5E6F64"/>
                </a:solidFill>
                <a:latin typeface="Calibri" pitchFamily="34" charset="0"/>
                <a:ea typeface="Calibri" pitchFamily="34" charset="-122"/>
                <a:cs typeface="Calibri" pitchFamily="34" charset="-120"/>
              </a:rPr>
              <a:t>Adds all revenue values across months or periods.</a:t>
            </a:r>
            <a:endParaRPr lang="en-US" sz="1050" dirty="0"/>
          </a:p>
        </p:txBody>
      </p:sp>
      <p:sp>
        <p:nvSpPr>
          <p:cNvPr id="11" name="Shape 8"/>
          <p:cNvSpPr/>
          <p:nvPr/>
        </p:nvSpPr>
        <p:spPr>
          <a:xfrm>
            <a:off x="4343400" y="1508760"/>
            <a:ext cx="3520440" cy="2286000"/>
          </a:xfrm>
          <a:prstGeom prst="roundRect">
            <a:avLst>
              <a:gd name="adj" fmla="val 3200"/>
            </a:avLst>
          </a:prstGeom>
          <a:solidFill>
            <a:srgbClr val="FFFFFF"/>
          </a:solidFill>
          <a:ln w="12700">
            <a:solidFill>
              <a:srgbClr val="D7ECDD"/>
            </a:solidFill>
            <a:prstDash val="solid"/>
          </a:ln>
          <a:effectLst>
            <a:outerShdw blurRad="101600" dist="38100" dir="5400000" algn="bl" rotWithShape="0">
              <a:srgbClr val="0B5C33">
                <a:alpha val="12000"/>
              </a:srgbClr>
            </a:outerShdw>
          </a:effectLst>
        </p:spPr>
      </p:sp>
      <p:sp>
        <p:nvSpPr>
          <p:cNvPr id="12" name="Shape 9"/>
          <p:cNvSpPr/>
          <p:nvPr/>
        </p:nvSpPr>
        <p:spPr>
          <a:xfrm>
            <a:off x="4617720" y="1764792"/>
            <a:ext cx="502920" cy="502920"/>
          </a:xfrm>
          <a:prstGeom prst="ellipse">
            <a:avLst/>
          </a:prstGeom>
          <a:solidFill>
            <a:srgbClr val="EAF7EE"/>
          </a:solidFill>
          <a:ln/>
        </p:spPr>
      </p:sp>
      <p:pic>
        <p:nvPicPr>
          <p:cNvPr id="13" name="Image 1" descr="preencoded.png"/>
          <p:cNvPicPr>
            <a:picLocks noChangeAspect="1"/>
          </p:cNvPicPr>
          <p:nvPr/>
        </p:nvPicPr>
        <p:blipFill>
          <a:blip r:embed="rId3"/>
          <a:stretch>
            <a:fillRect/>
          </a:stretch>
        </p:blipFill>
        <p:spPr>
          <a:xfrm>
            <a:off x="4683100" y="1830172"/>
            <a:ext cx="372161" cy="372161"/>
          </a:xfrm>
          <a:prstGeom prst="rect">
            <a:avLst/>
          </a:prstGeom>
        </p:spPr>
      </p:pic>
      <p:sp>
        <p:nvSpPr>
          <p:cNvPr id="14" name="Text 10"/>
          <p:cNvSpPr/>
          <p:nvPr/>
        </p:nvSpPr>
        <p:spPr>
          <a:xfrm>
            <a:off x="5257800" y="1801368"/>
            <a:ext cx="2423160" cy="457200"/>
          </a:xfrm>
          <a:prstGeom prst="rect">
            <a:avLst/>
          </a:prstGeom>
          <a:noFill/>
          <a:ln/>
        </p:spPr>
        <p:txBody>
          <a:bodyPr wrap="square" lIns="0" tIns="0" rIns="0" bIns="0" rtlCol="0" anchor="ctr"/>
          <a:lstStyle/>
          <a:p>
            <a:pPr marL="0" indent="0">
              <a:buNone/>
            </a:pPr>
            <a:r>
              <a:rPr lang="en-US" sz="1400" b="1" dirty="0">
                <a:solidFill>
                  <a:srgbClr val="1C2B22"/>
                </a:solidFill>
                <a:latin typeface="Calibri" pitchFamily="34" charset="0"/>
                <a:ea typeface="Calibri" pitchFamily="34" charset="-122"/>
                <a:cs typeface="Calibri" pitchFamily="34" charset="-120"/>
              </a:rPr>
              <a:t>Average Revenue</a:t>
            </a:r>
            <a:endParaRPr lang="en-US" sz="1400" dirty="0"/>
          </a:p>
        </p:txBody>
      </p:sp>
      <p:sp>
        <p:nvSpPr>
          <p:cNvPr id="15" name="Shape 11"/>
          <p:cNvSpPr/>
          <p:nvPr/>
        </p:nvSpPr>
        <p:spPr>
          <a:xfrm>
            <a:off x="4617720" y="2423160"/>
            <a:ext cx="2971800" cy="502920"/>
          </a:xfrm>
          <a:prstGeom prst="roundRect">
            <a:avLst>
              <a:gd name="adj" fmla="val 14545"/>
            </a:avLst>
          </a:prstGeom>
          <a:solidFill>
            <a:srgbClr val="EAF7EE"/>
          </a:solidFill>
          <a:ln w="12700">
            <a:solidFill>
              <a:srgbClr val="D7ECDD"/>
            </a:solidFill>
            <a:prstDash val="solid"/>
          </a:ln>
          <a:effectLst>
            <a:outerShdw blurRad="101600" dist="38100" dir="5400000" algn="bl" rotWithShape="0">
              <a:srgbClr val="0B5C33">
                <a:alpha val="12000"/>
              </a:srgbClr>
            </a:outerShdw>
          </a:effectLst>
        </p:spPr>
      </p:sp>
      <p:sp>
        <p:nvSpPr>
          <p:cNvPr id="16" name="Text 12"/>
          <p:cNvSpPr/>
          <p:nvPr/>
        </p:nvSpPr>
        <p:spPr>
          <a:xfrm>
            <a:off x="4709160" y="2478024"/>
            <a:ext cx="2788920" cy="411480"/>
          </a:xfrm>
          <a:prstGeom prst="rect">
            <a:avLst/>
          </a:prstGeom>
          <a:noFill/>
          <a:ln/>
        </p:spPr>
        <p:txBody>
          <a:bodyPr wrap="square" lIns="0" tIns="0" rIns="0" bIns="0" rtlCol="0" anchor="ctr"/>
          <a:lstStyle/>
          <a:p>
            <a:pPr marL="0" indent="0">
              <a:buNone/>
            </a:pPr>
            <a:r>
              <a:rPr lang="en-US" sz="1300" b="1" dirty="0">
                <a:solidFill>
                  <a:srgbClr val="1E8449"/>
                </a:solidFill>
                <a:latin typeface="Courier New" pitchFamily="34" charset="0"/>
                <a:ea typeface="Courier New" pitchFamily="34" charset="-122"/>
                <a:cs typeface="Courier New" pitchFamily="34" charset="-120"/>
              </a:rPr>
              <a:t>=AVERAGE(B2:B13)</a:t>
            </a:r>
            <a:endParaRPr lang="en-US" sz="1300" dirty="0"/>
          </a:p>
        </p:txBody>
      </p:sp>
      <p:sp>
        <p:nvSpPr>
          <p:cNvPr id="17" name="Text 13"/>
          <p:cNvSpPr/>
          <p:nvPr/>
        </p:nvSpPr>
        <p:spPr>
          <a:xfrm>
            <a:off x="4617720" y="3063240"/>
            <a:ext cx="2971800" cy="640080"/>
          </a:xfrm>
          <a:prstGeom prst="rect">
            <a:avLst/>
          </a:prstGeom>
          <a:noFill/>
          <a:ln/>
        </p:spPr>
        <p:txBody>
          <a:bodyPr wrap="square" lIns="0" tIns="0" rIns="0" bIns="0" rtlCol="0" anchor="ctr"/>
          <a:lstStyle/>
          <a:p>
            <a:pPr marL="0" indent="0">
              <a:lnSpc>
                <a:spcPct val="125000"/>
              </a:lnSpc>
              <a:buNone/>
            </a:pPr>
            <a:r>
              <a:rPr lang="en-US" sz="1050" dirty="0">
                <a:solidFill>
                  <a:srgbClr val="5E6F64"/>
                </a:solidFill>
                <a:latin typeface="Calibri" pitchFamily="34" charset="0"/>
                <a:ea typeface="Calibri" pitchFamily="34" charset="-122"/>
                <a:cs typeface="Calibri" pitchFamily="34" charset="-120"/>
              </a:rPr>
              <a:t>Calculates mean revenue per reporting period.</a:t>
            </a:r>
            <a:endParaRPr lang="en-US" sz="1050" dirty="0"/>
          </a:p>
        </p:txBody>
      </p:sp>
      <p:sp>
        <p:nvSpPr>
          <p:cNvPr id="18" name="Shape 14"/>
          <p:cNvSpPr/>
          <p:nvPr/>
        </p:nvSpPr>
        <p:spPr>
          <a:xfrm>
            <a:off x="8138160" y="1508760"/>
            <a:ext cx="3520440" cy="2286000"/>
          </a:xfrm>
          <a:prstGeom prst="roundRect">
            <a:avLst>
              <a:gd name="adj" fmla="val 3200"/>
            </a:avLst>
          </a:prstGeom>
          <a:solidFill>
            <a:srgbClr val="FFFFFF"/>
          </a:solidFill>
          <a:ln w="12700">
            <a:solidFill>
              <a:srgbClr val="D7ECDD"/>
            </a:solidFill>
            <a:prstDash val="solid"/>
          </a:ln>
          <a:effectLst>
            <a:outerShdw blurRad="101600" dist="38100" dir="5400000" algn="bl" rotWithShape="0">
              <a:srgbClr val="0B5C33">
                <a:alpha val="12000"/>
              </a:srgbClr>
            </a:outerShdw>
          </a:effectLst>
        </p:spPr>
      </p:sp>
      <p:sp>
        <p:nvSpPr>
          <p:cNvPr id="19" name="Shape 15"/>
          <p:cNvSpPr/>
          <p:nvPr/>
        </p:nvSpPr>
        <p:spPr>
          <a:xfrm>
            <a:off x="8412480" y="1764792"/>
            <a:ext cx="502920" cy="502920"/>
          </a:xfrm>
          <a:prstGeom prst="ellipse">
            <a:avLst/>
          </a:prstGeom>
          <a:solidFill>
            <a:srgbClr val="EAF7EE"/>
          </a:solidFill>
          <a:ln/>
        </p:spPr>
      </p:sp>
      <p:pic>
        <p:nvPicPr>
          <p:cNvPr id="20" name="Image 2" descr="preencoded.png"/>
          <p:cNvPicPr>
            <a:picLocks noChangeAspect="1"/>
          </p:cNvPicPr>
          <p:nvPr/>
        </p:nvPicPr>
        <p:blipFill>
          <a:blip r:embed="rId3"/>
          <a:stretch>
            <a:fillRect/>
          </a:stretch>
        </p:blipFill>
        <p:spPr>
          <a:xfrm>
            <a:off x="8477860" y="1830172"/>
            <a:ext cx="372161" cy="372161"/>
          </a:xfrm>
          <a:prstGeom prst="rect">
            <a:avLst/>
          </a:prstGeom>
        </p:spPr>
      </p:pic>
      <p:sp>
        <p:nvSpPr>
          <p:cNvPr id="21" name="Text 16"/>
          <p:cNvSpPr/>
          <p:nvPr/>
        </p:nvSpPr>
        <p:spPr>
          <a:xfrm>
            <a:off x="9052560" y="1801368"/>
            <a:ext cx="2423160" cy="457200"/>
          </a:xfrm>
          <a:prstGeom prst="rect">
            <a:avLst/>
          </a:prstGeom>
          <a:noFill/>
          <a:ln/>
        </p:spPr>
        <p:txBody>
          <a:bodyPr wrap="square" lIns="0" tIns="0" rIns="0" bIns="0" rtlCol="0" anchor="ctr"/>
          <a:lstStyle/>
          <a:p>
            <a:pPr marL="0" indent="0">
              <a:buNone/>
            </a:pPr>
            <a:r>
              <a:rPr lang="en-US" sz="1400" b="1" dirty="0">
                <a:solidFill>
                  <a:srgbClr val="1C2B22"/>
                </a:solidFill>
                <a:latin typeface="Calibri" pitchFamily="34" charset="0"/>
                <a:ea typeface="Calibri" pitchFamily="34" charset="-122"/>
                <a:cs typeface="Calibri" pitchFamily="34" charset="-120"/>
              </a:rPr>
              <a:t>Revenue Growth %</a:t>
            </a:r>
            <a:endParaRPr lang="en-US" sz="1400" dirty="0"/>
          </a:p>
        </p:txBody>
      </p:sp>
      <p:sp>
        <p:nvSpPr>
          <p:cNvPr id="22" name="Shape 17"/>
          <p:cNvSpPr/>
          <p:nvPr/>
        </p:nvSpPr>
        <p:spPr>
          <a:xfrm>
            <a:off x="8412480" y="2423160"/>
            <a:ext cx="2971800" cy="502920"/>
          </a:xfrm>
          <a:prstGeom prst="roundRect">
            <a:avLst>
              <a:gd name="adj" fmla="val 14545"/>
            </a:avLst>
          </a:prstGeom>
          <a:solidFill>
            <a:srgbClr val="EAF7EE"/>
          </a:solidFill>
          <a:ln w="12700">
            <a:solidFill>
              <a:srgbClr val="D7ECDD"/>
            </a:solidFill>
            <a:prstDash val="solid"/>
          </a:ln>
          <a:effectLst>
            <a:outerShdw blurRad="101600" dist="38100" dir="5400000" algn="bl" rotWithShape="0">
              <a:srgbClr val="0B5C33">
                <a:alpha val="12000"/>
              </a:srgbClr>
            </a:outerShdw>
          </a:effectLst>
        </p:spPr>
      </p:sp>
      <p:sp>
        <p:nvSpPr>
          <p:cNvPr id="23" name="Text 18"/>
          <p:cNvSpPr/>
          <p:nvPr/>
        </p:nvSpPr>
        <p:spPr>
          <a:xfrm>
            <a:off x="8503920" y="2478024"/>
            <a:ext cx="2788920" cy="411480"/>
          </a:xfrm>
          <a:prstGeom prst="rect">
            <a:avLst/>
          </a:prstGeom>
          <a:noFill/>
          <a:ln/>
        </p:spPr>
        <p:txBody>
          <a:bodyPr wrap="square" lIns="0" tIns="0" rIns="0" bIns="0" rtlCol="0" anchor="ctr"/>
          <a:lstStyle/>
          <a:p>
            <a:pPr marL="0" indent="0">
              <a:buNone/>
            </a:pPr>
            <a:r>
              <a:rPr lang="en-US" sz="1300" b="1" dirty="0">
                <a:solidFill>
                  <a:srgbClr val="1E8449"/>
                </a:solidFill>
                <a:latin typeface="Courier New" pitchFamily="34" charset="0"/>
                <a:ea typeface="Courier New" pitchFamily="34" charset="-122"/>
                <a:cs typeface="Courier New" pitchFamily="34" charset="-120"/>
              </a:rPr>
              <a:t>=(B13-B2)/B2*100</a:t>
            </a:r>
            <a:endParaRPr lang="en-US" sz="1300" dirty="0"/>
          </a:p>
        </p:txBody>
      </p:sp>
      <p:sp>
        <p:nvSpPr>
          <p:cNvPr id="24" name="Text 19"/>
          <p:cNvSpPr/>
          <p:nvPr/>
        </p:nvSpPr>
        <p:spPr>
          <a:xfrm>
            <a:off x="8412480" y="3063240"/>
            <a:ext cx="2971800" cy="640080"/>
          </a:xfrm>
          <a:prstGeom prst="rect">
            <a:avLst/>
          </a:prstGeom>
          <a:noFill/>
          <a:ln/>
        </p:spPr>
        <p:txBody>
          <a:bodyPr wrap="square" lIns="0" tIns="0" rIns="0" bIns="0" rtlCol="0" anchor="ctr"/>
          <a:lstStyle/>
          <a:p>
            <a:pPr marL="0" indent="0">
              <a:lnSpc>
                <a:spcPct val="125000"/>
              </a:lnSpc>
              <a:buNone/>
            </a:pPr>
            <a:r>
              <a:rPr lang="en-US" sz="1050" dirty="0">
                <a:solidFill>
                  <a:srgbClr val="5E6F64"/>
                </a:solidFill>
                <a:latin typeface="Calibri" pitchFamily="34" charset="0"/>
                <a:ea typeface="Calibri" pitchFamily="34" charset="-122"/>
                <a:cs typeface="Calibri" pitchFamily="34" charset="-120"/>
              </a:rPr>
              <a:t>Percentage change in revenue from start to end period.</a:t>
            </a:r>
            <a:endParaRPr lang="en-US" sz="1050" dirty="0"/>
          </a:p>
        </p:txBody>
      </p:sp>
      <p:sp>
        <p:nvSpPr>
          <p:cNvPr id="25" name="Text 20"/>
          <p:cNvSpPr/>
          <p:nvPr/>
        </p:nvSpPr>
        <p:spPr>
          <a:xfrm>
            <a:off x="548640" y="4023360"/>
            <a:ext cx="5486400" cy="320040"/>
          </a:xfrm>
          <a:prstGeom prst="rect">
            <a:avLst/>
          </a:prstGeom>
          <a:noFill/>
          <a:ln/>
        </p:spPr>
        <p:txBody>
          <a:bodyPr wrap="square" lIns="0" tIns="0" rIns="0" bIns="0" rtlCol="0" anchor="ctr"/>
          <a:lstStyle/>
          <a:p>
            <a:pPr marL="0" indent="0">
              <a:buNone/>
            </a:pPr>
            <a:r>
              <a:rPr lang="en-US" sz="1400" b="1" dirty="0">
                <a:solidFill>
                  <a:srgbClr val="1C2B22"/>
                </a:solidFill>
                <a:latin typeface="Calibri" pitchFamily="34" charset="0"/>
                <a:ea typeface="Calibri" pitchFamily="34" charset="-122"/>
                <a:cs typeface="Calibri" pitchFamily="34" charset="-120"/>
              </a:rPr>
              <a:t>Revenue Trend Visualization</a:t>
            </a:r>
            <a:endParaRPr lang="en-US" sz="1400" dirty="0"/>
          </a:p>
        </p:txBody>
      </p:sp>
      <p:graphicFrame>
        <p:nvGraphicFramePr>
          <p:cNvPr id="26" name="Chart 0"/>
          <p:cNvGraphicFramePr/>
          <p:nvPr/>
        </p:nvGraphicFramePr>
        <p:xfrm>
          <a:off x="548640" y="4389120"/>
          <a:ext cx="6766560" cy="2148840"/>
        </p:xfrm>
        <a:graphic>
          <a:graphicData uri="http://schemas.openxmlformats.org/drawingml/2006/chart">
            <c:chart xmlns:c="http://schemas.openxmlformats.org/drawingml/2006/chart" xmlns:r="http://schemas.openxmlformats.org/officeDocument/2006/relationships" r:id="rId4"/>
          </a:graphicData>
        </a:graphic>
      </p:graphicFrame>
      <p:sp>
        <p:nvSpPr>
          <p:cNvPr id="27" name="Shape 21"/>
          <p:cNvSpPr/>
          <p:nvPr/>
        </p:nvSpPr>
        <p:spPr>
          <a:xfrm>
            <a:off x="7680960" y="4023360"/>
            <a:ext cx="3931920" cy="2514600"/>
          </a:xfrm>
          <a:prstGeom prst="roundRect">
            <a:avLst>
              <a:gd name="adj" fmla="val 2909"/>
            </a:avLst>
          </a:prstGeom>
          <a:solidFill>
            <a:srgbClr val="EAF7EE"/>
          </a:solidFill>
          <a:ln w="12700">
            <a:solidFill>
              <a:srgbClr val="D7ECDD"/>
            </a:solidFill>
            <a:prstDash val="solid"/>
          </a:ln>
          <a:effectLst>
            <a:outerShdw blurRad="101600" dist="38100" dir="5400000" algn="bl" rotWithShape="0">
              <a:srgbClr val="0B5C33">
                <a:alpha val="12000"/>
              </a:srgbClr>
            </a:outerShdw>
          </a:effectLst>
        </p:spPr>
      </p:sp>
      <p:sp>
        <p:nvSpPr>
          <p:cNvPr id="28" name="Shape 22"/>
          <p:cNvSpPr/>
          <p:nvPr/>
        </p:nvSpPr>
        <p:spPr>
          <a:xfrm>
            <a:off x="7955280" y="4297680"/>
            <a:ext cx="502920" cy="502920"/>
          </a:xfrm>
          <a:prstGeom prst="ellipse">
            <a:avLst/>
          </a:prstGeom>
          <a:solidFill>
            <a:srgbClr val="FFFFFF"/>
          </a:solidFill>
          <a:ln/>
        </p:spPr>
      </p:sp>
      <p:pic>
        <p:nvPicPr>
          <p:cNvPr id="29" name="Image 3" descr="preencoded.png"/>
          <p:cNvPicPr>
            <a:picLocks noChangeAspect="1"/>
          </p:cNvPicPr>
          <p:nvPr/>
        </p:nvPicPr>
        <p:blipFill>
          <a:blip r:embed="rId5"/>
          <a:stretch>
            <a:fillRect/>
          </a:stretch>
        </p:blipFill>
        <p:spPr>
          <a:xfrm>
            <a:off x="8020660" y="4363060"/>
            <a:ext cx="372161" cy="372161"/>
          </a:xfrm>
          <a:prstGeom prst="rect">
            <a:avLst/>
          </a:prstGeom>
        </p:spPr>
      </p:pic>
      <p:sp>
        <p:nvSpPr>
          <p:cNvPr id="30" name="Text 23"/>
          <p:cNvSpPr/>
          <p:nvPr/>
        </p:nvSpPr>
        <p:spPr>
          <a:xfrm>
            <a:off x="8595360" y="4343400"/>
            <a:ext cx="2834640" cy="365760"/>
          </a:xfrm>
          <a:prstGeom prst="rect">
            <a:avLst/>
          </a:prstGeom>
          <a:noFill/>
          <a:ln/>
        </p:spPr>
        <p:txBody>
          <a:bodyPr wrap="square" lIns="0" tIns="0" rIns="0" bIns="0" rtlCol="0" anchor="ctr"/>
          <a:lstStyle/>
          <a:p>
            <a:pPr marL="0" indent="0">
              <a:buNone/>
            </a:pPr>
            <a:r>
              <a:rPr lang="en-US" sz="1300" b="1" dirty="0">
                <a:solidFill>
                  <a:srgbClr val="1C2B22"/>
                </a:solidFill>
                <a:latin typeface="Calibri" pitchFamily="34" charset="0"/>
                <a:ea typeface="Calibri" pitchFamily="34" charset="-122"/>
                <a:cs typeface="Calibri" pitchFamily="34" charset="-120"/>
              </a:rPr>
              <a:t>Excel Tip</a:t>
            </a:r>
            <a:endParaRPr lang="en-US" sz="1300" dirty="0"/>
          </a:p>
        </p:txBody>
      </p:sp>
      <p:sp>
        <p:nvSpPr>
          <p:cNvPr id="31" name="Text 24"/>
          <p:cNvSpPr/>
          <p:nvPr/>
        </p:nvSpPr>
        <p:spPr>
          <a:xfrm>
            <a:off x="7955280" y="4846320"/>
            <a:ext cx="3429000" cy="1554480"/>
          </a:xfrm>
          <a:prstGeom prst="rect">
            <a:avLst/>
          </a:prstGeom>
          <a:noFill/>
          <a:ln/>
        </p:spPr>
        <p:txBody>
          <a:bodyPr wrap="square" lIns="0" tIns="0" rIns="0" bIns="0" rtlCol="0" anchor="ctr"/>
          <a:lstStyle/>
          <a:p>
            <a:pPr marL="0" indent="0">
              <a:lnSpc>
                <a:spcPct val="130000"/>
              </a:lnSpc>
              <a:buNone/>
            </a:pPr>
            <a:r>
              <a:rPr lang="en-US" sz="1150" dirty="0">
                <a:solidFill>
                  <a:srgbClr val="1C2B22"/>
                </a:solidFill>
                <a:latin typeface="Calibri" pitchFamily="34" charset="0"/>
                <a:ea typeface="Calibri" pitchFamily="34" charset="-122"/>
                <a:cs typeface="Calibri" pitchFamily="34" charset="-120"/>
              </a:rPr>
              <a:t>Apply Conditional Formatting to automatically highlight months where revenue exceeds the average — instantly spot strong-performing periods.</a:t>
            </a:r>
            <a:endParaRPr lang="en-US" sz="1150" dirty="0"/>
          </a:p>
        </p:txBody>
      </p:sp>
      <p:sp>
        <p:nvSpPr>
          <p:cNvPr id="32" name="Text 25"/>
          <p:cNvSpPr/>
          <p:nvPr/>
        </p:nvSpPr>
        <p:spPr>
          <a:xfrm>
            <a:off x="457200" y="6537960"/>
            <a:ext cx="5486400" cy="274320"/>
          </a:xfrm>
          <a:prstGeom prst="rect">
            <a:avLst/>
          </a:prstGeom>
          <a:noFill/>
          <a:ln/>
        </p:spPr>
        <p:txBody>
          <a:bodyPr wrap="square" lIns="0" tIns="0" rIns="0" bIns="0" rtlCol="0" anchor="ctr"/>
          <a:lstStyle/>
          <a:p>
            <a:pPr marL="0" indent="0">
              <a:buNone/>
            </a:pPr>
            <a:r>
              <a:rPr lang="en-US" sz="900" dirty="0">
                <a:solidFill>
                  <a:srgbClr val="5E6F64"/>
                </a:solidFill>
                <a:latin typeface="Calibri" pitchFamily="34" charset="0"/>
                <a:ea typeface="Calibri" pitchFamily="34" charset="-122"/>
                <a:cs typeface="Calibri" pitchFamily="34" charset="-120"/>
              </a:rPr>
              <a:t>DMart Revenue &amp; Business Metrics Report</a:t>
            </a:r>
            <a:endParaRPr lang="en-US" sz="900" dirty="0"/>
          </a:p>
        </p:txBody>
      </p:sp>
      <p:sp>
        <p:nvSpPr>
          <p:cNvPr id="33" name="Text 26"/>
          <p:cNvSpPr/>
          <p:nvPr/>
        </p:nvSpPr>
        <p:spPr>
          <a:xfrm>
            <a:off x="11521440" y="6537960"/>
            <a:ext cx="365760" cy="274320"/>
          </a:xfrm>
          <a:prstGeom prst="rect">
            <a:avLst/>
          </a:prstGeom>
          <a:noFill/>
          <a:ln/>
        </p:spPr>
        <p:txBody>
          <a:bodyPr wrap="square" lIns="0" tIns="0" rIns="0" bIns="0" rtlCol="0" anchor="ctr"/>
          <a:lstStyle/>
          <a:p>
            <a:pPr marL="0" indent="0" algn="r">
              <a:buNone/>
            </a:pPr>
            <a:r>
              <a:rPr lang="en-US" sz="900" dirty="0">
                <a:solidFill>
                  <a:srgbClr val="5E6F64"/>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lIns="0" tIns="0" rIns="0" bIns="0" rtlCol="0" anchor="ctr"/>
          <a:lstStyle/>
          <a:p>
            <a:pPr marL="0" indent="0">
              <a:buNone/>
            </a:pPr>
            <a:r>
              <a:rPr lang="en-US" sz="1200" b="1" kern="0" spc="200" dirty="0">
                <a:solidFill>
                  <a:srgbClr val="1E8449"/>
                </a:solidFill>
                <a:latin typeface="Calibri" pitchFamily="34" charset="0"/>
                <a:ea typeface="Calibri" pitchFamily="34" charset="-122"/>
                <a:cs typeface="Calibri" pitchFamily="34" charset="-120"/>
              </a:rPr>
              <a:t>MODULE 1</a:t>
            </a:r>
            <a:endParaRPr lang="en-US" sz="1200" dirty="0"/>
          </a:p>
        </p:txBody>
      </p:sp>
      <p:sp>
        <p:nvSpPr>
          <p:cNvPr id="3" name="Text 1"/>
          <p:cNvSpPr/>
          <p:nvPr/>
        </p:nvSpPr>
        <p:spPr>
          <a:xfrm>
            <a:off x="548640" y="566928"/>
            <a:ext cx="10515600" cy="640080"/>
          </a:xfrm>
          <a:prstGeom prst="rect">
            <a:avLst/>
          </a:prstGeom>
          <a:noFill/>
          <a:ln/>
        </p:spPr>
        <p:txBody>
          <a:bodyPr wrap="square" lIns="0" tIns="0" rIns="0" bIns="0" rtlCol="0" anchor="ctr"/>
          <a:lstStyle/>
          <a:p>
            <a:pPr marL="0" indent="0">
              <a:buNone/>
            </a:pPr>
            <a:r>
              <a:rPr lang="en-US" sz="3000" b="1" dirty="0">
                <a:solidFill>
                  <a:srgbClr val="1C2B22"/>
                </a:solidFill>
                <a:latin typeface="Cambria" pitchFamily="34" charset="0"/>
                <a:ea typeface="Cambria" pitchFamily="34" charset="-122"/>
                <a:cs typeface="Cambria" pitchFamily="34" charset="-120"/>
              </a:rPr>
              <a:t>Revenue Analysis Example</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6675120" cy="2834643"/>
        </p:xfrm>
        <a:graphic>
          <a:graphicData uri="http://schemas.openxmlformats.org/drawingml/2006/table">
            <a:tbl>
              <a:tblPr/>
              <a:tblGrid>
                <a:gridCol w="137160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50876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404949">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Month</a:t>
                      </a:r>
                      <a:endParaRPr lang="en-US" sz="11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0B5C33"/>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Product Sales</a:t>
                      </a:r>
                      <a:endParaRPr lang="en-US" sz="11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0B5C33"/>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Service Revenue</a:t>
                      </a:r>
                      <a:endParaRPr lang="en-US" sz="11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0B5C33"/>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Total Revenue</a:t>
                      </a:r>
                      <a:endParaRPr lang="en-US" sz="11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0B5C33"/>
                    </a:solidFill>
                  </a:tcPr>
                </a:tc>
                <a:tc>
                  <a:txBody>
                    <a:bodyPr/>
                    <a:lstStyle/>
                    <a:p>
                      <a:pPr marL="0" indent="0" algn="r">
                        <a:buNone/>
                      </a:pPr>
                      <a:r>
                        <a:rPr lang="en-US" sz="1100" b="1" dirty="0">
                          <a:solidFill>
                            <a:srgbClr val="FFFFFF"/>
                          </a:solidFill>
                          <a:latin typeface="Calibri" pitchFamily="34" charset="0"/>
                          <a:ea typeface="Calibri" pitchFamily="34" charset="-122"/>
                          <a:cs typeface="Calibri" pitchFamily="34" charset="-120"/>
                        </a:rPr>
                        <a:t>vs Prior Mo.</a:t>
                      </a:r>
                      <a:endParaRPr lang="en-US" sz="11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0B5C33"/>
                    </a:solidFill>
                  </a:tcPr>
                </a:tc>
                <a:extLst>
                  <a:ext uri="{0D108BD9-81ED-4DB2-BD59-A6C34878D82A}">
                    <a16:rowId xmlns:a16="http://schemas.microsoft.com/office/drawing/2014/main" val="10000"/>
                  </a:ext>
                </a:extLst>
              </a:tr>
              <a:tr h="404949">
                <a:tc>
                  <a:txBody>
                    <a:bodyPr/>
                    <a:lstStyle/>
                    <a:p>
                      <a:pPr marL="0" indent="0" algn="l">
                        <a:buNone/>
                      </a:pPr>
                      <a:r>
                        <a:rPr lang="en-US" sz="1100" dirty="0">
                          <a:solidFill>
                            <a:srgbClr val="1C2B22"/>
                          </a:solidFill>
                          <a:latin typeface="Calibri" pitchFamily="34" charset="0"/>
                          <a:ea typeface="Calibri" pitchFamily="34" charset="-122"/>
                          <a:cs typeface="Calibri" pitchFamily="34" charset="-120"/>
                        </a:rPr>
                        <a:t>January</a:t>
                      </a:r>
                      <a:endParaRPr lang="en-US" sz="11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tcPr>
                </a:tc>
                <a:tc>
                  <a:txBody>
                    <a:bodyPr/>
                    <a:lstStyle/>
                    <a:p>
                      <a:pPr marL="0" indent="0" algn="l">
                        <a:buNone/>
                      </a:pPr>
                      <a:r>
                        <a:rPr lang="en-US" sz="1100" dirty="0">
                          <a:solidFill>
                            <a:srgbClr val="1C2B22"/>
                          </a:solidFill>
                          <a:latin typeface="Calibri" pitchFamily="34" charset="0"/>
                          <a:ea typeface="Calibri" pitchFamily="34" charset="-122"/>
                          <a:cs typeface="Calibri" pitchFamily="34" charset="-120"/>
                        </a:rPr>
                        <a:t>₹45,000</a:t>
                      </a:r>
                      <a:endParaRPr lang="en-US" sz="11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tcPr>
                </a:tc>
                <a:tc>
                  <a:txBody>
                    <a:bodyPr/>
                    <a:lstStyle/>
                    <a:p>
                      <a:pPr marL="0" indent="0" algn="l">
                        <a:buNone/>
                      </a:pPr>
                      <a:r>
                        <a:rPr lang="en-US" sz="1100" dirty="0">
                          <a:solidFill>
                            <a:srgbClr val="1C2B22"/>
                          </a:solidFill>
                          <a:latin typeface="Calibri" pitchFamily="34" charset="0"/>
                          <a:ea typeface="Calibri" pitchFamily="34" charset="-122"/>
                          <a:cs typeface="Calibri" pitchFamily="34" charset="-120"/>
                        </a:rPr>
                        <a:t>₹12,000</a:t>
                      </a:r>
                      <a:endParaRPr lang="en-US" sz="11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tcPr>
                </a:tc>
                <a:tc>
                  <a:txBody>
                    <a:bodyPr/>
                    <a:lstStyle/>
                    <a:p>
                      <a:pPr marL="0" indent="0" algn="l">
                        <a:buNone/>
                      </a:pPr>
                      <a:r>
                        <a:rPr lang="en-US" sz="1100" dirty="0">
                          <a:solidFill>
                            <a:srgbClr val="1C2B22"/>
                          </a:solidFill>
                          <a:latin typeface="Calibri" pitchFamily="34" charset="0"/>
                          <a:ea typeface="Calibri" pitchFamily="34" charset="-122"/>
                          <a:cs typeface="Calibri" pitchFamily="34" charset="-120"/>
                        </a:rPr>
                        <a:t>₹57,000</a:t>
                      </a:r>
                      <a:endParaRPr lang="en-US" sz="11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tcPr>
                </a:tc>
                <a:tc>
                  <a:txBody>
                    <a:bodyPr/>
                    <a:lstStyle/>
                    <a:p>
                      <a:pPr marL="0" indent="0" algn="l">
                        <a:buNone/>
                      </a:pPr>
                      <a:r>
                        <a:rPr lang="en-US" sz="1100" dirty="0">
                          <a:solidFill>
                            <a:srgbClr val="1C2B22"/>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tcPr>
                </a:tc>
                <a:extLst>
                  <a:ext uri="{0D108BD9-81ED-4DB2-BD59-A6C34878D82A}">
                    <a16:rowId xmlns:a16="http://schemas.microsoft.com/office/drawing/2014/main" val="10001"/>
                  </a:ext>
                </a:extLst>
              </a:tr>
              <a:tr h="404949">
                <a:tc>
                  <a:txBody>
                    <a:bodyPr/>
                    <a:lstStyle/>
                    <a:p>
                      <a:pPr marL="0" indent="0" algn="l">
                        <a:buNone/>
                      </a:pPr>
                      <a:r>
                        <a:rPr lang="en-US" sz="1100" dirty="0">
                          <a:solidFill>
                            <a:srgbClr val="1C2B22"/>
                          </a:solidFill>
                          <a:latin typeface="Calibri" pitchFamily="34" charset="0"/>
                          <a:ea typeface="Calibri" pitchFamily="34" charset="-122"/>
                          <a:cs typeface="Calibri" pitchFamily="34" charset="-120"/>
                        </a:rPr>
                        <a:t>February</a:t>
                      </a:r>
                      <a:endParaRPr lang="en-US" sz="11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tcPr>
                </a:tc>
                <a:tc>
                  <a:txBody>
                    <a:bodyPr/>
                    <a:lstStyle/>
                    <a:p>
                      <a:pPr marL="0" indent="0" algn="l">
                        <a:buNone/>
                      </a:pPr>
                      <a:r>
                        <a:rPr lang="en-US" sz="1100" dirty="0">
                          <a:solidFill>
                            <a:srgbClr val="1C2B22"/>
                          </a:solidFill>
                          <a:latin typeface="Calibri" pitchFamily="34" charset="0"/>
                          <a:ea typeface="Calibri" pitchFamily="34" charset="-122"/>
                          <a:cs typeface="Calibri" pitchFamily="34" charset="-120"/>
                        </a:rPr>
                        <a:t>₹52,000</a:t>
                      </a:r>
                      <a:endParaRPr lang="en-US" sz="11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tcPr>
                </a:tc>
                <a:tc>
                  <a:txBody>
                    <a:bodyPr/>
                    <a:lstStyle/>
                    <a:p>
                      <a:pPr marL="0" indent="0" algn="l">
                        <a:buNone/>
                      </a:pPr>
                      <a:r>
                        <a:rPr lang="en-US" sz="1100" dirty="0">
                          <a:solidFill>
                            <a:srgbClr val="1C2B22"/>
                          </a:solidFill>
                          <a:latin typeface="Calibri" pitchFamily="34" charset="0"/>
                          <a:ea typeface="Calibri" pitchFamily="34" charset="-122"/>
                          <a:cs typeface="Calibri" pitchFamily="34" charset="-120"/>
                        </a:rPr>
                        <a:t>₹14,500</a:t>
                      </a:r>
                      <a:endParaRPr lang="en-US" sz="11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tcPr>
                </a:tc>
                <a:tc>
                  <a:txBody>
                    <a:bodyPr/>
                    <a:lstStyle/>
                    <a:p>
                      <a:pPr marL="0" indent="0" algn="l">
                        <a:buNone/>
                      </a:pPr>
                      <a:r>
                        <a:rPr lang="en-US" sz="1100" dirty="0">
                          <a:solidFill>
                            <a:srgbClr val="1C2B22"/>
                          </a:solidFill>
                          <a:latin typeface="Calibri" pitchFamily="34" charset="0"/>
                          <a:ea typeface="Calibri" pitchFamily="34" charset="-122"/>
                          <a:cs typeface="Calibri" pitchFamily="34" charset="-120"/>
                        </a:rPr>
                        <a:t>₹66,500</a:t>
                      </a:r>
                      <a:endParaRPr lang="en-US" sz="11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tcPr>
                </a:tc>
                <a:tc>
                  <a:txBody>
                    <a:bodyPr/>
                    <a:lstStyle/>
                    <a:p>
                      <a:pPr marL="0" indent="0" algn="l">
                        <a:buNone/>
                      </a:pPr>
                      <a:r>
                        <a:rPr lang="en-US" sz="1100" dirty="0">
                          <a:solidFill>
                            <a:srgbClr val="1C2B22"/>
                          </a:solidFill>
                          <a:latin typeface="Calibri" pitchFamily="34" charset="0"/>
                          <a:ea typeface="Calibri" pitchFamily="34" charset="-122"/>
                          <a:cs typeface="Calibri" pitchFamily="34" charset="-120"/>
                        </a:rPr>
                        <a:t>+16.7%</a:t>
                      </a:r>
                      <a:endParaRPr lang="en-US" sz="11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tcPr>
                </a:tc>
                <a:extLst>
                  <a:ext uri="{0D108BD9-81ED-4DB2-BD59-A6C34878D82A}">
                    <a16:rowId xmlns:a16="http://schemas.microsoft.com/office/drawing/2014/main" val="10002"/>
                  </a:ext>
                </a:extLst>
              </a:tr>
              <a:tr h="404949">
                <a:tc>
                  <a:txBody>
                    <a:bodyPr/>
                    <a:lstStyle/>
                    <a:p>
                      <a:pPr marL="0" indent="0" algn="l">
                        <a:buNone/>
                      </a:pPr>
                      <a:r>
                        <a:rPr lang="en-US" sz="1100" dirty="0">
                          <a:solidFill>
                            <a:srgbClr val="1C2B22"/>
                          </a:solidFill>
                          <a:latin typeface="Calibri" pitchFamily="34" charset="0"/>
                          <a:ea typeface="Calibri" pitchFamily="34" charset="-122"/>
                          <a:cs typeface="Calibri" pitchFamily="34" charset="-120"/>
                        </a:rPr>
                        <a:t>March</a:t>
                      </a:r>
                      <a:endParaRPr lang="en-US" sz="11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tcPr>
                </a:tc>
                <a:tc>
                  <a:txBody>
                    <a:bodyPr/>
                    <a:lstStyle/>
                    <a:p>
                      <a:pPr marL="0" indent="0" algn="l">
                        <a:buNone/>
                      </a:pPr>
                      <a:r>
                        <a:rPr lang="en-US" sz="1100" dirty="0">
                          <a:solidFill>
                            <a:srgbClr val="1C2B22"/>
                          </a:solidFill>
                          <a:latin typeface="Calibri" pitchFamily="34" charset="0"/>
                          <a:ea typeface="Calibri" pitchFamily="34" charset="-122"/>
                          <a:cs typeface="Calibri" pitchFamily="34" charset="-120"/>
                        </a:rPr>
                        <a:t>₹48,000</a:t>
                      </a:r>
                      <a:endParaRPr lang="en-US" sz="11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tcPr>
                </a:tc>
                <a:tc>
                  <a:txBody>
                    <a:bodyPr/>
                    <a:lstStyle/>
                    <a:p>
                      <a:pPr marL="0" indent="0" algn="l">
                        <a:buNone/>
                      </a:pPr>
                      <a:r>
                        <a:rPr lang="en-US" sz="1100" dirty="0">
                          <a:solidFill>
                            <a:srgbClr val="1C2B22"/>
                          </a:solidFill>
                          <a:latin typeface="Calibri" pitchFamily="34" charset="0"/>
                          <a:ea typeface="Calibri" pitchFamily="34" charset="-122"/>
                          <a:cs typeface="Calibri" pitchFamily="34" charset="-120"/>
                        </a:rPr>
                        <a:t>₹16,000</a:t>
                      </a:r>
                      <a:endParaRPr lang="en-US" sz="11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tcPr>
                </a:tc>
                <a:tc>
                  <a:txBody>
                    <a:bodyPr/>
                    <a:lstStyle/>
                    <a:p>
                      <a:pPr marL="0" indent="0" algn="l">
                        <a:buNone/>
                      </a:pPr>
                      <a:r>
                        <a:rPr lang="en-US" sz="1100" dirty="0">
                          <a:solidFill>
                            <a:srgbClr val="1C2B22"/>
                          </a:solidFill>
                          <a:latin typeface="Calibri" pitchFamily="34" charset="0"/>
                          <a:ea typeface="Calibri" pitchFamily="34" charset="-122"/>
                          <a:cs typeface="Calibri" pitchFamily="34" charset="-120"/>
                        </a:rPr>
                        <a:t>₹64,000</a:t>
                      </a:r>
                      <a:endParaRPr lang="en-US" sz="11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tcPr>
                </a:tc>
                <a:tc>
                  <a:txBody>
                    <a:bodyPr/>
                    <a:lstStyle/>
                    <a:p>
                      <a:pPr marL="0" indent="0" algn="l">
                        <a:buNone/>
                      </a:pPr>
                      <a:r>
                        <a:rPr lang="en-US" sz="1100" dirty="0">
                          <a:solidFill>
                            <a:srgbClr val="1C2B22"/>
                          </a:solidFill>
                          <a:latin typeface="Calibri" pitchFamily="34" charset="0"/>
                          <a:ea typeface="Calibri" pitchFamily="34" charset="-122"/>
                          <a:cs typeface="Calibri" pitchFamily="34" charset="-120"/>
                        </a:rPr>
                        <a:t>−3.8%</a:t>
                      </a:r>
                      <a:endParaRPr lang="en-US" sz="11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tcPr>
                </a:tc>
                <a:extLst>
                  <a:ext uri="{0D108BD9-81ED-4DB2-BD59-A6C34878D82A}">
                    <a16:rowId xmlns:a16="http://schemas.microsoft.com/office/drawing/2014/main" val="10003"/>
                  </a:ext>
                </a:extLst>
              </a:tr>
              <a:tr h="404949">
                <a:tc>
                  <a:txBody>
                    <a:bodyPr/>
                    <a:lstStyle/>
                    <a:p>
                      <a:pPr marL="0" indent="0" algn="l">
                        <a:buNone/>
                      </a:pPr>
                      <a:r>
                        <a:rPr lang="en-US" sz="1100" dirty="0">
                          <a:solidFill>
                            <a:srgbClr val="1C2B22"/>
                          </a:solidFill>
                          <a:latin typeface="Calibri" pitchFamily="34" charset="0"/>
                          <a:ea typeface="Calibri" pitchFamily="34" charset="-122"/>
                          <a:cs typeface="Calibri" pitchFamily="34" charset="-120"/>
                        </a:rPr>
                        <a:t>April</a:t>
                      </a:r>
                      <a:endParaRPr lang="en-US" sz="11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tcPr>
                </a:tc>
                <a:tc>
                  <a:txBody>
                    <a:bodyPr/>
                    <a:lstStyle/>
                    <a:p>
                      <a:pPr marL="0" indent="0" algn="l">
                        <a:buNone/>
                      </a:pPr>
                      <a:r>
                        <a:rPr lang="en-US" sz="1100" dirty="0">
                          <a:solidFill>
                            <a:srgbClr val="1C2B22"/>
                          </a:solidFill>
                          <a:latin typeface="Calibri" pitchFamily="34" charset="0"/>
                          <a:ea typeface="Calibri" pitchFamily="34" charset="-122"/>
                          <a:cs typeface="Calibri" pitchFamily="34" charset="-120"/>
                        </a:rPr>
                        <a:t>₹61,000</a:t>
                      </a:r>
                      <a:endParaRPr lang="en-US" sz="11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tcPr>
                </a:tc>
                <a:tc>
                  <a:txBody>
                    <a:bodyPr/>
                    <a:lstStyle/>
                    <a:p>
                      <a:pPr marL="0" indent="0" algn="l">
                        <a:buNone/>
                      </a:pPr>
                      <a:r>
                        <a:rPr lang="en-US" sz="1100" dirty="0">
                          <a:solidFill>
                            <a:srgbClr val="1C2B22"/>
                          </a:solidFill>
                          <a:latin typeface="Calibri" pitchFamily="34" charset="0"/>
                          <a:ea typeface="Calibri" pitchFamily="34" charset="-122"/>
                          <a:cs typeface="Calibri" pitchFamily="34" charset="-120"/>
                        </a:rPr>
                        <a:t>₹18,200</a:t>
                      </a:r>
                      <a:endParaRPr lang="en-US" sz="11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tcPr>
                </a:tc>
                <a:tc>
                  <a:txBody>
                    <a:bodyPr/>
                    <a:lstStyle/>
                    <a:p>
                      <a:pPr marL="0" indent="0" algn="l">
                        <a:buNone/>
                      </a:pPr>
                      <a:r>
                        <a:rPr lang="en-US" sz="1100" dirty="0">
                          <a:solidFill>
                            <a:srgbClr val="1C2B22"/>
                          </a:solidFill>
                          <a:latin typeface="Calibri" pitchFamily="34" charset="0"/>
                          <a:ea typeface="Calibri" pitchFamily="34" charset="-122"/>
                          <a:cs typeface="Calibri" pitchFamily="34" charset="-120"/>
                        </a:rPr>
                        <a:t>₹79,200</a:t>
                      </a:r>
                      <a:endParaRPr lang="en-US" sz="11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tcPr>
                </a:tc>
                <a:tc>
                  <a:txBody>
                    <a:bodyPr/>
                    <a:lstStyle/>
                    <a:p>
                      <a:pPr marL="0" indent="0" algn="l">
                        <a:buNone/>
                      </a:pPr>
                      <a:r>
                        <a:rPr lang="en-US" sz="1100" dirty="0">
                          <a:solidFill>
                            <a:srgbClr val="1C2B22"/>
                          </a:solidFill>
                          <a:latin typeface="Calibri" pitchFamily="34" charset="0"/>
                          <a:ea typeface="Calibri" pitchFamily="34" charset="-122"/>
                          <a:cs typeface="Calibri" pitchFamily="34" charset="-120"/>
                        </a:rPr>
                        <a:t>+23.7%</a:t>
                      </a:r>
                      <a:endParaRPr lang="en-US" sz="11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tcPr>
                </a:tc>
                <a:extLst>
                  <a:ext uri="{0D108BD9-81ED-4DB2-BD59-A6C34878D82A}">
                    <a16:rowId xmlns:a16="http://schemas.microsoft.com/office/drawing/2014/main" val="10004"/>
                  </a:ext>
                </a:extLst>
              </a:tr>
              <a:tr h="404949">
                <a:tc>
                  <a:txBody>
                    <a:bodyPr/>
                    <a:lstStyle/>
                    <a:p>
                      <a:pPr marL="0" indent="0" algn="l">
                        <a:buNone/>
                      </a:pPr>
                      <a:r>
                        <a:rPr lang="en-US" sz="1100" dirty="0">
                          <a:solidFill>
                            <a:srgbClr val="1C2B22"/>
                          </a:solidFill>
                          <a:latin typeface="Calibri" pitchFamily="34" charset="0"/>
                          <a:ea typeface="Calibri" pitchFamily="34" charset="-122"/>
                          <a:cs typeface="Calibri" pitchFamily="34" charset="-120"/>
                        </a:rPr>
                        <a:t>May</a:t>
                      </a:r>
                      <a:endParaRPr lang="en-US" sz="11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tcPr>
                </a:tc>
                <a:tc>
                  <a:txBody>
                    <a:bodyPr/>
                    <a:lstStyle/>
                    <a:p>
                      <a:pPr marL="0" indent="0" algn="l">
                        <a:buNone/>
                      </a:pPr>
                      <a:r>
                        <a:rPr lang="en-US" sz="1100" dirty="0">
                          <a:solidFill>
                            <a:srgbClr val="1C2B22"/>
                          </a:solidFill>
                          <a:latin typeface="Calibri" pitchFamily="34" charset="0"/>
                          <a:ea typeface="Calibri" pitchFamily="34" charset="-122"/>
                          <a:cs typeface="Calibri" pitchFamily="34" charset="-120"/>
                        </a:rPr>
                        <a:t>₹67,500</a:t>
                      </a:r>
                      <a:endParaRPr lang="en-US" sz="11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tcPr>
                </a:tc>
                <a:tc>
                  <a:txBody>
                    <a:bodyPr/>
                    <a:lstStyle/>
                    <a:p>
                      <a:pPr marL="0" indent="0" algn="l">
                        <a:buNone/>
                      </a:pPr>
                      <a:r>
                        <a:rPr lang="en-US" sz="1100" dirty="0">
                          <a:solidFill>
                            <a:srgbClr val="1C2B22"/>
                          </a:solidFill>
                          <a:latin typeface="Calibri" pitchFamily="34" charset="0"/>
                          <a:ea typeface="Calibri" pitchFamily="34" charset="-122"/>
                          <a:cs typeface="Calibri" pitchFamily="34" charset="-120"/>
                        </a:rPr>
                        <a:t>₹20,000</a:t>
                      </a:r>
                      <a:endParaRPr lang="en-US" sz="11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tcPr>
                </a:tc>
                <a:tc>
                  <a:txBody>
                    <a:bodyPr/>
                    <a:lstStyle/>
                    <a:p>
                      <a:pPr marL="0" indent="0" algn="l">
                        <a:buNone/>
                      </a:pPr>
                      <a:r>
                        <a:rPr lang="en-US" sz="1100" dirty="0">
                          <a:solidFill>
                            <a:srgbClr val="1C2B22"/>
                          </a:solidFill>
                          <a:latin typeface="Calibri" pitchFamily="34" charset="0"/>
                          <a:ea typeface="Calibri" pitchFamily="34" charset="-122"/>
                          <a:cs typeface="Calibri" pitchFamily="34" charset="-120"/>
                        </a:rPr>
                        <a:t>₹87,500</a:t>
                      </a:r>
                      <a:endParaRPr lang="en-US" sz="11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tcPr>
                </a:tc>
                <a:tc>
                  <a:txBody>
                    <a:bodyPr/>
                    <a:lstStyle/>
                    <a:p>
                      <a:pPr marL="0" indent="0" algn="l">
                        <a:buNone/>
                      </a:pPr>
                      <a:r>
                        <a:rPr lang="en-US" sz="1100" dirty="0">
                          <a:solidFill>
                            <a:srgbClr val="1C2B22"/>
                          </a:solidFill>
                          <a:latin typeface="Calibri" pitchFamily="34" charset="0"/>
                          <a:ea typeface="Calibri" pitchFamily="34" charset="-122"/>
                          <a:cs typeface="Calibri" pitchFamily="34" charset="-120"/>
                        </a:rPr>
                        <a:t>+10.5%</a:t>
                      </a:r>
                      <a:endParaRPr lang="en-US" sz="11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tcPr>
                </a:tc>
                <a:extLst>
                  <a:ext uri="{0D108BD9-81ED-4DB2-BD59-A6C34878D82A}">
                    <a16:rowId xmlns:a16="http://schemas.microsoft.com/office/drawing/2014/main" val="10005"/>
                  </a:ext>
                </a:extLst>
              </a:tr>
              <a:tr h="404949">
                <a:tc>
                  <a:txBody>
                    <a:bodyPr/>
                    <a:lstStyle/>
                    <a:p>
                      <a:pPr marL="0" indent="0" algn="l">
                        <a:buNone/>
                      </a:pPr>
                      <a:r>
                        <a:rPr lang="en-US" sz="1100" b="1" dirty="0">
                          <a:solidFill>
                            <a:srgbClr val="1C2B22"/>
                          </a:solidFill>
                          <a:latin typeface="Calibri" pitchFamily="34" charset="0"/>
                          <a:ea typeface="Calibri" pitchFamily="34" charset="-122"/>
                          <a:cs typeface="Calibri" pitchFamily="34" charset="-120"/>
                        </a:rPr>
                        <a:t>TOTAL</a:t>
                      </a:r>
                      <a:endParaRPr lang="en-US" sz="11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EAF7EE"/>
                    </a:solidFill>
                  </a:tcPr>
                </a:tc>
                <a:tc>
                  <a:txBody>
                    <a:bodyPr/>
                    <a:lstStyle/>
                    <a:p>
                      <a:pPr marL="0" indent="0" algn="r">
                        <a:buNone/>
                      </a:pPr>
                      <a:r>
                        <a:rPr lang="en-US" sz="1100" b="1" dirty="0">
                          <a:solidFill>
                            <a:srgbClr val="1C2B22"/>
                          </a:solidFill>
                          <a:latin typeface="Calibri" pitchFamily="34" charset="0"/>
                          <a:ea typeface="Calibri" pitchFamily="34" charset="-122"/>
                          <a:cs typeface="Calibri" pitchFamily="34" charset="-120"/>
                        </a:rPr>
                        <a:t>₹2,73,500</a:t>
                      </a:r>
                      <a:endParaRPr lang="en-US" sz="11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EAF7EE"/>
                    </a:solidFill>
                  </a:tcPr>
                </a:tc>
                <a:tc>
                  <a:txBody>
                    <a:bodyPr/>
                    <a:lstStyle/>
                    <a:p>
                      <a:pPr marL="0" indent="0" algn="r">
                        <a:buNone/>
                      </a:pPr>
                      <a:r>
                        <a:rPr lang="en-US" sz="1100" b="1" dirty="0">
                          <a:solidFill>
                            <a:srgbClr val="1C2B22"/>
                          </a:solidFill>
                          <a:latin typeface="Calibri" pitchFamily="34" charset="0"/>
                          <a:ea typeface="Calibri" pitchFamily="34" charset="-122"/>
                          <a:cs typeface="Calibri" pitchFamily="34" charset="-120"/>
                        </a:rPr>
                        <a:t>₹80,700</a:t>
                      </a:r>
                      <a:endParaRPr lang="en-US" sz="11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EAF7EE"/>
                    </a:solidFill>
                  </a:tcPr>
                </a:tc>
                <a:tc>
                  <a:txBody>
                    <a:bodyPr/>
                    <a:lstStyle/>
                    <a:p>
                      <a:pPr marL="0" indent="0" algn="r">
                        <a:buNone/>
                      </a:pPr>
                      <a:r>
                        <a:rPr lang="en-US" sz="1100" b="1" dirty="0">
                          <a:solidFill>
                            <a:srgbClr val="1C2B22"/>
                          </a:solidFill>
                          <a:latin typeface="Calibri" pitchFamily="34" charset="0"/>
                          <a:ea typeface="Calibri" pitchFamily="34" charset="-122"/>
                          <a:cs typeface="Calibri" pitchFamily="34" charset="-120"/>
                        </a:rPr>
                        <a:t>₹3,54,200</a:t>
                      </a:r>
                      <a:endParaRPr lang="en-US" sz="11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EAF7EE"/>
                    </a:solidFill>
                  </a:tcPr>
                </a:tc>
                <a:tc>
                  <a:txBody>
                    <a:bodyPr/>
                    <a:lstStyle/>
                    <a:p>
                      <a:pPr marL="0" indent="0" algn="r">
                        <a:buNone/>
                      </a:pPr>
                      <a:r>
                        <a:rPr lang="en-US" sz="1100" b="1" dirty="0">
                          <a:solidFill>
                            <a:srgbClr val="1E8449"/>
                          </a:solidFill>
                          <a:latin typeface="Calibri" pitchFamily="34" charset="0"/>
                          <a:ea typeface="Calibri" pitchFamily="34" charset="-122"/>
                          <a:cs typeface="Calibri" pitchFamily="34" charset="-120"/>
                        </a:rPr>
                        <a:t>+53.5%</a:t>
                      </a:r>
                      <a:endParaRPr lang="en-US" sz="11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EAF7EE"/>
                    </a:solidFill>
                  </a:tcPr>
                </a:tc>
                <a:extLst>
                  <a:ext uri="{0D108BD9-81ED-4DB2-BD59-A6C34878D82A}">
                    <a16:rowId xmlns:a16="http://schemas.microsoft.com/office/drawing/2014/main" val="10006"/>
                  </a:ext>
                </a:extLst>
              </a:tr>
            </a:tbl>
          </a:graphicData>
        </a:graphic>
      </p:graphicFrame>
      <p:graphicFrame>
        <p:nvGraphicFramePr>
          <p:cNvPr id="5" name="Chart 0"/>
          <p:cNvGraphicFramePr/>
          <p:nvPr/>
        </p:nvGraphicFramePr>
        <p:xfrm>
          <a:off x="7452360" y="1508760"/>
          <a:ext cx="4206240"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2"/>
          <p:cNvSpPr/>
          <p:nvPr/>
        </p:nvSpPr>
        <p:spPr>
          <a:xfrm>
            <a:off x="548640" y="4663440"/>
            <a:ext cx="2157984" cy="1417320"/>
          </a:xfrm>
          <a:prstGeom prst="roundRect">
            <a:avLst>
              <a:gd name="adj" fmla="val 5161"/>
            </a:avLst>
          </a:prstGeom>
          <a:solidFill>
            <a:srgbClr val="EAF7EE"/>
          </a:solidFill>
          <a:ln w="12700">
            <a:solidFill>
              <a:srgbClr val="D7ECDD"/>
            </a:solidFill>
            <a:prstDash val="solid"/>
          </a:ln>
          <a:effectLst>
            <a:outerShdw blurRad="101600" dist="38100" dir="5400000" algn="bl" rotWithShape="0">
              <a:srgbClr val="0B5C33">
                <a:alpha val="12000"/>
              </a:srgbClr>
            </a:outerShdw>
          </a:effectLst>
        </p:spPr>
      </p:sp>
      <p:sp>
        <p:nvSpPr>
          <p:cNvPr id="4" name="Shape 3"/>
          <p:cNvSpPr/>
          <p:nvPr/>
        </p:nvSpPr>
        <p:spPr>
          <a:xfrm>
            <a:off x="731520" y="4846320"/>
            <a:ext cx="457200" cy="457200"/>
          </a:xfrm>
          <a:prstGeom prst="ellipse">
            <a:avLst/>
          </a:prstGeom>
          <a:solidFill>
            <a:srgbClr val="FFFFFF"/>
          </a:solidFill>
          <a:ln/>
        </p:spPr>
      </p:sp>
      <p:pic>
        <p:nvPicPr>
          <p:cNvPr id="8" name="Image 0" descr="preencoded.png"/>
          <p:cNvPicPr>
            <a:picLocks noChangeAspect="1"/>
          </p:cNvPicPr>
          <p:nvPr/>
        </p:nvPicPr>
        <p:blipFill>
          <a:blip r:embed="rId4"/>
          <a:stretch>
            <a:fillRect/>
          </a:stretch>
        </p:blipFill>
        <p:spPr>
          <a:xfrm>
            <a:off x="790956" y="4905756"/>
            <a:ext cx="338328" cy="338328"/>
          </a:xfrm>
          <a:prstGeom prst="rect">
            <a:avLst/>
          </a:prstGeom>
        </p:spPr>
      </p:pic>
      <p:sp>
        <p:nvSpPr>
          <p:cNvPr id="9" name="Text 4"/>
          <p:cNvSpPr/>
          <p:nvPr/>
        </p:nvSpPr>
        <p:spPr>
          <a:xfrm>
            <a:off x="731520" y="5376672"/>
            <a:ext cx="1792224" cy="411480"/>
          </a:xfrm>
          <a:prstGeom prst="rect">
            <a:avLst/>
          </a:prstGeom>
          <a:noFill/>
          <a:ln/>
        </p:spPr>
        <p:txBody>
          <a:bodyPr wrap="square" lIns="0" tIns="0" rIns="0" bIns="0" rtlCol="0" anchor="ctr"/>
          <a:lstStyle/>
          <a:p>
            <a:pPr marL="0" indent="0">
              <a:buNone/>
            </a:pPr>
            <a:r>
              <a:rPr lang="en-US" sz="1700" b="1" dirty="0">
                <a:solidFill>
                  <a:srgbClr val="1C2B22"/>
                </a:solidFill>
                <a:latin typeface="Cambria" pitchFamily="34" charset="0"/>
                <a:ea typeface="Cambria" pitchFamily="34" charset="-122"/>
                <a:cs typeface="Cambria" pitchFamily="34" charset="-120"/>
              </a:rPr>
              <a:t>₹3,54,200</a:t>
            </a:r>
            <a:endParaRPr lang="en-US" sz="1700" dirty="0"/>
          </a:p>
        </p:txBody>
      </p:sp>
      <p:sp>
        <p:nvSpPr>
          <p:cNvPr id="10" name="Text 5"/>
          <p:cNvSpPr/>
          <p:nvPr/>
        </p:nvSpPr>
        <p:spPr>
          <a:xfrm>
            <a:off x="731520" y="5760720"/>
            <a:ext cx="1792224" cy="274320"/>
          </a:xfrm>
          <a:prstGeom prst="rect">
            <a:avLst/>
          </a:prstGeom>
          <a:noFill/>
          <a:ln/>
        </p:spPr>
        <p:txBody>
          <a:bodyPr wrap="square" lIns="0" tIns="0" rIns="0" bIns="0" rtlCol="0" anchor="ctr"/>
          <a:lstStyle/>
          <a:p>
            <a:pPr marL="0" indent="0">
              <a:buNone/>
            </a:pPr>
            <a:r>
              <a:rPr lang="en-US" sz="950" dirty="0">
                <a:solidFill>
                  <a:srgbClr val="5E6F64"/>
                </a:solidFill>
                <a:latin typeface="Calibri" pitchFamily="34" charset="0"/>
                <a:ea typeface="Calibri" pitchFamily="34" charset="-122"/>
                <a:cs typeface="Calibri" pitchFamily="34" charset="-120"/>
              </a:rPr>
              <a:t>Total 5-Month Revenue</a:t>
            </a:r>
            <a:endParaRPr lang="en-US" sz="950" dirty="0"/>
          </a:p>
        </p:txBody>
      </p:sp>
      <p:sp>
        <p:nvSpPr>
          <p:cNvPr id="11" name="Shape 6"/>
          <p:cNvSpPr/>
          <p:nvPr/>
        </p:nvSpPr>
        <p:spPr>
          <a:xfrm>
            <a:off x="2871216" y="4663440"/>
            <a:ext cx="2157984" cy="1417320"/>
          </a:xfrm>
          <a:prstGeom prst="roundRect">
            <a:avLst>
              <a:gd name="adj" fmla="val 5161"/>
            </a:avLst>
          </a:prstGeom>
          <a:solidFill>
            <a:srgbClr val="EAF7EE"/>
          </a:solidFill>
          <a:ln w="12700">
            <a:solidFill>
              <a:srgbClr val="D7ECDD"/>
            </a:solidFill>
            <a:prstDash val="solid"/>
          </a:ln>
          <a:effectLst>
            <a:outerShdw blurRad="101600" dist="38100" dir="5400000" algn="bl" rotWithShape="0">
              <a:srgbClr val="0B5C33">
                <a:alpha val="12000"/>
              </a:srgbClr>
            </a:outerShdw>
          </a:effectLst>
        </p:spPr>
      </p:sp>
      <p:sp>
        <p:nvSpPr>
          <p:cNvPr id="12" name="Shape 7"/>
          <p:cNvSpPr/>
          <p:nvPr/>
        </p:nvSpPr>
        <p:spPr>
          <a:xfrm>
            <a:off x="3054096" y="4846320"/>
            <a:ext cx="457200" cy="457200"/>
          </a:xfrm>
          <a:prstGeom prst="ellipse">
            <a:avLst/>
          </a:prstGeom>
          <a:solidFill>
            <a:srgbClr val="FFFFFF"/>
          </a:solidFill>
          <a:ln/>
        </p:spPr>
      </p:sp>
      <p:pic>
        <p:nvPicPr>
          <p:cNvPr id="13" name="Image 1" descr="preencoded.png"/>
          <p:cNvPicPr>
            <a:picLocks noChangeAspect="1"/>
          </p:cNvPicPr>
          <p:nvPr/>
        </p:nvPicPr>
        <p:blipFill>
          <a:blip r:embed="rId5"/>
          <a:stretch>
            <a:fillRect/>
          </a:stretch>
        </p:blipFill>
        <p:spPr>
          <a:xfrm>
            <a:off x="3113532" y="4905756"/>
            <a:ext cx="338328" cy="338328"/>
          </a:xfrm>
          <a:prstGeom prst="rect">
            <a:avLst/>
          </a:prstGeom>
        </p:spPr>
      </p:pic>
      <p:sp>
        <p:nvSpPr>
          <p:cNvPr id="14" name="Text 8"/>
          <p:cNvSpPr/>
          <p:nvPr/>
        </p:nvSpPr>
        <p:spPr>
          <a:xfrm>
            <a:off x="3054096" y="5376672"/>
            <a:ext cx="1792224" cy="411480"/>
          </a:xfrm>
          <a:prstGeom prst="rect">
            <a:avLst/>
          </a:prstGeom>
          <a:noFill/>
          <a:ln/>
        </p:spPr>
        <p:txBody>
          <a:bodyPr wrap="square" lIns="0" tIns="0" rIns="0" bIns="0" rtlCol="0" anchor="ctr"/>
          <a:lstStyle/>
          <a:p>
            <a:pPr marL="0" indent="0">
              <a:buNone/>
            </a:pPr>
            <a:r>
              <a:rPr lang="en-US" sz="1700" b="1" dirty="0">
                <a:solidFill>
                  <a:srgbClr val="1C2B22"/>
                </a:solidFill>
                <a:latin typeface="Cambria" pitchFamily="34" charset="0"/>
                <a:ea typeface="Cambria" pitchFamily="34" charset="-122"/>
                <a:cs typeface="Cambria" pitchFamily="34" charset="-120"/>
              </a:rPr>
              <a:t>+53.5%</a:t>
            </a:r>
            <a:endParaRPr lang="en-US" sz="1700" dirty="0"/>
          </a:p>
        </p:txBody>
      </p:sp>
      <p:sp>
        <p:nvSpPr>
          <p:cNvPr id="15" name="Text 9"/>
          <p:cNvSpPr/>
          <p:nvPr/>
        </p:nvSpPr>
        <p:spPr>
          <a:xfrm>
            <a:off x="3054096" y="5760720"/>
            <a:ext cx="1792224" cy="274320"/>
          </a:xfrm>
          <a:prstGeom prst="rect">
            <a:avLst/>
          </a:prstGeom>
          <a:noFill/>
          <a:ln/>
        </p:spPr>
        <p:txBody>
          <a:bodyPr wrap="square" lIns="0" tIns="0" rIns="0" bIns="0" rtlCol="0" anchor="ctr"/>
          <a:lstStyle/>
          <a:p>
            <a:pPr marL="0" indent="0">
              <a:buNone/>
            </a:pPr>
            <a:r>
              <a:rPr lang="en-US" sz="950" dirty="0">
                <a:solidFill>
                  <a:srgbClr val="5E6F64"/>
                </a:solidFill>
                <a:latin typeface="Calibri" pitchFamily="34" charset="0"/>
                <a:ea typeface="Calibri" pitchFamily="34" charset="-122"/>
                <a:cs typeface="Calibri" pitchFamily="34" charset="-120"/>
              </a:rPr>
              <a:t>Cumulative Growth</a:t>
            </a:r>
            <a:endParaRPr lang="en-US" sz="950" dirty="0"/>
          </a:p>
        </p:txBody>
      </p:sp>
      <p:sp>
        <p:nvSpPr>
          <p:cNvPr id="16" name="Shape 10"/>
          <p:cNvSpPr/>
          <p:nvPr/>
        </p:nvSpPr>
        <p:spPr>
          <a:xfrm>
            <a:off x="5193792" y="4663440"/>
            <a:ext cx="2157984" cy="1417320"/>
          </a:xfrm>
          <a:prstGeom prst="roundRect">
            <a:avLst>
              <a:gd name="adj" fmla="val 5161"/>
            </a:avLst>
          </a:prstGeom>
          <a:solidFill>
            <a:srgbClr val="EAF7EE"/>
          </a:solidFill>
          <a:ln w="12700">
            <a:solidFill>
              <a:srgbClr val="D7ECDD"/>
            </a:solidFill>
            <a:prstDash val="solid"/>
          </a:ln>
          <a:effectLst>
            <a:outerShdw blurRad="101600" dist="38100" dir="5400000" algn="bl" rotWithShape="0">
              <a:srgbClr val="0B5C33">
                <a:alpha val="12000"/>
              </a:srgbClr>
            </a:outerShdw>
          </a:effectLst>
        </p:spPr>
      </p:sp>
      <p:sp>
        <p:nvSpPr>
          <p:cNvPr id="17" name="Shape 11"/>
          <p:cNvSpPr/>
          <p:nvPr/>
        </p:nvSpPr>
        <p:spPr>
          <a:xfrm>
            <a:off x="5376672" y="4846320"/>
            <a:ext cx="457200" cy="457200"/>
          </a:xfrm>
          <a:prstGeom prst="ellipse">
            <a:avLst/>
          </a:prstGeom>
          <a:solidFill>
            <a:srgbClr val="FFFFFF"/>
          </a:solidFill>
          <a:ln/>
        </p:spPr>
      </p:sp>
      <p:pic>
        <p:nvPicPr>
          <p:cNvPr id="18" name="Image 2" descr="preencoded.png"/>
          <p:cNvPicPr>
            <a:picLocks noChangeAspect="1"/>
          </p:cNvPicPr>
          <p:nvPr/>
        </p:nvPicPr>
        <p:blipFill>
          <a:blip r:embed="rId6"/>
          <a:stretch>
            <a:fillRect/>
          </a:stretch>
        </p:blipFill>
        <p:spPr>
          <a:xfrm>
            <a:off x="5436108" y="4905756"/>
            <a:ext cx="338328" cy="338328"/>
          </a:xfrm>
          <a:prstGeom prst="rect">
            <a:avLst/>
          </a:prstGeom>
        </p:spPr>
      </p:pic>
      <p:sp>
        <p:nvSpPr>
          <p:cNvPr id="19" name="Text 12"/>
          <p:cNvSpPr/>
          <p:nvPr/>
        </p:nvSpPr>
        <p:spPr>
          <a:xfrm>
            <a:off x="5376672" y="5376672"/>
            <a:ext cx="1792224" cy="411480"/>
          </a:xfrm>
          <a:prstGeom prst="rect">
            <a:avLst/>
          </a:prstGeom>
          <a:noFill/>
          <a:ln/>
        </p:spPr>
        <p:txBody>
          <a:bodyPr wrap="square" lIns="0" tIns="0" rIns="0" bIns="0" rtlCol="0" anchor="ctr"/>
          <a:lstStyle/>
          <a:p>
            <a:pPr marL="0" indent="0">
              <a:buNone/>
            </a:pPr>
            <a:r>
              <a:rPr lang="en-US" sz="1700" b="1" dirty="0">
                <a:solidFill>
                  <a:srgbClr val="1C2B22"/>
                </a:solidFill>
                <a:latin typeface="Cambria" pitchFamily="34" charset="0"/>
                <a:ea typeface="Cambria" pitchFamily="34" charset="-122"/>
                <a:cs typeface="Cambria" pitchFamily="34" charset="-120"/>
              </a:rPr>
              <a:t>+23.7% (April)</a:t>
            </a:r>
            <a:endParaRPr lang="en-US" sz="1700" dirty="0"/>
          </a:p>
        </p:txBody>
      </p:sp>
      <p:sp>
        <p:nvSpPr>
          <p:cNvPr id="20" name="Text 13"/>
          <p:cNvSpPr/>
          <p:nvPr/>
        </p:nvSpPr>
        <p:spPr>
          <a:xfrm>
            <a:off x="5376672" y="5760720"/>
            <a:ext cx="1792224" cy="274320"/>
          </a:xfrm>
          <a:prstGeom prst="rect">
            <a:avLst/>
          </a:prstGeom>
          <a:noFill/>
          <a:ln/>
        </p:spPr>
        <p:txBody>
          <a:bodyPr wrap="square" lIns="0" tIns="0" rIns="0" bIns="0" rtlCol="0" anchor="ctr"/>
          <a:lstStyle/>
          <a:p>
            <a:pPr marL="0" indent="0">
              <a:buNone/>
            </a:pPr>
            <a:r>
              <a:rPr lang="en-US" sz="950" dirty="0">
                <a:solidFill>
                  <a:srgbClr val="5E6F64"/>
                </a:solidFill>
                <a:latin typeface="Calibri" pitchFamily="34" charset="0"/>
                <a:ea typeface="Calibri" pitchFamily="34" charset="-122"/>
                <a:cs typeface="Calibri" pitchFamily="34" charset="-120"/>
              </a:rPr>
              <a:t>Strongest Single Month</a:t>
            </a:r>
            <a:endParaRPr lang="en-US" sz="950" dirty="0"/>
          </a:p>
        </p:txBody>
      </p:sp>
      <p:sp>
        <p:nvSpPr>
          <p:cNvPr id="21" name="Shape 14"/>
          <p:cNvSpPr/>
          <p:nvPr/>
        </p:nvSpPr>
        <p:spPr>
          <a:xfrm>
            <a:off x="7452360" y="4663440"/>
            <a:ext cx="4206240" cy="1417320"/>
          </a:xfrm>
          <a:prstGeom prst="roundRect">
            <a:avLst>
              <a:gd name="adj" fmla="val 5161"/>
            </a:avLst>
          </a:prstGeom>
          <a:solidFill>
            <a:srgbClr val="FFFFFF"/>
          </a:solidFill>
          <a:ln w="12700">
            <a:solidFill>
              <a:srgbClr val="D7ECDD"/>
            </a:solidFill>
            <a:prstDash val="solid"/>
          </a:ln>
          <a:effectLst>
            <a:outerShdw blurRad="101600" dist="38100" dir="5400000" algn="bl" rotWithShape="0">
              <a:srgbClr val="0B5C33">
                <a:alpha val="12000"/>
              </a:srgbClr>
            </a:outerShdw>
          </a:effectLst>
        </p:spPr>
      </p:sp>
      <p:sp>
        <p:nvSpPr>
          <p:cNvPr id="22" name="Text 15"/>
          <p:cNvSpPr/>
          <p:nvPr/>
        </p:nvSpPr>
        <p:spPr>
          <a:xfrm>
            <a:off x="7635240" y="4773168"/>
            <a:ext cx="3840480" cy="274320"/>
          </a:xfrm>
          <a:prstGeom prst="rect">
            <a:avLst/>
          </a:prstGeom>
          <a:noFill/>
          <a:ln/>
        </p:spPr>
        <p:txBody>
          <a:bodyPr wrap="square" lIns="0" tIns="0" rIns="0" bIns="0" rtlCol="0" anchor="ctr"/>
          <a:lstStyle/>
          <a:p>
            <a:pPr marL="0" indent="0">
              <a:buNone/>
            </a:pPr>
            <a:r>
              <a:rPr lang="en-US" sz="1200" b="1" dirty="0">
                <a:solidFill>
                  <a:srgbClr val="1C2B22"/>
                </a:solidFill>
                <a:latin typeface="Calibri" pitchFamily="34" charset="0"/>
                <a:ea typeface="Calibri" pitchFamily="34" charset="-122"/>
                <a:cs typeface="Calibri" pitchFamily="34" charset="-120"/>
              </a:rPr>
              <a:t>Key Findings</a:t>
            </a:r>
            <a:endParaRPr lang="en-US" sz="1200" dirty="0"/>
          </a:p>
        </p:txBody>
      </p:sp>
      <p:sp>
        <p:nvSpPr>
          <p:cNvPr id="23" name="Text 16"/>
          <p:cNvSpPr/>
          <p:nvPr/>
        </p:nvSpPr>
        <p:spPr>
          <a:xfrm>
            <a:off x="7635240" y="5074920"/>
            <a:ext cx="3840480" cy="914400"/>
          </a:xfrm>
          <a:prstGeom prst="rect">
            <a:avLst/>
          </a:prstGeom>
          <a:noFill/>
          <a:ln/>
        </p:spPr>
        <p:txBody>
          <a:bodyPr wrap="square" lIns="0" tIns="0" rIns="0" bIns="0" rtlCol="0" anchor="ctr"/>
          <a:lstStyle/>
          <a:p>
            <a:pPr marL="0" indent="0">
              <a:lnSpc>
                <a:spcPct val="125000"/>
              </a:lnSpc>
              <a:buNone/>
            </a:pPr>
            <a:r>
              <a:rPr lang="en-US" sz="1050" dirty="0">
                <a:solidFill>
                  <a:srgbClr val="5E6F64"/>
                </a:solidFill>
                <a:latin typeface="Calibri" pitchFamily="34" charset="0"/>
                <a:ea typeface="Calibri" pitchFamily="34" charset="-122"/>
                <a:cs typeface="Calibri" pitchFamily="34" charset="-120"/>
              </a:rPr>
              <a:t>March dipped −3.8% before April rebounded sharply (+23.7%), driven mainly by product sales growth.</a:t>
            </a:r>
            <a:endParaRPr lang="en-US" sz="1050" dirty="0"/>
          </a:p>
        </p:txBody>
      </p:sp>
      <p:sp>
        <p:nvSpPr>
          <p:cNvPr id="24" name="Text 17"/>
          <p:cNvSpPr/>
          <p:nvPr/>
        </p:nvSpPr>
        <p:spPr>
          <a:xfrm>
            <a:off x="457200" y="6537960"/>
            <a:ext cx="5486400" cy="274320"/>
          </a:xfrm>
          <a:prstGeom prst="rect">
            <a:avLst/>
          </a:prstGeom>
          <a:noFill/>
          <a:ln/>
        </p:spPr>
        <p:txBody>
          <a:bodyPr wrap="square" lIns="0" tIns="0" rIns="0" bIns="0" rtlCol="0" anchor="ctr"/>
          <a:lstStyle/>
          <a:p>
            <a:pPr marL="0" indent="0">
              <a:buNone/>
            </a:pPr>
            <a:r>
              <a:rPr lang="en-US" sz="900" dirty="0">
                <a:solidFill>
                  <a:srgbClr val="5E6F64"/>
                </a:solidFill>
                <a:latin typeface="Calibri" pitchFamily="34" charset="0"/>
                <a:ea typeface="Calibri" pitchFamily="34" charset="-122"/>
                <a:cs typeface="Calibri" pitchFamily="34" charset="-120"/>
              </a:rPr>
              <a:t>DMart Revenue &amp; Business Metrics Report</a:t>
            </a:r>
            <a:endParaRPr lang="en-US" sz="900" dirty="0"/>
          </a:p>
        </p:txBody>
      </p:sp>
      <p:sp>
        <p:nvSpPr>
          <p:cNvPr id="25" name="Text 18"/>
          <p:cNvSpPr/>
          <p:nvPr/>
        </p:nvSpPr>
        <p:spPr>
          <a:xfrm>
            <a:off x="11521440" y="6537960"/>
            <a:ext cx="365760" cy="274320"/>
          </a:xfrm>
          <a:prstGeom prst="rect">
            <a:avLst/>
          </a:prstGeom>
          <a:noFill/>
          <a:ln/>
        </p:spPr>
        <p:txBody>
          <a:bodyPr wrap="square" lIns="0" tIns="0" rIns="0" bIns="0" rtlCol="0" anchor="ctr"/>
          <a:lstStyle/>
          <a:p>
            <a:pPr marL="0" indent="0" algn="r">
              <a:buNone/>
            </a:pPr>
            <a:r>
              <a:rPr lang="en-US" sz="900" dirty="0">
                <a:solidFill>
                  <a:srgbClr val="5E6F64"/>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lIns="0" tIns="0" rIns="0" bIns="0" rtlCol="0" anchor="ctr"/>
          <a:lstStyle/>
          <a:p>
            <a:pPr marL="0" indent="0">
              <a:buNone/>
            </a:pPr>
            <a:r>
              <a:rPr lang="en-US" sz="1200" b="1" kern="0" spc="200" dirty="0">
                <a:solidFill>
                  <a:srgbClr val="1E8449"/>
                </a:solidFill>
                <a:latin typeface="Calibri" pitchFamily="34" charset="0"/>
                <a:ea typeface="Calibri" pitchFamily="34" charset="-122"/>
                <a:cs typeface="Calibri" pitchFamily="34" charset="-120"/>
              </a:rPr>
              <a:t>MODULE 2</a:t>
            </a:r>
            <a:endParaRPr lang="en-US" sz="1200" dirty="0"/>
          </a:p>
        </p:txBody>
      </p:sp>
      <p:sp>
        <p:nvSpPr>
          <p:cNvPr id="3" name="Text 1"/>
          <p:cNvSpPr/>
          <p:nvPr/>
        </p:nvSpPr>
        <p:spPr>
          <a:xfrm>
            <a:off x="548640" y="566928"/>
            <a:ext cx="10515600" cy="640080"/>
          </a:xfrm>
          <a:prstGeom prst="rect">
            <a:avLst/>
          </a:prstGeom>
          <a:noFill/>
          <a:ln/>
        </p:spPr>
        <p:txBody>
          <a:bodyPr wrap="square" lIns="0" tIns="0" rIns="0" bIns="0" rtlCol="0" anchor="ctr"/>
          <a:lstStyle/>
          <a:p>
            <a:pPr marL="0" indent="0">
              <a:buNone/>
            </a:pPr>
            <a:r>
              <a:rPr lang="en-US" sz="3000" b="1" dirty="0">
                <a:solidFill>
                  <a:srgbClr val="1C2B22"/>
                </a:solidFill>
                <a:latin typeface="Cambria" pitchFamily="34" charset="0"/>
                <a:ea typeface="Cambria" pitchFamily="34" charset="-122"/>
                <a:cs typeface="Cambria" pitchFamily="34" charset="-120"/>
              </a:rPr>
              <a:t>Profit &amp; Cost Metrics</a:t>
            </a:r>
            <a:endParaRPr lang="en-US" sz="3000" dirty="0"/>
          </a:p>
        </p:txBody>
      </p:sp>
      <p:sp>
        <p:nvSpPr>
          <p:cNvPr id="4" name="Shape 2"/>
          <p:cNvSpPr/>
          <p:nvPr/>
        </p:nvSpPr>
        <p:spPr>
          <a:xfrm>
            <a:off x="548640" y="1554480"/>
            <a:ext cx="3520440" cy="2148840"/>
          </a:xfrm>
          <a:prstGeom prst="roundRect">
            <a:avLst>
              <a:gd name="adj" fmla="val 3404"/>
            </a:avLst>
          </a:prstGeom>
          <a:solidFill>
            <a:srgbClr val="0B5C33"/>
          </a:solidFill>
          <a:ln w="12700">
            <a:solidFill>
              <a:srgbClr val="D7ECDD"/>
            </a:solidFill>
            <a:prstDash val="solid"/>
          </a:ln>
          <a:effectLst>
            <a:outerShdw blurRad="101600" dist="38100" dir="5400000" algn="bl" rotWithShape="0">
              <a:srgbClr val="0B5C33">
                <a:alpha val="12000"/>
              </a:srgbClr>
            </a:outerShdw>
          </a:effectLst>
        </p:spPr>
      </p:sp>
      <p:sp>
        <p:nvSpPr>
          <p:cNvPr id="5" name="Shape 3"/>
          <p:cNvSpPr/>
          <p:nvPr/>
        </p:nvSpPr>
        <p:spPr>
          <a:xfrm>
            <a:off x="822960" y="1847088"/>
            <a:ext cx="548640" cy="548640"/>
          </a:xfrm>
          <a:prstGeom prst="ellipse">
            <a:avLst/>
          </a:prstGeom>
          <a:solidFill>
            <a:srgbClr val="FFFFFF"/>
          </a:solidFill>
          <a:ln/>
        </p:spPr>
      </p:sp>
      <p:pic>
        <p:nvPicPr>
          <p:cNvPr id="6" name="Image 0" descr="preencoded.png"/>
          <p:cNvPicPr>
            <a:picLocks noChangeAspect="1"/>
          </p:cNvPicPr>
          <p:nvPr/>
        </p:nvPicPr>
        <p:blipFill>
          <a:blip r:embed="rId3"/>
          <a:stretch>
            <a:fillRect/>
          </a:stretch>
        </p:blipFill>
        <p:spPr>
          <a:xfrm>
            <a:off x="894283" y="1918411"/>
            <a:ext cx="405994" cy="405994"/>
          </a:xfrm>
          <a:prstGeom prst="rect">
            <a:avLst/>
          </a:prstGeom>
        </p:spPr>
      </p:pic>
      <p:sp>
        <p:nvSpPr>
          <p:cNvPr id="7" name="Text 4"/>
          <p:cNvSpPr/>
          <p:nvPr/>
        </p:nvSpPr>
        <p:spPr>
          <a:xfrm>
            <a:off x="1554480" y="1901952"/>
            <a:ext cx="2331720" cy="457200"/>
          </a:xfrm>
          <a:prstGeom prst="rect">
            <a:avLst/>
          </a:prstGeom>
          <a:noFill/>
          <a:ln/>
        </p:spPr>
        <p:txBody>
          <a:bodyPr wrap="square" lIns="0" tIns="0" rIns="0" bIns="0" rtlCol="0" anchor="ctr"/>
          <a:lstStyle/>
          <a:p>
            <a:pPr marL="0" indent="0">
              <a:buNone/>
            </a:pPr>
            <a:r>
              <a:rPr lang="en-US" sz="1400" b="1" dirty="0">
                <a:solidFill>
                  <a:srgbClr val="EAF7EE"/>
                </a:solidFill>
                <a:latin typeface="Calibri" pitchFamily="34" charset="0"/>
                <a:ea typeface="Calibri" pitchFamily="34" charset="-122"/>
                <a:cs typeface="Calibri" pitchFamily="34" charset="-120"/>
              </a:rPr>
              <a:t>Gross Profit</a:t>
            </a:r>
            <a:endParaRPr lang="en-US" sz="1400" dirty="0"/>
          </a:p>
        </p:txBody>
      </p:sp>
      <p:sp>
        <p:nvSpPr>
          <p:cNvPr id="8" name="Text 5"/>
          <p:cNvSpPr/>
          <p:nvPr/>
        </p:nvSpPr>
        <p:spPr>
          <a:xfrm>
            <a:off x="822960" y="2468880"/>
            <a:ext cx="2971800" cy="50292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₹2,10,000</a:t>
            </a:r>
            <a:endParaRPr lang="en-US" sz="2400" dirty="0"/>
          </a:p>
        </p:txBody>
      </p:sp>
      <p:sp>
        <p:nvSpPr>
          <p:cNvPr id="9" name="Text 6"/>
          <p:cNvSpPr/>
          <p:nvPr/>
        </p:nvSpPr>
        <p:spPr>
          <a:xfrm>
            <a:off x="822960" y="3017520"/>
            <a:ext cx="2971800" cy="640080"/>
          </a:xfrm>
          <a:prstGeom prst="rect">
            <a:avLst/>
          </a:prstGeom>
          <a:noFill/>
          <a:ln/>
        </p:spPr>
        <p:txBody>
          <a:bodyPr wrap="square" lIns="0" tIns="0" rIns="0" bIns="0" rtlCol="0" anchor="ctr"/>
          <a:lstStyle/>
          <a:p>
            <a:pPr marL="0" indent="0">
              <a:lnSpc>
                <a:spcPct val="125000"/>
              </a:lnSpc>
              <a:buNone/>
            </a:pPr>
            <a:r>
              <a:rPr lang="en-US" sz="1050" dirty="0">
                <a:solidFill>
                  <a:srgbClr val="EAF7EE"/>
                </a:solidFill>
                <a:latin typeface="Calibri" pitchFamily="34" charset="0"/>
                <a:ea typeface="Calibri" pitchFamily="34" charset="-122"/>
                <a:cs typeface="Calibri" pitchFamily="34" charset="-120"/>
              </a:rPr>
              <a:t>Revenue minus Cost of Goods Sold</a:t>
            </a:r>
            <a:endParaRPr lang="en-US" sz="1050" dirty="0"/>
          </a:p>
        </p:txBody>
      </p:sp>
      <p:sp>
        <p:nvSpPr>
          <p:cNvPr id="10" name="Shape 7"/>
          <p:cNvSpPr/>
          <p:nvPr/>
        </p:nvSpPr>
        <p:spPr>
          <a:xfrm>
            <a:off x="4343400" y="1554480"/>
            <a:ext cx="3520440" cy="2148840"/>
          </a:xfrm>
          <a:prstGeom prst="roundRect">
            <a:avLst>
              <a:gd name="adj" fmla="val 3404"/>
            </a:avLst>
          </a:prstGeom>
          <a:solidFill>
            <a:srgbClr val="0B5C33"/>
          </a:solidFill>
          <a:ln w="12700">
            <a:solidFill>
              <a:srgbClr val="D7ECDD"/>
            </a:solidFill>
            <a:prstDash val="solid"/>
          </a:ln>
          <a:effectLst>
            <a:outerShdw blurRad="101600" dist="38100" dir="5400000" algn="bl" rotWithShape="0">
              <a:srgbClr val="0B5C33">
                <a:alpha val="12000"/>
              </a:srgbClr>
            </a:outerShdw>
          </a:effectLst>
        </p:spPr>
      </p:sp>
      <p:sp>
        <p:nvSpPr>
          <p:cNvPr id="11" name="Shape 8"/>
          <p:cNvSpPr/>
          <p:nvPr/>
        </p:nvSpPr>
        <p:spPr>
          <a:xfrm>
            <a:off x="4617720" y="1847088"/>
            <a:ext cx="548640" cy="548640"/>
          </a:xfrm>
          <a:prstGeom prst="ellipse">
            <a:avLst/>
          </a:prstGeom>
          <a:solidFill>
            <a:srgbClr val="FFFFFF"/>
          </a:solidFill>
          <a:ln/>
        </p:spPr>
      </p:sp>
      <p:pic>
        <p:nvPicPr>
          <p:cNvPr id="12" name="Image 1" descr="preencoded.png"/>
          <p:cNvPicPr>
            <a:picLocks noChangeAspect="1"/>
          </p:cNvPicPr>
          <p:nvPr/>
        </p:nvPicPr>
        <p:blipFill>
          <a:blip r:embed="rId4"/>
          <a:stretch>
            <a:fillRect/>
          </a:stretch>
        </p:blipFill>
        <p:spPr>
          <a:xfrm>
            <a:off x="4689043" y="1918411"/>
            <a:ext cx="405994" cy="405994"/>
          </a:xfrm>
          <a:prstGeom prst="rect">
            <a:avLst/>
          </a:prstGeom>
        </p:spPr>
      </p:pic>
      <p:sp>
        <p:nvSpPr>
          <p:cNvPr id="13" name="Text 9"/>
          <p:cNvSpPr/>
          <p:nvPr/>
        </p:nvSpPr>
        <p:spPr>
          <a:xfrm>
            <a:off x="5349240" y="1901952"/>
            <a:ext cx="2331720" cy="457200"/>
          </a:xfrm>
          <a:prstGeom prst="rect">
            <a:avLst/>
          </a:prstGeom>
          <a:noFill/>
          <a:ln/>
        </p:spPr>
        <p:txBody>
          <a:bodyPr wrap="square" lIns="0" tIns="0" rIns="0" bIns="0" rtlCol="0" anchor="ctr"/>
          <a:lstStyle/>
          <a:p>
            <a:pPr marL="0" indent="0">
              <a:buNone/>
            </a:pPr>
            <a:r>
              <a:rPr lang="en-US" sz="1400" b="1" dirty="0">
                <a:solidFill>
                  <a:srgbClr val="EAF7EE"/>
                </a:solidFill>
                <a:latin typeface="Calibri" pitchFamily="34" charset="0"/>
                <a:ea typeface="Calibri" pitchFamily="34" charset="-122"/>
                <a:cs typeface="Calibri" pitchFamily="34" charset="-120"/>
              </a:rPr>
              <a:t>Net Profit</a:t>
            </a:r>
            <a:endParaRPr lang="en-US" sz="1400" dirty="0"/>
          </a:p>
        </p:txBody>
      </p:sp>
      <p:sp>
        <p:nvSpPr>
          <p:cNvPr id="14" name="Text 10"/>
          <p:cNvSpPr/>
          <p:nvPr/>
        </p:nvSpPr>
        <p:spPr>
          <a:xfrm>
            <a:off x="4617720" y="2468880"/>
            <a:ext cx="2971800" cy="50292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₹1,25,000</a:t>
            </a:r>
            <a:endParaRPr lang="en-US" sz="2400" dirty="0"/>
          </a:p>
        </p:txBody>
      </p:sp>
      <p:sp>
        <p:nvSpPr>
          <p:cNvPr id="15" name="Text 11"/>
          <p:cNvSpPr/>
          <p:nvPr/>
        </p:nvSpPr>
        <p:spPr>
          <a:xfrm>
            <a:off x="4617720" y="3017520"/>
            <a:ext cx="2971800" cy="640080"/>
          </a:xfrm>
          <a:prstGeom prst="rect">
            <a:avLst/>
          </a:prstGeom>
          <a:noFill/>
          <a:ln/>
        </p:spPr>
        <p:txBody>
          <a:bodyPr wrap="square" lIns="0" tIns="0" rIns="0" bIns="0" rtlCol="0" anchor="ctr"/>
          <a:lstStyle/>
          <a:p>
            <a:pPr marL="0" indent="0">
              <a:lnSpc>
                <a:spcPct val="125000"/>
              </a:lnSpc>
              <a:buNone/>
            </a:pPr>
            <a:r>
              <a:rPr lang="en-US" sz="1050" dirty="0">
                <a:solidFill>
                  <a:srgbClr val="EAF7EE"/>
                </a:solidFill>
                <a:latin typeface="Calibri" pitchFamily="34" charset="0"/>
                <a:ea typeface="Calibri" pitchFamily="34" charset="-122"/>
                <a:cs typeface="Calibri" pitchFamily="34" charset="-120"/>
              </a:rPr>
              <a:t>Gross Profit minus all operating expenses</a:t>
            </a:r>
            <a:endParaRPr lang="en-US" sz="1050" dirty="0"/>
          </a:p>
        </p:txBody>
      </p:sp>
      <p:sp>
        <p:nvSpPr>
          <p:cNvPr id="16" name="Shape 12"/>
          <p:cNvSpPr/>
          <p:nvPr/>
        </p:nvSpPr>
        <p:spPr>
          <a:xfrm>
            <a:off x="8138160" y="1554480"/>
            <a:ext cx="3520440" cy="2148840"/>
          </a:xfrm>
          <a:prstGeom prst="roundRect">
            <a:avLst>
              <a:gd name="adj" fmla="val 3404"/>
            </a:avLst>
          </a:prstGeom>
          <a:solidFill>
            <a:srgbClr val="0B5C33"/>
          </a:solidFill>
          <a:ln w="12700">
            <a:solidFill>
              <a:srgbClr val="D7ECDD"/>
            </a:solidFill>
            <a:prstDash val="solid"/>
          </a:ln>
          <a:effectLst>
            <a:outerShdw blurRad="101600" dist="38100" dir="5400000" algn="bl" rotWithShape="0">
              <a:srgbClr val="0B5C33">
                <a:alpha val="12000"/>
              </a:srgbClr>
            </a:outerShdw>
          </a:effectLst>
        </p:spPr>
      </p:sp>
      <p:sp>
        <p:nvSpPr>
          <p:cNvPr id="17" name="Shape 13"/>
          <p:cNvSpPr/>
          <p:nvPr/>
        </p:nvSpPr>
        <p:spPr>
          <a:xfrm>
            <a:off x="8412480" y="1847088"/>
            <a:ext cx="548640" cy="548640"/>
          </a:xfrm>
          <a:prstGeom prst="ellipse">
            <a:avLst/>
          </a:prstGeom>
          <a:solidFill>
            <a:srgbClr val="FFFFFF"/>
          </a:solidFill>
          <a:ln/>
        </p:spPr>
      </p:sp>
      <p:pic>
        <p:nvPicPr>
          <p:cNvPr id="18" name="Image 2" descr="preencoded.png"/>
          <p:cNvPicPr>
            <a:picLocks noChangeAspect="1"/>
          </p:cNvPicPr>
          <p:nvPr/>
        </p:nvPicPr>
        <p:blipFill>
          <a:blip r:embed="rId5"/>
          <a:stretch>
            <a:fillRect/>
          </a:stretch>
        </p:blipFill>
        <p:spPr>
          <a:xfrm>
            <a:off x="8483803" y="1918411"/>
            <a:ext cx="405994" cy="405994"/>
          </a:xfrm>
          <a:prstGeom prst="rect">
            <a:avLst/>
          </a:prstGeom>
        </p:spPr>
      </p:pic>
      <p:sp>
        <p:nvSpPr>
          <p:cNvPr id="19" name="Text 14"/>
          <p:cNvSpPr/>
          <p:nvPr/>
        </p:nvSpPr>
        <p:spPr>
          <a:xfrm>
            <a:off x="9144000" y="1901952"/>
            <a:ext cx="2331720" cy="457200"/>
          </a:xfrm>
          <a:prstGeom prst="rect">
            <a:avLst/>
          </a:prstGeom>
          <a:noFill/>
          <a:ln/>
        </p:spPr>
        <p:txBody>
          <a:bodyPr wrap="square" lIns="0" tIns="0" rIns="0" bIns="0" rtlCol="0" anchor="ctr"/>
          <a:lstStyle/>
          <a:p>
            <a:pPr marL="0" indent="0">
              <a:buNone/>
            </a:pPr>
            <a:r>
              <a:rPr lang="en-US" sz="1400" b="1" dirty="0">
                <a:solidFill>
                  <a:srgbClr val="EAF7EE"/>
                </a:solidFill>
                <a:latin typeface="Calibri" pitchFamily="34" charset="0"/>
                <a:ea typeface="Calibri" pitchFamily="34" charset="-122"/>
                <a:cs typeface="Calibri" pitchFamily="34" charset="-120"/>
              </a:rPr>
              <a:t>EBITDA</a:t>
            </a:r>
            <a:endParaRPr lang="en-US" sz="1400" dirty="0"/>
          </a:p>
        </p:txBody>
      </p:sp>
      <p:sp>
        <p:nvSpPr>
          <p:cNvPr id="20" name="Text 15"/>
          <p:cNvSpPr/>
          <p:nvPr/>
        </p:nvSpPr>
        <p:spPr>
          <a:xfrm>
            <a:off x="8412480" y="2468880"/>
            <a:ext cx="2971800" cy="50292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₹1,45,000</a:t>
            </a:r>
            <a:endParaRPr lang="en-US" sz="2400" dirty="0"/>
          </a:p>
        </p:txBody>
      </p:sp>
      <p:sp>
        <p:nvSpPr>
          <p:cNvPr id="21" name="Text 16"/>
          <p:cNvSpPr/>
          <p:nvPr/>
        </p:nvSpPr>
        <p:spPr>
          <a:xfrm>
            <a:off x="8412480" y="3017520"/>
            <a:ext cx="2971800" cy="640080"/>
          </a:xfrm>
          <a:prstGeom prst="rect">
            <a:avLst/>
          </a:prstGeom>
          <a:noFill/>
          <a:ln/>
        </p:spPr>
        <p:txBody>
          <a:bodyPr wrap="square" lIns="0" tIns="0" rIns="0" bIns="0" rtlCol="0" anchor="ctr"/>
          <a:lstStyle/>
          <a:p>
            <a:pPr marL="0" indent="0">
              <a:lnSpc>
                <a:spcPct val="125000"/>
              </a:lnSpc>
              <a:buNone/>
            </a:pPr>
            <a:r>
              <a:rPr lang="en-US" sz="1050" dirty="0">
                <a:solidFill>
                  <a:srgbClr val="EAF7EE"/>
                </a:solidFill>
                <a:latin typeface="Calibri" pitchFamily="34" charset="0"/>
                <a:ea typeface="Calibri" pitchFamily="34" charset="-122"/>
                <a:cs typeface="Calibri" pitchFamily="34" charset="-120"/>
              </a:rPr>
              <a:t>Earnings before interest, tax, depreciation &amp; amortization</a:t>
            </a:r>
            <a:endParaRPr lang="en-US" sz="1050" dirty="0"/>
          </a:p>
        </p:txBody>
      </p:sp>
      <p:sp>
        <p:nvSpPr>
          <p:cNvPr id="22" name="Text 17"/>
          <p:cNvSpPr/>
          <p:nvPr/>
        </p:nvSpPr>
        <p:spPr>
          <a:xfrm>
            <a:off x="548640" y="4069080"/>
            <a:ext cx="7315200" cy="365760"/>
          </a:xfrm>
          <a:prstGeom prst="rect">
            <a:avLst/>
          </a:prstGeom>
          <a:noFill/>
          <a:ln/>
        </p:spPr>
        <p:txBody>
          <a:bodyPr wrap="square" lIns="0" tIns="0" rIns="0" bIns="0" rtlCol="0" anchor="ctr"/>
          <a:lstStyle/>
          <a:p>
            <a:pPr marL="0" indent="0">
              <a:buNone/>
            </a:pPr>
            <a:r>
              <a:rPr lang="en-US" sz="1600" b="1" dirty="0">
                <a:solidFill>
                  <a:srgbClr val="1C2B22"/>
                </a:solidFill>
                <a:latin typeface="Calibri" pitchFamily="34" charset="0"/>
                <a:ea typeface="Calibri" pitchFamily="34" charset="-122"/>
                <a:cs typeface="Calibri" pitchFamily="34" charset="-120"/>
              </a:rPr>
              <a:t>Why Profitability Analysis Matters</a:t>
            </a:r>
            <a:endParaRPr lang="en-US" sz="1600" dirty="0"/>
          </a:p>
        </p:txBody>
      </p:sp>
      <p:sp>
        <p:nvSpPr>
          <p:cNvPr id="23" name="Text 18"/>
          <p:cNvSpPr/>
          <p:nvPr/>
        </p:nvSpPr>
        <p:spPr>
          <a:xfrm>
            <a:off x="548640" y="4526280"/>
            <a:ext cx="10789920" cy="1737360"/>
          </a:xfrm>
          <a:prstGeom prst="rect">
            <a:avLst/>
          </a:prstGeom>
          <a:noFill/>
          <a:ln/>
        </p:spPr>
        <p:txBody>
          <a:bodyPr wrap="square" lIns="0" tIns="0" rIns="0" bIns="0" rtlCol="0" anchor="ctr"/>
          <a:lstStyle/>
          <a:p>
            <a:pPr marL="342900" indent="-342900">
              <a:lnSpc>
                <a:spcPct val="145000"/>
              </a:lnSpc>
              <a:buSzPct val="100000"/>
              <a:buChar char="•"/>
            </a:pPr>
            <a:r>
              <a:rPr lang="en-US" sz="1250" dirty="0">
                <a:solidFill>
                  <a:srgbClr val="1C2B22"/>
                </a:solidFill>
                <a:latin typeface="Calibri" pitchFamily="34" charset="0"/>
                <a:ea typeface="Calibri" pitchFamily="34" charset="-122"/>
                <a:cs typeface="Calibri" pitchFamily="34" charset="-120"/>
              </a:rPr>
              <a:t>Gross profit reveals how efficiently products and services are produced or delivered</a:t>
            </a:r>
            <a:endParaRPr lang="en-US" sz="1250" dirty="0"/>
          </a:p>
          <a:p>
            <a:pPr marL="342900" indent="-342900">
              <a:lnSpc>
                <a:spcPct val="145000"/>
              </a:lnSpc>
              <a:buSzPct val="100000"/>
              <a:buChar char="•"/>
            </a:pPr>
            <a:r>
              <a:rPr lang="en-US" sz="1250" dirty="0">
                <a:solidFill>
                  <a:srgbClr val="1C2B22"/>
                </a:solidFill>
                <a:latin typeface="Calibri" pitchFamily="34" charset="0"/>
                <a:ea typeface="Calibri" pitchFamily="34" charset="-122"/>
                <a:cs typeface="Calibri" pitchFamily="34" charset="-120"/>
              </a:rPr>
              <a:t>Net profit is the true bottom-line health check after every cost is accounted for</a:t>
            </a:r>
            <a:endParaRPr lang="en-US" sz="1250" dirty="0"/>
          </a:p>
          <a:p>
            <a:pPr marL="342900" indent="-342900">
              <a:lnSpc>
                <a:spcPct val="145000"/>
              </a:lnSpc>
              <a:buSzPct val="100000"/>
              <a:buChar char="•"/>
            </a:pPr>
            <a:r>
              <a:rPr lang="en-US" sz="1250" dirty="0">
                <a:solidFill>
                  <a:srgbClr val="1C2B22"/>
                </a:solidFill>
                <a:latin typeface="Calibri" pitchFamily="34" charset="0"/>
                <a:ea typeface="Calibri" pitchFamily="34" charset="-122"/>
                <a:cs typeface="Calibri" pitchFamily="34" charset="-120"/>
              </a:rPr>
              <a:t>EBITDA strips out financing and accounting effects to compare operational performance</a:t>
            </a:r>
            <a:endParaRPr lang="en-US" sz="1250" dirty="0"/>
          </a:p>
          <a:p>
            <a:pPr marL="342900" indent="-342900">
              <a:lnSpc>
                <a:spcPct val="145000"/>
              </a:lnSpc>
              <a:buSzPct val="100000"/>
              <a:buChar char="•"/>
            </a:pPr>
            <a:r>
              <a:rPr lang="en-US" sz="1250" dirty="0">
                <a:solidFill>
                  <a:srgbClr val="1C2B22"/>
                </a:solidFill>
                <a:latin typeface="Calibri" pitchFamily="34" charset="0"/>
                <a:ea typeface="Calibri" pitchFamily="34" charset="-122"/>
                <a:cs typeface="Calibri" pitchFamily="34" charset="-120"/>
              </a:rPr>
              <a:t>Tracking all three monthly in Excel exposes cost creep before it erodes margins</a:t>
            </a:r>
            <a:endParaRPr lang="en-US" sz="1250" dirty="0"/>
          </a:p>
        </p:txBody>
      </p:sp>
      <p:sp>
        <p:nvSpPr>
          <p:cNvPr id="24" name="Text 19"/>
          <p:cNvSpPr/>
          <p:nvPr/>
        </p:nvSpPr>
        <p:spPr>
          <a:xfrm>
            <a:off x="457200" y="6537960"/>
            <a:ext cx="5486400" cy="274320"/>
          </a:xfrm>
          <a:prstGeom prst="rect">
            <a:avLst/>
          </a:prstGeom>
          <a:noFill/>
          <a:ln/>
        </p:spPr>
        <p:txBody>
          <a:bodyPr wrap="square" lIns="0" tIns="0" rIns="0" bIns="0" rtlCol="0" anchor="ctr"/>
          <a:lstStyle/>
          <a:p>
            <a:pPr marL="0" indent="0">
              <a:buNone/>
            </a:pPr>
            <a:r>
              <a:rPr lang="en-US" sz="900" dirty="0">
                <a:solidFill>
                  <a:srgbClr val="5E6F64"/>
                </a:solidFill>
                <a:latin typeface="Calibri" pitchFamily="34" charset="0"/>
                <a:ea typeface="Calibri" pitchFamily="34" charset="-122"/>
                <a:cs typeface="Calibri" pitchFamily="34" charset="-120"/>
              </a:rPr>
              <a:t>DMart Revenue &amp; Business Metrics Report</a:t>
            </a:r>
            <a:endParaRPr lang="en-US" sz="900" dirty="0"/>
          </a:p>
        </p:txBody>
      </p:sp>
      <p:sp>
        <p:nvSpPr>
          <p:cNvPr id="25" name="Text 20"/>
          <p:cNvSpPr/>
          <p:nvPr/>
        </p:nvSpPr>
        <p:spPr>
          <a:xfrm>
            <a:off x="11521440" y="6537960"/>
            <a:ext cx="365760" cy="274320"/>
          </a:xfrm>
          <a:prstGeom prst="rect">
            <a:avLst/>
          </a:prstGeom>
          <a:noFill/>
          <a:ln/>
        </p:spPr>
        <p:txBody>
          <a:bodyPr wrap="square" lIns="0" tIns="0" rIns="0" bIns="0" rtlCol="0" anchor="ctr"/>
          <a:lstStyle/>
          <a:p>
            <a:pPr marL="0" indent="0" algn="r">
              <a:buNone/>
            </a:pPr>
            <a:r>
              <a:rPr lang="en-US" sz="900" dirty="0">
                <a:solidFill>
                  <a:srgbClr val="5E6F64"/>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lIns="0" tIns="0" rIns="0" bIns="0" rtlCol="0" anchor="ctr"/>
          <a:lstStyle/>
          <a:p>
            <a:pPr marL="0" indent="0">
              <a:buNone/>
            </a:pPr>
            <a:r>
              <a:rPr lang="en-US" sz="1200" b="1" kern="0" spc="200" dirty="0">
                <a:solidFill>
                  <a:srgbClr val="1E8449"/>
                </a:solidFill>
                <a:latin typeface="Calibri" pitchFamily="34" charset="0"/>
                <a:ea typeface="Calibri" pitchFamily="34" charset="-122"/>
                <a:cs typeface="Calibri" pitchFamily="34" charset="-120"/>
              </a:rPr>
              <a:t>MODULE 2</a:t>
            </a:r>
            <a:endParaRPr lang="en-US" sz="1200" dirty="0"/>
          </a:p>
        </p:txBody>
      </p:sp>
      <p:sp>
        <p:nvSpPr>
          <p:cNvPr id="3" name="Text 1"/>
          <p:cNvSpPr/>
          <p:nvPr/>
        </p:nvSpPr>
        <p:spPr>
          <a:xfrm>
            <a:off x="548640" y="566928"/>
            <a:ext cx="10515600" cy="640080"/>
          </a:xfrm>
          <a:prstGeom prst="rect">
            <a:avLst/>
          </a:prstGeom>
          <a:noFill/>
          <a:ln/>
        </p:spPr>
        <p:txBody>
          <a:bodyPr wrap="square" lIns="0" tIns="0" rIns="0" bIns="0" rtlCol="0" anchor="ctr"/>
          <a:lstStyle/>
          <a:p>
            <a:pPr marL="0" indent="0">
              <a:buNone/>
            </a:pPr>
            <a:r>
              <a:rPr lang="en-US" sz="3000" b="1" dirty="0">
                <a:solidFill>
                  <a:srgbClr val="1C2B22"/>
                </a:solidFill>
                <a:latin typeface="Cambria" pitchFamily="34" charset="0"/>
                <a:ea typeface="Cambria" pitchFamily="34" charset="-122"/>
                <a:cs typeface="Cambria" pitchFamily="34" charset="-120"/>
              </a:rPr>
              <a:t>Profit Margin Analysis</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6858000" cy="3200400"/>
        </p:xfrm>
        <a:graphic>
          <a:graphicData uri="http://schemas.openxmlformats.org/drawingml/2006/table">
            <a:tbl>
              <a:tblPr/>
              <a:tblGrid>
                <a:gridCol w="228600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457200">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0B5C33"/>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Formula Logic</a:t>
                      </a:r>
                      <a:endParaRPr lang="en-US" sz="11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0B5C33"/>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Excel Formula</a:t>
                      </a:r>
                      <a:endParaRPr lang="en-US" sz="11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0B5C33"/>
                    </a:solidFill>
                  </a:tcPr>
                </a:tc>
                <a:extLst>
                  <a:ext uri="{0D108BD9-81ED-4DB2-BD59-A6C34878D82A}">
                    <a16:rowId xmlns:a16="http://schemas.microsoft.com/office/drawing/2014/main" val="10000"/>
                  </a:ext>
                </a:extLst>
              </a:tr>
              <a:tr h="457200">
                <a:tc>
                  <a:txBody>
                    <a:bodyPr/>
                    <a:lstStyle/>
                    <a:p>
                      <a:pPr marL="0" indent="0" algn="l">
                        <a:buNone/>
                      </a:pPr>
                      <a:r>
                        <a:rPr lang="en-US" sz="1100" dirty="0">
                          <a:solidFill>
                            <a:srgbClr val="1C2B22"/>
                          </a:solidFill>
                          <a:latin typeface="Calibri" pitchFamily="34" charset="0"/>
                          <a:ea typeface="Calibri" pitchFamily="34" charset="-122"/>
                          <a:cs typeface="Calibri" pitchFamily="34" charset="-120"/>
                        </a:rPr>
                        <a:t>Gross Profit</a:t>
                      </a:r>
                      <a:endParaRPr lang="en-US" sz="11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tcPr>
                </a:tc>
                <a:tc>
                  <a:txBody>
                    <a:bodyPr/>
                    <a:lstStyle/>
                    <a:p>
                      <a:pPr marL="0" indent="0" algn="l">
                        <a:buNone/>
                      </a:pPr>
                      <a:r>
                        <a:rPr lang="en-US" sz="1100" dirty="0">
                          <a:solidFill>
                            <a:srgbClr val="1C2B22"/>
                          </a:solidFill>
                          <a:latin typeface="Calibri" pitchFamily="34" charset="0"/>
                          <a:ea typeface="Calibri" pitchFamily="34" charset="-122"/>
                          <a:cs typeface="Calibri" pitchFamily="34" charset="-120"/>
                        </a:rPr>
                        <a:t>Revenue − Cost of Goods Sold</a:t>
                      </a:r>
                      <a:endParaRPr lang="en-US" sz="11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tcPr>
                </a:tc>
                <a:tc>
                  <a:txBody>
                    <a:bodyPr/>
                    <a:lstStyle/>
                    <a:p>
                      <a:pPr marL="0" indent="0" algn="l">
                        <a:buNone/>
                      </a:pPr>
                      <a:r>
                        <a:rPr lang="en-US" sz="1100" dirty="0">
                          <a:solidFill>
                            <a:srgbClr val="1C2B22"/>
                          </a:solidFill>
                          <a:latin typeface="Calibri" pitchFamily="34" charset="0"/>
                          <a:ea typeface="Calibri" pitchFamily="34" charset="-122"/>
                          <a:cs typeface="Calibri" pitchFamily="34" charset="-120"/>
                        </a:rPr>
                        <a:t>=B2-C2</a:t>
                      </a:r>
                      <a:endParaRPr lang="en-US" sz="11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lgn="l">
                        <a:buNone/>
                      </a:pPr>
                      <a:r>
                        <a:rPr lang="en-US" sz="1100" dirty="0">
                          <a:solidFill>
                            <a:srgbClr val="1C2B22"/>
                          </a:solidFill>
                          <a:latin typeface="Calibri" pitchFamily="34" charset="0"/>
                          <a:ea typeface="Calibri" pitchFamily="34" charset="-122"/>
                          <a:cs typeface="Calibri" pitchFamily="34" charset="-120"/>
                        </a:rPr>
                        <a:t>Gross Profit Margin %</a:t>
                      </a:r>
                      <a:endParaRPr lang="en-US" sz="11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tcPr>
                </a:tc>
                <a:tc>
                  <a:txBody>
                    <a:bodyPr/>
                    <a:lstStyle/>
                    <a:p>
                      <a:pPr marL="0" indent="0" algn="l">
                        <a:buNone/>
                      </a:pPr>
                      <a:r>
                        <a:rPr lang="en-US" sz="1100" dirty="0">
                          <a:solidFill>
                            <a:srgbClr val="1C2B22"/>
                          </a:solidFill>
                          <a:latin typeface="Calibri" pitchFamily="34" charset="0"/>
                          <a:ea typeface="Calibri" pitchFamily="34" charset="-122"/>
                          <a:cs typeface="Calibri" pitchFamily="34" charset="-120"/>
                        </a:rPr>
                        <a:t>(Gross Profit / Revenue) × 100</a:t>
                      </a:r>
                      <a:endParaRPr lang="en-US" sz="11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tcPr>
                </a:tc>
                <a:tc>
                  <a:txBody>
                    <a:bodyPr/>
                    <a:lstStyle/>
                    <a:p>
                      <a:pPr marL="0" indent="0" algn="l">
                        <a:buNone/>
                      </a:pPr>
                      <a:r>
                        <a:rPr lang="en-US" sz="1100" dirty="0">
                          <a:solidFill>
                            <a:srgbClr val="1C2B22"/>
                          </a:solidFill>
                          <a:latin typeface="Calibri" pitchFamily="34" charset="0"/>
                          <a:ea typeface="Calibri" pitchFamily="34" charset="-122"/>
                          <a:cs typeface="Calibri" pitchFamily="34" charset="-120"/>
                        </a:rPr>
                        <a:t>=(D2/B2)*100</a:t>
                      </a:r>
                      <a:endParaRPr lang="en-US" sz="11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lgn="l">
                        <a:buNone/>
                      </a:pPr>
                      <a:r>
                        <a:rPr lang="en-US" sz="1100" dirty="0">
                          <a:solidFill>
                            <a:srgbClr val="1C2B22"/>
                          </a:solidFill>
                          <a:latin typeface="Calibri" pitchFamily="34" charset="0"/>
                          <a:ea typeface="Calibri" pitchFamily="34" charset="-122"/>
                          <a:cs typeface="Calibri" pitchFamily="34" charset="-120"/>
                        </a:rPr>
                        <a:t>Net Profit</a:t>
                      </a:r>
                      <a:endParaRPr lang="en-US" sz="11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tcPr>
                </a:tc>
                <a:tc>
                  <a:txBody>
                    <a:bodyPr/>
                    <a:lstStyle/>
                    <a:p>
                      <a:pPr marL="0" indent="0" algn="l">
                        <a:buNone/>
                      </a:pPr>
                      <a:r>
                        <a:rPr lang="en-US" sz="1100" dirty="0">
                          <a:solidFill>
                            <a:srgbClr val="1C2B22"/>
                          </a:solidFill>
                          <a:latin typeface="Calibri" pitchFamily="34" charset="0"/>
                          <a:ea typeface="Calibri" pitchFamily="34" charset="-122"/>
                          <a:cs typeface="Calibri" pitchFamily="34" charset="-120"/>
                        </a:rPr>
                        <a:t>Gross Profit − Operating Expenses</a:t>
                      </a:r>
                      <a:endParaRPr lang="en-US" sz="11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tcPr>
                </a:tc>
                <a:tc>
                  <a:txBody>
                    <a:bodyPr/>
                    <a:lstStyle/>
                    <a:p>
                      <a:pPr marL="0" indent="0" algn="l">
                        <a:buNone/>
                      </a:pPr>
                      <a:r>
                        <a:rPr lang="en-US" sz="1100" dirty="0">
                          <a:solidFill>
                            <a:srgbClr val="1C2B22"/>
                          </a:solidFill>
                          <a:latin typeface="Calibri" pitchFamily="34" charset="0"/>
                          <a:ea typeface="Calibri" pitchFamily="34" charset="-122"/>
                          <a:cs typeface="Calibri" pitchFamily="34" charset="-120"/>
                        </a:rPr>
                        <a:t>=D2-E2</a:t>
                      </a:r>
                      <a:endParaRPr lang="en-US" sz="11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lgn="l">
                        <a:buNone/>
                      </a:pPr>
                      <a:r>
                        <a:rPr lang="en-US" sz="1100" dirty="0">
                          <a:solidFill>
                            <a:srgbClr val="1C2B22"/>
                          </a:solidFill>
                          <a:latin typeface="Calibri" pitchFamily="34" charset="0"/>
                          <a:ea typeface="Calibri" pitchFamily="34" charset="-122"/>
                          <a:cs typeface="Calibri" pitchFamily="34" charset="-120"/>
                        </a:rPr>
                        <a:t>Net Profit Margin %</a:t>
                      </a:r>
                      <a:endParaRPr lang="en-US" sz="11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tcPr>
                </a:tc>
                <a:tc>
                  <a:txBody>
                    <a:bodyPr/>
                    <a:lstStyle/>
                    <a:p>
                      <a:pPr marL="0" indent="0" algn="l">
                        <a:buNone/>
                      </a:pPr>
                      <a:r>
                        <a:rPr lang="en-US" sz="1100" dirty="0">
                          <a:solidFill>
                            <a:srgbClr val="1C2B22"/>
                          </a:solidFill>
                          <a:latin typeface="Calibri" pitchFamily="34" charset="0"/>
                          <a:ea typeface="Calibri" pitchFamily="34" charset="-122"/>
                          <a:cs typeface="Calibri" pitchFamily="34" charset="-120"/>
                        </a:rPr>
                        <a:t>(Net Profit / Revenue) × 100</a:t>
                      </a:r>
                      <a:endParaRPr lang="en-US" sz="11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tcPr>
                </a:tc>
                <a:tc>
                  <a:txBody>
                    <a:bodyPr/>
                    <a:lstStyle/>
                    <a:p>
                      <a:pPr marL="0" indent="0" algn="l">
                        <a:buNone/>
                      </a:pPr>
                      <a:r>
                        <a:rPr lang="en-US" sz="1100" dirty="0">
                          <a:solidFill>
                            <a:srgbClr val="1C2B22"/>
                          </a:solidFill>
                          <a:latin typeface="Calibri" pitchFamily="34" charset="0"/>
                          <a:ea typeface="Calibri" pitchFamily="34" charset="-122"/>
                          <a:cs typeface="Calibri" pitchFamily="34" charset="-120"/>
                        </a:rPr>
                        <a:t>=(F2/B2)*100</a:t>
                      </a:r>
                      <a:endParaRPr lang="en-US" sz="11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lgn="l">
                        <a:buNone/>
                      </a:pPr>
                      <a:r>
                        <a:rPr lang="en-US" sz="1100" dirty="0">
                          <a:solidFill>
                            <a:srgbClr val="1C2B22"/>
                          </a:solidFill>
                          <a:latin typeface="Calibri" pitchFamily="34" charset="0"/>
                          <a:ea typeface="Calibri" pitchFamily="34" charset="-122"/>
                          <a:cs typeface="Calibri" pitchFamily="34" charset="-120"/>
                        </a:rPr>
                        <a:t>COGS Ratio</a:t>
                      </a:r>
                      <a:endParaRPr lang="en-US" sz="11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tcPr>
                </a:tc>
                <a:tc>
                  <a:txBody>
                    <a:bodyPr/>
                    <a:lstStyle/>
                    <a:p>
                      <a:pPr marL="0" indent="0" algn="l">
                        <a:buNone/>
                      </a:pPr>
                      <a:r>
                        <a:rPr lang="en-US" sz="1100" dirty="0">
                          <a:solidFill>
                            <a:srgbClr val="1C2B22"/>
                          </a:solidFill>
                          <a:latin typeface="Calibri" pitchFamily="34" charset="0"/>
                          <a:ea typeface="Calibri" pitchFamily="34" charset="-122"/>
                          <a:cs typeface="Calibri" pitchFamily="34" charset="-120"/>
                        </a:rPr>
                        <a:t>(COGS / Revenue) × 100</a:t>
                      </a:r>
                      <a:endParaRPr lang="en-US" sz="11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tcPr>
                </a:tc>
                <a:tc>
                  <a:txBody>
                    <a:bodyPr/>
                    <a:lstStyle/>
                    <a:p>
                      <a:pPr marL="0" indent="0" algn="l">
                        <a:buNone/>
                      </a:pPr>
                      <a:r>
                        <a:rPr lang="en-US" sz="1100" dirty="0">
                          <a:solidFill>
                            <a:srgbClr val="1C2B22"/>
                          </a:solidFill>
                          <a:latin typeface="Calibri" pitchFamily="34" charset="0"/>
                          <a:ea typeface="Calibri" pitchFamily="34" charset="-122"/>
                          <a:cs typeface="Calibri" pitchFamily="34" charset="-120"/>
                        </a:rPr>
                        <a:t>=(C2/B2)*100</a:t>
                      </a:r>
                      <a:endParaRPr lang="en-US" sz="11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tcPr>
                </a:tc>
                <a:extLst>
                  <a:ext uri="{0D108BD9-81ED-4DB2-BD59-A6C34878D82A}">
                    <a16:rowId xmlns:a16="http://schemas.microsoft.com/office/drawing/2014/main" val="10005"/>
                  </a:ext>
                </a:extLst>
              </a:tr>
              <a:tr h="457200">
                <a:tc>
                  <a:txBody>
                    <a:bodyPr/>
                    <a:lstStyle/>
                    <a:p>
                      <a:pPr marL="0" indent="0" algn="l">
                        <a:buNone/>
                      </a:pPr>
                      <a:r>
                        <a:rPr lang="en-US" sz="1100" dirty="0">
                          <a:solidFill>
                            <a:srgbClr val="1C2B22"/>
                          </a:solidFill>
                          <a:latin typeface="Calibri" pitchFamily="34" charset="0"/>
                          <a:ea typeface="Calibri" pitchFamily="34" charset="-122"/>
                          <a:cs typeface="Calibri" pitchFamily="34" charset="-120"/>
                        </a:rPr>
                        <a:t>Break-Even Point</a:t>
                      </a:r>
                      <a:endParaRPr lang="en-US" sz="11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tcPr>
                </a:tc>
                <a:tc>
                  <a:txBody>
                    <a:bodyPr/>
                    <a:lstStyle/>
                    <a:p>
                      <a:pPr marL="0" indent="0" algn="l">
                        <a:buNone/>
                      </a:pPr>
                      <a:r>
                        <a:rPr lang="en-US" sz="1100" dirty="0">
                          <a:solidFill>
                            <a:srgbClr val="1C2B22"/>
                          </a:solidFill>
                          <a:latin typeface="Calibri" pitchFamily="34" charset="0"/>
                          <a:ea typeface="Calibri" pitchFamily="34" charset="-122"/>
                          <a:cs typeface="Calibri" pitchFamily="34" charset="-120"/>
                        </a:rPr>
                        <a:t>Fixed Costs / (Price − Variable Cost)</a:t>
                      </a:r>
                      <a:endParaRPr lang="en-US" sz="11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tcPr>
                </a:tc>
                <a:tc>
                  <a:txBody>
                    <a:bodyPr/>
                    <a:lstStyle/>
                    <a:p>
                      <a:pPr marL="0" indent="0" algn="l">
                        <a:buNone/>
                      </a:pPr>
                      <a:r>
                        <a:rPr lang="en-US" sz="1100" dirty="0">
                          <a:solidFill>
                            <a:srgbClr val="1C2B22"/>
                          </a:solidFill>
                          <a:latin typeface="Calibri" pitchFamily="34" charset="0"/>
                          <a:ea typeface="Calibri" pitchFamily="34" charset="-122"/>
                          <a:cs typeface="Calibri" pitchFamily="34" charset="-120"/>
                        </a:rPr>
                        <a:t>=E2/(B2/u-C2/u)</a:t>
                      </a:r>
                      <a:endParaRPr lang="en-US" sz="11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Shape 2"/>
          <p:cNvSpPr/>
          <p:nvPr/>
        </p:nvSpPr>
        <p:spPr>
          <a:xfrm>
            <a:off x="7635240" y="1508760"/>
            <a:ext cx="4023360" cy="1508760"/>
          </a:xfrm>
          <a:prstGeom prst="roundRect">
            <a:avLst>
              <a:gd name="adj" fmla="val 4848"/>
            </a:avLst>
          </a:prstGeom>
          <a:solidFill>
            <a:srgbClr val="EAF7EE"/>
          </a:solidFill>
          <a:ln w="12700">
            <a:solidFill>
              <a:srgbClr val="D7ECDD"/>
            </a:solidFill>
            <a:prstDash val="solid"/>
          </a:ln>
          <a:effectLst>
            <a:outerShdw blurRad="101600" dist="38100" dir="5400000" algn="bl" rotWithShape="0">
              <a:srgbClr val="0B5C33">
                <a:alpha val="12000"/>
              </a:srgbClr>
            </a:outerShdw>
          </a:effectLst>
        </p:spPr>
      </p:sp>
      <p:sp>
        <p:nvSpPr>
          <p:cNvPr id="6" name="Shape 3"/>
          <p:cNvSpPr/>
          <p:nvPr/>
        </p:nvSpPr>
        <p:spPr>
          <a:xfrm>
            <a:off x="7863840" y="1719072"/>
            <a:ext cx="502920" cy="502920"/>
          </a:xfrm>
          <a:prstGeom prst="ellipse">
            <a:avLst/>
          </a:prstGeom>
          <a:solidFill>
            <a:srgbClr val="FFFFFF"/>
          </a:solidFill>
          <a:ln/>
        </p:spPr>
      </p:sp>
      <p:pic>
        <p:nvPicPr>
          <p:cNvPr id="7" name="Image 0" descr="preencoded.png"/>
          <p:cNvPicPr>
            <a:picLocks noChangeAspect="1"/>
          </p:cNvPicPr>
          <p:nvPr/>
        </p:nvPicPr>
        <p:blipFill>
          <a:blip r:embed="rId3"/>
          <a:stretch>
            <a:fillRect/>
          </a:stretch>
        </p:blipFill>
        <p:spPr>
          <a:xfrm>
            <a:off x="7929220" y="1784452"/>
            <a:ext cx="372161" cy="372161"/>
          </a:xfrm>
          <a:prstGeom prst="rect">
            <a:avLst/>
          </a:prstGeom>
        </p:spPr>
      </p:pic>
      <p:sp>
        <p:nvSpPr>
          <p:cNvPr id="8" name="Text 4"/>
          <p:cNvSpPr/>
          <p:nvPr/>
        </p:nvSpPr>
        <p:spPr>
          <a:xfrm>
            <a:off x="8549640" y="1755648"/>
            <a:ext cx="3017520" cy="320040"/>
          </a:xfrm>
          <a:prstGeom prst="rect">
            <a:avLst/>
          </a:prstGeom>
          <a:noFill/>
          <a:ln/>
        </p:spPr>
        <p:txBody>
          <a:bodyPr wrap="square" lIns="0" tIns="0" rIns="0" bIns="0" rtlCol="0" anchor="ctr"/>
          <a:lstStyle/>
          <a:p>
            <a:pPr marL="0" indent="0">
              <a:buNone/>
            </a:pPr>
            <a:r>
              <a:rPr lang="en-US" sz="1300" b="1" dirty="0">
                <a:solidFill>
                  <a:srgbClr val="1C2B22"/>
                </a:solidFill>
                <a:latin typeface="Calibri" pitchFamily="34" charset="0"/>
                <a:ea typeface="Calibri" pitchFamily="34" charset="-122"/>
                <a:cs typeface="Calibri" pitchFamily="34" charset="-120"/>
              </a:rPr>
              <a:t>Gross Profit Margin</a:t>
            </a:r>
            <a:endParaRPr lang="en-US" sz="1300" dirty="0"/>
          </a:p>
        </p:txBody>
      </p:sp>
      <p:sp>
        <p:nvSpPr>
          <p:cNvPr id="4" name="Text 5"/>
          <p:cNvSpPr/>
          <p:nvPr/>
        </p:nvSpPr>
        <p:spPr>
          <a:xfrm>
            <a:off x="7863840" y="2240280"/>
            <a:ext cx="3657600" cy="685800"/>
          </a:xfrm>
          <a:prstGeom prst="rect">
            <a:avLst/>
          </a:prstGeom>
          <a:noFill/>
          <a:ln/>
        </p:spPr>
        <p:txBody>
          <a:bodyPr wrap="square" lIns="0" tIns="0" rIns="0" bIns="0" rtlCol="0" anchor="ctr"/>
          <a:lstStyle/>
          <a:p>
            <a:pPr marL="0" indent="0">
              <a:lnSpc>
                <a:spcPct val="125000"/>
              </a:lnSpc>
              <a:buNone/>
            </a:pPr>
            <a:r>
              <a:rPr lang="en-US" sz="1050" dirty="0">
                <a:solidFill>
                  <a:srgbClr val="5E6F64"/>
                </a:solidFill>
                <a:latin typeface="Calibri" pitchFamily="34" charset="0"/>
                <a:ea typeface="Calibri" pitchFamily="34" charset="-122"/>
                <a:cs typeface="Calibri" pitchFamily="34" charset="-120"/>
              </a:rPr>
              <a:t>Shows how much profit remains after COGS. Benchmark: 40–60% (retail: 20–30%).</a:t>
            </a:r>
            <a:endParaRPr lang="en-US" sz="1050" dirty="0"/>
          </a:p>
        </p:txBody>
      </p:sp>
      <p:sp>
        <p:nvSpPr>
          <p:cNvPr id="10" name="Shape 6"/>
          <p:cNvSpPr/>
          <p:nvPr/>
        </p:nvSpPr>
        <p:spPr>
          <a:xfrm>
            <a:off x="7635240" y="3200400"/>
            <a:ext cx="4023360" cy="1508760"/>
          </a:xfrm>
          <a:prstGeom prst="roundRect">
            <a:avLst>
              <a:gd name="adj" fmla="val 4848"/>
            </a:avLst>
          </a:prstGeom>
          <a:solidFill>
            <a:srgbClr val="EAF7EE"/>
          </a:solidFill>
          <a:ln w="12700">
            <a:solidFill>
              <a:srgbClr val="D7ECDD"/>
            </a:solidFill>
            <a:prstDash val="solid"/>
          </a:ln>
          <a:effectLst>
            <a:outerShdw blurRad="101600" dist="38100" dir="5400000" algn="bl" rotWithShape="0">
              <a:srgbClr val="0B5C33">
                <a:alpha val="12000"/>
              </a:srgbClr>
            </a:outerShdw>
          </a:effectLst>
        </p:spPr>
      </p:sp>
      <p:sp>
        <p:nvSpPr>
          <p:cNvPr id="11" name="Shape 7"/>
          <p:cNvSpPr/>
          <p:nvPr/>
        </p:nvSpPr>
        <p:spPr>
          <a:xfrm>
            <a:off x="7863840" y="3410712"/>
            <a:ext cx="502920" cy="502920"/>
          </a:xfrm>
          <a:prstGeom prst="ellipse">
            <a:avLst/>
          </a:prstGeom>
          <a:solidFill>
            <a:srgbClr val="FFFFFF"/>
          </a:solidFill>
          <a:ln/>
        </p:spPr>
      </p:sp>
      <p:pic>
        <p:nvPicPr>
          <p:cNvPr id="12" name="Image 1" descr="preencoded.png"/>
          <p:cNvPicPr>
            <a:picLocks noChangeAspect="1"/>
          </p:cNvPicPr>
          <p:nvPr/>
        </p:nvPicPr>
        <p:blipFill>
          <a:blip r:embed="rId4"/>
          <a:stretch>
            <a:fillRect/>
          </a:stretch>
        </p:blipFill>
        <p:spPr>
          <a:xfrm>
            <a:off x="7929220" y="3476092"/>
            <a:ext cx="372161" cy="372161"/>
          </a:xfrm>
          <a:prstGeom prst="rect">
            <a:avLst/>
          </a:prstGeom>
        </p:spPr>
      </p:pic>
      <p:sp>
        <p:nvSpPr>
          <p:cNvPr id="13" name="Text 8"/>
          <p:cNvSpPr/>
          <p:nvPr/>
        </p:nvSpPr>
        <p:spPr>
          <a:xfrm>
            <a:off x="8549640" y="3447288"/>
            <a:ext cx="3017520" cy="320040"/>
          </a:xfrm>
          <a:prstGeom prst="rect">
            <a:avLst/>
          </a:prstGeom>
          <a:noFill/>
          <a:ln/>
        </p:spPr>
        <p:txBody>
          <a:bodyPr wrap="square" lIns="0" tIns="0" rIns="0" bIns="0" rtlCol="0" anchor="ctr"/>
          <a:lstStyle/>
          <a:p>
            <a:pPr marL="0" indent="0">
              <a:buNone/>
            </a:pPr>
            <a:r>
              <a:rPr lang="en-US" sz="1300" b="1" dirty="0">
                <a:solidFill>
                  <a:srgbClr val="1C2B22"/>
                </a:solidFill>
                <a:latin typeface="Calibri" pitchFamily="34" charset="0"/>
                <a:ea typeface="Calibri" pitchFamily="34" charset="-122"/>
                <a:cs typeface="Calibri" pitchFamily="34" charset="-120"/>
              </a:rPr>
              <a:t>Net Profit Margin</a:t>
            </a:r>
            <a:endParaRPr lang="en-US" sz="1300" dirty="0"/>
          </a:p>
        </p:txBody>
      </p:sp>
      <p:sp>
        <p:nvSpPr>
          <p:cNvPr id="14" name="Text 9"/>
          <p:cNvSpPr/>
          <p:nvPr/>
        </p:nvSpPr>
        <p:spPr>
          <a:xfrm>
            <a:off x="7863840" y="3931920"/>
            <a:ext cx="3657600" cy="685800"/>
          </a:xfrm>
          <a:prstGeom prst="rect">
            <a:avLst/>
          </a:prstGeom>
          <a:noFill/>
          <a:ln/>
        </p:spPr>
        <p:txBody>
          <a:bodyPr wrap="square" lIns="0" tIns="0" rIns="0" bIns="0" rtlCol="0" anchor="ctr"/>
          <a:lstStyle/>
          <a:p>
            <a:pPr marL="0" indent="0">
              <a:lnSpc>
                <a:spcPct val="125000"/>
              </a:lnSpc>
              <a:buNone/>
            </a:pPr>
            <a:r>
              <a:rPr lang="en-US" sz="1050" dirty="0">
                <a:solidFill>
                  <a:srgbClr val="5E6F64"/>
                </a:solidFill>
                <a:latin typeface="Calibri" pitchFamily="34" charset="0"/>
                <a:ea typeface="Calibri" pitchFamily="34" charset="-122"/>
                <a:cs typeface="Calibri" pitchFamily="34" charset="-120"/>
              </a:rPr>
              <a:t>Overall profitability after ALL costs. A good margin sits around 10–20% for most industries.</a:t>
            </a:r>
            <a:endParaRPr lang="en-US" sz="1050" dirty="0"/>
          </a:p>
        </p:txBody>
      </p:sp>
      <p:sp>
        <p:nvSpPr>
          <p:cNvPr id="15" name="Shape 10"/>
          <p:cNvSpPr/>
          <p:nvPr/>
        </p:nvSpPr>
        <p:spPr>
          <a:xfrm>
            <a:off x="548640" y="4892040"/>
            <a:ext cx="11109960" cy="1325880"/>
          </a:xfrm>
          <a:prstGeom prst="roundRect">
            <a:avLst>
              <a:gd name="adj" fmla="val 5517"/>
            </a:avLst>
          </a:prstGeom>
          <a:solidFill>
            <a:srgbClr val="0B5C33"/>
          </a:solidFill>
          <a:ln w="12700">
            <a:solidFill>
              <a:srgbClr val="D7ECDD"/>
            </a:solidFill>
            <a:prstDash val="solid"/>
          </a:ln>
          <a:effectLst>
            <a:outerShdw blurRad="101600" dist="38100" dir="5400000" algn="bl" rotWithShape="0">
              <a:srgbClr val="0B5C33">
                <a:alpha val="12000"/>
              </a:srgbClr>
            </a:outerShdw>
          </a:effectLst>
        </p:spPr>
      </p:sp>
      <p:sp>
        <p:nvSpPr>
          <p:cNvPr id="16" name="Shape 11"/>
          <p:cNvSpPr/>
          <p:nvPr/>
        </p:nvSpPr>
        <p:spPr>
          <a:xfrm>
            <a:off x="822960" y="5120640"/>
            <a:ext cx="548640" cy="548640"/>
          </a:xfrm>
          <a:prstGeom prst="ellipse">
            <a:avLst/>
          </a:prstGeom>
          <a:solidFill>
            <a:srgbClr val="1E8449"/>
          </a:solidFill>
          <a:ln/>
        </p:spPr>
      </p:sp>
      <p:pic>
        <p:nvPicPr>
          <p:cNvPr id="17" name="Image 2" descr="preencoded.png"/>
          <p:cNvPicPr>
            <a:picLocks noChangeAspect="1"/>
          </p:cNvPicPr>
          <p:nvPr/>
        </p:nvPicPr>
        <p:blipFill>
          <a:blip r:embed="rId5"/>
          <a:stretch>
            <a:fillRect/>
          </a:stretch>
        </p:blipFill>
        <p:spPr>
          <a:xfrm>
            <a:off x="894283" y="5191963"/>
            <a:ext cx="405994" cy="405994"/>
          </a:xfrm>
          <a:prstGeom prst="rect">
            <a:avLst/>
          </a:prstGeom>
        </p:spPr>
      </p:pic>
      <p:sp>
        <p:nvSpPr>
          <p:cNvPr id="18" name="Text 12"/>
          <p:cNvSpPr/>
          <p:nvPr/>
        </p:nvSpPr>
        <p:spPr>
          <a:xfrm>
            <a:off x="1554480" y="5212080"/>
            <a:ext cx="9784080" cy="822960"/>
          </a:xfrm>
          <a:prstGeom prst="rect">
            <a:avLst/>
          </a:prstGeom>
          <a:noFill/>
          <a:ln/>
        </p:spPr>
        <p:txBody>
          <a:bodyPr wrap="square" lIns="0" tIns="0" rIns="0" bIns="0" rtlCol="0" anchor="ctr"/>
          <a:lstStyle/>
          <a:p>
            <a:pPr marL="0" indent="0">
              <a:lnSpc>
                <a:spcPct val="130000"/>
              </a:lnSpc>
              <a:buNone/>
            </a:pPr>
            <a:r>
              <a:rPr lang="en-US" sz="1300" dirty="0">
                <a:solidFill>
                  <a:srgbClr val="FFFFFF"/>
                </a:solidFill>
                <a:latin typeface="Calibri" pitchFamily="34" charset="0"/>
                <a:ea typeface="Calibri" pitchFamily="34" charset="-122"/>
                <a:cs typeface="Calibri" pitchFamily="34" charset="-120"/>
              </a:rPr>
              <a:t>Break-Even reveals the exact sales volume needed to cover fixed and variable costs — essential before launching a new product line or store format.</a:t>
            </a:r>
            <a:endParaRPr lang="en-US" sz="1300" dirty="0"/>
          </a:p>
        </p:txBody>
      </p:sp>
      <p:sp>
        <p:nvSpPr>
          <p:cNvPr id="19" name="Text 13"/>
          <p:cNvSpPr/>
          <p:nvPr/>
        </p:nvSpPr>
        <p:spPr>
          <a:xfrm>
            <a:off x="457200" y="6537960"/>
            <a:ext cx="5486400" cy="274320"/>
          </a:xfrm>
          <a:prstGeom prst="rect">
            <a:avLst/>
          </a:prstGeom>
          <a:noFill/>
          <a:ln/>
        </p:spPr>
        <p:txBody>
          <a:bodyPr wrap="square" lIns="0" tIns="0" rIns="0" bIns="0" rtlCol="0" anchor="ctr"/>
          <a:lstStyle/>
          <a:p>
            <a:pPr marL="0" indent="0">
              <a:buNone/>
            </a:pPr>
            <a:r>
              <a:rPr lang="en-US" sz="900" dirty="0">
                <a:solidFill>
                  <a:srgbClr val="5E6F64"/>
                </a:solidFill>
                <a:latin typeface="Calibri" pitchFamily="34" charset="0"/>
                <a:ea typeface="Calibri" pitchFamily="34" charset="-122"/>
                <a:cs typeface="Calibri" pitchFamily="34" charset="-120"/>
              </a:rPr>
              <a:t>DMart Revenue &amp; Business Metrics Report</a:t>
            </a:r>
            <a:endParaRPr lang="en-US" sz="900" dirty="0"/>
          </a:p>
        </p:txBody>
      </p:sp>
      <p:sp>
        <p:nvSpPr>
          <p:cNvPr id="20" name="Text 14"/>
          <p:cNvSpPr/>
          <p:nvPr/>
        </p:nvSpPr>
        <p:spPr>
          <a:xfrm>
            <a:off x="11521440" y="6537960"/>
            <a:ext cx="365760" cy="274320"/>
          </a:xfrm>
          <a:prstGeom prst="rect">
            <a:avLst/>
          </a:prstGeom>
          <a:noFill/>
          <a:ln/>
        </p:spPr>
        <p:txBody>
          <a:bodyPr wrap="square" lIns="0" tIns="0" rIns="0" bIns="0" rtlCol="0" anchor="ctr"/>
          <a:lstStyle/>
          <a:p>
            <a:pPr marL="0" indent="0" algn="r">
              <a:buNone/>
            </a:pPr>
            <a:r>
              <a:rPr lang="en-US" sz="900" dirty="0">
                <a:solidFill>
                  <a:srgbClr val="5E6F64"/>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lIns="0" tIns="0" rIns="0" bIns="0" rtlCol="0" anchor="ctr"/>
          <a:lstStyle/>
          <a:p>
            <a:pPr marL="0" indent="0">
              <a:buNone/>
            </a:pPr>
            <a:r>
              <a:rPr lang="en-US" sz="1200" b="1" kern="0" spc="200" dirty="0">
                <a:solidFill>
                  <a:srgbClr val="1E8449"/>
                </a:solidFill>
                <a:latin typeface="Calibri" pitchFamily="34" charset="0"/>
                <a:ea typeface="Calibri" pitchFamily="34" charset="-122"/>
                <a:cs typeface="Calibri" pitchFamily="34" charset="-120"/>
              </a:rPr>
              <a:t>MODULE 3</a:t>
            </a:r>
            <a:endParaRPr lang="en-US" sz="1200" dirty="0"/>
          </a:p>
        </p:txBody>
      </p:sp>
      <p:sp>
        <p:nvSpPr>
          <p:cNvPr id="3" name="Text 1"/>
          <p:cNvSpPr/>
          <p:nvPr/>
        </p:nvSpPr>
        <p:spPr>
          <a:xfrm>
            <a:off x="548640" y="566928"/>
            <a:ext cx="10515600" cy="640080"/>
          </a:xfrm>
          <a:prstGeom prst="rect">
            <a:avLst/>
          </a:prstGeom>
          <a:noFill/>
          <a:ln/>
        </p:spPr>
        <p:txBody>
          <a:bodyPr wrap="square" lIns="0" tIns="0" rIns="0" bIns="0" rtlCol="0" anchor="ctr"/>
          <a:lstStyle/>
          <a:p>
            <a:pPr marL="0" indent="0">
              <a:buNone/>
            </a:pPr>
            <a:r>
              <a:rPr lang="en-US" sz="3000" b="1" dirty="0">
                <a:solidFill>
                  <a:srgbClr val="1C2B22"/>
                </a:solidFill>
                <a:latin typeface="Cambria" pitchFamily="34" charset="0"/>
                <a:ea typeface="Cambria" pitchFamily="34" charset="-122"/>
                <a:cs typeface="Cambria" pitchFamily="34" charset="-120"/>
              </a:rPr>
              <a:t>Key Business KPIs</a:t>
            </a:r>
            <a:endParaRPr lang="en-US" sz="3000" dirty="0"/>
          </a:p>
        </p:txBody>
      </p:sp>
      <p:sp>
        <p:nvSpPr>
          <p:cNvPr id="4" name="Shape 2"/>
          <p:cNvSpPr/>
          <p:nvPr/>
        </p:nvSpPr>
        <p:spPr>
          <a:xfrm>
            <a:off x="548640" y="1554480"/>
            <a:ext cx="5349240" cy="2240280"/>
          </a:xfrm>
          <a:prstGeom prst="roundRect">
            <a:avLst>
              <a:gd name="adj" fmla="val 3265"/>
            </a:avLst>
          </a:prstGeom>
          <a:solidFill>
            <a:srgbClr val="FFFFFF"/>
          </a:solidFill>
          <a:ln w="12700">
            <a:solidFill>
              <a:srgbClr val="D7ECDD"/>
            </a:solidFill>
            <a:prstDash val="solid"/>
          </a:ln>
          <a:effectLst>
            <a:outerShdw blurRad="101600" dist="38100" dir="5400000" algn="bl" rotWithShape="0">
              <a:srgbClr val="0B5C33">
                <a:alpha val="12000"/>
              </a:srgbClr>
            </a:outerShdw>
          </a:effectLst>
        </p:spPr>
      </p:sp>
      <p:sp>
        <p:nvSpPr>
          <p:cNvPr id="5" name="Shape 3"/>
          <p:cNvSpPr/>
          <p:nvPr/>
        </p:nvSpPr>
        <p:spPr>
          <a:xfrm>
            <a:off x="822960" y="1847088"/>
            <a:ext cx="594360" cy="594360"/>
          </a:xfrm>
          <a:prstGeom prst="ellipse">
            <a:avLst/>
          </a:prstGeom>
          <a:solidFill>
            <a:srgbClr val="EAF7EE"/>
          </a:solidFill>
          <a:ln/>
        </p:spPr>
      </p:sp>
      <p:pic>
        <p:nvPicPr>
          <p:cNvPr id="6" name="Image 0" descr="preencoded.png"/>
          <p:cNvPicPr>
            <a:picLocks noChangeAspect="1"/>
          </p:cNvPicPr>
          <p:nvPr/>
        </p:nvPicPr>
        <p:blipFill>
          <a:blip r:embed="rId3"/>
          <a:stretch>
            <a:fillRect/>
          </a:stretch>
        </p:blipFill>
        <p:spPr>
          <a:xfrm>
            <a:off x="900227" y="1924355"/>
            <a:ext cx="439826" cy="439826"/>
          </a:xfrm>
          <a:prstGeom prst="rect">
            <a:avLst/>
          </a:prstGeom>
        </p:spPr>
      </p:pic>
      <p:sp>
        <p:nvSpPr>
          <p:cNvPr id="7" name="Text 4"/>
          <p:cNvSpPr/>
          <p:nvPr/>
        </p:nvSpPr>
        <p:spPr>
          <a:xfrm>
            <a:off x="1600200" y="1901952"/>
            <a:ext cx="4069080" cy="502920"/>
          </a:xfrm>
          <a:prstGeom prst="rect">
            <a:avLst/>
          </a:prstGeom>
          <a:noFill/>
          <a:ln/>
        </p:spPr>
        <p:txBody>
          <a:bodyPr wrap="square" lIns="0" tIns="0" rIns="0" bIns="0" rtlCol="0" anchor="ctr"/>
          <a:lstStyle/>
          <a:p>
            <a:pPr marL="0" indent="0">
              <a:buNone/>
            </a:pPr>
            <a:r>
              <a:rPr lang="en-US" sz="1500" b="1" dirty="0">
                <a:solidFill>
                  <a:srgbClr val="1C2B22"/>
                </a:solidFill>
                <a:latin typeface="Calibri" pitchFamily="34" charset="0"/>
                <a:ea typeface="Calibri" pitchFamily="34" charset="-122"/>
                <a:cs typeface="Calibri" pitchFamily="34" charset="-120"/>
              </a:rPr>
              <a:t>Customer Acquisition Cost</a:t>
            </a:r>
            <a:endParaRPr lang="en-US" sz="1500" dirty="0"/>
          </a:p>
        </p:txBody>
      </p:sp>
      <p:sp>
        <p:nvSpPr>
          <p:cNvPr id="8" name="Shape 5"/>
          <p:cNvSpPr/>
          <p:nvPr/>
        </p:nvSpPr>
        <p:spPr>
          <a:xfrm>
            <a:off x="822960" y="2560320"/>
            <a:ext cx="4800600" cy="502920"/>
          </a:xfrm>
          <a:prstGeom prst="roundRect">
            <a:avLst>
              <a:gd name="adj" fmla="val 14545"/>
            </a:avLst>
          </a:prstGeom>
          <a:solidFill>
            <a:srgbClr val="EAF7EE"/>
          </a:solidFill>
          <a:ln w="12700">
            <a:solidFill>
              <a:srgbClr val="D7ECDD"/>
            </a:solidFill>
            <a:prstDash val="solid"/>
          </a:ln>
          <a:effectLst>
            <a:outerShdw blurRad="101600" dist="38100" dir="5400000" algn="bl" rotWithShape="0">
              <a:srgbClr val="0B5C33">
                <a:alpha val="12000"/>
              </a:srgbClr>
            </a:outerShdw>
          </a:effectLst>
        </p:spPr>
      </p:sp>
      <p:sp>
        <p:nvSpPr>
          <p:cNvPr id="9" name="Text 6"/>
          <p:cNvSpPr/>
          <p:nvPr/>
        </p:nvSpPr>
        <p:spPr>
          <a:xfrm>
            <a:off x="960120" y="2615184"/>
            <a:ext cx="4526280" cy="411480"/>
          </a:xfrm>
          <a:prstGeom prst="rect">
            <a:avLst/>
          </a:prstGeom>
          <a:noFill/>
          <a:ln/>
        </p:spPr>
        <p:txBody>
          <a:bodyPr wrap="square" lIns="0" tIns="0" rIns="0" bIns="0" rtlCol="0" anchor="ctr"/>
          <a:lstStyle/>
          <a:p>
            <a:pPr marL="0" indent="0">
              <a:buNone/>
            </a:pPr>
            <a:r>
              <a:rPr lang="en-US" sz="1400" b="1" dirty="0">
                <a:solidFill>
                  <a:srgbClr val="1E8449"/>
                </a:solidFill>
                <a:latin typeface="Courier New" pitchFamily="34" charset="0"/>
                <a:ea typeface="Courier New" pitchFamily="34" charset="-122"/>
                <a:cs typeface="Courier New" pitchFamily="34" charset="-120"/>
              </a:rPr>
              <a:t>=E2/F2</a:t>
            </a:r>
            <a:endParaRPr lang="en-US" sz="1400" dirty="0"/>
          </a:p>
        </p:txBody>
      </p:sp>
      <p:sp>
        <p:nvSpPr>
          <p:cNvPr id="10" name="Text 7"/>
          <p:cNvSpPr/>
          <p:nvPr/>
        </p:nvSpPr>
        <p:spPr>
          <a:xfrm>
            <a:off x="822960" y="3200400"/>
            <a:ext cx="4800600" cy="502920"/>
          </a:xfrm>
          <a:prstGeom prst="rect">
            <a:avLst/>
          </a:prstGeom>
          <a:noFill/>
          <a:ln/>
        </p:spPr>
        <p:txBody>
          <a:bodyPr wrap="square" lIns="0" tIns="0" rIns="0" bIns="0" rtlCol="0" anchor="ctr"/>
          <a:lstStyle/>
          <a:p>
            <a:pPr marL="0" indent="0">
              <a:lnSpc>
                <a:spcPct val="125000"/>
              </a:lnSpc>
              <a:buNone/>
            </a:pPr>
            <a:r>
              <a:rPr lang="en-US" sz="1100" dirty="0">
                <a:solidFill>
                  <a:srgbClr val="5E6F64"/>
                </a:solidFill>
                <a:latin typeface="Calibri" pitchFamily="34" charset="0"/>
                <a:ea typeface="Calibri" pitchFamily="34" charset="-122"/>
                <a:cs typeface="Calibri" pitchFamily="34" charset="-120"/>
              </a:rPr>
              <a:t>Total Marketing Cost ÷ New Customers</a:t>
            </a:r>
            <a:endParaRPr lang="en-US" sz="1100" dirty="0"/>
          </a:p>
        </p:txBody>
      </p:sp>
      <p:sp>
        <p:nvSpPr>
          <p:cNvPr id="11" name="Shape 8"/>
          <p:cNvSpPr/>
          <p:nvPr/>
        </p:nvSpPr>
        <p:spPr>
          <a:xfrm>
            <a:off x="6172200" y="1554480"/>
            <a:ext cx="5349240" cy="2240280"/>
          </a:xfrm>
          <a:prstGeom prst="roundRect">
            <a:avLst>
              <a:gd name="adj" fmla="val 3265"/>
            </a:avLst>
          </a:prstGeom>
          <a:solidFill>
            <a:srgbClr val="FFFFFF"/>
          </a:solidFill>
          <a:ln w="12700">
            <a:solidFill>
              <a:srgbClr val="D7ECDD"/>
            </a:solidFill>
            <a:prstDash val="solid"/>
          </a:ln>
          <a:effectLst>
            <a:outerShdw blurRad="101600" dist="38100" dir="5400000" algn="bl" rotWithShape="0">
              <a:srgbClr val="0B5C33">
                <a:alpha val="12000"/>
              </a:srgbClr>
            </a:outerShdw>
          </a:effectLst>
        </p:spPr>
      </p:sp>
      <p:sp>
        <p:nvSpPr>
          <p:cNvPr id="12" name="Shape 9"/>
          <p:cNvSpPr/>
          <p:nvPr/>
        </p:nvSpPr>
        <p:spPr>
          <a:xfrm>
            <a:off x="6446520" y="1847088"/>
            <a:ext cx="594360" cy="594360"/>
          </a:xfrm>
          <a:prstGeom prst="ellipse">
            <a:avLst/>
          </a:prstGeom>
          <a:solidFill>
            <a:srgbClr val="EAF7EE"/>
          </a:solidFill>
          <a:ln/>
        </p:spPr>
      </p:sp>
      <p:pic>
        <p:nvPicPr>
          <p:cNvPr id="13" name="Image 1" descr="preencoded.png"/>
          <p:cNvPicPr>
            <a:picLocks noChangeAspect="1"/>
          </p:cNvPicPr>
          <p:nvPr/>
        </p:nvPicPr>
        <p:blipFill>
          <a:blip r:embed="rId4"/>
          <a:stretch>
            <a:fillRect/>
          </a:stretch>
        </p:blipFill>
        <p:spPr>
          <a:xfrm>
            <a:off x="6523787" y="1924355"/>
            <a:ext cx="439826" cy="439826"/>
          </a:xfrm>
          <a:prstGeom prst="rect">
            <a:avLst/>
          </a:prstGeom>
        </p:spPr>
      </p:pic>
      <p:sp>
        <p:nvSpPr>
          <p:cNvPr id="14" name="Text 10"/>
          <p:cNvSpPr/>
          <p:nvPr/>
        </p:nvSpPr>
        <p:spPr>
          <a:xfrm>
            <a:off x="7223760" y="1901952"/>
            <a:ext cx="4069080" cy="502920"/>
          </a:xfrm>
          <a:prstGeom prst="rect">
            <a:avLst/>
          </a:prstGeom>
          <a:noFill/>
          <a:ln/>
        </p:spPr>
        <p:txBody>
          <a:bodyPr wrap="square" lIns="0" tIns="0" rIns="0" bIns="0" rtlCol="0" anchor="ctr"/>
          <a:lstStyle/>
          <a:p>
            <a:pPr marL="0" indent="0">
              <a:buNone/>
            </a:pPr>
            <a:r>
              <a:rPr lang="en-US" sz="1500" b="1" dirty="0">
                <a:solidFill>
                  <a:srgbClr val="1C2B22"/>
                </a:solidFill>
                <a:latin typeface="Calibri" pitchFamily="34" charset="0"/>
                <a:ea typeface="Calibri" pitchFamily="34" charset="-122"/>
                <a:cs typeface="Calibri" pitchFamily="34" charset="-120"/>
              </a:rPr>
              <a:t>Customer Lifetime Value</a:t>
            </a:r>
            <a:endParaRPr lang="en-US" sz="1500" dirty="0"/>
          </a:p>
        </p:txBody>
      </p:sp>
      <p:sp>
        <p:nvSpPr>
          <p:cNvPr id="15" name="Shape 11"/>
          <p:cNvSpPr/>
          <p:nvPr/>
        </p:nvSpPr>
        <p:spPr>
          <a:xfrm>
            <a:off x="6446520" y="2560320"/>
            <a:ext cx="4800600" cy="502920"/>
          </a:xfrm>
          <a:prstGeom prst="roundRect">
            <a:avLst>
              <a:gd name="adj" fmla="val 14545"/>
            </a:avLst>
          </a:prstGeom>
          <a:solidFill>
            <a:srgbClr val="EAF7EE"/>
          </a:solidFill>
          <a:ln w="12700">
            <a:solidFill>
              <a:srgbClr val="D7ECDD"/>
            </a:solidFill>
            <a:prstDash val="solid"/>
          </a:ln>
          <a:effectLst>
            <a:outerShdw blurRad="101600" dist="38100" dir="5400000" algn="bl" rotWithShape="0">
              <a:srgbClr val="0B5C33">
                <a:alpha val="12000"/>
              </a:srgbClr>
            </a:outerShdw>
          </a:effectLst>
        </p:spPr>
      </p:sp>
      <p:sp>
        <p:nvSpPr>
          <p:cNvPr id="16" name="Text 12"/>
          <p:cNvSpPr/>
          <p:nvPr/>
        </p:nvSpPr>
        <p:spPr>
          <a:xfrm>
            <a:off x="6583680" y="2615184"/>
            <a:ext cx="4526280" cy="411480"/>
          </a:xfrm>
          <a:prstGeom prst="rect">
            <a:avLst/>
          </a:prstGeom>
          <a:noFill/>
          <a:ln/>
        </p:spPr>
        <p:txBody>
          <a:bodyPr wrap="square" lIns="0" tIns="0" rIns="0" bIns="0" rtlCol="0" anchor="ctr"/>
          <a:lstStyle/>
          <a:p>
            <a:pPr marL="0" indent="0">
              <a:buNone/>
            </a:pPr>
            <a:r>
              <a:rPr lang="en-US" sz="1400" b="1" dirty="0">
                <a:solidFill>
                  <a:srgbClr val="1E8449"/>
                </a:solidFill>
                <a:latin typeface="Courier New" pitchFamily="34" charset="0"/>
                <a:ea typeface="Courier New" pitchFamily="34" charset="-122"/>
                <a:cs typeface="Courier New" pitchFamily="34" charset="-120"/>
              </a:rPr>
              <a:t>=G2*H2*I2</a:t>
            </a:r>
            <a:endParaRPr lang="en-US" sz="1400" dirty="0"/>
          </a:p>
        </p:txBody>
      </p:sp>
      <p:sp>
        <p:nvSpPr>
          <p:cNvPr id="17" name="Text 13"/>
          <p:cNvSpPr/>
          <p:nvPr/>
        </p:nvSpPr>
        <p:spPr>
          <a:xfrm>
            <a:off x="6446520" y="3200400"/>
            <a:ext cx="4800600" cy="502920"/>
          </a:xfrm>
          <a:prstGeom prst="rect">
            <a:avLst/>
          </a:prstGeom>
          <a:noFill/>
          <a:ln/>
        </p:spPr>
        <p:txBody>
          <a:bodyPr wrap="square" lIns="0" tIns="0" rIns="0" bIns="0" rtlCol="0" anchor="ctr"/>
          <a:lstStyle/>
          <a:p>
            <a:pPr marL="0" indent="0">
              <a:lnSpc>
                <a:spcPct val="125000"/>
              </a:lnSpc>
              <a:buNone/>
            </a:pPr>
            <a:r>
              <a:rPr lang="en-US" sz="1100" dirty="0">
                <a:solidFill>
                  <a:srgbClr val="5E6F64"/>
                </a:solidFill>
                <a:latin typeface="Calibri" pitchFamily="34" charset="0"/>
                <a:ea typeface="Calibri" pitchFamily="34" charset="-122"/>
                <a:cs typeface="Calibri" pitchFamily="34" charset="-120"/>
              </a:rPr>
              <a:t>Avg Purchase × Frequency × Duration</a:t>
            </a:r>
            <a:endParaRPr lang="en-US" sz="1100" dirty="0"/>
          </a:p>
        </p:txBody>
      </p:sp>
      <p:sp>
        <p:nvSpPr>
          <p:cNvPr id="18" name="Shape 14"/>
          <p:cNvSpPr/>
          <p:nvPr/>
        </p:nvSpPr>
        <p:spPr>
          <a:xfrm>
            <a:off x="548640" y="4069080"/>
            <a:ext cx="5349240" cy="2240280"/>
          </a:xfrm>
          <a:prstGeom prst="roundRect">
            <a:avLst>
              <a:gd name="adj" fmla="val 3265"/>
            </a:avLst>
          </a:prstGeom>
          <a:solidFill>
            <a:srgbClr val="FFFFFF"/>
          </a:solidFill>
          <a:ln w="12700">
            <a:solidFill>
              <a:srgbClr val="D7ECDD"/>
            </a:solidFill>
            <a:prstDash val="solid"/>
          </a:ln>
          <a:effectLst>
            <a:outerShdw blurRad="101600" dist="38100" dir="5400000" algn="bl" rotWithShape="0">
              <a:srgbClr val="0B5C33">
                <a:alpha val="12000"/>
              </a:srgbClr>
            </a:outerShdw>
          </a:effectLst>
        </p:spPr>
      </p:sp>
      <p:sp>
        <p:nvSpPr>
          <p:cNvPr id="19" name="Shape 15"/>
          <p:cNvSpPr/>
          <p:nvPr/>
        </p:nvSpPr>
        <p:spPr>
          <a:xfrm>
            <a:off x="822960" y="4361688"/>
            <a:ext cx="594360" cy="594360"/>
          </a:xfrm>
          <a:prstGeom prst="ellipse">
            <a:avLst/>
          </a:prstGeom>
          <a:solidFill>
            <a:srgbClr val="EAF7EE"/>
          </a:solidFill>
          <a:ln/>
        </p:spPr>
      </p:sp>
      <p:pic>
        <p:nvPicPr>
          <p:cNvPr id="20" name="Image 2" descr="preencoded.png"/>
          <p:cNvPicPr>
            <a:picLocks noChangeAspect="1"/>
          </p:cNvPicPr>
          <p:nvPr/>
        </p:nvPicPr>
        <p:blipFill>
          <a:blip r:embed="rId5"/>
          <a:stretch>
            <a:fillRect/>
          </a:stretch>
        </p:blipFill>
        <p:spPr>
          <a:xfrm>
            <a:off x="900227" y="4438955"/>
            <a:ext cx="439826" cy="439826"/>
          </a:xfrm>
          <a:prstGeom prst="rect">
            <a:avLst/>
          </a:prstGeom>
        </p:spPr>
      </p:pic>
      <p:sp>
        <p:nvSpPr>
          <p:cNvPr id="21" name="Text 16"/>
          <p:cNvSpPr/>
          <p:nvPr/>
        </p:nvSpPr>
        <p:spPr>
          <a:xfrm>
            <a:off x="1600200" y="4416552"/>
            <a:ext cx="4069080" cy="502920"/>
          </a:xfrm>
          <a:prstGeom prst="rect">
            <a:avLst/>
          </a:prstGeom>
          <a:noFill/>
          <a:ln/>
        </p:spPr>
        <p:txBody>
          <a:bodyPr wrap="square" lIns="0" tIns="0" rIns="0" bIns="0" rtlCol="0" anchor="ctr"/>
          <a:lstStyle/>
          <a:p>
            <a:pPr marL="0" indent="0">
              <a:buNone/>
            </a:pPr>
            <a:r>
              <a:rPr lang="en-US" sz="1500" b="1" dirty="0">
                <a:solidFill>
                  <a:srgbClr val="1C2B22"/>
                </a:solidFill>
                <a:latin typeface="Calibri" pitchFamily="34" charset="0"/>
                <a:ea typeface="Calibri" pitchFamily="34" charset="-122"/>
                <a:cs typeface="Calibri" pitchFamily="34" charset="-120"/>
              </a:rPr>
              <a:t>Return on Investment</a:t>
            </a:r>
            <a:endParaRPr lang="en-US" sz="1500" dirty="0"/>
          </a:p>
        </p:txBody>
      </p:sp>
      <p:sp>
        <p:nvSpPr>
          <p:cNvPr id="22" name="Shape 17"/>
          <p:cNvSpPr/>
          <p:nvPr/>
        </p:nvSpPr>
        <p:spPr>
          <a:xfrm>
            <a:off x="822960" y="5074920"/>
            <a:ext cx="4800600" cy="502920"/>
          </a:xfrm>
          <a:prstGeom prst="roundRect">
            <a:avLst>
              <a:gd name="adj" fmla="val 14545"/>
            </a:avLst>
          </a:prstGeom>
          <a:solidFill>
            <a:srgbClr val="EAF7EE"/>
          </a:solidFill>
          <a:ln w="12700">
            <a:solidFill>
              <a:srgbClr val="D7ECDD"/>
            </a:solidFill>
            <a:prstDash val="solid"/>
          </a:ln>
          <a:effectLst>
            <a:outerShdw blurRad="101600" dist="38100" dir="5400000" algn="bl" rotWithShape="0">
              <a:srgbClr val="0B5C33">
                <a:alpha val="12000"/>
              </a:srgbClr>
            </a:outerShdw>
          </a:effectLst>
        </p:spPr>
      </p:sp>
      <p:sp>
        <p:nvSpPr>
          <p:cNvPr id="23" name="Text 18"/>
          <p:cNvSpPr/>
          <p:nvPr/>
        </p:nvSpPr>
        <p:spPr>
          <a:xfrm>
            <a:off x="960120" y="5129784"/>
            <a:ext cx="4526280" cy="411480"/>
          </a:xfrm>
          <a:prstGeom prst="rect">
            <a:avLst/>
          </a:prstGeom>
          <a:noFill/>
          <a:ln/>
        </p:spPr>
        <p:txBody>
          <a:bodyPr wrap="square" lIns="0" tIns="0" rIns="0" bIns="0" rtlCol="0" anchor="ctr"/>
          <a:lstStyle/>
          <a:p>
            <a:pPr marL="0" indent="0">
              <a:buNone/>
            </a:pPr>
            <a:r>
              <a:rPr lang="en-US" sz="1400" b="1" dirty="0">
                <a:solidFill>
                  <a:srgbClr val="1E8449"/>
                </a:solidFill>
                <a:latin typeface="Courier New" pitchFamily="34" charset="0"/>
                <a:ea typeface="Courier New" pitchFamily="34" charset="-122"/>
                <a:cs typeface="Courier New" pitchFamily="34" charset="-120"/>
              </a:rPr>
              <a:t>=(D2/J2)*100</a:t>
            </a:r>
            <a:endParaRPr lang="en-US" sz="1400" dirty="0"/>
          </a:p>
        </p:txBody>
      </p:sp>
      <p:sp>
        <p:nvSpPr>
          <p:cNvPr id="24" name="Text 19"/>
          <p:cNvSpPr/>
          <p:nvPr/>
        </p:nvSpPr>
        <p:spPr>
          <a:xfrm>
            <a:off x="822960" y="5715000"/>
            <a:ext cx="4800600" cy="502920"/>
          </a:xfrm>
          <a:prstGeom prst="rect">
            <a:avLst/>
          </a:prstGeom>
          <a:noFill/>
          <a:ln/>
        </p:spPr>
        <p:txBody>
          <a:bodyPr wrap="square" lIns="0" tIns="0" rIns="0" bIns="0" rtlCol="0" anchor="ctr"/>
          <a:lstStyle/>
          <a:p>
            <a:pPr marL="0" indent="0">
              <a:lnSpc>
                <a:spcPct val="125000"/>
              </a:lnSpc>
              <a:buNone/>
            </a:pPr>
            <a:r>
              <a:rPr lang="en-US" sz="1100" dirty="0">
                <a:solidFill>
                  <a:srgbClr val="5E6F64"/>
                </a:solidFill>
                <a:latin typeface="Calibri" pitchFamily="34" charset="0"/>
                <a:ea typeface="Calibri" pitchFamily="34" charset="-122"/>
                <a:cs typeface="Calibri" pitchFamily="34" charset="-120"/>
              </a:rPr>
              <a:t>(Net Profit ÷ Investment) × 100</a:t>
            </a:r>
            <a:endParaRPr lang="en-US" sz="1100" dirty="0"/>
          </a:p>
        </p:txBody>
      </p:sp>
      <p:sp>
        <p:nvSpPr>
          <p:cNvPr id="25" name="Shape 20"/>
          <p:cNvSpPr/>
          <p:nvPr/>
        </p:nvSpPr>
        <p:spPr>
          <a:xfrm>
            <a:off x="6172200" y="4069080"/>
            <a:ext cx="5349240" cy="2240280"/>
          </a:xfrm>
          <a:prstGeom prst="roundRect">
            <a:avLst>
              <a:gd name="adj" fmla="val 3265"/>
            </a:avLst>
          </a:prstGeom>
          <a:solidFill>
            <a:srgbClr val="FFFFFF"/>
          </a:solidFill>
          <a:ln w="12700">
            <a:solidFill>
              <a:srgbClr val="D7ECDD"/>
            </a:solidFill>
            <a:prstDash val="solid"/>
          </a:ln>
          <a:effectLst>
            <a:outerShdw blurRad="101600" dist="38100" dir="5400000" algn="bl" rotWithShape="0">
              <a:srgbClr val="0B5C33">
                <a:alpha val="12000"/>
              </a:srgbClr>
            </a:outerShdw>
          </a:effectLst>
        </p:spPr>
      </p:sp>
      <p:sp>
        <p:nvSpPr>
          <p:cNvPr id="26" name="Shape 21"/>
          <p:cNvSpPr/>
          <p:nvPr/>
        </p:nvSpPr>
        <p:spPr>
          <a:xfrm>
            <a:off x="6446520" y="4361688"/>
            <a:ext cx="594360" cy="594360"/>
          </a:xfrm>
          <a:prstGeom prst="ellipse">
            <a:avLst/>
          </a:prstGeom>
          <a:solidFill>
            <a:srgbClr val="EAF7EE"/>
          </a:solidFill>
          <a:ln/>
        </p:spPr>
      </p:sp>
      <p:pic>
        <p:nvPicPr>
          <p:cNvPr id="27" name="Image 3" descr="preencoded.png"/>
          <p:cNvPicPr>
            <a:picLocks noChangeAspect="1"/>
          </p:cNvPicPr>
          <p:nvPr/>
        </p:nvPicPr>
        <p:blipFill>
          <a:blip r:embed="rId6"/>
          <a:stretch>
            <a:fillRect/>
          </a:stretch>
        </p:blipFill>
        <p:spPr>
          <a:xfrm>
            <a:off x="6523787" y="4438955"/>
            <a:ext cx="439826" cy="439826"/>
          </a:xfrm>
          <a:prstGeom prst="rect">
            <a:avLst/>
          </a:prstGeom>
        </p:spPr>
      </p:pic>
      <p:sp>
        <p:nvSpPr>
          <p:cNvPr id="28" name="Text 22"/>
          <p:cNvSpPr/>
          <p:nvPr/>
        </p:nvSpPr>
        <p:spPr>
          <a:xfrm>
            <a:off x="7223760" y="4416552"/>
            <a:ext cx="4069080" cy="502920"/>
          </a:xfrm>
          <a:prstGeom prst="rect">
            <a:avLst/>
          </a:prstGeom>
          <a:noFill/>
          <a:ln/>
        </p:spPr>
        <p:txBody>
          <a:bodyPr wrap="square" lIns="0" tIns="0" rIns="0" bIns="0" rtlCol="0" anchor="ctr"/>
          <a:lstStyle/>
          <a:p>
            <a:pPr marL="0" indent="0">
              <a:buNone/>
            </a:pPr>
            <a:r>
              <a:rPr lang="en-US" sz="1500" b="1" dirty="0">
                <a:solidFill>
                  <a:srgbClr val="1C2B22"/>
                </a:solidFill>
                <a:latin typeface="Calibri" pitchFamily="34" charset="0"/>
                <a:ea typeface="Calibri" pitchFamily="34" charset="-122"/>
                <a:cs typeface="Calibri" pitchFamily="34" charset="-120"/>
              </a:rPr>
              <a:t>Revenue per Employee</a:t>
            </a:r>
            <a:endParaRPr lang="en-US" sz="1500" dirty="0"/>
          </a:p>
        </p:txBody>
      </p:sp>
      <p:sp>
        <p:nvSpPr>
          <p:cNvPr id="29" name="Shape 23"/>
          <p:cNvSpPr/>
          <p:nvPr/>
        </p:nvSpPr>
        <p:spPr>
          <a:xfrm>
            <a:off x="6446520" y="5074920"/>
            <a:ext cx="4800600" cy="502920"/>
          </a:xfrm>
          <a:prstGeom prst="roundRect">
            <a:avLst>
              <a:gd name="adj" fmla="val 14545"/>
            </a:avLst>
          </a:prstGeom>
          <a:solidFill>
            <a:srgbClr val="EAF7EE"/>
          </a:solidFill>
          <a:ln w="12700">
            <a:solidFill>
              <a:srgbClr val="D7ECDD"/>
            </a:solidFill>
            <a:prstDash val="solid"/>
          </a:ln>
          <a:effectLst>
            <a:outerShdw blurRad="101600" dist="38100" dir="5400000" algn="bl" rotWithShape="0">
              <a:srgbClr val="0B5C33">
                <a:alpha val="12000"/>
              </a:srgbClr>
            </a:outerShdw>
          </a:effectLst>
        </p:spPr>
      </p:sp>
      <p:sp>
        <p:nvSpPr>
          <p:cNvPr id="30" name="Text 24"/>
          <p:cNvSpPr/>
          <p:nvPr/>
        </p:nvSpPr>
        <p:spPr>
          <a:xfrm>
            <a:off x="6583680" y="5129784"/>
            <a:ext cx="4526280" cy="411480"/>
          </a:xfrm>
          <a:prstGeom prst="rect">
            <a:avLst/>
          </a:prstGeom>
          <a:noFill/>
          <a:ln/>
        </p:spPr>
        <p:txBody>
          <a:bodyPr wrap="square" lIns="0" tIns="0" rIns="0" bIns="0" rtlCol="0" anchor="ctr"/>
          <a:lstStyle/>
          <a:p>
            <a:pPr marL="0" indent="0">
              <a:buNone/>
            </a:pPr>
            <a:r>
              <a:rPr lang="en-US" sz="1400" b="1" dirty="0">
                <a:solidFill>
                  <a:srgbClr val="1E8449"/>
                </a:solidFill>
                <a:latin typeface="Courier New" pitchFamily="34" charset="0"/>
                <a:ea typeface="Courier New" pitchFamily="34" charset="-122"/>
                <a:cs typeface="Courier New" pitchFamily="34" charset="-120"/>
              </a:rPr>
              <a:t>=B2/N2</a:t>
            </a:r>
            <a:endParaRPr lang="en-US" sz="1400" dirty="0"/>
          </a:p>
        </p:txBody>
      </p:sp>
      <p:sp>
        <p:nvSpPr>
          <p:cNvPr id="31" name="Text 25"/>
          <p:cNvSpPr/>
          <p:nvPr/>
        </p:nvSpPr>
        <p:spPr>
          <a:xfrm>
            <a:off x="6446520" y="5715000"/>
            <a:ext cx="4800600" cy="502920"/>
          </a:xfrm>
          <a:prstGeom prst="rect">
            <a:avLst/>
          </a:prstGeom>
          <a:noFill/>
          <a:ln/>
        </p:spPr>
        <p:txBody>
          <a:bodyPr wrap="square" lIns="0" tIns="0" rIns="0" bIns="0" rtlCol="0" anchor="ctr"/>
          <a:lstStyle/>
          <a:p>
            <a:pPr marL="0" indent="0">
              <a:lnSpc>
                <a:spcPct val="125000"/>
              </a:lnSpc>
              <a:buNone/>
            </a:pPr>
            <a:r>
              <a:rPr lang="en-US" sz="1100" dirty="0">
                <a:solidFill>
                  <a:srgbClr val="5E6F64"/>
                </a:solidFill>
                <a:latin typeface="Calibri" pitchFamily="34" charset="0"/>
                <a:ea typeface="Calibri" pitchFamily="34" charset="-122"/>
                <a:cs typeface="Calibri" pitchFamily="34" charset="-120"/>
              </a:rPr>
              <a:t>Total Revenue ÷ No. of Employees</a:t>
            </a:r>
            <a:endParaRPr lang="en-US" sz="1100" dirty="0"/>
          </a:p>
        </p:txBody>
      </p:sp>
      <p:sp>
        <p:nvSpPr>
          <p:cNvPr id="32" name="Text 26"/>
          <p:cNvSpPr/>
          <p:nvPr/>
        </p:nvSpPr>
        <p:spPr>
          <a:xfrm>
            <a:off x="457200" y="6537960"/>
            <a:ext cx="5486400" cy="274320"/>
          </a:xfrm>
          <a:prstGeom prst="rect">
            <a:avLst/>
          </a:prstGeom>
          <a:noFill/>
          <a:ln/>
        </p:spPr>
        <p:txBody>
          <a:bodyPr wrap="square" lIns="0" tIns="0" rIns="0" bIns="0" rtlCol="0" anchor="ctr"/>
          <a:lstStyle/>
          <a:p>
            <a:pPr marL="0" indent="0">
              <a:buNone/>
            </a:pPr>
            <a:r>
              <a:rPr lang="en-US" sz="900" dirty="0">
                <a:solidFill>
                  <a:srgbClr val="5E6F64"/>
                </a:solidFill>
                <a:latin typeface="Calibri" pitchFamily="34" charset="0"/>
                <a:ea typeface="Calibri" pitchFamily="34" charset="-122"/>
                <a:cs typeface="Calibri" pitchFamily="34" charset="-120"/>
              </a:rPr>
              <a:t>DMart Revenue &amp; Business Metrics Report</a:t>
            </a:r>
            <a:endParaRPr lang="en-US" sz="900" dirty="0"/>
          </a:p>
        </p:txBody>
      </p:sp>
      <p:sp>
        <p:nvSpPr>
          <p:cNvPr id="33" name="Text 27"/>
          <p:cNvSpPr/>
          <p:nvPr/>
        </p:nvSpPr>
        <p:spPr>
          <a:xfrm>
            <a:off x="11521440" y="6537960"/>
            <a:ext cx="365760" cy="274320"/>
          </a:xfrm>
          <a:prstGeom prst="rect">
            <a:avLst/>
          </a:prstGeom>
          <a:noFill/>
          <a:ln/>
        </p:spPr>
        <p:txBody>
          <a:bodyPr wrap="square" lIns="0" tIns="0" rIns="0" bIns="0" rtlCol="0" anchor="ctr"/>
          <a:lstStyle/>
          <a:p>
            <a:pPr marL="0" indent="0" algn="r">
              <a:buNone/>
            </a:pPr>
            <a:r>
              <a:rPr lang="en-US" sz="900" dirty="0">
                <a:solidFill>
                  <a:srgbClr val="5E6F64"/>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lIns="0" tIns="0" rIns="0" bIns="0" rtlCol="0" anchor="ctr"/>
          <a:lstStyle/>
          <a:p>
            <a:pPr marL="0" indent="0">
              <a:buNone/>
            </a:pPr>
            <a:r>
              <a:rPr lang="en-US" sz="1200" b="1" kern="0" spc="200" dirty="0">
                <a:solidFill>
                  <a:srgbClr val="1E8449"/>
                </a:solidFill>
                <a:latin typeface="Calibri" pitchFamily="34" charset="0"/>
                <a:ea typeface="Calibri" pitchFamily="34" charset="-122"/>
                <a:cs typeface="Calibri" pitchFamily="34" charset="-120"/>
              </a:rPr>
              <a:t>MODULE 3</a:t>
            </a:r>
            <a:endParaRPr lang="en-US" sz="1200" dirty="0"/>
          </a:p>
        </p:txBody>
      </p:sp>
      <p:sp>
        <p:nvSpPr>
          <p:cNvPr id="3" name="Text 1"/>
          <p:cNvSpPr/>
          <p:nvPr/>
        </p:nvSpPr>
        <p:spPr>
          <a:xfrm>
            <a:off x="548640" y="566928"/>
            <a:ext cx="10515600" cy="640080"/>
          </a:xfrm>
          <a:prstGeom prst="rect">
            <a:avLst/>
          </a:prstGeom>
          <a:noFill/>
          <a:ln/>
        </p:spPr>
        <p:txBody>
          <a:bodyPr wrap="square" lIns="0" tIns="0" rIns="0" bIns="0" rtlCol="0" anchor="ctr"/>
          <a:lstStyle/>
          <a:p>
            <a:pPr marL="0" indent="0">
              <a:buNone/>
            </a:pPr>
            <a:r>
              <a:rPr lang="en-US" sz="3000" b="1" dirty="0">
                <a:solidFill>
                  <a:srgbClr val="1C2B22"/>
                </a:solidFill>
                <a:latin typeface="Cambria" pitchFamily="34" charset="0"/>
                <a:ea typeface="Cambria" pitchFamily="34" charset="-122"/>
                <a:cs typeface="Cambria" pitchFamily="34" charset="-120"/>
              </a:rPr>
              <a:t>Operational KPIs</a:t>
            </a:r>
            <a:endParaRPr lang="en-US" sz="3000" dirty="0"/>
          </a:p>
        </p:txBody>
      </p:sp>
      <p:sp>
        <p:nvSpPr>
          <p:cNvPr id="4" name="Shape 2"/>
          <p:cNvSpPr/>
          <p:nvPr/>
        </p:nvSpPr>
        <p:spPr>
          <a:xfrm>
            <a:off x="548640" y="1554480"/>
            <a:ext cx="5120640" cy="1920240"/>
          </a:xfrm>
          <a:prstGeom prst="roundRect">
            <a:avLst>
              <a:gd name="adj" fmla="val 3810"/>
            </a:avLst>
          </a:prstGeom>
          <a:solidFill>
            <a:srgbClr val="FFFFFF"/>
          </a:solidFill>
          <a:ln w="12700">
            <a:solidFill>
              <a:srgbClr val="D7ECDD"/>
            </a:solidFill>
            <a:prstDash val="solid"/>
          </a:ln>
          <a:effectLst>
            <a:outerShdw blurRad="101600" dist="38100" dir="5400000" algn="bl" rotWithShape="0">
              <a:srgbClr val="0B5C33">
                <a:alpha val="12000"/>
              </a:srgbClr>
            </a:outerShdw>
          </a:effectLst>
        </p:spPr>
      </p:sp>
      <p:sp>
        <p:nvSpPr>
          <p:cNvPr id="5" name="Shape 3"/>
          <p:cNvSpPr/>
          <p:nvPr/>
        </p:nvSpPr>
        <p:spPr>
          <a:xfrm>
            <a:off x="822960" y="1810512"/>
            <a:ext cx="548640" cy="548640"/>
          </a:xfrm>
          <a:prstGeom prst="ellipse">
            <a:avLst/>
          </a:prstGeom>
          <a:solidFill>
            <a:srgbClr val="EAF7EE"/>
          </a:solidFill>
          <a:ln/>
        </p:spPr>
      </p:sp>
      <p:pic>
        <p:nvPicPr>
          <p:cNvPr id="6" name="Image 0" descr="preencoded.png"/>
          <p:cNvPicPr>
            <a:picLocks noChangeAspect="1"/>
          </p:cNvPicPr>
          <p:nvPr/>
        </p:nvPicPr>
        <p:blipFill>
          <a:blip r:embed="rId3"/>
          <a:stretch>
            <a:fillRect/>
          </a:stretch>
        </p:blipFill>
        <p:spPr>
          <a:xfrm>
            <a:off x="894283" y="1881835"/>
            <a:ext cx="405994" cy="405994"/>
          </a:xfrm>
          <a:prstGeom prst="rect">
            <a:avLst/>
          </a:prstGeom>
        </p:spPr>
      </p:pic>
      <p:sp>
        <p:nvSpPr>
          <p:cNvPr id="7" name="Text 4"/>
          <p:cNvSpPr/>
          <p:nvPr/>
        </p:nvSpPr>
        <p:spPr>
          <a:xfrm>
            <a:off x="1508760" y="1865376"/>
            <a:ext cx="3383280" cy="457200"/>
          </a:xfrm>
          <a:prstGeom prst="rect">
            <a:avLst/>
          </a:prstGeom>
          <a:noFill/>
          <a:ln/>
        </p:spPr>
        <p:txBody>
          <a:bodyPr wrap="square" lIns="0" tIns="0" rIns="0" bIns="0" rtlCol="0" anchor="ctr"/>
          <a:lstStyle/>
          <a:p>
            <a:pPr marL="0" indent="0">
              <a:buNone/>
            </a:pPr>
            <a:r>
              <a:rPr lang="en-US" sz="1500" b="1" dirty="0">
                <a:solidFill>
                  <a:srgbClr val="1C2B22"/>
                </a:solidFill>
                <a:latin typeface="Calibri" pitchFamily="34" charset="0"/>
                <a:ea typeface="Calibri" pitchFamily="34" charset="-122"/>
                <a:cs typeface="Calibri" pitchFamily="34" charset="-120"/>
              </a:rPr>
              <a:t>Inventory Turnover</a:t>
            </a:r>
            <a:endParaRPr lang="en-US" sz="1500" dirty="0"/>
          </a:p>
        </p:txBody>
      </p:sp>
      <p:sp>
        <p:nvSpPr>
          <p:cNvPr id="8" name="Shape 5"/>
          <p:cNvSpPr/>
          <p:nvPr/>
        </p:nvSpPr>
        <p:spPr>
          <a:xfrm>
            <a:off x="822960" y="2423160"/>
            <a:ext cx="4572000" cy="502920"/>
          </a:xfrm>
          <a:prstGeom prst="roundRect">
            <a:avLst>
              <a:gd name="adj" fmla="val 14545"/>
            </a:avLst>
          </a:prstGeom>
          <a:solidFill>
            <a:srgbClr val="EAF7EE"/>
          </a:solidFill>
          <a:ln w="12700">
            <a:solidFill>
              <a:srgbClr val="D7ECDD"/>
            </a:solidFill>
            <a:prstDash val="solid"/>
          </a:ln>
          <a:effectLst>
            <a:outerShdw blurRad="101600" dist="38100" dir="5400000" algn="bl" rotWithShape="0">
              <a:srgbClr val="0B5C33">
                <a:alpha val="12000"/>
              </a:srgbClr>
            </a:outerShdw>
          </a:effectLst>
        </p:spPr>
      </p:sp>
      <p:sp>
        <p:nvSpPr>
          <p:cNvPr id="9" name="Text 6"/>
          <p:cNvSpPr/>
          <p:nvPr/>
        </p:nvSpPr>
        <p:spPr>
          <a:xfrm>
            <a:off x="960120" y="2478024"/>
            <a:ext cx="4297680" cy="411480"/>
          </a:xfrm>
          <a:prstGeom prst="rect">
            <a:avLst/>
          </a:prstGeom>
          <a:noFill/>
          <a:ln/>
        </p:spPr>
        <p:txBody>
          <a:bodyPr wrap="square" lIns="0" tIns="0" rIns="0" bIns="0" rtlCol="0" anchor="ctr"/>
          <a:lstStyle/>
          <a:p>
            <a:pPr marL="0" indent="0">
              <a:buNone/>
            </a:pPr>
            <a:r>
              <a:rPr lang="en-US" sz="1400" b="1" dirty="0">
                <a:solidFill>
                  <a:srgbClr val="1E8449"/>
                </a:solidFill>
                <a:latin typeface="Courier New" pitchFamily="34" charset="0"/>
                <a:ea typeface="Courier New" pitchFamily="34" charset="-122"/>
                <a:cs typeface="Courier New" pitchFamily="34" charset="-120"/>
              </a:rPr>
              <a:t>=C2/K2</a:t>
            </a:r>
            <a:endParaRPr lang="en-US" sz="1400" dirty="0"/>
          </a:p>
        </p:txBody>
      </p:sp>
      <p:sp>
        <p:nvSpPr>
          <p:cNvPr id="10" name="Text 7"/>
          <p:cNvSpPr/>
          <p:nvPr/>
        </p:nvSpPr>
        <p:spPr>
          <a:xfrm>
            <a:off x="822960" y="3035808"/>
            <a:ext cx="4572000" cy="365760"/>
          </a:xfrm>
          <a:prstGeom prst="rect">
            <a:avLst/>
          </a:prstGeom>
          <a:noFill/>
          <a:ln/>
        </p:spPr>
        <p:txBody>
          <a:bodyPr wrap="square" lIns="0" tIns="0" rIns="0" bIns="0" rtlCol="0" anchor="ctr"/>
          <a:lstStyle/>
          <a:p>
            <a:pPr marL="0" indent="0">
              <a:buNone/>
            </a:pPr>
            <a:r>
              <a:rPr lang="en-US" sz="1100" dirty="0">
                <a:solidFill>
                  <a:srgbClr val="5E6F64"/>
                </a:solidFill>
                <a:latin typeface="Calibri" pitchFamily="34" charset="0"/>
                <a:ea typeface="Calibri" pitchFamily="34" charset="-122"/>
                <a:cs typeface="Calibri" pitchFamily="34" charset="-120"/>
              </a:rPr>
              <a:t>COGS ÷ Average Inventory</a:t>
            </a:r>
            <a:endParaRPr lang="en-US" sz="1100" dirty="0"/>
          </a:p>
        </p:txBody>
      </p:sp>
      <p:sp>
        <p:nvSpPr>
          <p:cNvPr id="11" name="Shape 8"/>
          <p:cNvSpPr/>
          <p:nvPr/>
        </p:nvSpPr>
        <p:spPr>
          <a:xfrm>
            <a:off x="548640" y="3749040"/>
            <a:ext cx="5120640" cy="1920240"/>
          </a:xfrm>
          <a:prstGeom prst="roundRect">
            <a:avLst>
              <a:gd name="adj" fmla="val 3810"/>
            </a:avLst>
          </a:prstGeom>
          <a:solidFill>
            <a:srgbClr val="FFFFFF"/>
          </a:solidFill>
          <a:ln w="12700">
            <a:solidFill>
              <a:srgbClr val="D7ECDD"/>
            </a:solidFill>
            <a:prstDash val="solid"/>
          </a:ln>
          <a:effectLst>
            <a:outerShdw blurRad="101600" dist="38100" dir="5400000" algn="bl" rotWithShape="0">
              <a:srgbClr val="0B5C33">
                <a:alpha val="12000"/>
              </a:srgbClr>
            </a:outerShdw>
          </a:effectLst>
        </p:spPr>
      </p:sp>
      <p:sp>
        <p:nvSpPr>
          <p:cNvPr id="12" name="Shape 9"/>
          <p:cNvSpPr/>
          <p:nvPr/>
        </p:nvSpPr>
        <p:spPr>
          <a:xfrm>
            <a:off x="822960" y="4005072"/>
            <a:ext cx="548640" cy="548640"/>
          </a:xfrm>
          <a:prstGeom prst="ellipse">
            <a:avLst/>
          </a:prstGeom>
          <a:solidFill>
            <a:srgbClr val="EAF7EE"/>
          </a:solidFill>
          <a:ln/>
        </p:spPr>
      </p:sp>
      <p:pic>
        <p:nvPicPr>
          <p:cNvPr id="13" name="Image 1" descr="preencoded.png"/>
          <p:cNvPicPr>
            <a:picLocks noChangeAspect="1"/>
          </p:cNvPicPr>
          <p:nvPr/>
        </p:nvPicPr>
        <p:blipFill>
          <a:blip r:embed="rId4"/>
          <a:stretch>
            <a:fillRect/>
          </a:stretch>
        </p:blipFill>
        <p:spPr>
          <a:xfrm>
            <a:off x="894283" y="4076395"/>
            <a:ext cx="405994" cy="405994"/>
          </a:xfrm>
          <a:prstGeom prst="rect">
            <a:avLst/>
          </a:prstGeom>
        </p:spPr>
      </p:pic>
      <p:sp>
        <p:nvSpPr>
          <p:cNvPr id="14" name="Text 10"/>
          <p:cNvSpPr/>
          <p:nvPr/>
        </p:nvSpPr>
        <p:spPr>
          <a:xfrm>
            <a:off x="1508760" y="4059936"/>
            <a:ext cx="3383280" cy="457200"/>
          </a:xfrm>
          <a:prstGeom prst="rect">
            <a:avLst/>
          </a:prstGeom>
          <a:noFill/>
          <a:ln/>
        </p:spPr>
        <p:txBody>
          <a:bodyPr wrap="square" lIns="0" tIns="0" rIns="0" bIns="0" rtlCol="0" anchor="ctr"/>
          <a:lstStyle/>
          <a:p>
            <a:pPr marL="0" indent="0">
              <a:buNone/>
            </a:pPr>
            <a:r>
              <a:rPr lang="en-US" sz="1500" b="1" dirty="0">
                <a:solidFill>
                  <a:srgbClr val="1C2B22"/>
                </a:solidFill>
                <a:latin typeface="Calibri" pitchFamily="34" charset="0"/>
                <a:ea typeface="Calibri" pitchFamily="34" charset="-122"/>
                <a:cs typeface="Calibri" pitchFamily="34" charset="-120"/>
              </a:rPr>
              <a:t>Current Ratio</a:t>
            </a:r>
            <a:endParaRPr lang="en-US" sz="1500" dirty="0"/>
          </a:p>
        </p:txBody>
      </p:sp>
      <p:sp>
        <p:nvSpPr>
          <p:cNvPr id="15" name="Shape 11"/>
          <p:cNvSpPr/>
          <p:nvPr/>
        </p:nvSpPr>
        <p:spPr>
          <a:xfrm>
            <a:off x="822960" y="4617720"/>
            <a:ext cx="4572000" cy="502920"/>
          </a:xfrm>
          <a:prstGeom prst="roundRect">
            <a:avLst>
              <a:gd name="adj" fmla="val 14545"/>
            </a:avLst>
          </a:prstGeom>
          <a:solidFill>
            <a:srgbClr val="EAF7EE"/>
          </a:solidFill>
          <a:ln w="12700">
            <a:solidFill>
              <a:srgbClr val="D7ECDD"/>
            </a:solidFill>
            <a:prstDash val="solid"/>
          </a:ln>
          <a:effectLst>
            <a:outerShdw blurRad="101600" dist="38100" dir="5400000" algn="bl" rotWithShape="0">
              <a:srgbClr val="0B5C33">
                <a:alpha val="12000"/>
              </a:srgbClr>
            </a:outerShdw>
          </a:effectLst>
        </p:spPr>
      </p:sp>
      <p:sp>
        <p:nvSpPr>
          <p:cNvPr id="16" name="Text 12"/>
          <p:cNvSpPr/>
          <p:nvPr/>
        </p:nvSpPr>
        <p:spPr>
          <a:xfrm>
            <a:off x="960120" y="4672584"/>
            <a:ext cx="4297680" cy="411480"/>
          </a:xfrm>
          <a:prstGeom prst="rect">
            <a:avLst/>
          </a:prstGeom>
          <a:noFill/>
          <a:ln/>
        </p:spPr>
        <p:txBody>
          <a:bodyPr wrap="square" lIns="0" tIns="0" rIns="0" bIns="0" rtlCol="0" anchor="ctr"/>
          <a:lstStyle/>
          <a:p>
            <a:pPr marL="0" indent="0">
              <a:buNone/>
            </a:pPr>
            <a:r>
              <a:rPr lang="en-US" sz="1400" b="1" dirty="0">
                <a:solidFill>
                  <a:srgbClr val="1E8449"/>
                </a:solidFill>
                <a:latin typeface="Courier New" pitchFamily="34" charset="0"/>
                <a:ea typeface="Courier New" pitchFamily="34" charset="-122"/>
                <a:cs typeface="Courier New" pitchFamily="34" charset="-120"/>
              </a:rPr>
              <a:t>=L2/M2</a:t>
            </a:r>
            <a:endParaRPr lang="en-US" sz="1400" dirty="0"/>
          </a:p>
        </p:txBody>
      </p:sp>
      <p:sp>
        <p:nvSpPr>
          <p:cNvPr id="17" name="Text 13"/>
          <p:cNvSpPr/>
          <p:nvPr/>
        </p:nvSpPr>
        <p:spPr>
          <a:xfrm>
            <a:off x="822960" y="5230368"/>
            <a:ext cx="4572000" cy="365760"/>
          </a:xfrm>
          <a:prstGeom prst="rect">
            <a:avLst/>
          </a:prstGeom>
          <a:noFill/>
          <a:ln/>
        </p:spPr>
        <p:txBody>
          <a:bodyPr wrap="square" lIns="0" tIns="0" rIns="0" bIns="0" rtlCol="0" anchor="ctr"/>
          <a:lstStyle/>
          <a:p>
            <a:pPr marL="0" indent="0">
              <a:buNone/>
            </a:pPr>
            <a:r>
              <a:rPr lang="en-US" sz="1100" dirty="0">
                <a:solidFill>
                  <a:srgbClr val="5E6F64"/>
                </a:solidFill>
                <a:latin typeface="Calibri" pitchFamily="34" charset="0"/>
                <a:ea typeface="Calibri" pitchFamily="34" charset="-122"/>
                <a:cs typeface="Calibri" pitchFamily="34" charset="-120"/>
              </a:rPr>
              <a:t>Current Assets ÷ Current Liabilities</a:t>
            </a:r>
            <a:endParaRPr lang="en-US" sz="1100" dirty="0"/>
          </a:p>
        </p:txBody>
      </p:sp>
      <p:sp>
        <p:nvSpPr>
          <p:cNvPr id="18" name="Shape 14"/>
          <p:cNvSpPr/>
          <p:nvPr/>
        </p:nvSpPr>
        <p:spPr>
          <a:xfrm>
            <a:off x="6035040" y="1554480"/>
            <a:ext cx="5623560" cy="4206240"/>
          </a:xfrm>
          <a:prstGeom prst="roundRect">
            <a:avLst>
              <a:gd name="adj" fmla="val 1739"/>
            </a:avLst>
          </a:prstGeom>
          <a:solidFill>
            <a:srgbClr val="EAF7EE"/>
          </a:solidFill>
          <a:ln w="12700">
            <a:solidFill>
              <a:srgbClr val="D7ECDD"/>
            </a:solidFill>
            <a:prstDash val="solid"/>
          </a:ln>
          <a:effectLst>
            <a:outerShdw blurRad="101600" dist="38100" dir="5400000" algn="bl" rotWithShape="0">
              <a:srgbClr val="0B5C33">
                <a:alpha val="12000"/>
              </a:srgbClr>
            </a:outerShdw>
          </a:effectLst>
        </p:spPr>
      </p:sp>
      <p:sp>
        <p:nvSpPr>
          <p:cNvPr id="19" name="Shape 15"/>
          <p:cNvSpPr/>
          <p:nvPr/>
        </p:nvSpPr>
        <p:spPr>
          <a:xfrm>
            <a:off x="6355080" y="1828800"/>
            <a:ext cx="548640" cy="548640"/>
          </a:xfrm>
          <a:prstGeom prst="ellipse">
            <a:avLst/>
          </a:prstGeom>
          <a:solidFill>
            <a:srgbClr val="FFFFFF"/>
          </a:solidFill>
          <a:ln/>
        </p:spPr>
      </p:sp>
      <p:pic>
        <p:nvPicPr>
          <p:cNvPr id="20" name="Image 2" descr="preencoded.png"/>
          <p:cNvPicPr>
            <a:picLocks noChangeAspect="1"/>
          </p:cNvPicPr>
          <p:nvPr/>
        </p:nvPicPr>
        <p:blipFill>
          <a:blip r:embed="rId5"/>
          <a:stretch>
            <a:fillRect/>
          </a:stretch>
        </p:blipFill>
        <p:spPr>
          <a:xfrm>
            <a:off x="6426403" y="1900123"/>
            <a:ext cx="405994" cy="405994"/>
          </a:xfrm>
          <a:prstGeom prst="rect">
            <a:avLst/>
          </a:prstGeom>
        </p:spPr>
      </p:pic>
      <p:sp>
        <p:nvSpPr>
          <p:cNvPr id="21" name="Text 16"/>
          <p:cNvSpPr/>
          <p:nvPr/>
        </p:nvSpPr>
        <p:spPr>
          <a:xfrm>
            <a:off x="7086600" y="1874520"/>
            <a:ext cx="4297680" cy="365760"/>
          </a:xfrm>
          <a:prstGeom prst="rect">
            <a:avLst/>
          </a:prstGeom>
          <a:noFill/>
          <a:ln/>
        </p:spPr>
        <p:txBody>
          <a:bodyPr wrap="square" lIns="0" tIns="0" rIns="0" bIns="0" rtlCol="0" anchor="ctr"/>
          <a:lstStyle/>
          <a:p>
            <a:pPr marL="0" indent="0">
              <a:buNone/>
            </a:pPr>
            <a:r>
              <a:rPr lang="en-US" sz="1500" b="1" dirty="0">
                <a:solidFill>
                  <a:srgbClr val="1C2B22"/>
                </a:solidFill>
                <a:latin typeface="Calibri" pitchFamily="34" charset="0"/>
                <a:ea typeface="Calibri" pitchFamily="34" charset="-122"/>
                <a:cs typeface="Calibri" pitchFamily="34" charset="-120"/>
              </a:rPr>
              <a:t>Performance Monitoring</a:t>
            </a:r>
            <a:endParaRPr lang="en-US" sz="1500" dirty="0"/>
          </a:p>
        </p:txBody>
      </p:sp>
      <p:sp>
        <p:nvSpPr>
          <p:cNvPr id="22" name="Text 17"/>
          <p:cNvSpPr/>
          <p:nvPr/>
        </p:nvSpPr>
        <p:spPr>
          <a:xfrm>
            <a:off x="6355080" y="2423160"/>
            <a:ext cx="5029200" cy="1005840"/>
          </a:xfrm>
          <a:prstGeom prst="rect">
            <a:avLst/>
          </a:prstGeom>
          <a:noFill/>
          <a:ln/>
        </p:spPr>
        <p:txBody>
          <a:bodyPr wrap="square" lIns="0" tIns="0" rIns="0" bIns="0" rtlCol="0" anchor="ctr"/>
          <a:lstStyle/>
          <a:p>
            <a:pPr marL="342900" indent="-342900">
              <a:lnSpc>
                <a:spcPct val="130000"/>
              </a:lnSpc>
              <a:buSzPct val="100000"/>
              <a:buChar char="•"/>
            </a:pPr>
            <a:r>
              <a:rPr lang="en-US" sz="1150" dirty="0">
                <a:solidFill>
                  <a:srgbClr val="1C2B22"/>
                </a:solidFill>
                <a:latin typeface="Calibri" pitchFamily="34" charset="0"/>
                <a:ea typeface="Calibri" pitchFamily="34" charset="-122"/>
                <a:cs typeface="Calibri" pitchFamily="34" charset="-120"/>
              </a:rPr>
              <a:t>Set monthly thresholds for each ratio and flag breaches with conditional formatting</a:t>
            </a:r>
            <a:endParaRPr lang="en-US" sz="1150" dirty="0"/>
          </a:p>
          <a:p>
            <a:pPr marL="342900" indent="-342900">
              <a:lnSpc>
                <a:spcPct val="130000"/>
              </a:lnSpc>
              <a:buSzPct val="100000"/>
              <a:buChar char="•"/>
            </a:pPr>
            <a:r>
              <a:rPr lang="en-US" sz="1150" dirty="0">
                <a:solidFill>
                  <a:srgbClr val="1C2B22"/>
                </a:solidFill>
                <a:latin typeface="Calibri" pitchFamily="34" charset="0"/>
                <a:ea typeface="Calibri" pitchFamily="34" charset="-122"/>
                <a:cs typeface="Calibri" pitchFamily="34" charset="-120"/>
              </a:rPr>
              <a:t>Compare current period vs prior period and vs industry benchmark side by side</a:t>
            </a:r>
            <a:endParaRPr lang="en-US" sz="1150" dirty="0"/>
          </a:p>
        </p:txBody>
      </p:sp>
      <p:sp>
        <p:nvSpPr>
          <p:cNvPr id="23" name="Shape 18"/>
          <p:cNvSpPr/>
          <p:nvPr/>
        </p:nvSpPr>
        <p:spPr>
          <a:xfrm>
            <a:off x="6355080" y="3657600"/>
            <a:ext cx="5029200" cy="0"/>
          </a:xfrm>
          <a:prstGeom prst="line">
            <a:avLst/>
          </a:prstGeom>
          <a:noFill/>
          <a:ln w="12700">
            <a:solidFill>
              <a:srgbClr val="D7ECDD"/>
            </a:solidFill>
            <a:prstDash val="solid"/>
          </a:ln>
        </p:spPr>
      </p:sp>
      <p:sp>
        <p:nvSpPr>
          <p:cNvPr id="24" name="Shape 19"/>
          <p:cNvSpPr/>
          <p:nvPr/>
        </p:nvSpPr>
        <p:spPr>
          <a:xfrm>
            <a:off x="6355080" y="3840480"/>
            <a:ext cx="548640" cy="548640"/>
          </a:xfrm>
          <a:prstGeom prst="ellipse">
            <a:avLst/>
          </a:prstGeom>
          <a:solidFill>
            <a:srgbClr val="FFFFFF"/>
          </a:solidFill>
          <a:ln/>
        </p:spPr>
      </p:sp>
      <p:pic>
        <p:nvPicPr>
          <p:cNvPr id="25" name="Image 3" descr="preencoded.png"/>
          <p:cNvPicPr>
            <a:picLocks noChangeAspect="1"/>
          </p:cNvPicPr>
          <p:nvPr/>
        </p:nvPicPr>
        <p:blipFill>
          <a:blip r:embed="rId6"/>
          <a:stretch>
            <a:fillRect/>
          </a:stretch>
        </p:blipFill>
        <p:spPr>
          <a:xfrm>
            <a:off x="6426403" y="3911803"/>
            <a:ext cx="405994" cy="405994"/>
          </a:xfrm>
          <a:prstGeom prst="rect">
            <a:avLst/>
          </a:prstGeom>
        </p:spPr>
      </p:pic>
      <p:sp>
        <p:nvSpPr>
          <p:cNvPr id="26" name="Text 20"/>
          <p:cNvSpPr/>
          <p:nvPr/>
        </p:nvSpPr>
        <p:spPr>
          <a:xfrm>
            <a:off x="7086600" y="3886200"/>
            <a:ext cx="4297680" cy="365760"/>
          </a:xfrm>
          <a:prstGeom prst="rect">
            <a:avLst/>
          </a:prstGeom>
          <a:noFill/>
          <a:ln/>
        </p:spPr>
        <p:txBody>
          <a:bodyPr wrap="square" lIns="0" tIns="0" rIns="0" bIns="0" rtlCol="0" anchor="ctr"/>
          <a:lstStyle/>
          <a:p>
            <a:pPr marL="0" indent="0">
              <a:buNone/>
            </a:pPr>
            <a:r>
              <a:rPr lang="en-US" sz="1500" b="1" dirty="0">
                <a:solidFill>
                  <a:srgbClr val="1C2B22"/>
                </a:solidFill>
                <a:latin typeface="Calibri" pitchFamily="34" charset="0"/>
                <a:ea typeface="Calibri" pitchFamily="34" charset="-122"/>
                <a:cs typeface="Calibri" pitchFamily="34" charset="-120"/>
              </a:rPr>
              <a:t>Business Health Indicators</a:t>
            </a:r>
            <a:endParaRPr lang="en-US" sz="1500" dirty="0"/>
          </a:p>
        </p:txBody>
      </p:sp>
      <p:sp>
        <p:nvSpPr>
          <p:cNvPr id="27" name="Text 21"/>
          <p:cNvSpPr/>
          <p:nvPr/>
        </p:nvSpPr>
        <p:spPr>
          <a:xfrm>
            <a:off x="6355080" y="4434840"/>
            <a:ext cx="5029200" cy="1188720"/>
          </a:xfrm>
          <a:prstGeom prst="rect">
            <a:avLst/>
          </a:prstGeom>
          <a:noFill/>
          <a:ln/>
        </p:spPr>
        <p:txBody>
          <a:bodyPr wrap="square" lIns="0" tIns="0" rIns="0" bIns="0" rtlCol="0" anchor="ctr"/>
          <a:lstStyle/>
          <a:p>
            <a:pPr marL="342900" indent="-342900">
              <a:lnSpc>
                <a:spcPct val="130000"/>
              </a:lnSpc>
              <a:buSzPct val="100000"/>
              <a:buChar char="•"/>
            </a:pPr>
            <a:r>
              <a:rPr lang="en-US" sz="1150" dirty="0">
                <a:solidFill>
                  <a:srgbClr val="1C2B22"/>
                </a:solidFill>
                <a:latin typeface="Calibri" pitchFamily="34" charset="0"/>
                <a:ea typeface="Calibri" pitchFamily="34" charset="-122"/>
                <a:cs typeface="Calibri" pitchFamily="34" charset="-120"/>
              </a:rPr>
              <a:t>Current Ratio above 1.0 signals the business can cover short-term liabilities</a:t>
            </a:r>
            <a:endParaRPr lang="en-US" sz="1150" dirty="0"/>
          </a:p>
          <a:p>
            <a:pPr marL="342900" indent="-342900">
              <a:lnSpc>
                <a:spcPct val="130000"/>
              </a:lnSpc>
              <a:buSzPct val="100000"/>
              <a:buChar char="•"/>
            </a:pPr>
            <a:r>
              <a:rPr lang="en-US" sz="1150" dirty="0">
                <a:solidFill>
                  <a:srgbClr val="1C2B22"/>
                </a:solidFill>
                <a:latin typeface="Calibri" pitchFamily="34" charset="0"/>
                <a:ea typeface="Calibri" pitchFamily="34" charset="-122"/>
                <a:cs typeface="Calibri" pitchFamily="34" charset="-120"/>
              </a:rPr>
              <a:t>Healthy inventory turnover avoids both stockouts and excess holding costs</a:t>
            </a:r>
            <a:endParaRPr lang="en-US" sz="1150" dirty="0"/>
          </a:p>
        </p:txBody>
      </p:sp>
      <p:sp>
        <p:nvSpPr>
          <p:cNvPr id="28" name="Text 22"/>
          <p:cNvSpPr/>
          <p:nvPr/>
        </p:nvSpPr>
        <p:spPr>
          <a:xfrm>
            <a:off x="457200" y="6537960"/>
            <a:ext cx="5486400" cy="274320"/>
          </a:xfrm>
          <a:prstGeom prst="rect">
            <a:avLst/>
          </a:prstGeom>
          <a:noFill/>
          <a:ln/>
        </p:spPr>
        <p:txBody>
          <a:bodyPr wrap="square" lIns="0" tIns="0" rIns="0" bIns="0" rtlCol="0" anchor="ctr"/>
          <a:lstStyle/>
          <a:p>
            <a:pPr marL="0" indent="0">
              <a:buNone/>
            </a:pPr>
            <a:r>
              <a:rPr lang="en-US" sz="900" dirty="0">
                <a:solidFill>
                  <a:srgbClr val="5E6F64"/>
                </a:solidFill>
                <a:latin typeface="Calibri" pitchFamily="34" charset="0"/>
                <a:ea typeface="Calibri" pitchFamily="34" charset="-122"/>
                <a:cs typeface="Calibri" pitchFamily="34" charset="-120"/>
              </a:rPr>
              <a:t>DMart Revenue &amp; Business Metrics Report</a:t>
            </a:r>
            <a:endParaRPr lang="en-US" sz="900" dirty="0"/>
          </a:p>
        </p:txBody>
      </p:sp>
      <p:sp>
        <p:nvSpPr>
          <p:cNvPr id="29" name="Text 23"/>
          <p:cNvSpPr/>
          <p:nvPr/>
        </p:nvSpPr>
        <p:spPr>
          <a:xfrm>
            <a:off x="11521440" y="6537960"/>
            <a:ext cx="365760" cy="274320"/>
          </a:xfrm>
          <a:prstGeom prst="rect">
            <a:avLst/>
          </a:prstGeom>
          <a:noFill/>
          <a:ln/>
        </p:spPr>
        <p:txBody>
          <a:bodyPr wrap="square" lIns="0" tIns="0" rIns="0" bIns="0" rtlCol="0" anchor="ctr"/>
          <a:lstStyle/>
          <a:p>
            <a:pPr marL="0" indent="0" algn="r">
              <a:buNone/>
            </a:pPr>
            <a:r>
              <a:rPr lang="en-US" sz="900" dirty="0">
                <a:solidFill>
                  <a:srgbClr val="5E6F64"/>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lIns="0" tIns="0" rIns="0" bIns="0" rtlCol="0" anchor="ctr"/>
          <a:lstStyle/>
          <a:p>
            <a:pPr marL="0" indent="0">
              <a:buNone/>
            </a:pPr>
            <a:r>
              <a:rPr lang="en-US" sz="1200" b="1" kern="0" spc="200" dirty="0">
                <a:solidFill>
                  <a:srgbClr val="1E8449"/>
                </a:solidFill>
                <a:latin typeface="Calibri" pitchFamily="34" charset="0"/>
                <a:ea typeface="Calibri" pitchFamily="34" charset="-122"/>
                <a:cs typeface="Calibri" pitchFamily="34" charset="-120"/>
              </a:rPr>
              <a:t>MODULE 4</a:t>
            </a:r>
            <a:endParaRPr lang="en-US" sz="1200" dirty="0"/>
          </a:p>
        </p:txBody>
      </p:sp>
      <p:sp>
        <p:nvSpPr>
          <p:cNvPr id="3" name="Text 1"/>
          <p:cNvSpPr/>
          <p:nvPr/>
        </p:nvSpPr>
        <p:spPr>
          <a:xfrm>
            <a:off x="548640" y="566928"/>
            <a:ext cx="10515600" cy="640080"/>
          </a:xfrm>
          <a:prstGeom prst="rect">
            <a:avLst/>
          </a:prstGeom>
          <a:noFill/>
          <a:ln/>
        </p:spPr>
        <p:txBody>
          <a:bodyPr wrap="square" lIns="0" tIns="0" rIns="0" bIns="0" rtlCol="0" anchor="ctr"/>
          <a:lstStyle/>
          <a:p>
            <a:pPr marL="0" indent="0">
              <a:buNone/>
            </a:pPr>
            <a:r>
              <a:rPr lang="en-US" sz="3000" b="1" dirty="0">
                <a:solidFill>
                  <a:srgbClr val="1C2B22"/>
                </a:solidFill>
                <a:latin typeface="Cambria" pitchFamily="34" charset="0"/>
                <a:ea typeface="Cambria" pitchFamily="34" charset="-122"/>
                <a:cs typeface="Cambria" pitchFamily="34" charset="-120"/>
              </a:rPr>
              <a:t>Excel Dashboard Setup</a:t>
            </a:r>
            <a:endParaRPr lang="en-US" sz="3000" dirty="0"/>
          </a:p>
        </p:txBody>
      </p:sp>
      <p:sp>
        <p:nvSpPr>
          <p:cNvPr id="4" name="Shape 2"/>
          <p:cNvSpPr/>
          <p:nvPr/>
        </p:nvSpPr>
        <p:spPr>
          <a:xfrm>
            <a:off x="548640" y="1828800"/>
            <a:ext cx="2606040" cy="3383280"/>
          </a:xfrm>
          <a:prstGeom prst="roundRect">
            <a:avLst>
              <a:gd name="adj" fmla="val 2807"/>
            </a:avLst>
          </a:prstGeom>
          <a:solidFill>
            <a:srgbClr val="FFFFFF"/>
          </a:solidFill>
          <a:ln w="12700">
            <a:solidFill>
              <a:srgbClr val="D7ECDD"/>
            </a:solidFill>
            <a:prstDash val="solid"/>
          </a:ln>
          <a:effectLst>
            <a:outerShdw blurRad="101600" dist="38100" dir="5400000" algn="bl" rotWithShape="0">
              <a:srgbClr val="0B5C33">
                <a:alpha val="12000"/>
              </a:srgbClr>
            </a:outerShdw>
          </a:effectLst>
        </p:spPr>
      </p:sp>
      <p:sp>
        <p:nvSpPr>
          <p:cNvPr id="5" name="Shape 3"/>
          <p:cNvSpPr/>
          <p:nvPr/>
        </p:nvSpPr>
        <p:spPr>
          <a:xfrm>
            <a:off x="1559052" y="1536192"/>
            <a:ext cx="585216" cy="585216"/>
          </a:xfrm>
          <a:prstGeom prst="ellipse">
            <a:avLst/>
          </a:prstGeom>
          <a:solidFill>
            <a:srgbClr val="0B5C33"/>
          </a:solidFill>
          <a:ln w="25400">
            <a:solidFill>
              <a:srgbClr val="FFFFFF"/>
            </a:solidFill>
            <a:prstDash val="solid"/>
          </a:ln>
        </p:spPr>
      </p:sp>
      <p:sp>
        <p:nvSpPr>
          <p:cNvPr id="6" name="Text 4"/>
          <p:cNvSpPr/>
          <p:nvPr/>
        </p:nvSpPr>
        <p:spPr>
          <a:xfrm>
            <a:off x="1559052" y="1536192"/>
            <a:ext cx="585216" cy="585216"/>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Shape 5"/>
          <p:cNvSpPr/>
          <p:nvPr/>
        </p:nvSpPr>
        <p:spPr>
          <a:xfrm>
            <a:off x="1485900" y="2331720"/>
            <a:ext cx="731520" cy="731520"/>
          </a:xfrm>
          <a:prstGeom prst="ellipse">
            <a:avLst/>
          </a:prstGeom>
          <a:solidFill>
            <a:srgbClr val="EAF7EE"/>
          </a:solidFill>
          <a:ln/>
        </p:spPr>
      </p:sp>
      <p:pic>
        <p:nvPicPr>
          <p:cNvPr id="8" name="Image 0" descr="preencoded.png"/>
          <p:cNvPicPr>
            <a:picLocks noChangeAspect="1"/>
          </p:cNvPicPr>
          <p:nvPr/>
        </p:nvPicPr>
        <p:blipFill>
          <a:blip r:embed="rId3"/>
          <a:stretch>
            <a:fillRect/>
          </a:stretch>
        </p:blipFill>
        <p:spPr>
          <a:xfrm>
            <a:off x="1580998" y="2426818"/>
            <a:ext cx="541325" cy="541325"/>
          </a:xfrm>
          <a:prstGeom prst="rect">
            <a:avLst/>
          </a:prstGeom>
        </p:spPr>
      </p:pic>
      <p:sp>
        <p:nvSpPr>
          <p:cNvPr id="9" name="Text 6"/>
          <p:cNvSpPr/>
          <p:nvPr/>
        </p:nvSpPr>
        <p:spPr>
          <a:xfrm>
            <a:off x="731520" y="3246120"/>
            <a:ext cx="2240280" cy="502920"/>
          </a:xfrm>
          <a:prstGeom prst="rect">
            <a:avLst/>
          </a:prstGeom>
          <a:noFill/>
          <a:ln/>
        </p:spPr>
        <p:txBody>
          <a:bodyPr wrap="square" lIns="0" tIns="0" rIns="0" bIns="0" rtlCol="0" anchor="ctr"/>
          <a:lstStyle/>
          <a:p>
            <a:pPr marL="0" indent="0" algn="ctr">
              <a:buNone/>
            </a:pPr>
            <a:r>
              <a:rPr lang="en-US" sz="1350" b="1" dirty="0">
                <a:solidFill>
                  <a:srgbClr val="1C2B22"/>
                </a:solidFill>
                <a:latin typeface="Calibri" pitchFamily="34" charset="0"/>
                <a:ea typeface="Calibri" pitchFamily="34" charset="-122"/>
                <a:cs typeface="Calibri" pitchFamily="34" charset="-120"/>
              </a:rPr>
              <a:t>Set Up Data Sheet</a:t>
            </a:r>
            <a:endParaRPr lang="en-US" sz="1350" dirty="0"/>
          </a:p>
        </p:txBody>
      </p:sp>
      <p:sp>
        <p:nvSpPr>
          <p:cNvPr id="10" name="Text 7"/>
          <p:cNvSpPr/>
          <p:nvPr/>
        </p:nvSpPr>
        <p:spPr>
          <a:xfrm>
            <a:off x="777240" y="3794760"/>
            <a:ext cx="2148840" cy="1280160"/>
          </a:xfrm>
          <a:prstGeom prst="rect">
            <a:avLst/>
          </a:prstGeom>
          <a:noFill/>
          <a:ln/>
        </p:spPr>
        <p:txBody>
          <a:bodyPr wrap="square" lIns="0" tIns="0" rIns="0" bIns="0" rtlCol="0" anchor="ctr"/>
          <a:lstStyle/>
          <a:p>
            <a:pPr marL="0" indent="0" algn="ctr">
              <a:lnSpc>
                <a:spcPct val="125000"/>
              </a:lnSpc>
              <a:buNone/>
            </a:pPr>
            <a:r>
              <a:rPr lang="en-US" sz="1000" dirty="0">
                <a:solidFill>
                  <a:srgbClr val="5E6F64"/>
                </a:solidFill>
                <a:latin typeface="Calibri" pitchFamily="34" charset="0"/>
                <a:ea typeface="Calibri" pitchFamily="34" charset="-122"/>
                <a:cs typeface="Calibri" pitchFamily="34" charset="-120"/>
              </a:rPr>
              <a:t>Create a sheet named 'Data' with columns: Month, Revenue, COGS, Expenses, Customers, Employees.</a:t>
            </a:r>
            <a:endParaRPr lang="en-US" sz="1000" dirty="0"/>
          </a:p>
        </p:txBody>
      </p:sp>
      <p:sp>
        <p:nvSpPr>
          <p:cNvPr id="11" name="Text 8"/>
          <p:cNvSpPr/>
          <p:nvPr/>
        </p:nvSpPr>
        <p:spPr>
          <a:xfrm>
            <a:off x="3163824" y="3200400"/>
            <a:ext cx="210312" cy="457200"/>
          </a:xfrm>
          <a:prstGeom prst="rect">
            <a:avLst/>
          </a:prstGeom>
          <a:noFill/>
          <a:ln/>
        </p:spPr>
        <p:txBody>
          <a:bodyPr wrap="square" lIns="0" tIns="0" rIns="0" bIns="0" rtlCol="0" anchor="ctr"/>
          <a:lstStyle/>
          <a:p>
            <a:pPr marL="0" indent="0" algn="ctr">
              <a:buNone/>
            </a:pPr>
            <a:r>
              <a:rPr lang="en-US" sz="2000" b="1" dirty="0">
                <a:solidFill>
                  <a:srgbClr val="D7ECDD"/>
                </a:solidFill>
              </a:rPr>
              <a:t>→</a:t>
            </a:r>
            <a:endParaRPr lang="en-US" sz="2000" dirty="0"/>
          </a:p>
        </p:txBody>
      </p:sp>
      <p:sp>
        <p:nvSpPr>
          <p:cNvPr id="12" name="Shape 9"/>
          <p:cNvSpPr/>
          <p:nvPr/>
        </p:nvSpPr>
        <p:spPr>
          <a:xfrm>
            <a:off x="3383280" y="1828800"/>
            <a:ext cx="2606040" cy="3383280"/>
          </a:xfrm>
          <a:prstGeom prst="roundRect">
            <a:avLst>
              <a:gd name="adj" fmla="val 2807"/>
            </a:avLst>
          </a:prstGeom>
          <a:solidFill>
            <a:srgbClr val="FFFFFF"/>
          </a:solidFill>
          <a:ln w="12700">
            <a:solidFill>
              <a:srgbClr val="D7ECDD"/>
            </a:solidFill>
            <a:prstDash val="solid"/>
          </a:ln>
          <a:effectLst>
            <a:outerShdw blurRad="101600" dist="38100" dir="5400000" algn="bl" rotWithShape="0">
              <a:srgbClr val="0B5C33">
                <a:alpha val="12000"/>
              </a:srgbClr>
            </a:outerShdw>
          </a:effectLst>
        </p:spPr>
      </p:sp>
      <p:sp>
        <p:nvSpPr>
          <p:cNvPr id="13" name="Shape 10"/>
          <p:cNvSpPr/>
          <p:nvPr/>
        </p:nvSpPr>
        <p:spPr>
          <a:xfrm>
            <a:off x="4393692" y="1536192"/>
            <a:ext cx="585216" cy="585216"/>
          </a:xfrm>
          <a:prstGeom prst="ellipse">
            <a:avLst/>
          </a:prstGeom>
          <a:solidFill>
            <a:srgbClr val="0B5C33"/>
          </a:solidFill>
          <a:ln w="25400">
            <a:solidFill>
              <a:srgbClr val="FFFFFF"/>
            </a:solidFill>
            <a:prstDash val="solid"/>
          </a:ln>
        </p:spPr>
      </p:sp>
      <p:sp>
        <p:nvSpPr>
          <p:cNvPr id="14" name="Text 11"/>
          <p:cNvSpPr/>
          <p:nvPr/>
        </p:nvSpPr>
        <p:spPr>
          <a:xfrm>
            <a:off x="4393692" y="1536192"/>
            <a:ext cx="585216" cy="585216"/>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5" name="Shape 12"/>
          <p:cNvSpPr/>
          <p:nvPr/>
        </p:nvSpPr>
        <p:spPr>
          <a:xfrm>
            <a:off x="4320540" y="2331720"/>
            <a:ext cx="731520" cy="731520"/>
          </a:xfrm>
          <a:prstGeom prst="ellipse">
            <a:avLst/>
          </a:prstGeom>
          <a:solidFill>
            <a:srgbClr val="EAF7EE"/>
          </a:solidFill>
          <a:ln/>
        </p:spPr>
      </p:sp>
      <p:pic>
        <p:nvPicPr>
          <p:cNvPr id="16" name="Image 1" descr="preencoded.png"/>
          <p:cNvPicPr>
            <a:picLocks noChangeAspect="1"/>
          </p:cNvPicPr>
          <p:nvPr/>
        </p:nvPicPr>
        <p:blipFill>
          <a:blip r:embed="rId4"/>
          <a:stretch>
            <a:fillRect/>
          </a:stretch>
        </p:blipFill>
        <p:spPr>
          <a:xfrm>
            <a:off x="4415638" y="2426818"/>
            <a:ext cx="541325" cy="541325"/>
          </a:xfrm>
          <a:prstGeom prst="rect">
            <a:avLst/>
          </a:prstGeom>
        </p:spPr>
      </p:pic>
      <p:sp>
        <p:nvSpPr>
          <p:cNvPr id="17" name="Text 13"/>
          <p:cNvSpPr/>
          <p:nvPr/>
        </p:nvSpPr>
        <p:spPr>
          <a:xfrm>
            <a:off x="3566160" y="3246120"/>
            <a:ext cx="2240280" cy="502920"/>
          </a:xfrm>
          <a:prstGeom prst="rect">
            <a:avLst/>
          </a:prstGeom>
          <a:noFill/>
          <a:ln/>
        </p:spPr>
        <p:txBody>
          <a:bodyPr wrap="square" lIns="0" tIns="0" rIns="0" bIns="0" rtlCol="0" anchor="ctr"/>
          <a:lstStyle/>
          <a:p>
            <a:pPr marL="0" indent="0" algn="ctr">
              <a:buNone/>
            </a:pPr>
            <a:r>
              <a:rPr lang="en-US" sz="1350" b="1" dirty="0">
                <a:solidFill>
                  <a:srgbClr val="1C2B22"/>
                </a:solidFill>
                <a:latin typeface="Calibri" pitchFamily="34" charset="0"/>
                <a:ea typeface="Calibri" pitchFamily="34" charset="-122"/>
                <a:cs typeface="Calibri" pitchFamily="34" charset="-120"/>
              </a:rPr>
              <a:t>Create Metrics Sheet</a:t>
            </a:r>
            <a:endParaRPr lang="en-US" sz="1350" dirty="0"/>
          </a:p>
        </p:txBody>
      </p:sp>
      <p:sp>
        <p:nvSpPr>
          <p:cNvPr id="18" name="Text 14"/>
          <p:cNvSpPr/>
          <p:nvPr/>
        </p:nvSpPr>
        <p:spPr>
          <a:xfrm>
            <a:off x="3611880" y="3794760"/>
            <a:ext cx="2148840" cy="1280160"/>
          </a:xfrm>
          <a:prstGeom prst="rect">
            <a:avLst/>
          </a:prstGeom>
          <a:noFill/>
          <a:ln/>
        </p:spPr>
        <p:txBody>
          <a:bodyPr wrap="square" lIns="0" tIns="0" rIns="0" bIns="0" rtlCol="0" anchor="ctr"/>
          <a:lstStyle/>
          <a:p>
            <a:pPr marL="0" indent="0" algn="ctr">
              <a:lnSpc>
                <a:spcPct val="125000"/>
              </a:lnSpc>
              <a:buNone/>
            </a:pPr>
            <a:r>
              <a:rPr lang="en-US" sz="1000" dirty="0">
                <a:solidFill>
                  <a:srgbClr val="5E6F64"/>
                </a:solidFill>
                <a:latin typeface="Calibri" pitchFamily="34" charset="0"/>
                <a:ea typeface="Calibri" pitchFamily="34" charset="-122"/>
                <a:cs typeface="Calibri" pitchFamily="34" charset="-120"/>
              </a:rPr>
              <a:t>Reference Data cells using = formulas, e.g. =Data!B2 to pull revenue into your metrics view.</a:t>
            </a:r>
            <a:endParaRPr lang="en-US" sz="1000" dirty="0"/>
          </a:p>
        </p:txBody>
      </p:sp>
      <p:sp>
        <p:nvSpPr>
          <p:cNvPr id="19" name="Text 15"/>
          <p:cNvSpPr/>
          <p:nvPr/>
        </p:nvSpPr>
        <p:spPr>
          <a:xfrm>
            <a:off x="5998464" y="3200400"/>
            <a:ext cx="210312" cy="457200"/>
          </a:xfrm>
          <a:prstGeom prst="rect">
            <a:avLst/>
          </a:prstGeom>
          <a:noFill/>
          <a:ln/>
        </p:spPr>
        <p:txBody>
          <a:bodyPr wrap="square" lIns="0" tIns="0" rIns="0" bIns="0" rtlCol="0" anchor="ctr"/>
          <a:lstStyle/>
          <a:p>
            <a:pPr marL="0" indent="0" algn="ctr">
              <a:buNone/>
            </a:pPr>
            <a:r>
              <a:rPr lang="en-US" sz="2000" b="1" dirty="0">
                <a:solidFill>
                  <a:srgbClr val="D7ECDD"/>
                </a:solidFill>
              </a:rPr>
              <a:t>→</a:t>
            </a:r>
            <a:endParaRPr lang="en-US" sz="2000" dirty="0"/>
          </a:p>
        </p:txBody>
      </p:sp>
      <p:sp>
        <p:nvSpPr>
          <p:cNvPr id="20" name="Shape 16"/>
          <p:cNvSpPr/>
          <p:nvPr/>
        </p:nvSpPr>
        <p:spPr>
          <a:xfrm>
            <a:off x="6217920" y="1828800"/>
            <a:ext cx="2606040" cy="3383280"/>
          </a:xfrm>
          <a:prstGeom prst="roundRect">
            <a:avLst>
              <a:gd name="adj" fmla="val 2807"/>
            </a:avLst>
          </a:prstGeom>
          <a:solidFill>
            <a:srgbClr val="FFFFFF"/>
          </a:solidFill>
          <a:ln w="12700">
            <a:solidFill>
              <a:srgbClr val="D7ECDD"/>
            </a:solidFill>
            <a:prstDash val="solid"/>
          </a:ln>
          <a:effectLst>
            <a:outerShdw blurRad="101600" dist="38100" dir="5400000" algn="bl" rotWithShape="0">
              <a:srgbClr val="0B5C33">
                <a:alpha val="12000"/>
              </a:srgbClr>
            </a:outerShdw>
          </a:effectLst>
        </p:spPr>
      </p:sp>
      <p:sp>
        <p:nvSpPr>
          <p:cNvPr id="21" name="Shape 17"/>
          <p:cNvSpPr/>
          <p:nvPr/>
        </p:nvSpPr>
        <p:spPr>
          <a:xfrm>
            <a:off x="7228332" y="1536192"/>
            <a:ext cx="585216" cy="585216"/>
          </a:xfrm>
          <a:prstGeom prst="ellipse">
            <a:avLst/>
          </a:prstGeom>
          <a:solidFill>
            <a:srgbClr val="0B5C33"/>
          </a:solidFill>
          <a:ln w="25400">
            <a:solidFill>
              <a:srgbClr val="FFFFFF"/>
            </a:solidFill>
            <a:prstDash val="solid"/>
          </a:ln>
        </p:spPr>
      </p:sp>
      <p:sp>
        <p:nvSpPr>
          <p:cNvPr id="22" name="Text 18"/>
          <p:cNvSpPr/>
          <p:nvPr/>
        </p:nvSpPr>
        <p:spPr>
          <a:xfrm>
            <a:off x="7228332" y="1536192"/>
            <a:ext cx="585216" cy="585216"/>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3" name="Shape 19"/>
          <p:cNvSpPr/>
          <p:nvPr/>
        </p:nvSpPr>
        <p:spPr>
          <a:xfrm>
            <a:off x="7155180" y="2331720"/>
            <a:ext cx="731520" cy="731520"/>
          </a:xfrm>
          <a:prstGeom prst="ellipse">
            <a:avLst/>
          </a:prstGeom>
          <a:solidFill>
            <a:srgbClr val="EAF7EE"/>
          </a:solidFill>
          <a:ln/>
        </p:spPr>
      </p:sp>
      <p:pic>
        <p:nvPicPr>
          <p:cNvPr id="24" name="Image 2" descr="preencoded.png"/>
          <p:cNvPicPr>
            <a:picLocks noChangeAspect="1"/>
          </p:cNvPicPr>
          <p:nvPr/>
        </p:nvPicPr>
        <p:blipFill>
          <a:blip r:embed="rId5"/>
          <a:stretch>
            <a:fillRect/>
          </a:stretch>
        </p:blipFill>
        <p:spPr>
          <a:xfrm>
            <a:off x="7250278" y="2426818"/>
            <a:ext cx="541325" cy="541325"/>
          </a:xfrm>
          <a:prstGeom prst="rect">
            <a:avLst/>
          </a:prstGeom>
        </p:spPr>
      </p:pic>
      <p:sp>
        <p:nvSpPr>
          <p:cNvPr id="25" name="Text 20"/>
          <p:cNvSpPr/>
          <p:nvPr/>
        </p:nvSpPr>
        <p:spPr>
          <a:xfrm>
            <a:off x="6400800" y="3246120"/>
            <a:ext cx="2240280" cy="502920"/>
          </a:xfrm>
          <a:prstGeom prst="rect">
            <a:avLst/>
          </a:prstGeom>
          <a:noFill/>
          <a:ln/>
        </p:spPr>
        <p:txBody>
          <a:bodyPr wrap="square" lIns="0" tIns="0" rIns="0" bIns="0" rtlCol="0" anchor="ctr"/>
          <a:lstStyle/>
          <a:p>
            <a:pPr marL="0" indent="0" algn="ctr">
              <a:buNone/>
            </a:pPr>
            <a:r>
              <a:rPr lang="en-US" sz="1350" b="1" dirty="0">
                <a:solidFill>
                  <a:srgbClr val="1C2B22"/>
                </a:solidFill>
                <a:latin typeface="Calibri" pitchFamily="34" charset="0"/>
                <a:ea typeface="Calibri" pitchFamily="34" charset="-122"/>
                <a:cs typeface="Calibri" pitchFamily="34" charset="-120"/>
              </a:rPr>
              <a:t>Add Calculated KPIs</a:t>
            </a:r>
            <a:endParaRPr lang="en-US" sz="1350" dirty="0"/>
          </a:p>
        </p:txBody>
      </p:sp>
      <p:sp>
        <p:nvSpPr>
          <p:cNvPr id="26" name="Text 21"/>
          <p:cNvSpPr/>
          <p:nvPr/>
        </p:nvSpPr>
        <p:spPr>
          <a:xfrm>
            <a:off x="6446520" y="3794760"/>
            <a:ext cx="2148840" cy="1280160"/>
          </a:xfrm>
          <a:prstGeom prst="rect">
            <a:avLst/>
          </a:prstGeom>
          <a:noFill/>
          <a:ln/>
        </p:spPr>
        <p:txBody>
          <a:bodyPr wrap="square" lIns="0" tIns="0" rIns="0" bIns="0" rtlCol="0" anchor="ctr"/>
          <a:lstStyle/>
          <a:p>
            <a:pPr marL="0" indent="0" algn="ctr">
              <a:lnSpc>
                <a:spcPct val="125000"/>
              </a:lnSpc>
              <a:buNone/>
            </a:pPr>
            <a:r>
              <a:rPr lang="en-US" sz="1000" dirty="0">
                <a:solidFill>
                  <a:srgbClr val="5E6F64"/>
                </a:solidFill>
                <a:latin typeface="Calibri" pitchFamily="34" charset="0"/>
                <a:ea typeface="Calibri" pitchFamily="34" charset="-122"/>
                <a:cs typeface="Calibri" pitchFamily="34" charset="-120"/>
              </a:rPr>
              <a:t>Use IF and IFERROR to handle zeros. Format cells as Currency, Percentage or Number.</a:t>
            </a:r>
            <a:endParaRPr lang="en-US" sz="1000" dirty="0"/>
          </a:p>
        </p:txBody>
      </p:sp>
      <p:sp>
        <p:nvSpPr>
          <p:cNvPr id="27" name="Text 22"/>
          <p:cNvSpPr/>
          <p:nvPr/>
        </p:nvSpPr>
        <p:spPr>
          <a:xfrm>
            <a:off x="8833104" y="3200400"/>
            <a:ext cx="210312" cy="457200"/>
          </a:xfrm>
          <a:prstGeom prst="rect">
            <a:avLst/>
          </a:prstGeom>
          <a:noFill/>
          <a:ln/>
        </p:spPr>
        <p:txBody>
          <a:bodyPr wrap="square" lIns="0" tIns="0" rIns="0" bIns="0" rtlCol="0" anchor="ctr"/>
          <a:lstStyle/>
          <a:p>
            <a:pPr marL="0" indent="0" algn="ctr">
              <a:buNone/>
            </a:pPr>
            <a:r>
              <a:rPr lang="en-US" sz="2000" b="1" dirty="0">
                <a:solidFill>
                  <a:srgbClr val="D7ECDD"/>
                </a:solidFill>
              </a:rPr>
              <a:t>→</a:t>
            </a:r>
            <a:endParaRPr lang="en-US" sz="2000" dirty="0"/>
          </a:p>
        </p:txBody>
      </p:sp>
      <p:sp>
        <p:nvSpPr>
          <p:cNvPr id="28" name="Shape 23"/>
          <p:cNvSpPr/>
          <p:nvPr/>
        </p:nvSpPr>
        <p:spPr>
          <a:xfrm>
            <a:off x="9052560" y="1828800"/>
            <a:ext cx="2606040" cy="3383280"/>
          </a:xfrm>
          <a:prstGeom prst="roundRect">
            <a:avLst>
              <a:gd name="adj" fmla="val 2807"/>
            </a:avLst>
          </a:prstGeom>
          <a:solidFill>
            <a:srgbClr val="FFFFFF"/>
          </a:solidFill>
          <a:ln w="12700">
            <a:solidFill>
              <a:srgbClr val="D7ECDD"/>
            </a:solidFill>
            <a:prstDash val="solid"/>
          </a:ln>
          <a:effectLst>
            <a:outerShdw blurRad="101600" dist="38100" dir="5400000" algn="bl" rotWithShape="0">
              <a:srgbClr val="0B5C33">
                <a:alpha val="12000"/>
              </a:srgbClr>
            </a:outerShdw>
          </a:effectLst>
        </p:spPr>
      </p:sp>
      <p:sp>
        <p:nvSpPr>
          <p:cNvPr id="29" name="Shape 24"/>
          <p:cNvSpPr/>
          <p:nvPr/>
        </p:nvSpPr>
        <p:spPr>
          <a:xfrm>
            <a:off x="10062972" y="1536192"/>
            <a:ext cx="585216" cy="585216"/>
          </a:xfrm>
          <a:prstGeom prst="ellipse">
            <a:avLst/>
          </a:prstGeom>
          <a:solidFill>
            <a:srgbClr val="0B5C33"/>
          </a:solidFill>
          <a:ln w="25400">
            <a:solidFill>
              <a:srgbClr val="FFFFFF"/>
            </a:solidFill>
            <a:prstDash val="solid"/>
          </a:ln>
        </p:spPr>
      </p:sp>
      <p:sp>
        <p:nvSpPr>
          <p:cNvPr id="30" name="Text 25"/>
          <p:cNvSpPr/>
          <p:nvPr/>
        </p:nvSpPr>
        <p:spPr>
          <a:xfrm>
            <a:off x="10062972" y="1536192"/>
            <a:ext cx="585216" cy="585216"/>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31" name="Shape 26"/>
          <p:cNvSpPr/>
          <p:nvPr/>
        </p:nvSpPr>
        <p:spPr>
          <a:xfrm>
            <a:off x="9989820" y="2331720"/>
            <a:ext cx="731520" cy="731520"/>
          </a:xfrm>
          <a:prstGeom prst="ellipse">
            <a:avLst/>
          </a:prstGeom>
          <a:solidFill>
            <a:srgbClr val="EAF7EE"/>
          </a:solidFill>
          <a:ln/>
        </p:spPr>
      </p:sp>
      <p:pic>
        <p:nvPicPr>
          <p:cNvPr id="32" name="Image 3" descr="preencoded.png"/>
          <p:cNvPicPr>
            <a:picLocks noChangeAspect="1"/>
          </p:cNvPicPr>
          <p:nvPr/>
        </p:nvPicPr>
        <p:blipFill>
          <a:blip r:embed="rId6"/>
          <a:stretch>
            <a:fillRect/>
          </a:stretch>
        </p:blipFill>
        <p:spPr>
          <a:xfrm>
            <a:off x="10084918" y="2426818"/>
            <a:ext cx="541325" cy="541325"/>
          </a:xfrm>
          <a:prstGeom prst="rect">
            <a:avLst/>
          </a:prstGeom>
        </p:spPr>
      </p:pic>
      <p:sp>
        <p:nvSpPr>
          <p:cNvPr id="33" name="Text 27"/>
          <p:cNvSpPr/>
          <p:nvPr/>
        </p:nvSpPr>
        <p:spPr>
          <a:xfrm>
            <a:off x="9235440" y="3246120"/>
            <a:ext cx="2240280" cy="502920"/>
          </a:xfrm>
          <a:prstGeom prst="rect">
            <a:avLst/>
          </a:prstGeom>
          <a:noFill/>
          <a:ln/>
        </p:spPr>
        <p:txBody>
          <a:bodyPr wrap="square" lIns="0" tIns="0" rIns="0" bIns="0" rtlCol="0" anchor="ctr"/>
          <a:lstStyle/>
          <a:p>
            <a:pPr marL="0" indent="0" algn="ctr">
              <a:buNone/>
            </a:pPr>
            <a:r>
              <a:rPr lang="en-US" sz="1350" b="1" dirty="0">
                <a:solidFill>
                  <a:srgbClr val="1C2B22"/>
                </a:solidFill>
                <a:latin typeface="Calibri" pitchFamily="34" charset="0"/>
                <a:ea typeface="Calibri" pitchFamily="34" charset="-122"/>
                <a:cs typeface="Calibri" pitchFamily="34" charset="-120"/>
              </a:rPr>
              <a:t>Build Dashboard</a:t>
            </a:r>
            <a:endParaRPr lang="en-US" sz="1350" dirty="0"/>
          </a:p>
        </p:txBody>
      </p:sp>
      <p:sp>
        <p:nvSpPr>
          <p:cNvPr id="34" name="Text 28"/>
          <p:cNvSpPr/>
          <p:nvPr/>
        </p:nvSpPr>
        <p:spPr>
          <a:xfrm>
            <a:off x="9281160" y="3794760"/>
            <a:ext cx="2148840" cy="1280160"/>
          </a:xfrm>
          <a:prstGeom prst="rect">
            <a:avLst/>
          </a:prstGeom>
          <a:noFill/>
          <a:ln/>
        </p:spPr>
        <p:txBody>
          <a:bodyPr wrap="square" lIns="0" tIns="0" rIns="0" bIns="0" rtlCol="0" anchor="ctr"/>
          <a:lstStyle/>
          <a:p>
            <a:pPr marL="0" indent="0" algn="ctr">
              <a:lnSpc>
                <a:spcPct val="125000"/>
              </a:lnSpc>
              <a:buNone/>
            </a:pPr>
            <a:r>
              <a:rPr lang="en-US" sz="1000" dirty="0">
                <a:solidFill>
                  <a:srgbClr val="5E6F64"/>
                </a:solidFill>
                <a:latin typeface="Calibri" pitchFamily="34" charset="0"/>
                <a:ea typeface="Calibri" pitchFamily="34" charset="-122"/>
                <a:cs typeface="Calibri" pitchFamily="34" charset="-120"/>
              </a:rPr>
              <a:t>Insert Line, Bar and Pie charts. Use Pivot Tables to summarize and slice the data.</a:t>
            </a:r>
            <a:endParaRPr lang="en-US" sz="1000" dirty="0"/>
          </a:p>
        </p:txBody>
      </p:sp>
      <p:sp>
        <p:nvSpPr>
          <p:cNvPr id="35" name="Text 29"/>
          <p:cNvSpPr/>
          <p:nvPr/>
        </p:nvSpPr>
        <p:spPr>
          <a:xfrm>
            <a:off x="457200" y="6537960"/>
            <a:ext cx="5486400" cy="274320"/>
          </a:xfrm>
          <a:prstGeom prst="rect">
            <a:avLst/>
          </a:prstGeom>
          <a:noFill/>
          <a:ln/>
        </p:spPr>
        <p:txBody>
          <a:bodyPr wrap="square" lIns="0" tIns="0" rIns="0" bIns="0" rtlCol="0" anchor="ctr"/>
          <a:lstStyle/>
          <a:p>
            <a:pPr marL="0" indent="0">
              <a:buNone/>
            </a:pPr>
            <a:r>
              <a:rPr lang="en-US" sz="900" dirty="0">
                <a:solidFill>
                  <a:srgbClr val="5E6F64"/>
                </a:solidFill>
                <a:latin typeface="Calibri" pitchFamily="34" charset="0"/>
                <a:ea typeface="Calibri" pitchFamily="34" charset="-122"/>
                <a:cs typeface="Calibri" pitchFamily="34" charset="-120"/>
              </a:rPr>
              <a:t>DMart Revenue &amp; Business Metrics Report</a:t>
            </a:r>
            <a:endParaRPr lang="en-US" sz="900" dirty="0"/>
          </a:p>
        </p:txBody>
      </p:sp>
      <p:sp>
        <p:nvSpPr>
          <p:cNvPr id="36" name="Text 30"/>
          <p:cNvSpPr/>
          <p:nvPr/>
        </p:nvSpPr>
        <p:spPr>
          <a:xfrm>
            <a:off x="11521440" y="6537960"/>
            <a:ext cx="365760" cy="274320"/>
          </a:xfrm>
          <a:prstGeom prst="rect">
            <a:avLst/>
          </a:prstGeom>
          <a:noFill/>
          <a:ln/>
        </p:spPr>
        <p:txBody>
          <a:bodyPr wrap="square" lIns="0" tIns="0" rIns="0" bIns="0" rtlCol="0" anchor="ctr"/>
          <a:lstStyle/>
          <a:p>
            <a:pPr marL="0" indent="0" algn="r">
              <a:buNone/>
            </a:pPr>
            <a:r>
              <a:rPr lang="en-US" sz="900" dirty="0">
                <a:solidFill>
                  <a:srgbClr val="5E6F64"/>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lIns="0" tIns="0" rIns="0" bIns="0" rtlCol="0" anchor="ctr"/>
          <a:lstStyle/>
          <a:p>
            <a:pPr marL="0" indent="0">
              <a:buNone/>
            </a:pPr>
            <a:r>
              <a:rPr lang="en-US" sz="1200" b="1" kern="0" spc="200" dirty="0">
                <a:solidFill>
                  <a:srgbClr val="1E8449"/>
                </a:solidFill>
                <a:latin typeface="Calibri" pitchFamily="34" charset="0"/>
                <a:ea typeface="Calibri" pitchFamily="34" charset="-122"/>
                <a:cs typeface="Calibri" pitchFamily="34" charset="-120"/>
              </a:rPr>
              <a:t>MODULE 4</a:t>
            </a:r>
            <a:endParaRPr lang="en-US" sz="1200" dirty="0"/>
          </a:p>
        </p:txBody>
      </p:sp>
      <p:sp>
        <p:nvSpPr>
          <p:cNvPr id="3" name="Text 1"/>
          <p:cNvSpPr/>
          <p:nvPr/>
        </p:nvSpPr>
        <p:spPr>
          <a:xfrm>
            <a:off x="548640" y="566928"/>
            <a:ext cx="10515600" cy="640080"/>
          </a:xfrm>
          <a:prstGeom prst="rect">
            <a:avLst/>
          </a:prstGeom>
          <a:noFill/>
          <a:ln/>
        </p:spPr>
        <p:txBody>
          <a:bodyPr wrap="square" lIns="0" tIns="0" rIns="0" bIns="0" rtlCol="0" anchor="ctr"/>
          <a:lstStyle/>
          <a:p>
            <a:pPr marL="0" indent="0">
              <a:buNone/>
            </a:pPr>
            <a:r>
              <a:rPr lang="en-US" sz="3000" b="1" dirty="0">
                <a:solidFill>
                  <a:srgbClr val="1C2B22"/>
                </a:solidFill>
                <a:latin typeface="Cambria" pitchFamily="34" charset="0"/>
                <a:ea typeface="Cambria" pitchFamily="34" charset="-122"/>
                <a:cs typeface="Cambria" pitchFamily="34" charset="-120"/>
              </a:rPr>
              <a:t>Dashboard Visualization</a:t>
            </a:r>
            <a:endParaRPr lang="en-US" sz="3000" dirty="0"/>
          </a:p>
        </p:txBody>
      </p:sp>
      <p:sp>
        <p:nvSpPr>
          <p:cNvPr id="4" name="Shape 2"/>
          <p:cNvSpPr/>
          <p:nvPr/>
        </p:nvSpPr>
        <p:spPr>
          <a:xfrm>
            <a:off x="548640" y="1600200"/>
            <a:ext cx="5349240" cy="2148840"/>
          </a:xfrm>
          <a:prstGeom prst="roundRect">
            <a:avLst>
              <a:gd name="adj" fmla="val 3404"/>
            </a:avLst>
          </a:prstGeom>
          <a:solidFill>
            <a:srgbClr val="FFFFFF"/>
          </a:solidFill>
          <a:ln w="12700">
            <a:solidFill>
              <a:srgbClr val="D7ECDD"/>
            </a:solidFill>
            <a:prstDash val="solid"/>
          </a:ln>
          <a:effectLst>
            <a:outerShdw blurRad="101600" dist="38100" dir="5400000" algn="bl" rotWithShape="0">
              <a:srgbClr val="0B5C33">
                <a:alpha val="12000"/>
              </a:srgbClr>
            </a:outerShdw>
          </a:effectLst>
        </p:spPr>
      </p:sp>
      <p:sp>
        <p:nvSpPr>
          <p:cNvPr id="5" name="Shape 3"/>
          <p:cNvSpPr/>
          <p:nvPr/>
        </p:nvSpPr>
        <p:spPr>
          <a:xfrm>
            <a:off x="822960" y="2011680"/>
            <a:ext cx="640080" cy="640080"/>
          </a:xfrm>
          <a:prstGeom prst="ellipse">
            <a:avLst/>
          </a:prstGeom>
          <a:solidFill>
            <a:srgbClr val="EAF7EE"/>
          </a:solidFill>
          <a:ln/>
        </p:spPr>
      </p:sp>
      <p:pic>
        <p:nvPicPr>
          <p:cNvPr id="6" name="Image 0" descr="preencoded.png"/>
          <p:cNvPicPr>
            <a:picLocks noChangeAspect="1"/>
          </p:cNvPicPr>
          <p:nvPr/>
        </p:nvPicPr>
        <p:blipFill>
          <a:blip r:embed="rId3"/>
          <a:stretch>
            <a:fillRect/>
          </a:stretch>
        </p:blipFill>
        <p:spPr>
          <a:xfrm>
            <a:off x="906170" y="2094890"/>
            <a:ext cx="473659" cy="473659"/>
          </a:xfrm>
          <a:prstGeom prst="rect">
            <a:avLst/>
          </a:prstGeom>
        </p:spPr>
      </p:pic>
      <p:sp>
        <p:nvSpPr>
          <p:cNvPr id="7" name="Text 4"/>
          <p:cNvSpPr/>
          <p:nvPr/>
        </p:nvSpPr>
        <p:spPr>
          <a:xfrm>
            <a:off x="1691640" y="2057400"/>
            <a:ext cx="3977640" cy="548640"/>
          </a:xfrm>
          <a:prstGeom prst="rect">
            <a:avLst/>
          </a:prstGeom>
          <a:noFill/>
          <a:ln/>
        </p:spPr>
        <p:txBody>
          <a:bodyPr wrap="square" lIns="0" tIns="0" rIns="0" bIns="0" rtlCol="0" anchor="ctr"/>
          <a:lstStyle/>
          <a:p>
            <a:pPr marL="0" indent="0">
              <a:buNone/>
            </a:pPr>
            <a:r>
              <a:rPr lang="en-US" sz="1600" b="1" dirty="0">
                <a:solidFill>
                  <a:srgbClr val="1C2B22"/>
                </a:solidFill>
                <a:latin typeface="Calibri" pitchFamily="34" charset="0"/>
                <a:ea typeface="Calibri" pitchFamily="34" charset="-122"/>
                <a:cs typeface="Calibri" pitchFamily="34" charset="-120"/>
              </a:rPr>
              <a:t>Charts</a:t>
            </a:r>
            <a:endParaRPr lang="en-US" sz="1600" dirty="0"/>
          </a:p>
        </p:txBody>
      </p:sp>
      <p:sp>
        <p:nvSpPr>
          <p:cNvPr id="8" name="Text 5"/>
          <p:cNvSpPr/>
          <p:nvPr/>
        </p:nvSpPr>
        <p:spPr>
          <a:xfrm>
            <a:off x="822960" y="2834640"/>
            <a:ext cx="4800600" cy="822960"/>
          </a:xfrm>
          <a:prstGeom prst="rect">
            <a:avLst/>
          </a:prstGeom>
          <a:noFill/>
          <a:ln/>
        </p:spPr>
        <p:txBody>
          <a:bodyPr wrap="square" lIns="0" tIns="0" rIns="0" bIns="0" rtlCol="0" anchor="ctr"/>
          <a:lstStyle/>
          <a:p>
            <a:pPr marL="0" indent="0">
              <a:lnSpc>
                <a:spcPct val="130000"/>
              </a:lnSpc>
              <a:buNone/>
            </a:pPr>
            <a:r>
              <a:rPr lang="en-US" sz="1150" dirty="0">
                <a:solidFill>
                  <a:srgbClr val="5E6F64"/>
                </a:solidFill>
                <a:latin typeface="Calibri" pitchFamily="34" charset="0"/>
                <a:ea typeface="Calibri" pitchFamily="34" charset="-122"/>
                <a:cs typeface="Calibri" pitchFamily="34" charset="-120"/>
              </a:rPr>
              <a:t>Line charts for trends, bar charts for comparisons, pie charts for category breakdowns.</a:t>
            </a:r>
            <a:endParaRPr lang="en-US" sz="1150" dirty="0"/>
          </a:p>
        </p:txBody>
      </p:sp>
      <p:sp>
        <p:nvSpPr>
          <p:cNvPr id="9" name="Shape 6"/>
          <p:cNvSpPr/>
          <p:nvPr/>
        </p:nvSpPr>
        <p:spPr>
          <a:xfrm>
            <a:off x="6172200" y="1600200"/>
            <a:ext cx="5349240" cy="2148840"/>
          </a:xfrm>
          <a:prstGeom prst="roundRect">
            <a:avLst>
              <a:gd name="adj" fmla="val 3404"/>
            </a:avLst>
          </a:prstGeom>
          <a:solidFill>
            <a:srgbClr val="FFFFFF"/>
          </a:solidFill>
          <a:ln w="12700">
            <a:solidFill>
              <a:srgbClr val="D7ECDD"/>
            </a:solidFill>
            <a:prstDash val="solid"/>
          </a:ln>
          <a:effectLst>
            <a:outerShdw blurRad="101600" dist="38100" dir="5400000" algn="bl" rotWithShape="0">
              <a:srgbClr val="0B5C33">
                <a:alpha val="12000"/>
              </a:srgbClr>
            </a:outerShdw>
          </a:effectLst>
        </p:spPr>
      </p:sp>
      <p:sp>
        <p:nvSpPr>
          <p:cNvPr id="10" name="Shape 7"/>
          <p:cNvSpPr/>
          <p:nvPr/>
        </p:nvSpPr>
        <p:spPr>
          <a:xfrm>
            <a:off x="6446520" y="2011680"/>
            <a:ext cx="640080" cy="640080"/>
          </a:xfrm>
          <a:prstGeom prst="ellipse">
            <a:avLst/>
          </a:prstGeom>
          <a:solidFill>
            <a:srgbClr val="EAF7EE"/>
          </a:solidFill>
          <a:ln/>
        </p:spPr>
      </p:sp>
      <p:pic>
        <p:nvPicPr>
          <p:cNvPr id="11" name="Image 1" descr="preencoded.png"/>
          <p:cNvPicPr>
            <a:picLocks noChangeAspect="1"/>
          </p:cNvPicPr>
          <p:nvPr/>
        </p:nvPicPr>
        <p:blipFill>
          <a:blip r:embed="rId4"/>
          <a:stretch>
            <a:fillRect/>
          </a:stretch>
        </p:blipFill>
        <p:spPr>
          <a:xfrm>
            <a:off x="6529730" y="2094890"/>
            <a:ext cx="473659" cy="473659"/>
          </a:xfrm>
          <a:prstGeom prst="rect">
            <a:avLst/>
          </a:prstGeom>
        </p:spPr>
      </p:pic>
      <p:sp>
        <p:nvSpPr>
          <p:cNvPr id="12" name="Text 8"/>
          <p:cNvSpPr/>
          <p:nvPr/>
        </p:nvSpPr>
        <p:spPr>
          <a:xfrm>
            <a:off x="7315200" y="2057400"/>
            <a:ext cx="3977640" cy="548640"/>
          </a:xfrm>
          <a:prstGeom prst="rect">
            <a:avLst/>
          </a:prstGeom>
          <a:noFill/>
          <a:ln/>
        </p:spPr>
        <p:txBody>
          <a:bodyPr wrap="square" lIns="0" tIns="0" rIns="0" bIns="0" rtlCol="0" anchor="ctr"/>
          <a:lstStyle/>
          <a:p>
            <a:pPr marL="0" indent="0">
              <a:buNone/>
            </a:pPr>
            <a:r>
              <a:rPr lang="en-US" sz="1600" b="1" dirty="0">
                <a:solidFill>
                  <a:srgbClr val="1C2B22"/>
                </a:solidFill>
                <a:latin typeface="Calibri" pitchFamily="34" charset="0"/>
                <a:ea typeface="Calibri" pitchFamily="34" charset="-122"/>
                <a:cs typeface="Calibri" pitchFamily="34" charset="-120"/>
              </a:rPr>
              <a:t>Pivot Tables</a:t>
            </a:r>
            <a:endParaRPr lang="en-US" sz="1600" dirty="0"/>
          </a:p>
        </p:txBody>
      </p:sp>
      <p:sp>
        <p:nvSpPr>
          <p:cNvPr id="13" name="Text 9"/>
          <p:cNvSpPr/>
          <p:nvPr/>
        </p:nvSpPr>
        <p:spPr>
          <a:xfrm>
            <a:off x="6446520" y="2834640"/>
            <a:ext cx="4800600" cy="822960"/>
          </a:xfrm>
          <a:prstGeom prst="rect">
            <a:avLst/>
          </a:prstGeom>
          <a:noFill/>
          <a:ln/>
        </p:spPr>
        <p:txBody>
          <a:bodyPr wrap="square" lIns="0" tIns="0" rIns="0" bIns="0" rtlCol="0" anchor="ctr"/>
          <a:lstStyle/>
          <a:p>
            <a:pPr marL="0" indent="0">
              <a:lnSpc>
                <a:spcPct val="130000"/>
              </a:lnSpc>
              <a:buNone/>
            </a:pPr>
            <a:r>
              <a:rPr lang="en-US" sz="1150" dirty="0">
                <a:solidFill>
                  <a:srgbClr val="5E6F64"/>
                </a:solidFill>
                <a:latin typeface="Calibri" pitchFamily="34" charset="0"/>
                <a:ea typeface="Calibri" pitchFamily="34" charset="-122"/>
                <a:cs typeface="Calibri" pitchFamily="34" charset="-120"/>
              </a:rPr>
              <a:t>Summarize thousands of rows into clean monthly or category-level KPI views instantly.</a:t>
            </a:r>
            <a:endParaRPr lang="en-US" sz="1150" dirty="0"/>
          </a:p>
        </p:txBody>
      </p:sp>
      <p:sp>
        <p:nvSpPr>
          <p:cNvPr id="14" name="Shape 10"/>
          <p:cNvSpPr/>
          <p:nvPr/>
        </p:nvSpPr>
        <p:spPr>
          <a:xfrm>
            <a:off x="548640" y="4023360"/>
            <a:ext cx="5349240" cy="2148840"/>
          </a:xfrm>
          <a:prstGeom prst="roundRect">
            <a:avLst>
              <a:gd name="adj" fmla="val 3404"/>
            </a:avLst>
          </a:prstGeom>
          <a:solidFill>
            <a:srgbClr val="FFFFFF"/>
          </a:solidFill>
          <a:ln w="12700">
            <a:solidFill>
              <a:srgbClr val="D7ECDD"/>
            </a:solidFill>
            <a:prstDash val="solid"/>
          </a:ln>
          <a:effectLst>
            <a:outerShdw blurRad="101600" dist="38100" dir="5400000" algn="bl" rotWithShape="0">
              <a:srgbClr val="0B5C33">
                <a:alpha val="12000"/>
              </a:srgbClr>
            </a:outerShdw>
          </a:effectLst>
        </p:spPr>
      </p:sp>
      <p:sp>
        <p:nvSpPr>
          <p:cNvPr id="15" name="Shape 11"/>
          <p:cNvSpPr/>
          <p:nvPr/>
        </p:nvSpPr>
        <p:spPr>
          <a:xfrm>
            <a:off x="822960" y="4434840"/>
            <a:ext cx="640080" cy="640080"/>
          </a:xfrm>
          <a:prstGeom prst="ellipse">
            <a:avLst/>
          </a:prstGeom>
          <a:solidFill>
            <a:srgbClr val="EAF7EE"/>
          </a:solidFill>
          <a:ln/>
        </p:spPr>
      </p:sp>
      <p:pic>
        <p:nvPicPr>
          <p:cNvPr id="16" name="Image 2" descr="preencoded.png"/>
          <p:cNvPicPr>
            <a:picLocks noChangeAspect="1"/>
          </p:cNvPicPr>
          <p:nvPr/>
        </p:nvPicPr>
        <p:blipFill>
          <a:blip r:embed="rId5"/>
          <a:stretch>
            <a:fillRect/>
          </a:stretch>
        </p:blipFill>
        <p:spPr>
          <a:xfrm>
            <a:off x="906170" y="4518050"/>
            <a:ext cx="473659" cy="473659"/>
          </a:xfrm>
          <a:prstGeom prst="rect">
            <a:avLst/>
          </a:prstGeom>
        </p:spPr>
      </p:pic>
      <p:sp>
        <p:nvSpPr>
          <p:cNvPr id="17" name="Text 12"/>
          <p:cNvSpPr/>
          <p:nvPr/>
        </p:nvSpPr>
        <p:spPr>
          <a:xfrm>
            <a:off x="1691640" y="4480560"/>
            <a:ext cx="3977640" cy="548640"/>
          </a:xfrm>
          <a:prstGeom prst="rect">
            <a:avLst/>
          </a:prstGeom>
          <a:noFill/>
          <a:ln/>
        </p:spPr>
        <p:txBody>
          <a:bodyPr wrap="square" lIns="0" tIns="0" rIns="0" bIns="0" rtlCol="0" anchor="ctr"/>
          <a:lstStyle/>
          <a:p>
            <a:pPr marL="0" indent="0">
              <a:buNone/>
            </a:pPr>
            <a:r>
              <a:rPr lang="en-US" sz="1600" b="1" dirty="0">
                <a:solidFill>
                  <a:srgbClr val="1C2B22"/>
                </a:solidFill>
                <a:latin typeface="Calibri" pitchFamily="34" charset="0"/>
                <a:ea typeface="Calibri" pitchFamily="34" charset="-122"/>
                <a:cs typeface="Calibri" pitchFamily="34" charset="-120"/>
              </a:rPr>
              <a:t>Conditional Formatting</a:t>
            </a:r>
            <a:endParaRPr lang="en-US" sz="1600" dirty="0"/>
          </a:p>
        </p:txBody>
      </p:sp>
      <p:sp>
        <p:nvSpPr>
          <p:cNvPr id="18" name="Text 13"/>
          <p:cNvSpPr/>
          <p:nvPr/>
        </p:nvSpPr>
        <p:spPr>
          <a:xfrm>
            <a:off x="822960" y="5257800"/>
            <a:ext cx="4800600" cy="822960"/>
          </a:xfrm>
          <a:prstGeom prst="rect">
            <a:avLst/>
          </a:prstGeom>
          <a:noFill/>
          <a:ln/>
        </p:spPr>
        <p:txBody>
          <a:bodyPr wrap="square" lIns="0" tIns="0" rIns="0" bIns="0" rtlCol="0" anchor="ctr"/>
          <a:lstStyle/>
          <a:p>
            <a:pPr marL="0" indent="0">
              <a:lnSpc>
                <a:spcPct val="130000"/>
              </a:lnSpc>
              <a:buNone/>
            </a:pPr>
            <a:r>
              <a:rPr lang="en-US" sz="1150" dirty="0">
                <a:solidFill>
                  <a:srgbClr val="5E6F64"/>
                </a:solidFill>
                <a:latin typeface="Calibri" pitchFamily="34" charset="0"/>
                <a:ea typeface="Calibri" pitchFamily="34" charset="-122"/>
                <a:cs typeface="Calibri" pitchFamily="34" charset="-120"/>
              </a:rPr>
              <a:t>Auto-highlight above-average revenue months or breached KPI thresholds in color.</a:t>
            </a:r>
            <a:endParaRPr lang="en-US" sz="1150" dirty="0"/>
          </a:p>
        </p:txBody>
      </p:sp>
      <p:sp>
        <p:nvSpPr>
          <p:cNvPr id="19" name="Shape 14"/>
          <p:cNvSpPr/>
          <p:nvPr/>
        </p:nvSpPr>
        <p:spPr>
          <a:xfrm>
            <a:off x="6172200" y="4023360"/>
            <a:ext cx="5349240" cy="2148840"/>
          </a:xfrm>
          <a:prstGeom prst="roundRect">
            <a:avLst>
              <a:gd name="adj" fmla="val 3404"/>
            </a:avLst>
          </a:prstGeom>
          <a:solidFill>
            <a:srgbClr val="FFFFFF"/>
          </a:solidFill>
          <a:ln w="12700">
            <a:solidFill>
              <a:srgbClr val="D7ECDD"/>
            </a:solidFill>
            <a:prstDash val="solid"/>
          </a:ln>
          <a:effectLst>
            <a:outerShdw blurRad="101600" dist="38100" dir="5400000" algn="bl" rotWithShape="0">
              <a:srgbClr val="0B5C33">
                <a:alpha val="12000"/>
              </a:srgbClr>
            </a:outerShdw>
          </a:effectLst>
        </p:spPr>
      </p:sp>
      <p:sp>
        <p:nvSpPr>
          <p:cNvPr id="20" name="Shape 15"/>
          <p:cNvSpPr/>
          <p:nvPr/>
        </p:nvSpPr>
        <p:spPr>
          <a:xfrm>
            <a:off x="6446520" y="4434840"/>
            <a:ext cx="640080" cy="640080"/>
          </a:xfrm>
          <a:prstGeom prst="ellipse">
            <a:avLst/>
          </a:prstGeom>
          <a:solidFill>
            <a:srgbClr val="EAF7EE"/>
          </a:solidFill>
          <a:ln/>
        </p:spPr>
      </p:sp>
      <p:pic>
        <p:nvPicPr>
          <p:cNvPr id="21" name="Image 3" descr="preencoded.png"/>
          <p:cNvPicPr>
            <a:picLocks noChangeAspect="1"/>
          </p:cNvPicPr>
          <p:nvPr/>
        </p:nvPicPr>
        <p:blipFill>
          <a:blip r:embed="rId6"/>
          <a:stretch>
            <a:fillRect/>
          </a:stretch>
        </p:blipFill>
        <p:spPr>
          <a:xfrm>
            <a:off x="6529730" y="4518050"/>
            <a:ext cx="473659" cy="473659"/>
          </a:xfrm>
          <a:prstGeom prst="rect">
            <a:avLst/>
          </a:prstGeom>
        </p:spPr>
      </p:pic>
      <p:sp>
        <p:nvSpPr>
          <p:cNvPr id="22" name="Text 16"/>
          <p:cNvSpPr/>
          <p:nvPr/>
        </p:nvSpPr>
        <p:spPr>
          <a:xfrm>
            <a:off x="7315200" y="4480560"/>
            <a:ext cx="3977640" cy="548640"/>
          </a:xfrm>
          <a:prstGeom prst="rect">
            <a:avLst/>
          </a:prstGeom>
          <a:noFill/>
          <a:ln/>
        </p:spPr>
        <p:txBody>
          <a:bodyPr wrap="square" lIns="0" tIns="0" rIns="0" bIns="0" rtlCol="0" anchor="ctr"/>
          <a:lstStyle/>
          <a:p>
            <a:pPr marL="0" indent="0">
              <a:buNone/>
            </a:pPr>
            <a:r>
              <a:rPr lang="en-US" sz="1600" b="1" dirty="0">
                <a:solidFill>
                  <a:srgbClr val="1C2B22"/>
                </a:solidFill>
                <a:latin typeface="Calibri" pitchFamily="34" charset="0"/>
                <a:ea typeface="Calibri" pitchFamily="34" charset="-122"/>
                <a:cs typeface="Calibri" pitchFamily="34" charset="-120"/>
              </a:rPr>
              <a:t>Interactive Reporting</a:t>
            </a:r>
            <a:endParaRPr lang="en-US" sz="1600" dirty="0"/>
          </a:p>
        </p:txBody>
      </p:sp>
      <p:sp>
        <p:nvSpPr>
          <p:cNvPr id="23" name="Text 17"/>
          <p:cNvSpPr/>
          <p:nvPr/>
        </p:nvSpPr>
        <p:spPr>
          <a:xfrm>
            <a:off x="6446520" y="5257800"/>
            <a:ext cx="4800600" cy="822960"/>
          </a:xfrm>
          <a:prstGeom prst="rect">
            <a:avLst/>
          </a:prstGeom>
          <a:noFill/>
          <a:ln/>
        </p:spPr>
        <p:txBody>
          <a:bodyPr wrap="square" lIns="0" tIns="0" rIns="0" bIns="0" rtlCol="0" anchor="ctr"/>
          <a:lstStyle/>
          <a:p>
            <a:pPr marL="0" indent="0">
              <a:lnSpc>
                <a:spcPct val="130000"/>
              </a:lnSpc>
              <a:buNone/>
            </a:pPr>
            <a:r>
              <a:rPr lang="en-US" sz="1150" dirty="0">
                <a:solidFill>
                  <a:srgbClr val="5E6F64"/>
                </a:solidFill>
                <a:latin typeface="Calibri" pitchFamily="34" charset="0"/>
                <a:ea typeface="Calibri" pitchFamily="34" charset="-122"/>
                <a:cs typeface="Calibri" pitchFamily="34" charset="-120"/>
              </a:rPr>
              <a:t>Slicers and dropdown filters let stakeholders explore the data without touching formulas.</a:t>
            </a:r>
            <a:endParaRPr lang="en-US" sz="1150" dirty="0"/>
          </a:p>
        </p:txBody>
      </p:sp>
      <p:sp>
        <p:nvSpPr>
          <p:cNvPr id="24" name="Text 18"/>
          <p:cNvSpPr/>
          <p:nvPr/>
        </p:nvSpPr>
        <p:spPr>
          <a:xfrm>
            <a:off x="457200" y="6537960"/>
            <a:ext cx="5486400" cy="274320"/>
          </a:xfrm>
          <a:prstGeom prst="rect">
            <a:avLst/>
          </a:prstGeom>
          <a:noFill/>
          <a:ln/>
        </p:spPr>
        <p:txBody>
          <a:bodyPr wrap="square" lIns="0" tIns="0" rIns="0" bIns="0" rtlCol="0" anchor="ctr"/>
          <a:lstStyle/>
          <a:p>
            <a:pPr marL="0" indent="0">
              <a:buNone/>
            </a:pPr>
            <a:r>
              <a:rPr lang="en-US" sz="900" dirty="0">
                <a:solidFill>
                  <a:srgbClr val="5E6F64"/>
                </a:solidFill>
                <a:latin typeface="Calibri" pitchFamily="34" charset="0"/>
                <a:ea typeface="Calibri" pitchFamily="34" charset="-122"/>
                <a:cs typeface="Calibri" pitchFamily="34" charset="-120"/>
              </a:rPr>
              <a:t>DMart Revenue &amp; Business Metrics Report</a:t>
            </a:r>
            <a:endParaRPr lang="en-US" sz="900" dirty="0"/>
          </a:p>
        </p:txBody>
      </p:sp>
      <p:sp>
        <p:nvSpPr>
          <p:cNvPr id="25" name="Text 19"/>
          <p:cNvSpPr/>
          <p:nvPr/>
        </p:nvSpPr>
        <p:spPr>
          <a:xfrm>
            <a:off x="11521440" y="6537960"/>
            <a:ext cx="365760" cy="274320"/>
          </a:xfrm>
          <a:prstGeom prst="rect">
            <a:avLst/>
          </a:prstGeom>
          <a:noFill/>
          <a:ln/>
        </p:spPr>
        <p:txBody>
          <a:bodyPr wrap="square" lIns="0" tIns="0" rIns="0" bIns="0" rtlCol="0" anchor="ctr"/>
          <a:lstStyle/>
          <a:p>
            <a:pPr marL="0" indent="0" algn="r">
              <a:buNone/>
            </a:pPr>
            <a:r>
              <a:rPr lang="en-US" sz="900" dirty="0">
                <a:solidFill>
                  <a:srgbClr val="5E6F64"/>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lIns="0" tIns="0" rIns="0" bIns="0" rtlCol="0" anchor="ctr"/>
          <a:lstStyle/>
          <a:p>
            <a:pPr marL="0" indent="0">
              <a:buNone/>
            </a:pPr>
            <a:r>
              <a:rPr lang="en-US" sz="1200" b="1" kern="0" spc="200" dirty="0">
                <a:solidFill>
                  <a:srgbClr val="1E8449"/>
                </a:solidFill>
                <a:latin typeface="Calibri" pitchFamily="34" charset="0"/>
                <a:ea typeface="Calibri" pitchFamily="34" charset="-122"/>
                <a:cs typeface="Calibri" pitchFamily="34" charset="-120"/>
              </a:rPr>
              <a:t>QUICK REFERENCE</a:t>
            </a:r>
            <a:endParaRPr lang="en-US" sz="1200" dirty="0"/>
          </a:p>
        </p:txBody>
      </p:sp>
      <p:sp>
        <p:nvSpPr>
          <p:cNvPr id="3" name="Text 1"/>
          <p:cNvSpPr/>
          <p:nvPr/>
        </p:nvSpPr>
        <p:spPr>
          <a:xfrm>
            <a:off x="548640" y="566928"/>
            <a:ext cx="10515600" cy="640080"/>
          </a:xfrm>
          <a:prstGeom prst="rect">
            <a:avLst/>
          </a:prstGeom>
          <a:noFill/>
          <a:ln/>
        </p:spPr>
        <p:txBody>
          <a:bodyPr wrap="square" lIns="0" tIns="0" rIns="0" bIns="0" rtlCol="0" anchor="ctr"/>
          <a:lstStyle/>
          <a:p>
            <a:pPr marL="0" indent="0">
              <a:buNone/>
            </a:pPr>
            <a:r>
              <a:rPr lang="en-US" sz="3000" b="1" dirty="0">
                <a:solidFill>
                  <a:srgbClr val="1C2B22"/>
                </a:solidFill>
                <a:latin typeface="Cambria" pitchFamily="34" charset="0"/>
                <a:ea typeface="Cambria" pitchFamily="34" charset="-122"/>
                <a:cs typeface="Cambria" pitchFamily="34" charset="-120"/>
              </a:rPr>
              <a:t>Formula Cheat Sheet</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5486400" cy="4023360"/>
        </p:xfrm>
        <a:graphic>
          <a:graphicData uri="http://schemas.openxmlformats.org/drawingml/2006/table">
            <a:tbl>
              <a:tblPr/>
              <a:tblGrid>
                <a:gridCol w="20116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502920">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Metric</a:t>
                      </a:r>
                      <a:endParaRPr lang="en-US" sz="10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0B5C33"/>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Excel Formula</a:t>
                      </a:r>
                      <a:endParaRPr lang="en-US" sz="10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0B5C33"/>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Format</a:t>
                      </a:r>
                      <a:endParaRPr lang="en-US" sz="10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0B5C33"/>
                    </a:solidFill>
                  </a:tcPr>
                </a:tc>
                <a:extLst>
                  <a:ext uri="{0D108BD9-81ED-4DB2-BD59-A6C34878D82A}">
                    <a16:rowId xmlns:a16="http://schemas.microsoft.com/office/drawing/2014/main" val="10000"/>
                  </a:ext>
                </a:extLst>
              </a:tr>
              <a:tr h="502920">
                <a:tc>
                  <a:txBody>
                    <a:bodyPr/>
                    <a:lstStyle/>
                    <a:p>
                      <a:pPr marL="0" indent="0">
                        <a:buNone/>
                      </a:pPr>
                      <a:r>
                        <a:rPr lang="en-US" sz="1000" dirty="0">
                          <a:solidFill>
                            <a:srgbClr val="1C2B22"/>
                          </a:solidFill>
                          <a:latin typeface="Calibri" pitchFamily="34" charset="0"/>
                          <a:ea typeface="Calibri" pitchFamily="34" charset="-122"/>
                          <a:cs typeface="Calibri" pitchFamily="34" charset="-120"/>
                        </a:rPr>
                        <a:t>Total Revenue</a:t>
                      </a:r>
                      <a:endParaRPr lang="en-US" sz="10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FFFFFF"/>
                    </a:solidFill>
                  </a:tcPr>
                </a:tc>
                <a:tc>
                  <a:txBody>
                    <a:bodyPr/>
                    <a:lstStyle/>
                    <a:p>
                      <a:pPr marL="0" indent="0">
                        <a:buNone/>
                      </a:pPr>
                      <a:r>
                        <a:rPr lang="en-US" sz="1000" dirty="0">
                          <a:solidFill>
                            <a:srgbClr val="1E8449"/>
                          </a:solidFill>
                          <a:latin typeface="Courier New" pitchFamily="34" charset="0"/>
                          <a:ea typeface="Courier New" pitchFamily="34" charset="-122"/>
                          <a:cs typeface="Courier New" pitchFamily="34" charset="-120"/>
                        </a:rPr>
                        <a:t>=SUM(B2:B13)</a:t>
                      </a:r>
                      <a:endParaRPr lang="en-US" sz="1000" dirty="0">
                        <a:latin typeface="Courier New" charset="0"/>
                        <a:ea typeface="Courier New" charset="0"/>
                        <a:cs typeface="Courier New"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FFFFFF"/>
                    </a:solidFill>
                  </a:tcPr>
                </a:tc>
                <a:tc>
                  <a:txBody>
                    <a:bodyPr/>
                    <a:lstStyle/>
                    <a:p>
                      <a:pPr marL="0" indent="0">
                        <a:buNone/>
                      </a:pPr>
                      <a:r>
                        <a:rPr lang="en-US" sz="1000" dirty="0">
                          <a:solidFill>
                            <a:srgbClr val="1C2B22"/>
                          </a:solidFill>
                          <a:latin typeface="Calibri" pitchFamily="34" charset="0"/>
                          <a:ea typeface="Calibri" pitchFamily="34" charset="-122"/>
                          <a:cs typeface="Calibri" pitchFamily="34" charset="-120"/>
                        </a:rPr>
                        <a:t>Currency</a:t>
                      </a:r>
                      <a:endParaRPr lang="en-US" sz="10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000" dirty="0">
                          <a:solidFill>
                            <a:srgbClr val="1C2B22"/>
                          </a:solidFill>
                          <a:latin typeface="Calibri" pitchFamily="34" charset="0"/>
                          <a:ea typeface="Calibri" pitchFamily="34" charset="-122"/>
                          <a:cs typeface="Calibri" pitchFamily="34" charset="-120"/>
                        </a:rPr>
                        <a:t>Avg Monthly Revenue</a:t>
                      </a:r>
                      <a:endParaRPr lang="en-US" sz="10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F4FBF6"/>
                    </a:solidFill>
                  </a:tcPr>
                </a:tc>
                <a:tc>
                  <a:txBody>
                    <a:bodyPr/>
                    <a:lstStyle/>
                    <a:p>
                      <a:pPr marL="0" indent="0">
                        <a:buNone/>
                      </a:pPr>
                      <a:r>
                        <a:rPr lang="en-US" sz="1000" dirty="0">
                          <a:solidFill>
                            <a:srgbClr val="1E8449"/>
                          </a:solidFill>
                          <a:latin typeface="Courier New" pitchFamily="34" charset="0"/>
                          <a:ea typeface="Courier New" pitchFamily="34" charset="-122"/>
                          <a:cs typeface="Courier New" pitchFamily="34" charset="-120"/>
                        </a:rPr>
                        <a:t>=AVERAGE(B2:B13)</a:t>
                      </a:r>
                      <a:endParaRPr lang="en-US" sz="1000" dirty="0">
                        <a:latin typeface="Courier New" charset="0"/>
                        <a:ea typeface="Courier New" charset="0"/>
                        <a:cs typeface="Courier New"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F4FBF6"/>
                    </a:solidFill>
                  </a:tcPr>
                </a:tc>
                <a:tc>
                  <a:txBody>
                    <a:bodyPr/>
                    <a:lstStyle/>
                    <a:p>
                      <a:pPr marL="0" indent="0">
                        <a:buNone/>
                      </a:pPr>
                      <a:r>
                        <a:rPr lang="en-US" sz="1000" dirty="0">
                          <a:solidFill>
                            <a:srgbClr val="1C2B22"/>
                          </a:solidFill>
                          <a:latin typeface="Calibri" pitchFamily="34" charset="0"/>
                          <a:ea typeface="Calibri" pitchFamily="34" charset="-122"/>
                          <a:cs typeface="Calibri" pitchFamily="34" charset="-120"/>
                        </a:rPr>
                        <a:t>Currency</a:t>
                      </a:r>
                      <a:endParaRPr lang="en-US" sz="10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F4FBF6"/>
                    </a:solidFill>
                  </a:tcPr>
                </a:tc>
                <a:extLst>
                  <a:ext uri="{0D108BD9-81ED-4DB2-BD59-A6C34878D82A}">
                    <a16:rowId xmlns:a16="http://schemas.microsoft.com/office/drawing/2014/main" val="10002"/>
                  </a:ext>
                </a:extLst>
              </a:tr>
              <a:tr h="502920">
                <a:tc>
                  <a:txBody>
                    <a:bodyPr/>
                    <a:lstStyle/>
                    <a:p>
                      <a:pPr marL="0" indent="0">
                        <a:buNone/>
                      </a:pPr>
                      <a:r>
                        <a:rPr lang="en-US" sz="1000" dirty="0">
                          <a:solidFill>
                            <a:srgbClr val="1C2B22"/>
                          </a:solidFill>
                          <a:latin typeface="Calibri" pitchFamily="34" charset="0"/>
                          <a:ea typeface="Calibri" pitchFamily="34" charset="-122"/>
                          <a:cs typeface="Calibri" pitchFamily="34" charset="-120"/>
                        </a:rPr>
                        <a:t>Revenue Growth %</a:t>
                      </a:r>
                      <a:endParaRPr lang="en-US" sz="10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FFFFFF"/>
                    </a:solidFill>
                  </a:tcPr>
                </a:tc>
                <a:tc>
                  <a:txBody>
                    <a:bodyPr/>
                    <a:lstStyle/>
                    <a:p>
                      <a:pPr marL="0" indent="0">
                        <a:buNone/>
                      </a:pPr>
                      <a:r>
                        <a:rPr lang="en-US" sz="1000" dirty="0">
                          <a:solidFill>
                            <a:srgbClr val="1E8449"/>
                          </a:solidFill>
                          <a:latin typeface="Courier New" pitchFamily="34" charset="0"/>
                          <a:ea typeface="Courier New" pitchFamily="34" charset="-122"/>
                          <a:cs typeface="Courier New" pitchFamily="34" charset="-120"/>
                        </a:rPr>
                        <a:t>=(B13-B2)/B2*100</a:t>
                      </a:r>
                      <a:endParaRPr lang="en-US" sz="1000" dirty="0">
                        <a:latin typeface="Courier New" charset="0"/>
                        <a:ea typeface="Courier New" charset="0"/>
                        <a:cs typeface="Courier New"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FFFFFF"/>
                    </a:solidFill>
                  </a:tcPr>
                </a:tc>
                <a:tc>
                  <a:txBody>
                    <a:bodyPr/>
                    <a:lstStyle/>
                    <a:p>
                      <a:pPr marL="0" indent="0">
                        <a:buNone/>
                      </a:pPr>
                      <a:r>
                        <a:rPr lang="en-US" sz="1000" dirty="0">
                          <a:solidFill>
                            <a:srgbClr val="1C2B22"/>
                          </a:solidFill>
                          <a:latin typeface="Calibri" pitchFamily="34" charset="0"/>
                          <a:ea typeface="Calibri" pitchFamily="34" charset="-122"/>
                          <a:cs typeface="Calibri" pitchFamily="34" charset="-120"/>
                        </a:rPr>
                        <a:t>Percentage</a:t>
                      </a:r>
                      <a:endParaRPr lang="en-US" sz="10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000" dirty="0">
                          <a:solidFill>
                            <a:srgbClr val="1C2B22"/>
                          </a:solidFill>
                          <a:latin typeface="Calibri" pitchFamily="34" charset="0"/>
                          <a:ea typeface="Calibri" pitchFamily="34" charset="-122"/>
                          <a:cs typeface="Calibri" pitchFamily="34" charset="-120"/>
                        </a:rPr>
                        <a:t>Gross Profit</a:t>
                      </a:r>
                      <a:endParaRPr lang="en-US" sz="10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F4FBF6"/>
                    </a:solidFill>
                  </a:tcPr>
                </a:tc>
                <a:tc>
                  <a:txBody>
                    <a:bodyPr/>
                    <a:lstStyle/>
                    <a:p>
                      <a:pPr marL="0" indent="0">
                        <a:buNone/>
                      </a:pPr>
                      <a:r>
                        <a:rPr lang="en-US" sz="1000" dirty="0">
                          <a:solidFill>
                            <a:srgbClr val="1E8449"/>
                          </a:solidFill>
                          <a:latin typeface="Courier New" pitchFamily="34" charset="0"/>
                          <a:ea typeface="Courier New" pitchFamily="34" charset="-122"/>
                          <a:cs typeface="Courier New" pitchFamily="34" charset="-120"/>
                        </a:rPr>
                        <a:t>=B2-C2</a:t>
                      </a:r>
                      <a:endParaRPr lang="en-US" sz="1000" dirty="0">
                        <a:latin typeface="Courier New" charset="0"/>
                        <a:ea typeface="Courier New" charset="0"/>
                        <a:cs typeface="Courier New"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F4FBF6"/>
                    </a:solidFill>
                  </a:tcPr>
                </a:tc>
                <a:tc>
                  <a:txBody>
                    <a:bodyPr/>
                    <a:lstStyle/>
                    <a:p>
                      <a:pPr marL="0" indent="0">
                        <a:buNone/>
                      </a:pPr>
                      <a:r>
                        <a:rPr lang="en-US" sz="1000" dirty="0">
                          <a:solidFill>
                            <a:srgbClr val="1C2B22"/>
                          </a:solidFill>
                          <a:latin typeface="Calibri" pitchFamily="34" charset="0"/>
                          <a:ea typeface="Calibri" pitchFamily="34" charset="-122"/>
                          <a:cs typeface="Calibri" pitchFamily="34" charset="-120"/>
                        </a:rPr>
                        <a:t>Currency</a:t>
                      </a:r>
                      <a:endParaRPr lang="en-US" sz="10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F4FBF6"/>
                    </a:solidFill>
                  </a:tcPr>
                </a:tc>
                <a:extLst>
                  <a:ext uri="{0D108BD9-81ED-4DB2-BD59-A6C34878D82A}">
                    <a16:rowId xmlns:a16="http://schemas.microsoft.com/office/drawing/2014/main" val="10004"/>
                  </a:ext>
                </a:extLst>
              </a:tr>
              <a:tr h="502920">
                <a:tc>
                  <a:txBody>
                    <a:bodyPr/>
                    <a:lstStyle/>
                    <a:p>
                      <a:pPr marL="0" indent="0">
                        <a:buNone/>
                      </a:pPr>
                      <a:r>
                        <a:rPr lang="en-US" sz="1000" dirty="0">
                          <a:solidFill>
                            <a:srgbClr val="1C2B22"/>
                          </a:solidFill>
                          <a:latin typeface="Calibri" pitchFamily="34" charset="0"/>
                          <a:ea typeface="Calibri" pitchFamily="34" charset="-122"/>
                          <a:cs typeface="Calibri" pitchFamily="34" charset="-120"/>
                        </a:rPr>
                        <a:t>Gross Margin %</a:t>
                      </a:r>
                      <a:endParaRPr lang="en-US" sz="10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FFFFFF"/>
                    </a:solidFill>
                  </a:tcPr>
                </a:tc>
                <a:tc>
                  <a:txBody>
                    <a:bodyPr/>
                    <a:lstStyle/>
                    <a:p>
                      <a:pPr marL="0" indent="0">
                        <a:buNone/>
                      </a:pPr>
                      <a:r>
                        <a:rPr lang="en-US" sz="1000" dirty="0">
                          <a:solidFill>
                            <a:srgbClr val="1E8449"/>
                          </a:solidFill>
                          <a:latin typeface="Courier New" pitchFamily="34" charset="0"/>
                          <a:ea typeface="Courier New" pitchFamily="34" charset="-122"/>
                          <a:cs typeface="Courier New" pitchFamily="34" charset="-120"/>
                        </a:rPr>
                        <a:t>=(B2-C2)/B2*100</a:t>
                      </a:r>
                      <a:endParaRPr lang="en-US" sz="1000" dirty="0">
                        <a:latin typeface="Courier New" charset="0"/>
                        <a:ea typeface="Courier New" charset="0"/>
                        <a:cs typeface="Courier New"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FFFFFF"/>
                    </a:solidFill>
                  </a:tcPr>
                </a:tc>
                <a:tc>
                  <a:txBody>
                    <a:bodyPr/>
                    <a:lstStyle/>
                    <a:p>
                      <a:pPr marL="0" indent="0">
                        <a:buNone/>
                      </a:pPr>
                      <a:r>
                        <a:rPr lang="en-US" sz="1000" dirty="0">
                          <a:solidFill>
                            <a:srgbClr val="1C2B22"/>
                          </a:solidFill>
                          <a:latin typeface="Calibri" pitchFamily="34" charset="0"/>
                          <a:ea typeface="Calibri" pitchFamily="34" charset="-122"/>
                          <a:cs typeface="Calibri" pitchFamily="34" charset="-120"/>
                        </a:rPr>
                        <a:t>Percentage</a:t>
                      </a:r>
                      <a:endParaRPr lang="en-US" sz="10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buNone/>
                      </a:pPr>
                      <a:r>
                        <a:rPr lang="en-US" sz="1000" dirty="0">
                          <a:solidFill>
                            <a:srgbClr val="1C2B22"/>
                          </a:solidFill>
                          <a:latin typeface="Calibri" pitchFamily="34" charset="0"/>
                          <a:ea typeface="Calibri" pitchFamily="34" charset="-122"/>
                          <a:cs typeface="Calibri" pitchFamily="34" charset="-120"/>
                        </a:rPr>
                        <a:t>Net Profit</a:t>
                      </a:r>
                      <a:endParaRPr lang="en-US" sz="10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F4FBF6"/>
                    </a:solidFill>
                  </a:tcPr>
                </a:tc>
                <a:tc>
                  <a:txBody>
                    <a:bodyPr/>
                    <a:lstStyle/>
                    <a:p>
                      <a:pPr marL="0" indent="0">
                        <a:buNone/>
                      </a:pPr>
                      <a:r>
                        <a:rPr lang="en-US" sz="1000" dirty="0">
                          <a:solidFill>
                            <a:srgbClr val="1E8449"/>
                          </a:solidFill>
                          <a:latin typeface="Courier New" pitchFamily="34" charset="0"/>
                          <a:ea typeface="Courier New" pitchFamily="34" charset="-122"/>
                          <a:cs typeface="Courier New" pitchFamily="34" charset="-120"/>
                        </a:rPr>
                        <a:t>=D2-E2</a:t>
                      </a:r>
                      <a:endParaRPr lang="en-US" sz="1000" dirty="0">
                        <a:latin typeface="Courier New" charset="0"/>
                        <a:ea typeface="Courier New" charset="0"/>
                        <a:cs typeface="Courier New"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F4FBF6"/>
                    </a:solidFill>
                  </a:tcPr>
                </a:tc>
                <a:tc>
                  <a:txBody>
                    <a:bodyPr/>
                    <a:lstStyle/>
                    <a:p>
                      <a:pPr marL="0" indent="0">
                        <a:buNone/>
                      </a:pPr>
                      <a:r>
                        <a:rPr lang="en-US" sz="1000" dirty="0">
                          <a:solidFill>
                            <a:srgbClr val="1C2B22"/>
                          </a:solidFill>
                          <a:latin typeface="Calibri" pitchFamily="34" charset="0"/>
                          <a:ea typeface="Calibri" pitchFamily="34" charset="-122"/>
                          <a:cs typeface="Calibri" pitchFamily="34" charset="-120"/>
                        </a:rPr>
                        <a:t>Currency</a:t>
                      </a:r>
                      <a:endParaRPr lang="en-US" sz="10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F4FBF6"/>
                    </a:solidFill>
                  </a:tcPr>
                </a:tc>
                <a:extLst>
                  <a:ext uri="{0D108BD9-81ED-4DB2-BD59-A6C34878D82A}">
                    <a16:rowId xmlns:a16="http://schemas.microsoft.com/office/drawing/2014/main" val="10006"/>
                  </a:ext>
                </a:extLst>
              </a:tr>
              <a:tr h="502920">
                <a:tc>
                  <a:txBody>
                    <a:bodyPr/>
                    <a:lstStyle/>
                    <a:p>
                      <a:pPr marL="0" indent="0">
                        <a:buNone/>
                      </a:pPr>
                      <a:r>
                        <a:rPr lang="en-US" sz="1000" dirty="0">
                          <a:solidFill>
                            <a:srgbClr val="1C2B22"/>
                          </a:solidFill>
                          <a:latin typeface="Calibri" pitchFamily="34" charset="0"/>
                          <a:ea typeface="Calibri" pitchFamily="34" charset="-122"/>
                          <a:cs typeface="Calibri" pitchFamily="34" charset="-120"/>
                        </a:rPr>
                        <a:t>Net Margin %</a:t>
                      </a:r>
                      <a:endParaRPr lang="en-US" sz="10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FFFFFF"/>
                    </a:solidFill>
                  </a:tcPr>
                </a:tc>
                <a:tc>
                  <a:txBody>
                    <a:bodyPr/>
                    <a:lstStyle/>
                    <a:p>
                      <a:pPr marL="0" indent="0">
                        <a:buNone/>
                      </a:pPr>
                      <a:r>
                        <a:rPr lang="en-US" sz="1000" dirty="0">
                          <a:solidFill>
                            <a:srgbClr val="1E8449"/>
                          </a:solidFill>
                          <a:latin typeface="Courier New" pitchFamily="34" charset="0"/>
                          <a:ea typeface="Courier New" pitchFamily="34" charset="-122"/>
                          <a:cs typeface="Courier New" pitchFamily="34" charset="-120"/>
                        </a:rPr>
                        <a:t>=F2/B2*100</a:t>
                      </a:r>
                      <a:endParaRPr lang="en-US" sz="1000" dirty="0">
                        <a:latin typeface="Courier New" charset="0"/>
                        <a:ea typeface="Courier New" charset="0"/>
                        <a:cs typeface="Courier New"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FFFFFF"/>
                    </a:solidFill>
                  </a:tcPr>
                </a:tc>
                <a:tc>
                  <a:txBody>
                    <a:bodyPr/>
                    <a:lstStyle/>
                    <a:p>
                      <a:pPr marL="0" indent="0">
                        <a:buNone/>
                      </a:pPr>
                      <a:r>
                        <a:rPr lang="en-US" sz="1000" dirty="0">
                          <a:solidFill>
                            <a:srgbClr val="1C2B22"/>
                          </a:solidFill>
                          <a:latin typeface="Calibri" pitchFamily="34" charset="0"/>
                          <a:ea typeface="Calibri" pitchFamily="34" charset="-122"/>
                          <a:cs typeface="Calibri" pitchFamily="34" charset="-120"/>
                        </a:rPr>
                        <a:t>Percentage</a:t>
                      </a:r>
                      <a:endParaRPr lang="en-US" sz="10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graphicFrame>
        <p:nvGraphicFramePr>
          <p:cNvPr id="27" name="Table 1"/>
          <p:cNvGraphicFramePr>
            <a:graphicFrameLocks noGrp="1"/>
          </p:cNvGraphicFramePr>
          <p:nvPr>
            <p:extLst>
              <p:ext uri="{D42A27DB-BD31-4B8C-83A1-F6EECF244321}">
                <p14:modId xmlns:p14="http://schemas.microsoft.com/office/powerpoint/2010/main" val="1579011935"/>
              </p:ext>
            </p:extLst>
          </p:nvPr>
        </p:nvGraphicFramePr>
        <p:xfrm>
          <a:off x="6172200" y="1508760"/>
          <a:ext cx="5486400" cy="4023360"/>
        </p:xfrm>
        <a:graphic>
          <a:graphicData uri="http://schemas.openxmlformats.org/drawingml/2006/table">
            <a:tbl>
              <a:tblPr/>
              <a:tblGrid>
                <a:gridCol w="20116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502920">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Metric</a:t>
                      </a:r>
                      <a:endParaRPr lang="en-US" sz="10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0B5C33"/>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Excel Formula</a:t>
                      </a:r>
                      <a:endParaRPr lang="en-US" sz="10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0B5C33"/>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Format</a:t>
                      </a:r>
                      <a:endParaRPr lang="en-US" sz="10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0B5C33"/>
                    </a:solidFill>
                  </a:tcPr>
                </a:tc>
                <a:extLst>
                  <a:ext uri="{0D108BD9-81ED-4DB2-BD59-A6C34878D82A}">
                    <a16:rowId xmlns:a16="http://schemas.microsoft.com/office/drawing/2014/main" val="10000"/>
                  </a:ext>
                </a:extLst>
              </a:tr>
              <a:tr h="502920">
                <a:tc>
                  <a:txBody>
                    <a:bodyPr/>
                    <a:lstStyle/>
                    <a:p>
                      <a:pPr marL="0" indent="0">
                        <a:buNone/>
                      </a:pPr>
                      <a:r>
                        <a:rPr lang="en-US" sz="1000" dirty="0">
                          <a:solidFill>
                            <a:srgbClr val="1C2B22"/>
                          </a:solidFill>
                          <a:latin typeface="Calibri" pitchFamily="34" charset="0"/>
                          <a:ea typeface="Calibri" pitchFamily="34" charset="-122"/>
                          <a:cs typeface="Calibri" pitchFamily="34" charset="-120"/>
                        </a:rPr>
                        <a:t>ROI %</a:t>
                      </a:r>
                      <a:endParaRPr lang="en-US" sz="10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FFFFFF"/>
                    </a:solidFill>
                  </a:tcPr>
                </a:tc>
                <a:tc>
                  <a:txBody>
                    <a:bodyPr/>
                    <a:lstStyle/>
                    <a:p>
                      <a:pPr marL="0" indent="0">
                        <a:buNone/>
                      </a:pPr>
                      <a:r>
                        <a:rPr lang="en-US" sz="1000" dirty="0">
                          <a:solidFill>
                            <a:srgbClr val="1E8449"/>
                          </a:solidFill>
                          <a:latin typeface="Courier New" pitchFamily="34" charset="0"/>
                          <a:ea typeface="Courier New" pitchFamily="34" charset="-122"/>
                          <a:cs typeface="Courier New" pitchFamily="34" charset="-120"/>
                        </a:rPr>
                        <a:t>=(F2-J2)/J2*100</a:t>
                      </a:r>
                      <a:endParaRPr lang="en-US" sz="1000" dirty="0">
                        <a:latin typeface="Courier New" charset="0"/>
                        <a:ea typeface="Courier New" charset="0"/>
                        <a:cs typeface="Courier New"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FFFFFF"/>
                    </a:solidFill>
                  </a:tcPr>
                </a:tc>
                <a:tc>
                  <a:txBody>
                    <a:bodyPr/>
                    <a:lstStyle/>
                    <a:p>
                      <a:pPr marL="0" indent="0">
                        <a:buNone/>
                      </a:pPr>
                      <a:r>
                        <a:rPr lang="en-US" sz="1000" dirty="0">
                          <a:solidFill>
                            <a:srgbClr val="1C2B22"/>
                          </a:solidFill>
                          <a:latin typeface="Calibri" pitchFamily="34" charset="0"/>
                          <a:ea typeface="Calibri" pitchFamily="34" charset="-122"/>
                          <a:cs typeface="Calibri" pitchFamily="34" charset="-120"/>
                        </a:rPr>
                        <a:t>Percentage</a:t>
                      </a:r>
                      <a:endParaRPr lang="en-US" sz="10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000" dirty="0">
                          <a:solidFill>
                            <a:srgbClr val="1C2B22"/>
                          </a:solidFill>
                          <a:latin typeface="Calibri" pitchFamily="34" charset="0"/>
                          <a:ea typeface="Calibri" pitchFamily="34" charset="-122"/>
                          <a:cs typeface="Calibri" pitchFamily="34" charset="-120"/>
                        </a:rPr>
                        <a:t>CAC</a:t>
                      </a:r>
                      <a:endParaRPr lang="en-US" sz="10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F4FBF6"/>
                    </a:solidFill>
                  </a:tcPr>
                </a:tc>
                <a:tc>
                  <a:txBody>
                    <a:bodyPr/>
                    <a:lstStyle/>
                    <a:p>
                      <a:pPr marL="0" indent="0">
                        <a:buNone/>
                      </a:pPr>
                      <a:r>
                        <a:rPr lang="en-US" sz="1000" dirty="0">
                          <a:solidFill>
                            <a:srgbClr val="1E8449"/>
                          </a:solidFill>
                          <a:latin typeface="Courier New" pitchFamily="34" charset="0"/>
                          <a:ea typeface="Courier New" pitchFamily="34" charset="-122"/>
                          <a:cs typeface="Courier New" pitchFamily="34" charset="-120"/>
                        </a:rPr>
                        <a:t>=E2/F2</a:t>
                      </a:r>
                      <a:endParaRPr lang="en-US" sz="1000" dirty="0">
                        <a:latin typeface="Courier New" charset="0"/>
                        <a:ea typeface="Courier New" charset="0"/>
                        <a:cs typeface="Courier New"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F4FBF6"/>
                    </a:solidFill>
                  </a:tcPr>
                </a:tc>
                <a:tc>
                  <a:txBody>
                    <a:bodyPr/>
                    <a:lstStyle/>
                    <a:p>
                      <a:pPr marL="0" indent="0">
                        <a:buNone/>
                      </a:pPr>
                      <a:r>
                        <a:rPr lang="en-US" sz="1000" dirty="0">
                          <a:solidFill>
                            <a:srgbClr val="1C2B22"/>
                          </a:solidFill>
                          <a:latin typeface="Calibri" pitchFamily="34" charset="0"/>
                          <a:ea typeface="Calibri" pitchFamily="34" charset="-122"/>
                          <a:cs typeface="Calibri" pitchFamily="34" charset="-120"/>
                        </a:rPr>
                        <a:t>Currency</a:t>
                      </a:r>
                      <a:endParaRPr lang="en-US" sz="10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F4FBF6"/>
                    </a:solidFill>
                  </a:tcPr>
                </a:tc>
                <a:extLst>
                  <a:ext uri="{0D108BD9-81ED-4DB2-BD59-A6C34878D82A}">
                    <a16:rowId xmlns:a16="http://schemas.microsoft.com/office/drawing/2014/main" val="10002"/>
                  </a:ext>
                </a:extLst>
              </a:tr>
              <a:tr h="502920">
                <a:tc>
                  <a:txBody>
                    <a:bodyPr/>
                    <a:lstStyle/>
                    <a:p>
                      <a:pPr marL="0" indent="0">
                        <a:buNone/>
                      </a:pPr>
                      <a:r>
                        <a:rPr lang="en-US" sz="1000" dirty="0">
                          <a:solidFill>
                            <a:srgbClr val="1C2B22"/>
                          </a:solidFill>
                          <a:latin typeface="Calibri" pitchFamily="34" charset="0"/>
                          <a:ea typeface="Calibri" pitchFamily="34" charset="-122"/>
                          <a:cs typeface="Calibri" pitchFamily="34" charset="-120"/>
                        </a:rPr>
                        <a:t>CLV</a:t>
                      </a:r>
                      <a:endParaRPr lang="en-US" sz="10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FFFFFF"/>
                    </a:solidFill>
                  </a:tcPr>
                </a:tc>
                <a:tc>
                  <a:txBody>
                    <a:bodyPr/>
                    <a:lstStyle/>
                    <a:p>
                      <a:pPr marL="0" indent="0">
                        <a:buNone/>
                      </a:pPr>
                      <a:r>
                        <a:rPr lang="en-US" sz="1000" dirty="0">
                          <a:solidFill>
                            <a:srgbClr val="1E8449"/>
                          </a:solidFill>
                          <a:latin typeface="Courier New" pitchFamily="34" charset="0"/>
                          <a:ea typeface="Courier New" pitchFamily="34" charset="-122"/>
                          <a:cs typeface="Courier New" pitchFamily="34" charset="-120"/>
                        </a:rPr>
                        <a:t>=G2*H2*I2</a:t>
                      </a:r>
                      <a:endParaRPr lang="en-US" sz="1000" dirty="0">
                        <a:latin typeface="Courier New" charset="0"/>
                        <a:ea typeface="Courier New" charset="0"/>
                        <a:cs typeface="Courier New"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FFFFFF"/>
                    </a:solidFill>
                  </a:tcPr>
                </a:tc>
                <a:tc>
                  <a:txBody>
                    <a:bodyPr/>
                    <a:lstStyle/>
                    <a:p>
                      <a:pPr marL="0" indent="0">
                        <a:buNone/>
                      </a:pPr>
                      <a:r>
                        <a:rPr lang="en-US" sz="1000" dirty="0">
                          <a:solidFill>
                            <a:srgbClr val="1C2B22"/>
                          </a:solidFill>
                          <a:latin typeface="Calibri" pitchFamily="34" charset="0"/>
                          <a:ea typeface="Calibri" pitchFamily="34" charset="-122"/>
                          <a:cs typeface="Calibri" pitchFamily="34" charset="-120"/>
                        </a:rPr>
                        <a:t>Currency</a:t>
                      </a:r>
                      <a:endParaRPr lang="en-US" sz="10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000" dirty="0">
                          <a:solidFill>
                            <a:srgbClr val="1C2B22"/>
                          </a:solidFill>
                          <a:latin typeface="Calibri" pitchFamily="34" charset="0"/>
                          <a:ea typeface="Calibri" pitchFamily="34" charset="-122"/>
                          <a:cs typeface="Calibri" pitchFamily="34" charset="-120"/>
                        </a:rPr>
                        <a:t>Inventory Turnover</a:t>
                      </a:r>
                      <a:endParaRPr lang="en-US" sz="10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F4FBF6"/>
                    </a:solidFill>
                  </a:tcPr>
                </a:tc>
                <a:tc>
                  <a:txBody>
                    <a:bodyPr/>
                    <a:lstStyle/>
                    <a:p>
                      <a:pPr marL="0" indent="0">
                        <a:buNone/>
                      </a:pPr>
                      <a:r>
                        <a:rPr lang="en-US" sz="1000" dirty="0">
                          <a:solidFill>
                            <a:srgbClr val="1E8449"/>
                          </a:solidFill>
                          <a:latin typeface="Courier New" pitchFamily="34" charset="0"/>
                          <a:ea typeface="Courier New" pitchFamily="34" charset="-122"/>
                          <a:cs typeface="Courier New" pitchFamily="34" charset="-120"/>
                        </a:rPr>
                        <a:t>=C2/K2</a:t>
                      </a:r>
                      <a:endParaRPr lang="en-US" sz="1000" dirty="0">
                        <a:latin typeface="Courier New" charset="0"/>
                        <a:ea typeface="Courier New" charset="0"/>
                        <a:cs typeface="Courier New"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F4FBF6"/>
                    </a:solidFill>
                  </a:tcPr>
                </a:tc>
                <a:tc>
                  <a:txBody>
                    <a:bodyPr/>
                    <a:lstStyle/>
                    <a:p>
                      <a:pPr marL="0" indent="0">
                        <a:buNone/>
                      </a:pPr>
                      <a:r>
                        <a:rPr lang="en-US" sz="1000" dirty="0">
                          <a:solidFill>
                            <a:srgbClr val="1C2B22"/>
                          </a:solidFill>
                          <a:latin typeface="Calibri" pitchFamily="34" charset="0"/>
                          <a:ea typeface="Calibri" pitchFamily="34" charset="-122"/>
                          <a:cs typeface="Calibri" pitchFamily="34" charset="-120"/>
                        </a:rPr>
                        <a:t>Number</a:t>
                      </a:r>
                      <a:endParaRPr lang="en-US" sz="10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F4FBF6"/>
                    </a:solidFill>
                  </a:tcPr>
                </a:tc>
                <a:extLst>
                  <a:ext uri="{0D108BD9-81ED-4DB2-BD59-A6C34878D82A}">
                    <a16:rowId xmlns:a16="http://schemas.microsoft.com/office/drawing/2014/main" val="10004"/>
                  </a:ext>
                </a:extLst>
              </a:tr>
              <a:tr h="502920">
                <a:tc>
                  <a:txBody>
                    <a:bodyPr/>
                    <a:lstStyle/>
                    <a:p>
                      <a:pPr marL="0" indent="0">
                        <a:buNone/>
                      </a:pPr>
                      <a:r>
                        <a:rPr lang="en-US" sz="1000" dirty="0">
                          <a:solidFill>
                            <a:srgbClr val="1C2B22"/>
                          </a:solidFill>
                          <a:latin typeface="Calibri" pitchFamily="34" charset="0"/>
                          <a:ea typeface="Calibri" pitchFamily="34" charset="-122"/>
                          <a:cs typeface="Calibri" pitchFamily="34" charset="-120"/>
                        </a:rPr>
                        <a:t>Current Ratio</a:t>
                      </a:r>
                      <a:endParaRPr lang="en-US" sz="10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FFFFFF"/>
                    </a:solidFill>
                  </a:tcPr>
                </a:tc>
                <a:tc>
                  <a:txBody>
                    <a:bodyPr/>
                    <a:lstStyle/>
                    <a:p>
                      <a:pPr marL="0" indent="0">
                        <a:buNone/>
                      </a:pPr>
                      <a:r>
                        <a:rPr lang="en-US" sz="1000" dirty="0">
                          <a:solidFill>
                            <a:srgbClr val="1E8449"/>
                          </a:solidFill>
                          <a:latin typeface="Courier New" pitchFamily="34" charset="0"/>
                          <a:ea typeface="Courier New" pitchFamily="34" charset="-122"/>
                          <a:cs typeface="Courier New" pitchFamily="34" charset="-120"/>
                        </a:rPr>
                        <a:t>=L2/M2</a:t>
                      </a:r>
                      <a:endParaRPr lang="en-US" sz="1000" dirty="0">
                        <a:latin typeface="Courier New" charset="0"/>
                        <a:ea typeface="Courier New" charset="0"/>
                        <a:cs typeface="Courier New"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FFFFFF"/>
                    </a:solidFill>
                  </a:tcPr>
                </a:tc>
                <a:tc>
                  <a:txBody>
                    <a:bodyPr/>
                    <a:lstStyle/>
                    <a:p>
                      <a:pPr marL="0" indent="0">
                        <a:buNone/>
                      </a:pPr>
                      <a:r>
                        <a:rPr lang="en-US" sz="1000" dirty="0">
                          <a:solidFill>
                            <a:srgbClr val="1C2B22"/>
                          </a:solidFill>
                          <a:latin typeface="Calibri" pitchFamily="34" charset="0"/>
                          <a:ea typeface="Calibri" pitchFamily="34" charset="-122"/>
                          <a:cs typeface="Calibri" pitchFamily="34" charset="-120"/>
                        </a:rPr>
                        <a:t>Number (2dp)</a:t>
                      </a:r>
                      <a:endParaRPr lang="en-US" sz="10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buNone/>
                      </a:pPr>
                      <a:r>
                        <a:rPr lang="en-US" sz="1000" dirty="0">
                          <a:solidFill>
                            <a:srgbClr val="1C2B22"/>
                          </a:solidFill>
                          <a:latin typeface="Calibri" pitchFamily="34" charset="0"/>
                          <a:ea typeface="Calibri" pitchFamily="34" charset="-122"/>
                          <a:cs typeface="Calibri" pitchFamily="34" charset="-120"/>
                        </a:rPr>
                        <a:t>Break-Even Units</a:t>
                      </a:r>
                      <a:endParaRPr lang="en-US" sz="10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F4FBF6"/>
                    </a:solidFill>
                  </a:tcPr>
                </a:tc>
                <a:tc>
                  <a:txBody>
                    <a:bodyPr/>
                    <a:lstStyle/>
                    <a:p>
                      <a:pPr marL="0" indent="0">
                        <a:buNone/>
                      </a:pPr>
                      <a:r>
                        <a:rPr lang="en-US" sz="1000" dirty="0">
                          <a:solidFill>
                            <a:srgbClr val="1E8449"/>
                          </a:solidFill>
                          <a:latin typeface="Courier New" pitchFamily="34" charset="0"/>
                          <a:ea typeface="Courier New" pitchFamily="34" charset="-122"/>
                          <a:cs typeface="Courier New" pitchFamily="34" charset="-120"/>
                        </a:rPr>
                        <a:t>=Fixed/(Price-VarCost)</a:t>
                      </a:r>
                      <a:endParaRPr lang="en-US" sz="1000" dirty="0">
                        <a:latin typeface="Courier New" charset="0"/>
                        <a:ea typeface="Courier New" charset="0"/>
                        <a:cs typeface="Courier New"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F4FBF6"/>
                    </a:solidFill>
                  </a:tcPr>
                </a:tc>
                <a:tc>
                  <a:txBody>
                    <a:bodyPr/>
                    <a:lstStyle/>
                    <a:p>
                      <a:pPr marL="0" indent="0">
                        <a:buNone/>
                      </a:pPr>
                      <a:r>
                        <a:rPr lang="en-US" sz="1000" dirty="0">
                          <a:solidFill>
                            <a:srgbClr val="1C2B22"/>
                          </a:solidFill>
                          <a:latin typeface="Calibri" pitchFamily="34" charset="0"/>
                          <a:ea typeface="Calibri" pitchFamily="34" charset="-122"/>
                          <a:cs typeface="Calibri" pitchFamily="34" charset="-120"/>
                        </a:rPr>
                        <a:t>Number</a:t>
                      </a:r>
                      <a:endParaRPr lang="en-US" sz="10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F4FBF6"/>
                    </a:solidFill>
                  </a:tcPr>
                </a:tc>
                <a:extLst>
                  <a:ext uri="{0D108BD9-81ED-4DB2-BD59-A6C34878D82A}">
                    <a16:rowId xmlns:a16="http://schemas.microsoft.com/office/drawing/2014/main" val="10006"/>
                  </a:ext>
                </a:extLst>
              </a:tr>
              <a:tr h="502920">
                <a:tc>
                  <a:txBody>
                    <a:bodyPr/>
                    <a:lstStyle/>
                    <a:p>
                      <a:pPr marL="0" indent="0">
                        <a:buNone/>
                      </a:pPr>
                      <a:r>
                        <a:rPr lang="en-US" sz="1000" dirty="0">
                          <a:solidFill>
                            <a:srgbClr val="1C2B22"/>
                          </a:solidFill>
                          <a:latin typeface="Calibri" pitchFamily="34" charset="0"/>
                          <a:ea typeface="Calibri" pitchFamily="34" charset="-122"/>
                          <a:cs typeface="Calibri" pitchFamily="34" charset="-120"/>
                        </a:rPr>
                        <a:t>YoY Growth %</a:t>
                      </a:r>
                      <a:endParaRPr lang="en-US" sz="10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FFFFFF"/>
                    </a:solidFill>
                  </a:tcPr>
                </a:tc>
                <a:tc>
                  <a:txBody>
                    <a:bodyPr/>
                    <a:lstStyle/>
                    <a:p>
                      <a:pPr marL="0" indent="0">
                        <a:buNone/>
                      </a:pPr>
                      <a:r>
                        <a:rPr lang="en-US" sz="1000" dirty="0">
                          <a:solidFill>
                            <a:srgbClr val="1E8449"/>
                          </a:solidFill>
                          <a:latin typeface="Courier New" pitchFamily="34" charset="0"/>
                          <a:ea typeface="Courier New" pitchFamily="34" charset="-122"/>
                          <a:cs typeface="Courier New" pitchFamily="34" charset="-120"/>
                        </a:rPr>
                        <a:t>=(ThisYr-LastYr)/LastYr*100</a:t>
                      </a:r>
                      <a:endParaRPr lang="en-US" sz="1000" dirty="0">
                        <a:latin typeface="Courier New" charset="0"/>
                        <a:ea typeface="Courier New" charset="0"/>
                        <a:cs typeface="Courier New"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FFFFFF"/>
                    </a:solidFill>
                  </a:tcPr>
                </a:tc>
                <a:tc>
                  <a:txBody>
                    <a:bodyPr/>
                    <a:lstStyle/>
                    <a:p>
                      <a:pPr marL="0" indent="0">
                        <a:buNone/>
                      </a:pPr>
                      <a:r>
                        <a:rPr lang="en-US" sz="1000" dirty="0">
                          <a:solidFill>
                            <a:srgbClr val="1C2B22"/>
                          </a:solidFill>
                          <a:latin typeface="Calibri" pitchFamily="34" charset="0"/>
                          <a:ea typeface="Calibri" pitchFamily="34" charset="-122"/>
                          <a:cs typeface="Calibri" pitchFamily="34" charset="-120"/>
                        </a:rPr>
                        <a:t>Percentage</a:t>
                      </a:r>
                      <a:endParaRPr lang="en-US" sz="1000" dirty="0">
                        <a:latin typeface="Calibri" charset="0"/>
                        <a:ea typeface="Calibri" charset="0"/>
                        <a:cs typeface="Calibri" charset="0"/>
                      </a:endParaRPr>
                    </a:p>
                  </a:txBody>
                  <a:tcPr anchor="ctr">
                    <a:lnL w="9525" cap="flat" cmpd="sng" algn="ctr">
                      <a:solidFill>
                        <a:srgbClr val="D7ECDD"/>
                      </a:solidFill>
                      <a:prstDash val="solid"/>
                      <a:round/>
                      <a:headEnd type="none" w="med" len="med"/>
                      <a:tailEnd type="none" w="med" len="med"/>
                    </a:lnL>
                    <a:lnR w="9525" cap="flat" cmpd="sng" algn="ctr">
                      <a:solidFill>
                        <a:srgbClr val="D7ECDD"/>
                      </a:solidFill>
                      <a:prstDash val="solid"/>
                      <a:round/>
                      <a:headEnd type="none" w="med" len="med"/>
                      <a:tailEnd type="none" w="med" len="med"/>
                    </a:lnR>
                    <a:lnT w="9525" cap="flat" cmpd="sng" algn="ctr">
                      <a:solidFill>
                        <a:srgbClr val="D7ECDD"/>
                      </a:solidFill>
                      <a:prstDash val="solid"/>
                      <a:round/>
                      <a:headEnd type="none" w="med" len="med"/>
                      <a:tailEnd type="none" w="med" len="med"/>
                    </a:lnT>
                    <a:lnB w="9525" cap="flat" cmpd="sng" algn="ctr">
                      <a:solidFill>
                        <a:srgbClr val="D7ECDD"/>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Text 2"/>
          <p:cNvSpPr/>
          <p:nvPr/>
        </p:nvSpPr>
        <p:spPr>
          <a:xfrm>
            <a:off x="548640" y="5715000"/>
            <a:ext cx="11064240" cy="457200"/>
          </a:xfrm>
          <a:prstGeom prst="rect">
            <a:avLst/>
          </a:prstGeom>
          <a:noFill/>
          <a:ln/>
        </p:spPr>
        <p:txBody>
          <a:bodyPr wrap="square" lIns="0" tIns="0" rIns="0" bIns="0" rtlCol="0" anchor="ctr"/>
          <a:lstStyle/>
          <a:p>
            <a:pPr marL="0" indent="0">
              <a:buNone/>
            </a:pPr>
            <a:r>
              <a:rPr lang="en-US" sz="1050" i="1" dirty="0">
                <a:solidFill>
                  <a:srgbClr val="5E6F64"/>
                </a:solidFill>
                <a:latin typeface="Calibri" pitchFamily="34" charset="0"/>
                <a:ea typeface="Calibri" pitchFamily="34" charset="-122"/>
                <a:cs typeface="Calibri" pitchFamily="34" charset="-120"/>
              </a:rPr>
              <a:t>Format Tip: select cells → Ctrl+1 → choose Currency or Percentage.   Auto Tip: use named ranges (Formulas → Define Name) for cleaner formulas.</a:t>
            </a:r>
            <a:endParaRPr lang="en-US" sz="1050" dirty="0"/>
          </a:p>
        </p:txBody>
      </p:sp>
      <p:sp>
        <p:nvSpPr>
          <p:cNvPr id="7" name="Text 3"/>
          <p:cNvSpPr/>
          <p:nvPr/>
        </p:nvSpPr>
        <p:spPr>
          <a:xfrm>
            <a:off x="457200" y="6537960"/>
            <a:ext cx="5486400" cy="274320"/>
          </a:xfrm>
          <a:prstGeom prst="rect">
            <a:avLst/>
          </a:prstGeom>
          <a:noFill/>
          <a:ln/>
        </p:spPr>
        <p:txBody>
          <a:bodyPr wrap="square" lIns="0" tIns="0" rIns="0" bIns="0" rtlCol="0" anchor="ctr"/>
          <a:lstStyle/>
          <a:p>
            <a:pPr marL="0" indent="0">
              <a:buNone/>
            </a:pPr>
            <a:r>
              <a:rPr lang="en-US" sz="900" dirty="0">
                <a:solidFill>
                  <a:srgbClr val="5E6F64"/>
                </a:solidFill>
                <a:latin typeface="Calibri" pitchFamily="34" charset="0"/>
                <a:ea typeface="Calibri" pitchFamily="34" charset="-122"/>
                <a:cs typeface="Calibri" pitchFamily="34" charset="-120"/>
              </a:rPr>
              <a:t>DMart Revenue &amp; Business Metrics Report</a:t>
            </a:r>
            <a:endParaRPr lang="en-US" sz="900" dirty="0"/>
          </a:p>
        </p:txBody>
      </p:sp>
      <p:sp>
        <p:nvSpPr>
          <p:cNvPr id="8" name="Text 4"/>
          <p:cNvSpPr/>
          <p:nvPr/>
        </p:nvSpPr>
        <p:spPr>
          <a:xfrm>
            <a:off x="11521440" y="6537960"/>
            <a:ext cx="365760" cy="274320"/>
          </a:xfrm>
          <a:prstGeom prst="rect">
            <a:avLst/>
          </a:prstGeom>
          <a:noFill/>
          <a:ln/>
        </p:spPr>
        <p:txBody>
          <a:bodyPr wrap="square" lIns="0" tIns="0" rIns="0" bIns="0" rtlCol="0" anchor="ctr"/>
          <a:lstStyle/>
          <a:p>
            <a:pPr marL="0" indent="0" algn="r">
              <a:buNone/>
            </a:pPr>
            <a:r>
              <a:rPr lang="en-US" sz="900" dirty="0">
                <a:solidFill>
                  <a:srgbClr val="5E6F64"/>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lIns="0" tIns="0" rIns="0" bIns="0" rtlCol="0" anchor="ctr"/>
          <a:lstStyle/>
          <a:p>
            <a:pPr marL="0" indent="0">
              <a:buNone/>
            </a:pPr>
            <a:r>
              <a:rPr lang="en-US" sz="1200" b="1" kern="0" spc="200" dirty="0">
                <a:solidFill>
                  <a:srgbClr val="1E8449"/>
                </a:solidFill>
                <a:latin typeface="Calibri" pitchFamily="34" charset="0"/>
                <a:ea typeface="Calibri" pitchFamily="34" charset="-122"/>
                <a:cs typeface="Calibri" pitchFamily="34" charset="-120"/>
              </a:rPr>
              <a:t>TAKEAWAYS</a:t>
            </a:r>
            <a:endParaRPr lang="en-US" sz="1200" dirty="0"/>
          </a:p>
        </p:txBody>
      </p:sp>
      <p:sp>
        <p:nvSpPr>
          <p:cNvPr id="3" name="Text 1"/>
          <p:cNvSpPr/>
          <p:nvPr/>
        </p:nvSpPr>
        <p:spPr>
          <a:xfrm>
            <a:off x="548640" y="566928"/>
            <a:ext cx="10515600" cy="640080"/>
          </a:xfrm>
          <a:prstGeom prst="rect">
            <a:avLst/>
          </a:prstGeom>
          <a:noFill/>
          <a:ln/>
        </p:spPr>
        <p:txBody>
          <a:bodyPr wrap="square" lIns="0" tIns="0" rIns="0" bIns="0" rtlCol="0" anchor="ctr"/>
          <a:lstStyle/>
          <a:p>
            <a:pPr marL="0" indent="0">
              <a:buNone/>
            </a:pPr>
            <a:r>
              <a:rPr lang="en-US" sz="3000" b="1" dirty="0">
                <a:solidFill>
                  <a:srgbClr val="1C2B22"/>
                </a:solidFill>
                <a:latin typeface="Cambria" pitchFamily="34" charset="0"/>
                <a:ea typeface="Cambria" pitchFamily="34" charset="-122"/>
                <a:cs typeface="Cambria" pitchFamily="34" charset="-120"/>
              </a:rPr>
              <a:t>Key Business Insights &amp; Recommendations</a:t>
            </a:r>
            <a:endParaRPr lang="en-US" sz="3000" dirty="0"/>
          </a:p>
        </p:txBody>
      </p:sp>
      <p:sp>
        <p:nvSpPr>
          <p:cNvPr id="4" name="Shape 2"/>
          <p:cNvSpPr/>
          <p:nvPr/>
        </p:nvSpPr>
        <p:spPr>
          <a:xfrm>
            <a:off x="548640" y="1600200"/>
            <a:ext cx="5349240" cy="2148840"/>
          </a:xfrm>
          <a:prstGeom prst="roundRect">
            <a:avLst>
              <a:gd name="adj" fmla="val 3404"/>
            </a:avLst>
          </a:prstGeom>
          <a:solidFill>
            <a:srgbClr val="EAF7EE"/>
          </a:solidFill>
          <a:ln w="12700">
            <a:solidFill>
              <a:srgbClr val="D7ECDD"/>
            </a:solidFill>
            <a:prstDash val="solid"/>
          </a:ln>
          <a:effectLst>
            <a:outerShdw blurRad="101600" dist="38100" dir="5400000" algn="bl" rotWithShape="0">
              <a:srgbClr val="0B5C33">
                <a:alpha val="12000"/>
              </a:srgbClr>
            </a:outerShdw>
          </a:effectLst>
        </p:spPr>
      </p:sp>
      <p:sp>
        <p:nvSpPr>
          <p:cNvPr id="5" name="Shape 3"/>
          <p:cNvSpPr/>
          <p:nvPr/>
        </p:nvSpPr>
        <p:spPr>
          <a:xfrm>
            <a:off x="822960" y="2011680"/>
            <a:ext cx="640080" cy="640080"/>
          </a:xfrm>
          <a:prstGeom prst="ellipse">
            <a:avLst/>
          </a:prstGeom>
          <a:solidFill>
            <a:srgbClr val="FFFFFF"/>
          </a:solidFill>
          <a:ln/>
        </p:spPr>
      </p:sp>
      <p:pic>
        <p:nvPicPr>
          <p:cNvPr id="6" name="Image 0" descr="preencoded.png"/>
          <p:cNvPicPr>
            <a:picLocks noChangeAspect="1"/>
          </p:cNvPicPr>
          <p:nvPr/>
        </p:nvPicPr>
        <p:blipFill>
          <a:blip r:embed="rId3"/>
          <a:stretch>
            <a:fillRect/>
          </a:stretch>
        </p:blipFill>
        <p:spPr>
          <a:xfrm>
            <a:off x="906170" y="2094890"/>
            <a:ext cx="473659" cy="473659"/>
          </a:xfrm>
          <a:prstGeom prst="rect">
            <a:avLst/>
          </a:prstGeom>
        </p:spPr>
      </p:pic>
      <p:sp>
        <p:nvSpPr>
          <p:cNvPr id="7" name="Text 4"/>
          <p:cNvSpPr/>
          <p:nvPr/>
        </p:nvSpPr>
        <p:spPr>
          <a:xfrm>
            <a:off x="1691640" y="2057400"/>
            <a:ext cx="3977640" cy="548640"/>
          </a:xfrm>
          <a:prstGeom prst="rect">
            <a:avLst/>
          </a:prstGeom>
          <a:noFill/>
          <a:ln/>
        </p:spPr>
        <p:txBody>
          <a:bodyPr wrap="square" lIns="0" tIns="0" rIns="0" bIns="0" rtlCol="0" anchor="ctr"/>
          <a:lstStyle/>
          <a:p>
            <a:pPr marL="0" indent="0">
              <a:buNone/>
            </a:pPr>
            <a:r>
              <a:rPr lang="en-US" sz="1500" b="1" dirty="0">
                <a:solidFill>
                  <a:srgbClr val="1C2B22"/>
                </a:solidFill>
                <a:latin typeface="Calibri" pitchFamily="34" charset="0"/>
                <a:ea typeface="Calibri" pitchFamily="34" charset="-122"/>
                <a:cs typeface="Calibri" pitchFamily="34" charset="-120"/>
              </a:rPr>
              <a:t>Revenue Growth Strategies</a:t>
            </a:r>
            <a:endParaRPr lang="en-US" sz="1500" dirty="0"/>
          </a:p>
        </p:txBody>
      </p:sp>
      <p:sp>
        <p:nvSpPr>
          <p:cNvPr id="8" name="Text 5"/>
          <p:cNvSpPr/>
          <p:nvPr/>
        </p:nvSpPr>
        <p:spPr>
          <a:xfrm>
            <a:off x="822960" y="2788920"/>
            <a:ext cx="4800600" cy="868680"/>
          </a:xfrm>
          <a:prstGeom prst="rect">
            <a:avLst/>
          </a:prstGeom>
          <a:noFill/>
          <a:ln/>
        </p:spPr>
        <p:txBody>
          <a:bodyPr wrap="square" lIns="0" tIns="0" rIns="0" bIns="0" rtlCol="0" anchor="ctr"/>
          <a:lstStyle/>
          <a:p>
            <a:pPr marL="0" indent="0">
              <a:lnSpc>
                <a:spcPct val="130000"/>
              </a:lnSpc>
              <a:buNone/>
            </a:pPr>
            <a:r>
              <a:rPr lang="en-US" sz="1100" dirty="0">
                <a:solidFill>
                  <a:srgbClr val="1C2B22"/>
                </a:solidFill>
                <a:latin typeface="Calibri" pitchFamily="34" charset="0"/>
                <a:ea typeface="Calibri" pitchFamily="34" charset="-122"/>
                <a:cs typeface="Calibri" pitchFamily="34" charset="-120"/>
              </a:rPr>
              <a:t>Double down on the highest-growth channel (product sales drove April's +23.7% surge) and replicate it across periods.</a:t>
            </a:r>
            <a:endParaRPr lang="en-US" sz="1100" dirty="0"/>
          </a:p>
        </p:txBody>
      </p:sp>
      <p:sp>
        <p:nvSpPr>
          <p:cNvPr id="9" name="Shape 6"/>
          <p:cNvSpPr/>
          <p:nvPr/>
        </p:nvSpPr>
        <p:spPr>
          <a:xfrm>
            <a:off x="6172200" y="1600200"/>
            <a:ext cx="5349240" cy="2148840"/>
          </a:xfrm>
          <a:prstGeom prst="roundRect">
            <a:avLst>
              <a:gd name="adj" fmla="val 3404"/>
            </a:avLst>
          </a:prstGeom>
          <a:solidFill>
            <a:srgbClr val="EAF7EE"/>
          </a:solidFill>
          <a:ln w="12700">
            <a:solidFill>
              <a:srgbClr val="D7ECDD"/>
            </a:solidFill>
            <a:prstDash val="solid"/>
          </a:ln>
          <a:effectLst>
            <a:outerShdw blurRad="101600" dist="38100" dir="5400000" algn="bl" rotWithShape="0">
              <a:srgbClr val="0B5C33">
                <a:alpha val="12000"/>
              </a:srgbClr>
            </a:outerShdw>
          </a:effectLst>
        </p:spPr>
      </p:sp>
      <p:sp>
        <p:nvSpPr>
          <p:cNvPr id="10" name="Shape 7"/>
          <p:cNvSpPr/>
          <p:nvPr/>
        </p:nvSpPr>
        <p:spPr>
          <a:xfrm>
            <a:off x="6446520" y="2011680"/>
            <a:ext cx="640080" cy="640080"/>
          </a:xfrm>
          <a:prstGeom prst="ellipse">
            <a:avLst/>
          </a:prstGeom>
          <a:solidFill>
            <a:srgbClr val="FFFFFF"/>
          </a:solidFill>
          <a:ln/>
        </p:spPr>
      </p:sp>
      <p:pic>
        <p:nvPicPr>
          <p:cNvPr id="11" name="Image 1" descr="preencoded.png"/>
          <p:cNvPicPr>
            <a:picLocks noChangeAspect="1"/>
          </p:cNvPicPr>
          <p:nvPr/>
        </p:nvPicPr>
        <p:blipFill>
          <a:blip r:embed="rId4"/>
          <a:stretch>
            <a:fillRect/>
          </a:stretch>
        </p:blipFill>
        <p:spPr>
          <a:xfrm>
            <a:off x="6529730" y="2094890"/>
            <a:ext cx="473659" cy="473659"/>
          </a:xfrm>
          <a:prstGeom prst="rect">
            <a:avLst/>
          </a:prstGeom>
        </p:spPr>
      </p:pic>
      <p:sp>
        <p:nvSpPr>
          <p:cNvPr id="12" name="Text 8"/>
          <p:cNvSpPr/>
          <p:nvPr/>
        </p:nvSpPr>
        <p:spPr>
          <a:xfrm>
            <a:off x="7315200" y="2057400"/>
            <a:ext cx="3977640" cy="548640"/>
          </a:xfrm>
          <a:prstGeom prst="rect">
            <a:avLst/>
          </a:prstGeom>
          <a:noFill/>
          <a:ln/>
        </p:spPr>
        <p:txBody>
          <a:bodyPr wrap="square" lIns="0" tIns="0" rIns="0" bIns="0" rtlCol="0" anchor="ctr"/>
          <a:lstStyle/>
          <a:p>
            <a:pPr marL="0" indent="0">
              <a:buNone/>
            </a:pPr>
            <a:r>
              <a:rPr lang="en-US" sz="1500" b="1" dirty="0">
                <a:solidFill>
                  <a:srgbClr val="1C2B22"/>
                </a:solidFill>
                <a:latin typeface="Calibri" pitchFamily="34" charset="0"/>
                <a:ea typeface="Calibri" pitchFamily="34" charset="-122"/>
                <a:cs typeface="Calibri" pitchFamily="34" charset="-120"/>
              </a:rPr>
              <a:t>Cost Optimization</a:t>
            </a:r>
            <a:endParaRPr lang="en-US" sz="1500" dirty="0"/>
          </a:p>
        </p:txBody>
      </p:sp>
      <p:sp>
        <p:nvSpPr>
          <p:cNvPr id="13" name="Text 9"/>
          <p:cNvSpPr/>
          <p:nvPr/>
        </p:nvSpPr>
        <p:spPr>
          <a:xfrm>
            <a:off x="6446520" y="2788920"/>
            <a:ext cx="4800600" cy="868680"/>
          </a:xfrm>
          <a:prstGeom prst="rect">
            <a:avLst/>
          </a:prstGeom>
          <a:noFill/>
          <a:ln/>
        </p:spPr>
        <p:txBody>
          <a:bodyPr wrap="square" lIns="0" tIns="0" rIns="0" bIns="0" rtlCol="0" anchor="ctr"/>
          <a:lstStyle/>
          <a:p>
            <a:pPr marL="0" indent="0">
              <a:lnSpc>
                <a:spcPct val="130000"/>
              </a:lnSpc>
              <a:buNone/>
            </a:pPr>
            <a:r>
              <a:rPr lang="en-US" sz="1100" dirty="0">
                <a:solidFill>
                  <a:srgbClr val="1C2B22"/>
                </a:solidFill>
                <a:latin typeface="Calibri" pitchFamily="34" charset="0"/>
                <a:ea typeface="Calibri" pitchFamily="34" charset="-122"/>
                <a:cs typeface="Calibri" pitchFamily="34" charset="-120"/>
              </a:rPr>
              <a:t>Track COGS Ratio monthly; even a 2-3% reduction compounds directly into gross margin.</a:t>
            </a:r>
            <a:endParaRPr lang="en-US" sz="1100" dirty="0"/>
          </a:p>
        </p:txBody>
      </p:sp>
      <p:sp>
        <p:nvSpPr>
          <p:cNvPr id="14" name="Shape 10"/>
          <p:cNvSpPr/>
          <p:nvPr/>
        </p:nvSpPr>
        <p:spPr>
          <a:xfrm>
            <a:off x="548640" y="4023360"/>
            <a:ext cx="5349240" cy="2148840"/>
          </a:xfrm>
          <a:prstGeom prst="roundRect">
            <a:avLst>
              <a:gd name="adj" fmla="val 3404"/>
            </a:avLst>
          </a:prstGeom>
          <a:solidFill>
            <a:srgbClr val="EAF7EE"/>
          </a:solidFill>
          <a:ln w="12700">
            <a:solidFill>
              <a:srgbClr val="D7ECDD"/>
            </a:solidFill>
            <a:prstDash val="solid"/>
          </a:ln>
          <a:effectLst>
            <a:outerShdw blurRad="101600" dist="38100" dir="5400000" algn="bl" rotWithShape="0">
              <a:srgbClr val="0B5C33">
                <a:alpha val="12000"/>
              </a:srgbClr>
            </a:outerShdw>
          </a:effectLst>
        </p:spPr>
      </p:sp>
      <p:sp>
        <p:nvSpPr>
          <p:cNvPr id="15" name="Shape 11"/>
          <p:cNvSpPr/>
          <p:nvPr/>
        </p:nvSpPr>
        <p:spPr>
          <a:xfrm>
            <a:off x="822960" y="4434840"/>
            <a:ext cx="640080" cy="640080"/>
          </a:xfrm>
          <a:prstGeom prst="ellipse">
            <a:avLst/>
          </a:prstGeom>
          <a:solidFill>
            <a:srgbClr val="FFFFFF"/>
          </a:solidFill>
          <a:ln/>
        </p:spPr>
      </p:sp>
      <p:pic>
        <p:nvPicPr>
          <p:cNvPr id="16" name="Image 2" descr="preencoded.png"/>
          <p:cNvPicPr>
            <a:picLocks noChangeAspect="1"/>
          </p:cNvPicPr>
          <p:nvPr/>
        </p:nvPicPr>
        <p:blipFill>
          <a:blip r:embed="rId5"/>
          <a:stretch>
            <a:fillRect/>
          </a:stretch>
        </p:blipFill>
        <p:spPr>
          <a:xfrm>
            <a:off x="906170" y="4518050"/>
            <a:ext cx="473659" cy="473659"/>
          </a:xfrm>
          <a:prstGeom prst="rect">
            <a:avLst/>
          </a:prstGeom>
        </p:spPr>
      </p:pic>
      <p:sp>
        <p:nvSpPr>
          <p:cNvPr id="17" name="Text 12"/>
          <p:cNvSpPr/>
          <p:nvPr/>
        </p:nvSpPr>
        <p:spPr>
          <a:xfrm>
            <a:off x="1691640" y="4480560"/>
            <a:ext cx="3977640" cy="548640"/>
          </a:xfrm>
          <a:prstGeom prst="rect">
            <a:avLst/>
          </a:prstGeom>
          <a:noFill/>
          <a:ln/>
        </p:spPr>
        <p:txBody>
          <a:bodyPr wrap="square" lIns="0" tIns="0" rIns="0" bIns="0" rtlCol="0" anchor="ctr"/>
          <a:lstStyle/>
          <a:p>
            <a:pPr marL="0" indent="0">
              <a:buNone/>
            </a:pPr>
            <a:r>
              <a:rPr lang="en-US" sz="1500" b="1" dirty="0">
                <a:solidFill>
                  <a:srgbClr val="1C2B22"/>
                </a:solidFill>
                <a:latin typeface="Calibri" pitchFamily="34" charset="0"/>
                <a:ea typeface="Calibri" pitchFamily="34" charset="-122"/>
                <a:cs typeface="Calibri" pitchFamily="34" charset="-120"/>
              </a:rPr>
              <a:t>KPI Monitoring</a:t>
            </a:r>
            <a:endParaRPr lang="en-US" sz="1500" dirty="0"/>
          </a:p>
        </p:txBody>
      </p:sp>
      <p:sp>
        <p:nvSpPr>
          <p:cNvPr id="18" name="Text 13"/>
          <p:cNvSpPr/>
          <p:nvPr/>
        </p:nvSpPr>
        <p:spPr>
          <a:xfrm>
            <a:off x="822960" y="5212080"/>
            <a:ext cx="4800600" cy="868680"/>
          </a:xfrm>
          <a:prstGeom prst="rect">
            <a:avLst/>
          </a:prstGeom>
          <a:noFill/>
          <a:ln/>
        </p:spPr>
        <p:txBody>
          <a:bodyPr wrap="square" lIns="0" tIns="0" rIns="0" bIns="0" rtlCol="0" anchor="ctr"/>
          <a:lstStyle/>
          <a:p>
            <a:pPr marL="0" indent="0">
              <a:lnSpc>
                <a:spcPct val="130000"/>
              </a:lnSpc>
              <a:buNone/>
            </a:pPr>
            <a:r>
              <a:rPr lang="en-US" sz="1100" dirty="0">
                <a:solidFill>
                  <a:srgbClr val="1C2B22"/>
                </a:solidFill>
                <a:latin typeface="Calibri" pitchFamily="34" charset="0"/>
                <a:ea typeface="Calibri" pitchFamily="34" charset="-122"/>
                <a:cs typeface="Calibri" pitchFamily="34" charset="-120"/>
              </a:rPr>
              <a:t>Review CAC, CLV and ROI together — acquisition only pays off when lifetime value clears the cost to acquire.</a:t>
            </a:r>
            <a:endParaRPr lang="en-US" sz="1100" dirty="0"/>
          </a:p>
        </p:txBody>
      </p:sp>
      <p:sp>
        <p:nvSpPr>
          <p:cNvPr id="19" name="Shape 14"/>
          <p:cNvSpPr/>
          <p:nvPr/>
        </p:nvSpPr>
        <p:spPr>
          <a:xfrm>
            <a:off x="6172200" y="4023360"/>
            <a:ext cx="5349240" cy="2148840"/>
          </a:xfrm>
          <a:prstGeom prst="roundRect">
            <a:avLst>
              <a:gd name="adj" fmla="val 3404"/>
            </a:avLst>
          </a:prstGeom>
          <a:solidFill>
            <a:srgbClr val="EAF7EE"/>
          </a:solidFill>
          <a:ln w="12700">
            <a:solidFill>
              <a:srgbClr val="D7ECDD"/>
            </a:solidFill>
            <a:prstDash val="solid"/>
          </a:ln>
          <a:effectLst>
            <a:outerShdw blurRad="101600" dist="38100" dir="5400000" algn="bl" rotWithShape="0">
              <a:srgbClr val="0B5C33">
                <a:alpha val="12000"/>
              </a:srgbClr>
            </a:outerShdw>
          </a:effectLst>
        </p:spPr>
      </p:sp>
      <p:sp>
        <p:nvSpPr>
          <p:cNvPr id="20" name="Shape 15"/>
          <p:cNvSpPr/>
          <p:nvPr/>
        </p:nvSpPr>
        <p:spPr>
          <a:xfrm>
            <a:off x="6446520" y="4434840"/>
            <a:ext cx="640080" cy="640080"/>
          </a:xfrm>
          <a:prstGeom prst="ellipse">
            <a:avLst/>
          </a:prstGeom>
          <a:solidFill>
            <a:srgbClr val="FFFFFF"/>
          </a:solidFill>
          <a:ln/>
        </p:spPr>
      </p:sp>
      <p:pic>
        <p:nvPicPr>
          <p:cNvPr id="21" name="Image 3" descr="preencoded.png"/>
          <p:cNvPicPr>
            <a:picLocks noChangeAspect="1"/>
          </p:cNvPicPr>
          <p:nvPr/>
        </p:nvPicPr>
        <p:blipFill>
          <a:blip r:embed="rId6"/>
          <a:stretch>
            <a:fillRect/>
          </a:stretch>
        </p:blipFill>
        <p:spPr>
          <a:xfrm>
            <a:off x="6529730" y="4518050"/>
            <a:ext cx="473659" cy="473659"/>
          </a:xfrm>
          <a:prstGeom prst="rect">
            <a:avLst/>
          </a:prstGeom>
        </p:spPr>
      </p:pic>
      <p:sp>
        <p:nvSpPr>
          <p:cNvPr id="22" name="Text 16"/>
          <p:cNvSpPr/>
          <p:nvPr/>
        </p:nvSpPr>
        <p:spPr>
          <a:xfrm>
            <a:off x="7315200" y="4480560"/>
            <a:ext cx="3977640" cy="548640"/>
          </a:xfrm>
          <a:prstGeom prst="rect">
            <a:avLst/>
          </a:prstGeom>
          <a:noFill/>
          <a:ln/>
        </p:spPr>
        <p:txBody>
          <a:bodyPr wrap="square" lIns="0" tIns="0" rIns="0" bIns="0" rtlCol="0" anchor="ctr"/>
          <a:lstStyle/>
          <a:p>
            <a:pPr marL="0" indent="0">
              <a:buNone/>
            </a:pPr>
            <a:r>
              <a:rPr lang="en-US" sz="1500" b="1" dirty="0">
                <a:solidFill>
                  <a:srgbClr val="1C2B22"/>
                </a:solidFill>
                <a:latin typeface="Calibri" pitchFamily="34" charset="0"/>
                <a:ea typeface="Calibri" pitchFamily="34" charset="-122"/>
                <a:cs typeface="Calibri" pitchFamily="34" charset="-120"/>
              </a:rPr>
              <a:t>Dashboard Benefits</a:t>
            </a:r>
            <a:endParaRPr lang="en-US" sz="1500" dirty="0"/>
          </a:p>
        </p:txBody>
      </p:sp>
      <p:sp>
        <p:nvSpPr>
          <p:cNvPr id="23" name="Text 17"/>
          <p:cNvSpPr/>
          <p:nvPr/>
        </p:nvSpPr>
        <p:spPr>
          <a:xfrm>
            <a:off x="6446520" y="5212080"/>
            <a:ext cx="4800600" cy="868680"/>
          </a:xfrm>
          <a:prstGeom prst="rect">
            <a:avLst/>
          </a:prstGeom>
          <a:noFill/>
          <a:ln/>
        </p:spPr>
        <p:txBody>
          <a:bodyPr wrap="square" lIns="0" tIns="0" rIns="0" bIns="0" rtlCol="0" anchor="ctr"/>
          <a:lstStyle/>
          <a:p>
            <a:pPr marL="0" indent="0">
              <a:lnSpc>
                <a:spcPct val="130000"/>
              </a:lnSpc>
              <a:buNone/>
            </a:pPr>
            <a:r>
              <a:rPr lang="en-US" sz="1100" dirty="0">
                <a:solidFill>
                  <a:srgbClr val="1C2B22"/>
                </a:solidFill>
                <a:latin typeface="Calibri" pitchFamily="34" charset="0"/>
                <a:ea typeface="Calibri" pitchFamily="34" charset="-122"/>
                <a:cs typeface="Calibri" pitchFamily="34" charset="-120"/>
              </a:rPr>
              <a:t>A live Excel dashboard turns monthly reporting from a multi-day task into a five-minute refresh.</a:t>
            </a:r>
            <a:endParaRPr lang="en-US" sz="1100" dirty="0"/>
          </a:p>
        </p:txBody>
      </p:sp>
      <p:sp>
        <p:nvSpPr>
          <p:cNvPr id="24" name="Text 18"/>
          <p:cNvSpPr/>
          <p:nvPr/>
        </p:nvSpPr>
        <p:spPr>
          <a:xfrm>
            <a:off x="457200" y="6537960"/>
            <a:ext cx="5486400" cy="274320"/>
          </a:xfrm>
          <a:prstGeom prst="rect">
            <a:avLst/>
          </a:prstGeom>
          <a:noFill/>
          <a:ln/>
        </p:spPr>
        <p:txBody>
          <a:bodyPr wrap="square" lIns="0" tIns="0" rIns="0" bIns="0" rtlCol="0" anchor="ctr"/>
          <a:lstStyle/>
          <a:p>
            <a:pPr marL="0" indent="0">
              <a:buNone/>
            </a:pPr>
            <a:r>
              <a:rPr lang="en-US" sz="900" dirty="0">
                <a:solidFill>
                  <a:srgbClr val="5E6F64"/>
                </a:solidFill>
                <a:latin typeface="Calibri" pitchFamily="34" charset="0"/>
                <a:ea typeface="Calibri" pitchFamily="34" charset="-122"/>
                <a:cs typeface="Calibri" pitchFamily="34" charset="-120"/>
              </a:rPr>
              <a:t>DMart Revenue &amp; Business Metrics Report</a:t>
            </a:r>
            <a:endParaRPr lang="en-US" sz="900" dirty="0"/>
          </a:p>
        </p:txBody>
      </p:sp>
      <p:sp>
        <p:nvSpPr>
          <p:cNvPr id="25" name="Text 19"/>
          <p:cNvSpPr/>
          <p:nvPr/>
        </p:nvSpPr>
        <p:spPr>
          <a:xfrm>
            <a:off x="11521440" y="6537960"/>
            <a:ext cx="365760" cy="274320"/>
          </a:xfrm>
          <a:prstGeom prst="rect">
            <a:avLst/>
          </a:prstGeom>
          <a:noFill/>
          <a:ln/>
        </p:spPr>
        <p:txBody>
          <a:bodyPr wrap="square" lIns="0" tIns="0" rIns="0" bIns="0" rtlCol="0" anchor="ctr"/>
          <a:lstStyle/>
          <a:p>
            <a:pPr marL="0" indent="0" algn="r">
              <a:buNone/>
            </a:pPr>
            <a:r>
              <a:rPr lang="en-US" sz="900" dirty="0">
                <a:solidFill>
                  <a:srgbClr val="5E6F64"/>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5C33"/>
        </a:solidFill>
        <a:effectLst/>
      </p:bgPr>
    </p:bg>
    <p:spTree>
      <p:nvGrpSpPr>
        <p:cNvPr id="1" name=""/>
        <p:cNvGrpSpPr/>
        <p:nvPr/>
      </p:nvGrpSpPr>
      <p:grpSpPr>
        <a:xfrm>
          <a:off x="0" y="0"/>
          <a:ext cx="0" cy="0"/>
          <a:chOff x="0" y="0"/>
          <a:chExt cx="0" cy="0"/>
        </a:xfrm>
      </p:grpSpPr>
      <p:sp>
        <p:nvSpPr>
          <p:cNvPr id="2" name="Shape 0"/>
          <p:cNvSpPr/>
          <p:nvPr/>
        </p:nvSpPr>
        <p:spPr>
          <a:xfrm>
            <a:off x="-1463040" y="-1463040"/>
            <a:ext cx="4572000" cy="4572000"/>
          </a:xfrm>
          <a:prstGeom prst="ellipse">
            <a:avLst/>
          </a:prstGeom>
          <a:solidFill>
            <a:srgbClr val="1E8449"/>
          </a:solidFill>
          <a:ln/>
        </p:spPr>
        <p:txBody>
          <a:bodyPr/>
          <a:lstStyle/>
          <a:p>
            <a:endParaRPr lang="en-IN" dirty="0"/>
          </a:p>
        </p:txBody>
      </p:sp>
      <p:sp>
        <p:nvSpPr>
          <p:cNvPr id="3" name="Shape 1"/>
          <p:cNvSpPr/>
          <p:nvPr/>
        </p:nvSpPr>
        <p:spPr>
          <a:xfrm>
            <a:off x="10515600" y="4389120"/>
            <a:ext cx="3840480" cy="3840480"/>
          </a:xfrm>
          <a:prstGeom prst="ellipse">
            <a:avLst/>
          </a:prstGeom>
          <a:solidFill>
            <a:srgbClr val="1E8449"/>
          </a:solidFill>
          <a:ln/>
        </p:spPr>
      </p:sp>
      <p:sp>
        <p:nvSpPr>
          <p:cNvPr id="4" name="Text 2"/>
          <p:cNvSpPr/>
          <p:nvPr/>
        </p:nvSpPr>
        <p:spPr>
          <a:xfrm>
            <a:off x="822960" y="640080"/>
            <a:ext cx="5486400" cy="320040"/>
          </a:xfrm>
          <a:prstGeom prst="rect">
            <a:avLst/>
          </a:prstGeom>
          <a:noFill/>
          <a:ln/>
        </p:spPr>
        <p:txBody>
          <a:bodyPr wrap="square" lIns="0" tIns="0" rIns="0" bIns="0" rtlCol="0" anchor="ctr"/>
          <a:lstStyle/>
          <a:p>
            <a:pPr marL="0" indent="0">
              <a:buNone/>
            </a:pPr>
            <a:r>
              <a:rPr lang="en-US" sz="2400" b="1" kern="0" spc="300" dirty="0">
                <a:solidFill>
                  <a:srgbClr val="27AE60"/>
                </a:solidFill>
                <a:latin typeface="Calibri" pitchFamily="34" charset="0"/>
                <a:ea typeface="Calibri" pitchFamily="34" charset="-122"/>
                <a:cs typeface="Calibri" pitchFamily="34" charset="-120"/>
              </a:rPr>
              <a:t>CONCLUSION</a:t>
            </a:r>
            <a:endParaRPr lang="en-US" sz="1300" dirty="0"/>
          </a:p>
        </p:txBody>
      </p:sp>
      <p:sp>
        <p:nvSpPr>
          <p:cNvPr id="5" name="Text 3"/>
          <p:cNvSpPr/>
          <p:nvPr/>
        </p:nvSpPr>
        <p:spPr>
          <a:xfrm>
            <a:off x="822960" y="1005840"/>
            <a:ext cx="7772400" cy="1371600"/>
          </a:xfrm>
          <a:prstGeom prst="rect">
            <a:avLst/>
          </a:prstGeom>
          <a:noFill/>
          <a:ln/>
        </p:spPr>
        <p:txBody>
          <a:bodyPr wrap="square" lIns="0" tIns="0" rIns="0" bIns="0" rtlCol="0" anchor="ctr"/>
          <a:lstStyle/>
          <a:p>
            <a:pPr marL="0" indent="0">
              <a:lnSpc>
                <a:spcPct val="110000"/>
              </a:lnSpc>
              <a:buNone/>
            </a:pPr>
            <a:r>
              <a:rPr lang="en-US" sz="3000" b="1" dirty="0">
                <a:solidFill>
                  <a:srgbClr val="FFFFFF"/>
                </a:solidFill>
                <a:latin typeface="Cambria" pitchFamily="34" charset="0"/>
                <a:ea typeface="Cambria" pitchFamily="34" charset="-122"/>
                <a:cs typeface="Cambria" pitchFamily="34" charset="-120"/>
              </a:rPr>
              <a:t>Master These Metrics to Drive</a:t>
            </a:r>
            <a:endParaRPr lang="en-US" sz="3000" dirty="0"/>
          </a:p>
          <a:p>
            <a:pPr marL="0" indent="0">
              <a:lnSpc>
                <a:spcPct val="110000"/>
              </a:lnSpc>
              <a:buNone/>
            </a:pPr>
            <a:r>
              <a:rPr lang="en-US" sz="3000" b="1" dirty="0">
                <a:solidFill>
                  <a:srgbClr val="FFFFFF"/>
                </a:solidFill>
                <a:latin typeface="Cambria" pitchFamily="34" charset="0"/>
                <a:ea typeface="Cambria" pitchFamily="34" charset="-122"/>
                <a:cs typeface="Cambria" pitchFamily="34" charset="-120"/>
              </a:rPr>
              <a:t>Smarter Business Decisions</a:t>
            </a:r>
            <a:endParaRPr lang="en-US" sz="3000" dirty="0"/>
          </a:p>
        </p:txBody>
      </p:sp>
      <p:sp>
        <p:nvSpPr>
          <p:cNvPr id="6" name="Text 4"/>
          <p:cNvSpPr/>
          <p:nvPr/>
        </p:nvSpPr>
        <p:spPr>
          <a:xfrm>
            <a:off x="822960" y="2331720"/>
            <a:ext cx="7772400" cy="457200"/>
          </a:xfrm>
          <a:prstGeom prst="rect">
            <a:avLst/>
          </a:prstGeom>
          <a:noFill/>
          <a:ln/>
        </p:spPr>
        <p:txBody>
          <a:bodyPr wrap="square" lIns="0" tIns="0" rIns="0" bIns="0" rtlCol="0" anchor="ctr"/>
          <a:lstStyle/>
          <a:p>
            <a:pPr marL="0" indent="0">
              <a:buNone/>
            </a:pPr>
            <a:r>
              <a:rPr lang="en-US" sz="1400" i="1" dirty="0">
                <a:solidFill>
                  <a:srgbClr val="EAF7EE"/>
                </a:solidFill>
                <a:latin typeface="Calibri" pitchFamily="34" charset="0"/>
                <a:ea typeface="Calibri" pitchFamily="34" charset="-122"/>
                <a:cs typeface="Calibri" pitchFamily="34" charset="-120"/>
              </a:rPr>
              <a:t>Revenue + Profit + KPIs = Complete Business Health Dashboard in Excel</a:t>
            </a:r>
            <a:endParaRPr lang="en-US" sz="1400" dirty="0"/>
          </a:p>
        </p:txBody>
      </p:sp>
      <p:sp>
        <p:nvSpPr>
          <p:cNvPr id="7" name="Text 5"/>
          <p:cNvSpPr/>
          <p:nvPr/>
        </p:nvSpPr>
        <p:spPr>
          <a:xfrm>
            <a:off x="822960" y="3017520"/>
            <a:ext cx="7132320" cy="1737360"/>
          </a:xfrm>
          <a:prstGeom prst="rect">
            <a:avLst/>
          </a:prstGeom>
          <a:noFill/>
          <a:ln/>
        </p:spPr>
        <p:txBody>
          <a:bodyPr wrap="square" lIns="0" tIns="0" rIns="0" bIns="0" rtlCol="0" anchor="ctr"/>
          <a:lstStyle/>
          <a:p>
            <a:pPr marL="342900" indent="-342900">
              <a:lnSpc>
                <a:spcPct val="140000"/>
              </a:lnSpc>
              <a:buSzPct val="100000"/>
              <a:buChar char="•"/>
            </a:pPr>
            <a:r>
              <a:rPr lang="en-US" sz="1300" dirty="0">
                <a:solidFill>
                  <a:srgbClr val="FFFFFF"/>
                </a:solidFill>
                <a:latin typeface="Calibri" pitchFamily="34" charset="0"/>
                <a:ea typeface="Calibri" pitchFamily="34" charset="-122"/>
                <a:cs typeface="Calibri" pitchFamily="34" charset="-120"/>
              </a:rPr>
              <a:t>Revenue, profit and margin formulas you can apply directly to your own monthly data</a:t>
            </a:r>
            <a:endParaRPr lang="en-US" sz="1300" dirty="0"/>
          </a:p>
          <a:p>
            <a:pPr marL="342900" indent="-342900">
              <a:lnSpc>
                <a:spcPct val="140000"/>
              </a:lnSpc>
              <a:buSzPct val="100000"/>
              <a:buChar char="•"/>
            </a:pPr>
            <a:r>
              <a:rPr lang="en-US" sz="1300" dirty="0">
                <a:solidFill>
                  <a:srgbClr val="FFFFFF"/>
                </a:solidFill>
                <a:latin typeface="Calibri" pitchFamily="34" charset="0"/>
                <a:ea typeface="Calibri" pitchFamily="34" charset="-122"/>
                <a:cs typeface="Calibri" pitchFamily="34" charset="-120"/>
              </a:rPr>
              <a:t>A CAC → CLV → ROI framework to judge whether growth spending is paying off</a:t>
            </a:r>
            <a:endParaRPr lang="en-US" sz="1300" dirty="0"/>
          </a:p>
          <a:p>
            <a:pPr marL="342900" indent="-342900">
              <a:lnSpc>
                <a:spcPct val="140000"/>
              </a:lnSpc>
              <a:buSzPct val="100000"/>
              <a:buChar char="•"/>
            </a:pPr>
            <a:r>
              <a:rPr lang="en-US" sz="1300" dirty="0">
                <a:solidFill>
                  <a:srgbClr val="FFFFFF"/>
                </a:solidFill>
                <a:latin typeface="Calibri" pitchFamily="34" charset="0"/>
                <a:ea typeface="Calibri" pitchFamily="34" charset="-122"/>
                <a:cs typeface="Calibri" pitchFamily="34" charset="-120"/>
              </a:rPr>
              <a:t>A 4-step process to build a live, formula-driven Excel dashboard</a:t>
            </a:r>
            <a:endParaRPr lang="en-US" sz="1300" dirty="0"/>
          </a:p>
        </p:txBody>
      </p:sp>
      <p:sp>
        <p:nvSpPr>
          <p:cNvPr id="11" name="Text 8"/>
          <p:cNvSpPr/>
          <p:nvPr/>
        </p:nvSpPr>
        <p:spPr>
          <a:xfrm>
            <a:off x="8503920" y="2468880"/>
            <a:ext cx="2743200" cy="914400"/>
          </a:xfrm>
          <a:prstGeom prst="rect">
            <a:avLst/>
          </a:prstGeom>
          <a:noFill/>
          <a:ln/>
        </p:spPr>
        <p:txBody>
          <a:bodyPr wrap="square" lIns="0" tIns="0" rIns="0" bIns="0" rtlCol="0" anchor="ctr"/>
          <a:lstStyle/>
          <a:p>
            <a:pPr marL="0" indent="0" algn="ctr">
              <a:lnSpc>
                <a:spcPct val="110000"/>
              </a:lnSpc>
              <a:buNone/>
            </a:pPr>
            <a:endParaRPr lang="en-US" sz="2200" dirty="0"/>
          </a:p>
        </p:txBody>
      </p:sp>
      <p:sp>
        <p:nvSpPr>
          <p:cNvPr id="12" name="Text 9"/>
          <p:cNvSpPr/>
          <p:nvPr/>
        </p:nvSpPr>
        <p:spPr>
          <a:xfrm>
            <a:off x="8503920" y="3566160"/>
            <a:ext cx="2743200" cy="1463040"/>
          </a:xfrm>
          <a:prstGeom prst="rect">
            <a:avLst/>
          </a:prstGeom>
          <a:noFill/>
          <a:ln/>
        </p:spPr>
        <p:txBody>
          <a:bodyPr wrap="square" lIns="0" tIns="0" rIns="0" bIns="0" rtlCol="0" anchor="ctr"/>
          <a:lstStyle/>
          <a:p>
            <a:pPr algn="ctr">
              <a:lnSpc>
                <a:spcPct val="130000"/>
              </a:lnSpc>
            </a:pP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30</TotalTime>
  <Words>1928</Words>
  <Application>Microsoft Office PowerPoint</Application>
  <PresentationFormat>Widescreen</PresentationFormat>
  <Paragraphs>331</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DMart Revenue &amp; Business Metrics Report</dc:title>
  <dc:subject>PptxGenJS Presentation</dc:subject>
  <dc:creator>Business Analytics Team</dc:creator>
  <cp:lastModifiedBy>visxnugosali123@gmail.com</cp:lastModifiedBy>
  <cp:revision>2</cp:revision>
  <dcterms:created xsi:type="dcterms:W3CDTF">2026-06-20T07:04:08Z</dcterms:created>
  <dcterms:modified xsi:type="dcterms:W3CDTF">2026-06-20T07:36:58Z</dcterms:modified>
</cp:coreProperties>
</file>